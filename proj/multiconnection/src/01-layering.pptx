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9"/>
  </p:notesMasterIdLst>
  <p:handoutMasterIdLst>
    <p:handoutMasterId r:id="rId20"/>
  </p:handoutMasterIdLst>
  <p:sldIdLst>
    <p:sldId id="280" r:id="rId3"/>
    <p:sldId id="291" r:id="rId4"/>
    <p:sldId id="282" r:id="rId5"/>
    <p:sldId id="285" r:id="rId6"/>
    <p:sldId id="290" r:id="rId7"/>
    <p:sldId id="292" r:id="rId8"/>
    <p:sldId id="295" r:id="rId9"/>
    <p:sldId id="293" r:id="rId10"/>
    <p:sldId id="300" r:id="rId11"/>
    <p:sldId id="296" r:id="rId12"/>
    <p:sldId id="301" r:id="rId13"/>
    <p:sldId id="302" r:id="rId14"/>
    <p:sldId id="303" r:id="rId15"/>
    <p:sldId id="297" r:id="rId16"/>
    <p:sldId id="298" r:id="rId17"/>
    <p:sldId id="299" r:id="rId1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455" autoAdjust="0"/>
    <p:restoredTop sz="94660"/>
  </p:normalViewPr>
  <p:slideViewPr>
    <p:cSldViewPr snapToGrid="0">
      <p:cViewPr varScale="1">
        <p:scale>
          <a:sx n="128" d="100"/>
          <a:sy n="128" d="100"/>
        </p:scale>
        <p:origin x="4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ru-RU"/>
              <a:t>Основы построения файловых систем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C6788E-680A-49E5-BB93-D456A9D23A29}" type="datetimeFigureOut">
              <a:rPr lang="ru-RU" smtClean="0"/>
              <a:t>23.10.2025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061F6E-92FD-414D-9278-71772D358CB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2730847"/>
      </p:ext>
    </p:extLst>
  </p:cSld>
  <p:clrMap bg1="lt1" tx1="dk1" bg2="lt2" tx2="dk2" accent1="accent1" accent2="accent2" accent3="accent3" accent4="accent4" accent5="accent5" accent6="accent6" hlink="hlink" folHlink="folHlink"/>
  <p:hf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ru-RU"/>
              <a:t>Основы построения файловых систем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DF4945-C160-4CD5-B124-49B9BE14C0AB}" type="datetimeFigureOut">
              <a:rPr lang="ru-RU" smtClean="0"/>
              <a:t>23.10.2025</a:t>
            </a:fld>
            <a:endParaRPr lang="ru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33120B-582B-4354-977D-A474A534F6B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4565650"/>
      </p:ext>
    </p:extLst>
  </p:cSld>
  <p:clrMap bg1="lt1" tx1="dk1" bg2="lt2" tx2="dk2" accent1="accent1" accent2="accent2" accent3="accent3" accent4="accent4" accent5="accent5" accent6="accent6" hlink="hlink" folHlink="folHlink"/>
  <p:hf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F33120B-582B-4354-977D-A474A534F6B9}" type="slidenum">
              <a:rPr lang="ru-RU" smtClean="0"/>
              <a:t>1</a:t>
            </a:fld>
            <a:endParaRPr lang="ru-RU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ru-RU"/>
              <a:t>Основы построения файловых систем</a:t>
            </a:r>
          </a:p>
        </p:txBody>
      </p:sp>
    </p:spTree>
    <p:extLst>
      <p:ext uri="{BB962C8B-B14F-4D97-AF65-F5344CB8AC3E}">
        <p14:creationId xmlns:p14="http://schemas.microsoft.com/office/powerpoint/2010/main" val="13745113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19A3A-C4BD-CF67-C3E8-2F5159859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42F680-96AD-6CDC-4973-2349844481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90A6BD-C9F6-CA44-30AD-E5B3D5A63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5F592-7645-9F23-E804-CC1FBF613A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F33120B-582B-4354-977D-A474A534F6B9}" type="slidenum">
              <a:rPr lang="ru-RU" smtClean="0"/>
              <a:t>2</a:t>
            </a:fld>
            <a:endParaRPr lang="ru-RU"/>
          </a:p>
        </p:txBody>
      </p:sp>
      <p:sp>
        <p:nvSpPr>
          <p:cNvPr id="5" name="Header Placeholder 4">
            <a:extLst>
              <a:ext uri="{FF2B5EF4-FFF2-40B4-BE49-F238E27FC236}">
                <a16:creationId xmlns:a16="http://schemas.microsoft.com/office/drawing/2014/main" id="{749BC379-68E1-D04E-079B-4B3399B15D69}"/>
              </a:ext>
            </a:extLst>
          </p:cNvPr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ru-RU"/>
              <a:t>Основы построения файловых систем</a:t>
            </a:r>
          </a:p>
        </p:txBody>
      </p:sp>
    </p:spTree>
    <p:extLst>
      <p:ext uri="{BB962C8B-B14F-4D97-AF65-F5344CB8AC3E}">
        <p14:creationId xmlns:p14="http://schemas.microsoft.com/office/powerpoint/2010/main" val="15375827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C68C9-7FA5-F840-5BE5-5FE509EBC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EE13E6-F952-7786-B2F1-D95CADF752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DF6478-A00D-BCEF-CDDD-A7501A638E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2E229B-79CC-90EA-619A-1FE45C9BD2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F33120B-582B-4354-977D-A474A534F6B9}" type="slidenum">
              <a:rPr lang="ru-RU" smtClean="0"/>
              <a:t>3</a:t>
            </a:fld>
            <a:endParaRPr lang="ru-RU"/>
          </a:p>
        </p:txBody>
      </p:sp>
      <p:sp>
        <p:nvSpPr>
          <p:cNvPr id="5" name="Header Placeholder 4">
            <a:extLst>
              <a:ext uri="{FF2B5EF4-FFF2-40B4-BE49-F238E27FC236}">
                <a16:creationId xmlns:a16="http://schemas.microsoft.com/office/drawing/2014/main" id="{8FDA862D-C91F-743C-558C-A4883DDB0964}"/>
              </a:ext>
            </a:extLst>
          </p:cNvPr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ru-RU"/>
              <a:t>Основы построения файловых систем</a:t>
            </a:r>
          </a:p>
        </p:txBody>
      </p:sp>
    </p:spTree>
    <p:extLst>
      <p:ext uri="{BB962C8B-B14F-4D97-AF65-F5344CB8AC3E}">
        <p14:creationId xmlns:p14="http://schemas.microsoft.com/office/powerpoint/2010/main" val="17148505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D1176-A1D1-C0D0-EF03-2E8EDA530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5E12CB-3561-E298-B31E-EE0E60477B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616857-CB27-C6B5-2C30-F6356045A7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926AA-70E8-7426-D555-52DD278CCA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F33120B-582B-4354-977D-A474A534F6B9}" type="slidenum">
              <a:rPr lang="ru-RU" smtClean="0"/>
              <a:t>4</a:t>
            </a:fld>
            <a:endParaRPr lang="ru-RU"/>
          </a:p>
        </p:txBody>
      </p:sp>
      <p:sp>
        <p:nvSpPr>
          <p:cNvPr id="5" name="Header Placeholder 4">
            <a:extLst>
              <a:ext uri="{FF2B5EF4-FFF2-40B4-BE49-F238E27FC236}">
                <a16:creationId xmlns:a16="http://schemas.microsoft.com/office/drawing/2014/main" id="{24AEF5C0-8E90-C558-3CAF-6FCA9E1D674D}"/>
              </a:ext>
            </a:extLst>
          </p:cNvPr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ru-RU"/>
              <a:t>Основы построения файловых систем</a:t>
            </a:r>
          </a:p>
        </p:txBody>
      </p:sp>
    </p:spTree>
    <p:extLst>
      <p:ext uri="{BB962C8B-B14F-4D97-AF65-F5344CB8AC3E}">
        <p14:creationId xmlns:p14="http://schemas.microsoft.com/office/powerpoint/2010/main" val="30990110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B8C35-C050-1AE8-232E-0352962FA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4D9909-0EAC-3544-F50C-F3FD4F91F4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4807DF-B729-7FBD-F55F-348F293130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754046-F79B-FE51-8A60-3EE9D41815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F33120B-582B-4354-977D-A474A534F6B9}" type="slidenum">
              <a:rPr lang="ru-RU" smtClean="0"/>
              <a:t>5</a:t>
            </a:fld>
            <a:endParaRPr lang="ru-RU"/>
          </a:p>
        </p:txBody>
      </p:sp>
      <p:sp>
        <p:nvSpPr>
          <p:cNvPr id="5" name="Header Placeholder 4">
            <a:extLst>
              <a:ext uri="{FF2B5EF4-FFF2-40B4-BE49-F238E27FC236}">
                <a16:creationId xmlns:a16="http://schemas.microsoft.com/office/drawing/2014/main" id="{DADDC6E4-94E7-99D4-9F50-55D8ABAADD4C}"/>
              </a:ext>
            </a:extLst>
          </p:cNvPr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ru-RU"/>
              <a:t>Основы построения файловых систем</a:t>
            </a:r>
          </a:p>
        </p:txBody>
      </p:sp>
    </p:spTree>
    <p:extLst>
      <p:ext uri="{BB962C8B-B14F-4D97-AF65-F5344CB8AC3E}">
        <p14:creationId xmlns:p14="http://schemas.microsoft.com/office/powerpoint/2010/main" val="31436347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19EBA-2FDB-F858-B889-BBD2859BA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5B90FE-FADC-9592-4FC5-5DBFA96026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DCE367-D67E-E5A3-F13F-5C1477ABCC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B3421-0975-D9E5-A7FF-16B5D171AA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F33120B-582B-4354-977D-A474A534F6B9}" type="slidenum">
              <a:rPr lang="ru-RU" smtClean="0"/>
              <a:t>6</a:t>
            </a:fld>
            <a:endParaRPr lang="ru-RU"/>
          </a:p>
        </p:txBody>
      </p:sp>
      <p:sp>
        <p:nvSpPr>
          <p:cNvPr id="5" name="Header Placeholder 4">
            <a:extLst>
              <a:ext uri="{FF2B5EF4-FFF2-40B4-BE49-F238E27FC236}">
                <a16:creationId xmlns:a16="http://schemas.microsoft.com/office/drawing/2014/main" id="{314D80E8-3BA5-2334-46D4-653B42814CED}"/>
              </a:ext>
            </a:extLst>
          </p:cNvPr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ru-RU"/>
              <a:t>Основы построения файловых систем</a:t>
            </a:r>
          </a:p>
        </p:txBody>
      </p:sp>
    </p:spTree>
    <p:extLst>
      <p:ext uri="{BB962C8B-B14F-4D97-AF65-F5344CB8AC3E}">
        <p14:creationId xmlns:p14="http://schemas.microsoft.com/office/powerpoint/2010/main" val="13722603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B5451-6A4E-A6E7-F05C-546D4221C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548F9-D4CC-A8A4-4531-FDCF34FA89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B05041-4F56-AE86-4653-91A3AAB6E6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11AC6A-0707-E1BA-8561-314B00AC1F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F33120B-582B-4354-977D-A474A534F6B9}" type="slidenum">
              <a:rPr lang="ru-RU" smtClean="0"/>
              <a:t>7</a:t>
            </a:fld>
            <a:endParaRPr lang="ru-RU"/>
          </a:p>
        </p:txBody>
      </p:sp>
      <p:sp>
        <p:nvSpPr>
          <p:cNvPr id="5" name="Header Placeholder 4">
            <a:extLst>
              <a:ext uri="{FF2B5EF4-FFF2-40B4-BE49-F238E27FC236}">
                <a16:creationId xmlns:a16="http://schemas.microsoft.com/office/drawing/2014/main" id="{FEE189D2-67E0-6515-9E5B-66FF5648E640}"/>
              </a:ext>
            </a:extLst>
          </p:cNvPr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ru-RU"/>
              <a:t>Основы построения файловых систем</a:t>
            </a:r>
          </a:p>
        </p:txBody>
      </p:sp>
    </p:spTree>
    <p:extLst>
      <p:ext uri="{BB962C8B-B14F-4D97-AF65-F5344CB8AC3E}">
        <p14:creationId xmlns:p14="http://schemas.microsoft.com/office/powerpoint/2010/main" val="33345342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40108B-ACBD-67C0-ADE5-CBB86A2BA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06C889-B0C4-EE16-CDDF-15CC34D111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F2C8DA-FB51-1171-8D6A-AD03DC9C40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45D1C2-76BA-F3F2-6DF1-C7B5CFB646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F33120B-582B-4354-977D-A474A534F6B9}" type="slidenum">
              <a:rPr lang="ru-RU" smtClean="0"/>
              <a:t>8</a:t>
            </a:fld>
            <a:endParaRPr lang="ru-RU"/>
          </a:p>
        </p:txBody>
      </p:sp>
      <p:sp>
        <p:nvSpPr>
          <p:cNvPr id="5" name="Header Placeholder 4">
            <a:extLst>
              <a:ext uri="{FF2B5EF4-FFF2-40B4-BE49-F238E27FC236}">
                <a16:creationId xmlns:a16="http://schemas.microsoft.com/office/drawing/2014/main" id="{AAA89446-755F-71E2-985C-A7BB4C3A512C}"/>
              </a:ext>
            </a:extLst>
          </p:cNvPr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ru-RU"/>
              <a:t>Основы построения файловых систем</a:t>
            </a:r>
          </a:p>
        </p:txBody>
      </p:sp>
    </p:spTree>
    <p:extLst>
      <p:ext uri="{BB962C8B-B14F-4D97-AF65-F5344CB8AC3E}">
        <p14:creationId xmlns:p14="http://schemas.microsoft.com/office/powerpoint/2010/main" val="6802827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47E8D-0673-A200-4615-6FD72FB94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D60A0C-A1C6-6D80-38B2-1492126B5A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78429F-AE5A-5688-660D-D556937C09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24B0C3-0A7D-33E8-E9E4-EE37EA97A3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F33120B-582B-4354-977D-A474A534F6B9}" type="slidenum">
              <a:rPr lang="ru-RU" smtClean="0"/>
              <a:t>9</a:t>
            </a:fld>
            <a:endParaRPr lang="ru-RU"/>
          </a:p>
        </p:txBody>
      </p:sp>
      <p:sp>
        <p:nvSpPr>
          <p:cNvPr id="5" name="Header Placeholder 4">
            <a:extLst>
              <a:ext uri="{FF2B5EF4-FFF2-40B4-BE49-F238E27FC236}">
                <a16:creationId xmlns:a16="http://schemas.microsoft.com/office/drawing/2014/main" id="{5E38CAF7-09B5-94B8-DCB0-DBA7E7D690F4}"/>
              </a:ext>
            </a:extLst>
          </p:cNvPr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ru-RU"/>
              <a:t>Основы построения файловых систем</a:t>
            </a:r>
          </a:p>
        </p:txBody>
      </p:sp>
    </p:spTree>
    <p:extLst>
      <p:ext uri="{BB962C8B-B14F-4D97-AF65-F5344CB8AC3E}">
        <p14:creationId xmlns:p14="http://schemas.microsoft.com/office/powerpoint/2010/main" val="16512148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9A43F-6E8C-2C34-148C-186D315D8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23DD40-9474-6625-4E93-B56EB3B6F8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089F28-0080-2692-13C6-2E3360327A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E983CF-D0EA-2D54-27F1-8508009AAC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F33120B-582B-4354-977D-A474A534F6B9}" type="slidenum">
              <a:rPr lang="ru-RU" smtClean="0"/>
              <a:t>10</a:t>
            </a:fld>
            <a:endParaRPr lang="ru-RU"/>
          </a:p>
        </p:txBody>
      </p:sp>
      <p:sp>
        <p:nvSpPr>
          <p:cNvPr id="5" name="Header Placeholder 4">
            <a:extLst>
              <a:ext uri="{FF2B5EF4-FFF2-40B4-BE49-F238E27FC236}">
                <a16:creationId xmlns:a16="http://schemas.microsoft.com/office/drawing/2014/main" id="{C82017EF-05DB-088F-B1A0-28083EF8818E}"/>
              </a:ext>
            </a:extLst>
          </p:cNvPr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ru-RU"/>
              <a:t>Основы построения файловых систем</a:t>
            </a:r>
          </a:p>
        </p:txBody>
      </p:sp>
    </p:spTree>
    <p:extLst>
      <p:ext uri="{BB962C8B-B14F-4D97-AF65-F5344CB8AC3E}">
        <p14:creationId xmlns:p14="http://schemas.microsoft.com/office/powerpoint/2010/main" val="37431817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3959B5-76A8-19BC-C519-C98EB3853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56C917-7E62-622F-E67C-F99B95F4A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73C0DB-F971-3A9B-1660-9F1B717756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C8A783-48D4-F435-9A0D-A1E7A1CB47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F33120B-582B-4354-977D-A474A534F6B9}" type="slidenum">
              <a:rPr lang="ru-RU" smtClean="0"/>
              <a:t>11</a:t>
            </a:fld>
            <a:endParaRPr lang="ru-RU"/>
          </a:p>
        </p:txBody>
      </p:sp>
      <p:sp>
        <p:nvSpPr>
          <p:cNvPr id="5" name="Header Placeholder 4">
            <a:extLst>
              <a:ext uri="{FF2B5EF4-FFF2-40B4-BE49-F238E27FC236}">
                <a16:creationId xmlns:a16="http://schemas.microsoft.com/office/drawing/2014/main" id="{38FCED8C-431D-A0F0-4E01-FC78544AF3D4}"/>
              </a:ext>
            </a:extLst>
          </p:cNvPr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ru-RU"/>
              <a:t>Основы построения файловых систем</a:t>
            </a:r>
          </a:p>
        </p:txBody>
      </p:sp>
    </p:spTree>
    <p:extLst>
      <p:ext uri="{BB962C8B-B14F-4D97-AF65-F5344CB8AC3E}">
        <p14:creationId xmlns:p14="http://schemas.microsoft.com/office/powerpoint/2010/main" val="12246945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57BA4-F543-3A0E-F06B-A0B54E7F7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665FA7-35A8-6A78-C3AB-0E8C8F3EDE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59DBF5-B6BE-8EAA-94A4-71D8BE0EE3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C96585-F336-7EBC-E815-3C60D9D325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F33120B-582B-4354-977D-A474A534F6B9}" type="slidenum">
              <a:rPr lang="ru-RU" smtClean="0"/>
              <a:t>12</a:t>
            </a:fld>
            <a:endParaRPr lang="ru-RU"/>
          </a:p>
        </p:txBody>
      </p:sp>
      <p:sp>
        <p:nvSpPr>
          <p:cNvPr id="5" name="Header Placeholder 4">
            <a:extLst>
              <a:ext uri="{FF2B5EF4-FFF2-40B4-BE49-F238E27FC236}">
                <a16:creationId xmlns:a16="http://schemas.microsoft.com/office/drawing/2014/main" id="{7F387D67-810A-B090-76ED-D76C0C361D3A}"/>
              </a:ext>
            </a:extLst>
          </p:cNvPr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ru-RU"/>
              <a:t>Основы построения файловых систем</a:t>
            </a:r>
          </a:p>
        </p:txBody>
      </p:sp>
    </p:spTree>
    <p:extLst>
      <p:ext uri="{BB962C8B-B14F-4D97-AF65-F5344CB8AC3E}">
        <p14:creationId xmlns:p14="http://schemas.microsoft.com/office/powerpoint/2010/main" val="21721151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20619-4FB2-D92B-8A93-B440EC99D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0EF0C1-746A-DCC9-D955-AE2556DA43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58925F-5F9C-8185-A2FF-8F58F19E13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634706-BFC2-4F52-F1C7-750E1DD69A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F33120B-582B-4354-977D-A474A534F6B9}" type="slidenum">
              <a:rPr lang="ru-RU" smtClean="0"/>
              <a:t>13</a:t>
            </a:fld>
            <a:endParaRPr lang="ru-RU"/>
          </a:p>
        </p:txBody>
      </p:sp>
      <p:sp>
        <p:nvSpPr>
          <p:cNvPr id="5" name="Header Placeholder 4">
            <a:extLst>
              <a:ext uri="{FF2B5EF4-FFF2-40B4-BE49-F238E27FC236}">
                <a16:creationId xmlns:a16="http://schemas.microsoft.com/office/drawing/2014/main" id="{AFE7B289-A758-ACBF-2B5F-28C2E4A671B9}"/>
              </a:ext>
            </a:extLst>
          </p:cNvPr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ru-RU"/>
              <a:t>Основы построения файловых систем</a:t>
            </a:r>
          </a:p>
        </p:txBody>
      </p:sp>
    </p:spTree>
    <p:extLst>
      <p:ext uri="{BB962C8B-B14F-4D97-AF65-F5344CB8AC3E}">
        <p14:creationId xmlns:p14="http://schemas.microsoft.com/office/powerpoint/2010/main" val="270057722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2A144-5212-C1AC-4452-A791C2969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028FB7-A7F3-5D24-786F-C3AF087BEE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02D86E-A535-B498-2F5C-35053E4D8D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00583-2721-6B7E-128B-A5D7D259C3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F33120B-582B-4354-977D-A474A534F6B9}" type="slidenum">
              <a:rPr lang="ru-RU" smtClean="0"/>
              <a:t>14</a:t>
            </a:fld>
            <a:endParaRPr lang="ru-RU"/>
          </a:p>
        </p:txBody>
      </p:sp>
      <p:sp>
        <p:nvSpPr>
          <p:cNvPr id="5" name="Header Placeholder 4">
            <a:extLst>
              <a:ext uri="{FF2B5EF4-FFF2-40B4-BE49-F238E27FC236}">
                <a16:creationId xmlns:a16="http://schemas.microsoft.com/office/drawing/2014/main" id="{0617653B-2263-1BE1-D912-962F8845B3BF}"/>
              </a:ext>
            </a:extLst>
          </p:cNvPr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ru-RU"/>
              <a:t>Основы построения файловых систем</a:t>
            </a:r>
          </a:p>
        </p:txBody>
      </p:sp>
    </p:spTree>
    <p:extLst>
      <p:ext uri="{BB962C8B-B14F-4D97-AF65-F5344CB8AC3E}">
        <p14:creationId xmlns:p14="http://schemas.microsoft.com/office/powerpoint/2010/main" val="42251019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6AE97-FA42-5F75-6B34-D4DBB80EB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747381-E0A0-A772-8CEA-4DAFA990F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6273CA-99BB-55D6-B328-414BC82C86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8E8F9D-F69C-C5D8-7D7C-A29158B29B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F33120B-582B-4354-977D-A474A534F6B9}" type="slidenum">
              <a:rPr lang="ru-RU" smtClean="0"/>
              <a:t>15</a:t>
            </a:fld>
            <a:endParaRPr lang="ru-RU"/>
          </a:p>
        </p:txBody>
      </p:sp>
      <p:sp>
        <p:nvSpPr>
          <p:cNvPr id="5" name="Header Placeholder 4">
            <a:extLst>
              <a:ext uri="{FF2B5EF4-FFF2-40B4-BE49-F238E27FC236}">
                <a16:creationId xmlns:a16="http://schemas.microsoft.com/office/drawing/2014/main" id="{2BBB7AE3-D0B2-9912-4DAF-7B27E29137AD}"/>
              </a:ext>
            </a:extLst>
          </p:cNvPr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ru-RU"/>
              <a:t>Основы построения файловых систем</a:t>
            </a:r>
          </a:p>
        </p:txBody>
      </p:sp>
    </p:spTree>
    <p:extLst>
      <p:ext uri="{BB962C8B-B14F-4D97-AF65-F5344CB8AC3E}">
        <p14:creationId xmlns:p14="http://schemas.microsoft.com/office/powerpoint/2010/main" val="411781550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E04AFE-4D28-D543-8A8C-E124B254B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C10506-0017-FDCB-1C7F-AB1830FE68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ADEBC4-EC5A-95AC-3E13-D8F9C9B9A7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44FC63-07A0-730C-73A8-8C0F003226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F33120B-582B-4354-977D-A474A534F6B9}" type="slidenum">
              <a:rPr lang="ru-RU" smtClean="0"/>
              <a:t>16</a:t>
            </a:fld>
            <a:endParaRPr lang="ru-RU"/>
          </a:p>
        </p:txBody>
      </p:sp>
      <p:sp>
        <p:nvSpPr>
          <p:cNvPr id="5" name="Header Placeholder 4">
            <a:extLst>
              <a:ext uri="{FF2B5EF4-FFF2-40B4-BE49-F238E27FC236}">
                <a16:creationId xmlns:a16="http://schemas.microsoft.com/office/drawing/2014/main" id="{09546F9E-527D-BF11-FF36-1E710EDE4D89}"/>
              </a:ext>
            </a:extLst>
          </p:cNvPr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ru-RU"/>
              <a:t>Основы построения файловых систем</a:t>
            </a:r>
          </a:p>
        </p:txBody>
      </p:sp>
    </p:spTree>
    <p:extLst>
      <p:ext uri="{BB962C8B-B14F-4D97-AF65-F5344CB8AC3E}">
        <p14:creationId xmlns:p14="http://schemas.microsoft.com/office/powerpoint/2010/main" val="4417463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63722-5D9F-4E99-9720-9B6A0C7BB1C9}" type="datetimeFigureOut">
              <a:rPr lang="ru-RU" smtClean="0"/>
              <a:t>23.10.2025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66C827-9CFA-4E1C-AE4D-19624BF57C6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94827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63722-5D9F-4E99-9720-9B6A0C7BB1C9}" type="datetimeFigureOut">
              <a:rPr lang="ru-RU" smtClean="0"/>
              <a:t>23.10.2025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66C827-9CFA-4E1C-AE4D-19624BF57C6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81400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63722-5D9F-4E99-9720-9B6A0C7BB1C9}" type="datetimeFigureOut">
              <a:rPr lang="ru-RU" smtClean="0"/>
              <a:t>23.10.2025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66C827-9CFA-4E1C-AE4D-19624BF57C6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7981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365126"/>
            <a:ext cx="10515600" cy="622754"/>
          </a:xfr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Основы построения файловых систем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63722-5D9F-4E99-9720-9B6A0C7BB1C9}" type="datetimeFigureOut">
              <a:rPr lang="ru-RU" smtClean="0"/>
              <a:t>23.10.2025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66C827-9CFA-4E1C-AE4D-19624BF57C6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7053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63722-5D9F-4E99-9720-9B6A0C7BB1C9}" type="datetimeFigureOut">
              <a:rPr lang="ru-RU" smtClean="0"/>
              <a:t>23.10.2025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66C827-9CFA-4E1C-AE4D-19624BF57C6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90223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63722-5D9F-4E99-9720-9B6A0C7BB1C9}" type="datetimeFigureOut">
              <a:rPr lang="ru-RU" smtClean="0"/>
              <a:t>23.10.2025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66C827-9CFA-4E1C-AE4D-19624BF57C6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9913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63722-5D9F-4E99-9720-9B6A0C7BB1C9}" type="datetimeFigureOut">
              <a:rPr lang="ru-RU" smtClean="0"/>
              <a:t>23.10.2025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66C827-9CFA-4E1C-AE4D-19624BF57C6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74329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63722-5D9F-4E99-9720-9B6A0C7BB1C9}" type="datetimeFigureOut">
              <a:rPr lang="ru-RU" smtClean="0"/>
              <a:t>23.10.2025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66C827-9CFA-4E1C-AE4D-19624BF57C6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36460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63722-5D9F-4E99-9720-9B6A0C7BB1C9}" type="datetimeFigureOut">
              <a:rPr lang="ru-RU" smtClean="0"/>
              <a:t>23.10.2025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66C827-9CFA-4E1C-AE4D-19624BF57C6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324304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63722-5D9F-4E99-9720-9B6A0C7BB1C9}" type="datetimeFigureOut">
              <a:rPr lang="ru-RU" smtClean="0"/>
              <a:t>23.10.2025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66C827-9CFA-4E1C-AE4D-19624BF57C6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0928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63722-5D9F-4E99-9720-9B6A0C7BB1C9}" type="datetimeFigureOut">
              <a:rPr lang="ru-RU" smtClean="0"/>
              <a:t>23.10.2025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66C827-9CFA-4E1C-AE4D-19624BF57C6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99648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18C88-2408-4CFC-B25C-07450930B282}" type="datetimeFigureOut">
              <a:rPr lang="ru-RU" smtClean="0"/>
              <a:t>23.10.2025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145A7-1FFA-4548-B8B9-099A1C219A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55850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18C88-2408-4CFC-B25C-07450930B282}" type="datetimeFigureOut">
              <a:rPr lang="ru-RU" smtClean="0"/>
              <a:t>23.10.2025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145A7-1FFA-4548-B8B9-099A1C219A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69723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18C88-2408-4CFC-B25C-07450930B282}" type="datetimeFigureOut">
              <a:rPr lang="ru-RU" smtClean="0"/>
              <a:t>23.10.2025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145A7-1FFA-4548-B8B9-099A1C219A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980577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18C88-2408-4CFC-B25C-07450930B282}" type="datetimeFigureOut">
              <a:rPr lang="ru-RU" smtClean="0"/>
              <a:t>23.10.2025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145A7-1FFA-4548-B8B9-099A1C219A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26596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18C88-2408-4CFC-B25C-07450930B282}" type="datetimeFigureOut">
              <a:rPr lang="ru-RU" smtClean="0"/>
              <a:t>23.10.2025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145A7-1FFA-4548-B8B9-099A1C219A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253826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18C88-2408-4CFC-B25C-07450930B282}" type="datetimeFigureOut">
              <a:rPr lang="ru-RU" smtClean="0"/>
              <a:t>23.10.2025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145A7-1FFA-4548-B8B9-099A1C219A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78445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18C88-2408-4CFC-B25C-07450930B282}" type="datetimeFigureOut">
              <a:rPr lang="ru-RU" smtClean="0"/>
              <a:t>23.10.2025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145A7-1FFA-4548-B8B9-099A1C219A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850548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18C88-2408-4CFC-B25C-07450930B282}" type="datetimeFigureOut">
              <a:rPr lang="ru-RU" smtClean="0"/>
              <a:t>23.10.2025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145A7-1FFA-4548-B8B9-099A1C219A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037210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18C88-2408-4CFC-B25C-07450930B282}" type="datetimeFigureOut">
              <a:rPr lang="ru-RU" smtClean="0"/>
              <a:t>23.10.2025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145A7-1FFA-4548-B8B9-099A1C219A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881158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18C88-2408-4CFC-B25C-07450930B282}" type="datetimeFigureOut">
              <a:rPr lang="ru-RU" smtClean="0"/>
              <a:t>23.10.2025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145A7-1FFA-4548-B8B9-099A1C219A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135203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18C88-2408-4CFC-B25C-07450930B282}" type="datetimeFigureOut">
              <a:rPr lang="ru-RU" smtClean="0"/>
              <a:t>23.10.2025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145A7-1FFA-4548-B8B9-099A1C219A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17587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C63722-5D9F-4E99-9720-9B6A0C7BB1C9}" type="datetimeFigureOut">
              <a:rPr lang="ru-RU" smtClean="0"/>
              <a:t>23.10.2025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66C827-9CFA-4E1C-AE4D-19624BF57C6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14731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218C88-2408-4CFC-B25C-07450930B282}" type="datetimeFigureOut">
              <a:rPr lang="ru-RU" smtClean="0"/>
              <a:t>23.10.2025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9145A7-1FFA-4548-B8B9-099A1C219A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8141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2189499"/>
              </p:ext>
            </p:extLst>
          </p:nvPr>
        </p:nvGraphicFramePr>
        <p:xfrm>
          <a:off x="0" y="1"/>
          <a:ext cx="12192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1276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1933860"/>
              </p:ext>
            </p:extLst>
          </p:nvPr>
        </p:nvGraphicFramePr>
        <p:xfrm>
          <a:off x="0" y="6532604"/>
          <a:ext cx="12192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809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3648654" y="923419"/>
            <a:ext cx="53883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The basics of file systems</a:t>
            </a:r>
            <a:endParaRPr lang="ru-RU" sz="4000" dirty="0"/>
          </a:p>
        </p:txBody>
      </p:sp>
      <p:pic>
        <p:nvPicPr>
          <p:cNvPr id="1026" name="Picture 2" descr="Neapolis University Pafos, Cyprus Adaptive • Inspiring • Today • Education">
            <a:extLst>
              <a:ext uri="{FF2B5EF4-FFF2-40B4-BE49-F238E27FC236}">
                <a16:creationId xmlns:a16="http://schemas.microsoft.com/office/drawing/2014/main" id="{4A89C479-1691-99F0-24E5-26D57F721B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1822" y="2457450"/>
            <a:ext cx="4191000" cy="1943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A35F9A63-3251-7EB7-FC8E-AE3ABA4B7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2638" y="1977686"/>
            <a:ext cx="2677540" cy="2902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05591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72039-2A17-A6B2-E060-F7DEC3FFB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14737D0-4E87-43A3-A7B9-98D25DBC01B9}"/>
              </a:ext>
            </a:extLst>
          </p:cNvPr>
          <p:cNvGraphicFramePr>
            <a:graphicFrameLocks noGrp="1"/>
          </p:cNvGraphicFramePr>
          <p:nvPr/>
        </p:nvGraphicFramePr>
        <p:xfrm>
          <a:off x="0" y="1"/>
          <a:ext cx="12192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1276">
                <a:tc>
                  <a:txBody>
                    <a:bodyPr/>
                    <a:lstStyle/>
                    <a:p>
                      <a:r>
                        <a:rPr lang="en-US" sz="1800" dirty="0"/>
                        <a:t>What we will implement</a:t>
                      </a:r>
                      <a:endParaRPr lang="ru-RU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E79975B-E198-4FE0-46F8-E4040B58D824}"/>
              </a:ext>
            </a:extLst>
          </p:cNvPr>
          <p:cNvGraphicFramePr>
            <a:graphicFrameLocks noGrp="1"/>
          </p:cNvGraphicFramePr>
          <p:nvPr/>
        </p:nvGraphicFramePr>
        <p:xfrm>
          <a:off x="0" y="6532604"/>
          <a:ext cx="12192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809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704D9524-71A4-44CE-2AD6-BDA7ED9D18E4}"/>
              </a:ext>
            </a:extLst>
          </p:cNvPr>
          <p:cNvSpPr txBox="1"/>
          <p:nvPr/>
        </p:nvSpPr>
        <p:spPr>
          <a:xfrm>
            <a:off x="0" y="365761"/>
            <a:ext cx="12192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Y" dirty="0"/>
              <a:t>Suppose you implement a procedure to merge components of an LSM tree. This procedure needs to store the result in GCS: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/>
              <a:t>The size of the result is not known up-front. Moreover, the result may be too big to fit in RAM.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/>
              <a:t>The connection to GCS is unreliable. However, the merge procedure itself must not implement retries.</a:t>
            </a:r>
          </a:p>
        </p:txBody>
      </p:sp>
    </p:spTree>
    <p:extLst>
      <p:ext uri="{BB962C8B-B14F-4D97-AF65-F5344CB8AC3E}">
        <p14:creationId xmlns:p14="http://schemas.microsoft.com/office/powerpoint/2010/main" val="38119694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15EF1-AC53-0027-3A92-6F9E2ED9F8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E99D2C5-3BF0-3E0E-E617-1F03A6C985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6583345"/>
              </p:ext>
            </p:extLst>
          </p:nvPr>
        </p:nvGraphicFramePr>
        <p:xfrm>
          <a:off x="0" y="1"/>
          <a:ext cx="12192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1276">
                <a:tc>
                  <a:txBody>
                    <a:bodyPr/>
                    <a:lstStyle/>
                    <a:p>
                      <a:r>
                        <a:rPr lang="en-US" sz="1800" dirty="0"/>
                        <a:t>What we will implement</a:t>
                      </a:r>
                      <a:endParaRPr lang="ru-RU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5CC31DB-4328-E934-AF77-B4D5916688BF}"/>
              </a:ext>
            </a:extLst>
          </p:cNvPr>
          <p:cNvGraphicFramePr>
            <a:graphicFrameLocks noGrp="1"/>
          </p:cNvGraphicFramePr>
          <p:nvPr/>
        </p:nvGraphicFramePr>
        <p:xfrm>
          <a:off x="0" y="6532604"/>
          <a:ext cx="12192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809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6D239CE0-0877-88D5-D965-5043D8E7BEA7}"/>
              </a:ext>
            </a:extLst>
          </p:cNvPr>
          <p:cNvSpPr txBox="1"/>
          <p:nvPr/>
        </p:nvSpPr>
        <p:spPr>
          <a:xfrm>
            <a:off x="0" y="365761"/>
            <a:ext cx="12192000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Y" dirty="0"/>
              <a:t>Suppose you implement a procedure to merge components of an LSM tree. This procedure needs to store the result in GCS: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/>
              <a:t>The size of the result is not known up-front. Moreover, the result may be too big to fit in RAM.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/>
              <a:t>The connection to GCS is unreliable. However, the merge procedure itself must not implement retries.</a:t>
            </a:r>
          </a:p>
          <a:p>
            <a:pPr marL="342900" indent="-342900">
              <a:buFont typeface="+mj-lt"/>
              <a:buAutoNum type="arabicPeriod"/>
            </a:pPr>
            <a:endParaRPr lang="en-CY" dirty="0"/>
          </a:p>
          <a:p>
            <a:r>
              <a:rPr lang="en-CY" dirty="0"/>
              <a:t>Suggested implementation:</a:t>
            </a:r>
          </a:p>
          <a:p>
            <a:endParaRPr lang="en-CY" dirty="0"/>
          </a:p>
          <a:p>
            <a:r>
              <a:rPr lang="en-CY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type ReliableWriter struct {</a:t>
            </a:r>
          </a:p>
          <a:p>
            <a:r>
              <a:rPr lang="en-CY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???</a:t>
            </a:r>
            <a:br>
              <a:rPr lang="en-CY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CY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</a:t>
            </a:r>
          </a:p>
          <a:p>
            <a:endParaRPr lang="en-CY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CY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func (w *ReliableWriter) WriteAt(ctx context.Context, buf []byte, off int64) (err error) {</a:t>
            </a:r>
          </a:p>
          <a:p>
            <a:r>
              <a:rPr lang="en-CY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// in fact, all writes need to be appends; off is a consistency check</a:t>
            </a:r>
          </a:p>
          <a:p>
            <a:r>
              <a:rPr lang="en-CY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???</a:t>
            </a:r>
            <a:br>
              <a:rPr lang="en-CY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CY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</a:t>
            </a:r>
          </a:p>
          <a:p>
            <a:endParaRPr lang="en-CY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CY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func (w *ReliableWriter) Complete(ctx context.Context) (err error) {</a:t>
            </a:r>
          </a:p>
          <a:p>
            <a:r>
              <a:rPr lang="en-CY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???</a:t>
            </a:r>
            <a:br>
              <a:rPr lang="en-CY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CY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</a:t>
            </a:r>
          </a:p>
          <a:p>
            <a:endParaRPr lang="en-CY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CY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func (w *ReliableWriter) Abort(ctx context.Context) {</a:t>
            </a:r>
          </a:p>
          <a:p>
            <a:r>
              <a:rPr lang="en-CY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???</a:t>
            </a:r>
            <a:br>
              <a:rPr lang="en-CY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CY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315845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A14C5-67CB-F644-A527-9256DF6A0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D7517F9-DC6E-48D6-1F6D-42D8B04F4D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9731332"/>
              </p:ext>
            </p:extLst>
          </p:nvPr>
        </p:nvGraphicFramePr>
        <p:xfrm>
          <a:off x="0" y="1"/>
          <a:ext cx="12192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1276">
                <a:tc>
                  <a:txBody>
                    <a:bodyPr/>
                    <a:lstStyle/>
                    <a:p>
                      <a:r>
                        <a:rPr lang="en-US" sz="1800" dirty="0"/>
                        <a:t>Reminder: uploading big objects</a:t>
                      </a:r>
                      <a:endParaRPr lang="ru-RU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81567C2-7B7D-E1B1-FCF9-DBB7FC58DF69}"/>
              </a:ext>
            </a:extLst>
          </p:cNvPr>
          <p:cNvGraphicFramePr>
            <a:graphicFrameLocks noGrp="1"/>
          </p:cNvGraphicFramePr>
          <p:nvPr/>
        </p:nvGraphicFramePr>
        <p:xfrm>
          <a:off x="0" y="6532604"/>
          <a:ext cx="12192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809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670EDB5-2070-3D66-A8D0-048825F8CC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3092452"/>
              </p:ext>
            </p:extLst>
          </p:nvPr>
        </p:nvGraphicFramePr>
        <p:xfrm>
          <a:off x="0" y="365761"/>
          <a:ext cx="12192000" cy="2108200"/>
        </p:xfrm>
        <a:graphic>
          <a:graphicData uri="http://schemas.openxmlformats.org/drawingml/2006/table">
            <a:tbl>
              <a:tblPr firstRow="1" bandRow="1"/>
              <a:tblGrid>
                <a:gridCol w="6096000">
                  <a:extLst>
                    <a:ext uri="{9D8B030D-6E8A-4147-A177-3AD203B41FA5}">
                      <a16:colId xmlns:a16="http://schemas.microsoft.com/office/drawing/2014/main" val="1200050995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1585237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Y" dirty="0"/>
                        <a:t>S3 and Azure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Y" dirty="0"/>
                        <a:t>GCS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25604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indent="-342900">
                        <a:buAutoNum type="arabicPeriod"/>
                      </a:pPr>
                      <a:r>
                        <a:rPr lang="en-CY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CreateMultipartUpload()</a:t>
                      </a:r>
                      <a:r>
                        <a:rPr lang="en-CY" dirty="0"/>
                        <a:t>,</a:t>
                      </a:r>
                    </a:p>
                    <a:p>
                      <a:pPr marL="342900" indent="-342900">
                        <a:buAutoNum type="arabicPeriod"/>
                      </a:pPr>
                      <a:endParaRPr lang="en-CY" dirty="0"/>
                    </a:p>
                    <a:p>
                      <a:pPr marL="342900" indent="-342900">
                        <a:buAutoNum type="arabicPeriod"/>
                      </a:pPr>
                      <a:r>
                        <a:rPr lang="en-CY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PUT Object</a:t>
                      </a:r>
                      <a:r>
                        <a:rPr lang="en-CY" dirty="0"/>
                        <a:t> to upload parts, possibly in parallel,</a:t>
                      </a:r>
                    </a:p>
                    <a:p>
                      <a:pPr marL="342900" indent="-342900">
                        <a:buAutoNum type="arabicPeriod"/>
                      </a:pPr>
                      <a:endParaRPr lang="en-CY" dirty="0"/>
                    </a:p>
                    <a:p>
                      <a:pPr marL="342900" indent="-342900">
                        <a:buAutoNum type="arabicPeriod"/>
                      </a:pPr>
                      <a:r>
                        <a:rPr lang="en-CY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CompleteMultipartUpload()</a:t>
                      </a:r>
                      <a:r>
                        <a:rPr lang="en-CY"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indent="-342900">
                        <a:buAutoNum type="arabicPeriod"/>
                      </a:pPr>
                      <a:r>
                        <a:rPr lang="en-CY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POST /upload</a:t>
                      </a:r>
                      <a:r>
                        <a:rPr lang="en-CY" dirty="0"/>
                        <a:t> to start a resumable upload session,</a:t>
                      </a:r>
                    </a:p>
                    <a:p>
                      <a:pPr marL="342900" indent="-342900">
                        <a:buAutoNum type="arabicPeriod"/>
                      </a:pPr>
                      <a:endParaRPr lang="en-CY" dirty="0"/>
                    </a:p>
                    <a:p>
                      <a:pPr marL="342900" indent="-342900">
                        <a:buAutoNum type="arabicPeriod"/>
                      </a:pPr>
                      <a:r>
                        <a:rPr lang="en-CY" dirty="0"/>
                        <a:t>Issue a sequence of </a:t>
                      </a:r>
                      <a:r>
                        <a:rPr lang="en-CY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PUT</a:t>
                      </a:r>
                      <a:r>
                        <a:rPr lang="en-CY" dirty="0"/>
                        <a:t>s that specify Range:</a:t>
                      </a:r>
                      <a:br>
                        <a:rPr lang="en-CY" dirty="0"/>
                      </a:br>
                      <a:r>
                        <a:rPr lang="en-CY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PUT</a:t>
                      </a:r>
                      <a:r>
                        <a:rPr lang="en-CY" dirty="0"/>
                        <a:t>s can’t run in parallel, ranges must be adjacent.</a:t>
                      </a:r>
                    </a:p>
                    <a:p>
                      <a:pPr marL="342900" indent="-342900">
                        <a:buAutoNum type="arabicPeriod"/>
                      </a:pPr>
                      <a:endParaRPr lang="en-CY" dirty="0"/>
                    </a:p>
                    <a:p>
                      <a:pPr marL="342900" indent="-342900">
                        <a:buAutoNum type="arabicPeriod"/>
                      </a:pPr>
                      <a:r>
                        <a:rPr lang="en-CY" dirty="0"/>
                        <a:t>The last </a:t>
                      </a:r>
                      <a:r>
                        <a:rPr lang="en-CY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PUT</a:t>
                      </a:r>
                      <a:r>
                        <a:rPr lang="en-CY" dirty="0"/>
                        <a:t> has a special flag that completes an upload.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97494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103360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2431DF-04DC-80F5-520C-512086AC9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D27BE2F-5F67-6F8C-E942-D688F11D8420}"/>
              </a:ext>
            </a:extLst>
          </p:cNvPr>
          <p:cNvGraphicFramePr>
            <a:graphicFrameLocks noGrp="1"/>
          </p:cNvGraphicFramePr>
          <p:nvPr/>
        </p:nvGraphicFramePr>
        <p:xfrm>
          <a:off x="0" y="1"/>
          <a:ext cx="12192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1276">
                <a:tc>
                  <a:txBody>
                    <a:bodyPr/>
                    <a:lstStyle/>
                    <a:p>
                      <a:r>
                        <a:rPr lang="en-US" sz="1800" dirty="0"/>
                        <a:t>What we will implement</a:t>
                      </a:r>
                      <a:endParaRPr lang="ru-RU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D2A0A14-C73F-0FA6-65C0-F76C36B02303}"/>
              </a:ext>
            </a:extLst>
          </p:cNvPr>
          <p:cNvGraphicFramePr>
            <a:graphicFrameLocks noGrp="1"/>
          </p:cNvGraphicFramePr>
          <p:nvPr/>
        </p:nvGraphicFramePr>
        <p:xfrm>
          <a:off x="0" y="6532604"/>
          <a:ext cx="12192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809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AC803CC2-0AB8-EF45-3992-9CEF3B7EDDE8}"/>
              </a:ext>
            </a:extLst>
          </p:cNvPr>
          <p:cNvSpPr txBox="1"/>
          <p:nvPr/>
        </p:nvSpPr>
        <p:spPr>
          <a:xfrm>
            <a:off x="0" y="365761"/>
            <a:ext cx="12192000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Y" dirty="0">
                <a:solidFill>
                  <a:schemeClr val="bg1">
                    <a:lumMod val="75000"/>
                  </a:schemeClr>
                </a:solidFill>
              </a:rPr>
              <a:t>Suppose you implement a procedure to merge components of an LSM tree. This procedure needs to store the result in GCS: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>
                <a:solidFill>
                  <a:schemeClr val="bg1">
                    <a:lumMod val="75000"/>
                  </a:schemeClr>
                </a:solidFill>
              </a:rPr>
              <a:t>The size of the result is not known up-front. Moreover, the result may be too big to fit in RAM.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>
                <a:solidFill>
                  <a:schemeClr val="bg1">
                    <a:lumMod val="75000"/>
                  </a:schemeClr>
                </a:solidFill>
              </a:rPr>
              <a:t>The connection to GCS is unreliable. However, the merge procedure itself must not implement retries.</a:t>
            </a:r>
          </a:p>
          <a:p>
            <a:pPr marL="342900" indent="-342900">
              <a:buFont typeface="+mj-lt"/>
              <a:buAutoNum type="arabicPeriod"/>
            </a:pPr>
            <a:endParaRPr lang="en-CY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CY" dirty="0">
                <a:solidFill>
                  <a:schemeClr val="bg1">
                    <a:lumMod val="75000"/>
                  </a:schemeClr>
                </a:solidFill>
              </a:rPr>
              <a:t>Suggested implementation:</a:t>
            </a:r>
          </a:p>
          <a:p>
            <a:endParaRPr lang="en-CY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CY" sz="16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type ReliableWriter struct {…}</a:t>
            </a:r>
          </a:p>
          <a:p>
            <a:endParaRPr lang="en-CY" sz="1600" dirty="0">
              <a:solidFill>
                <a:schemeClr val="bg1">
                  <a:lumMod val="7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CY" sz="16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func (w *ReliableWriter) WriteAt(ctx context.Context, buf []byte, off int64) (err error) {…}</a:t>
            </a:r>
          </a:p>
          <a:p>
            <a:r>
              <a:rPr lang="en-CY" sz="16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func (w *ReliableWriter) Complete(ctx context.Context) (err error) {…}</a:t>
            </a:r>
          </a:p>
          <a:p>
            <a:r>
              <a:rPr lang="en-CY" sz="16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func (w *ReliableWriter) Abort(ctx context.Context) {…}</a:t>
            </a:r>
            <a:endParaRPr lang="en-CY" dirty="0">
              <a:solidFill>
                <a:schemeClr val="bg1">
                  <a:lumMod val="75000"/>
                </a:schemeClr>
              </a:solidFill>
              <a:ea typeface="Menlo" panose="020B0609030804020204" pitchFamily="49" charset="0"/>
              <a:cs typeface="Menlo" panose="020B0609030804020204" pitchFamily="49" charset="0"/>
            </a:endParaRPr>
          </a:p>
          <a:p>
            <a:endParaRPr lang="en-CY" dirty="0"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CY" dirty="0">
                <a:ea typeface="Menlo" panose="020B0609030804020204" pitchFamily="49" charset="0"/>
                <a:cs typeface="Menlo" panose="020B0609030804020204" pitchFamily="49" charset="0"/>
              </a:rPr>
              <a:t>Object storages have different APIs for chunked uploads. Our server that uses multiple connections for file transfers will have yet another API.</a:t>
            </a:r>
          </a:p>
          <a:p>
            <a:endParaRPr lang="en-CY" dirty="0"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CY" dirty="0">
                <a:ea typeface="Menlo" panose="020B0609030804020204" pitchFamily="49" charset="0"/>
                <a:cs typeface="Menlo" panose="020B0609030804020204" pitchFamily="49" charset="0"/>
              </a:rPr>
              <a:t>We need to introduce an adapter to the underlying storage.</a:t>
            </a:r>
          </a:p>
        </p:txBody>
      </p:sp>
    </p:spTree>
    <p:extLst>
      <p:ext uri="{BB962C8B-B14F-4D97-AF65-F5344CB8AC3E}">
        <p14:creationId xmlns:p14="http://schemas.microsoft.com/office/powerpoint/2010/main" val="19008516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2A21B-7B08-F623-E855-2B65AB921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7B5F2F7-13D3-8751-672A-FB582FE68DB2}"/>
              </a:ext>
            </a:extLst>
          </p:cNvPr>
          <p:cNvGraphicFramePr>
            <a:graphicFrameLocks noGrp="1"/>
          </p:cNvGraphicFramePr>
          <p:nvPr/>
        </p:nvGraphicFramePr>
        <p:xfrm>
          <a:off x="0" y="1"/>
          <a:ext cx="12192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1276">
                <a:tc>
                  <a:txBody>
                    <a:bodyPr/>
                    <a:lstStyle/>
                    <a:p>
                      <a:r>
                        <a:rPr lang="en-US" sz="1800" dirty="0"/>
                        <a:t>What we will implement</a:t>
                      </a:r>
                      <a:endParaRPr lang="ru-RU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3B8F163-6F46-CD6D-3E38-6A0F8656E574}"/>
              </a:ext>
            </a:extLst>
          </p:cNvPr>
          <p:cNvGraphicFramePr>
            <a:graphicFrameLocks noGrp="1"/>
          </p:cNvGraphicFramePr>
          <p:nvPr/>
        </p:nvGraphicFramePr>
        <p:xfrm>
          <a:off x="0" y="6532604"/>
          <a:ext cx="12192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809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DC36A37E-46E1-54C2-C57A-6CEF983C23C0}"/>
              </a:ext>
            </a:extLst>
          </p:cNvPr>
          <p:cNvSpPr txBox="1"/>
          <p:nvPr/>
        </p:nvSpPr>
        <p:spPr>
          <a:xfrm>
            <a:off x="0" y="365761"/>
            <a:ext cx="12192000" cy="49244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Y" dirty="0">
                <a:solidFill>
                  <a:schemeClr val="bg1">
                    <a:lumMod val="75000"/>
                  </a:schemeClr>
                </a:solidFill>
              </a:rPr>
              <a:t>Suppose you implement a procedure to merge components of an LSM tree. This procedure needs to store the result in GCS: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>
                <a:solidFill>
                  <a:schemeClr val="bg1">
                    <a:lumMod val="75000"/>
                  </a:schemeClr>
                </a:solidFill>
              </a:rPr>
              <a:t>The size of the result is not known up-front. Moreover, the result may be too big to fit in RAM.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>
                <a:solidFill>
                  <a:schemeClr val="bg1">
                    <a:lumMod val="75000"/>
                  </a:schemeClr>
                </a:solidFill>
              </a:rPr>
              <a:t>The connection to GCS is unreliable. However, the merge procedure itself must not implement retries.</a:t>
            </a:r>
          </a:p>
          <a:p>
            <a:pPr marL="342900" indent="-342900">
              <a:buFont typeface="+mj-lt"/>
              <a:buAutoNum type="arabicPeriod"/>
            </a:pPr>
            <a:endParaRPr lang="en-CY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CY" dirty="0">
                <a:solidFill>
                  <a:schemeClr val="bg1">
                    <a:lumMod val="75000"/>
                  </a:schemeClr>
                </a:solidFill>
              </a:rPr>
              <a:t>Suggested implementation:</a:t>
            </a:r>
          </a:p>
          <a:p>
            <a:endParaRPr lang="en-CY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CY" sz="16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type ReliableWriter struct {…}</a:t>
            </a:r>
          </a:p>
          <a:p>
            <a:endParaRPr lang="en-CY" sz="1600" dirty="0">
              <a:solidFill>
                <a:schemeClr val="bg1">
                  <a:lumMod val="7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CY" sz="16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func (w *ReliableWriter) WriteAt(ctx context.Context, buf []byte, off int64) (err error) {…}</a:t>
            </a:r>
          </a:p>
          <a:p>
            <a:r>
              <a:rPr lang="en-CY" sz="16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func (w *ReliableWriter) Complete(ctx context.Context) (err error) {…}</a:t>
            </a:r>
          </a:p>
          <a:p>
            <a:r>
              <a:rPr lang="en-CY" sz="16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func (w *ReliableWriter) Abort(ctx context.Context) {…}</a:t>
            </a:r>
            <a:endParaRPr lang="en-CY" dirty="0">
              <a:solidFill>
                <a:schemeClr val="bg1">
                  <a:lumMod val="75000"/>
                </a:schemeClr>
              </a:solidFill>
              <a:ea typeface="Menlo" panose="020B0609030804020204" pitchFamily="49" charset="0"/>
              <a:cs typeface="Menlo" panose="020B0609030804020204" pitchFamily="49" charset="0"/>
            </a:endParaRPr>
          </a:p>
          <a:p>
            <a:endParaRPr lang="en-CY" dirty="0"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CY" dirty="0">
                <a:ea typeface="Menlo" panose="020B0609030804020204" pitchFamily="49" charset="0"/>
                <a:cs typeface="Menlo" panose="020B0609030804020204" pitchFamily="49" charset="0"/>
              </a:rPr>
              <a:t>Object storages have different APIs for chunked uploads. Our server that uses multiple connections for file transfers will have yet another API.</a:t>
            </a:r>
          </a:p>
          <a:p>
            <a:endParaRPr lang="en-CY" dirty="0"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CY" dirty="0">
                <a:ea typeface="Menlo" panose="020B0609030804020204" pitchFamily="49" charset="0"/>
                <a:cs typeface="Menlo" panose="020B0609030804020204" pitchFamily="49" charset="0"/>
              </a:rPr>
              <a:t>We need to introduce an adapter to the underlying storage.</a:t>
            </a:r>
          </a:p>
          <a:p>
            <a:endParaRPr lang="en-CY" dirty="0"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CY" b="1" dirty="0">
                <a:ea typeface="Menlo" panose="020B0609030804020204" pitchFamily="49" charset="0"/>
                <a:cs typeface="Menlo" panose="020B0609030804020204" pitchFamily="49" charset="0"/>
              </a:rPr>
              <a:t>Question:</a:t>
            </a:r>
            <a:r>
              <a:rPr lang="en-CY" dirty="0">
                <a:ea typeface="Menlo" panose="020B0609030804020204" pitchFamily="49" charset="0"/>
                <a:cs typeface="Menlo" panose="020B0609030804020204" pitchFamily="49" charset="0"/>
              </a:rPr>
              <a:t> where do we implement retries and backoffs? In ReliableWriter or in adapters to storages?</a:t>
            </a:r>
          </a:p>
        </p:txBody>
      </p:sp>
    </p:spTree>
    <p:extLst>
      <p:ext uri="{BB962C8B-B14F-4D97-AF65-F5344CB8AC3E}">
        <p14:creationId xmlns:p14="http://schemas.microsoft.com/office/powerpoint/2010/main" val="236673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42107-8AD1-513E-BAFC-FF9F6B6D4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862DDA4-5C2E-3A23-90D5-C53D23A07881}"/>
              </a:ext>
            </a:extLst>
          </p:cNvPr>
          <p:cNvGraphicFramePr>
            <a:graphicFrameLocks noGrp="1"/>
          </p:cNvGraphicFramePr>
          <p:nvPr/>
        </p:nvGraphicFramePr>
        <p:xfrm>
          <a:off x="0" y="1"/>
          <a:ext cx="12192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1276">
                <a:tc>
                  <a:txBody>
                    <a:bodyPr/>
                    <a:lstStyle/>
                    <a:p>
                      <a:r>
                        <a:rPr lang="en-US" sz="1800" dirty="0"/>
                        <a:t>What we will implement</a:t>
                      </a:r>
                      <a:endParaRPr lang="ru-RU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3D18B76-8322-4EAF-E816-EE7333FCE07F}"/>
              </a:ext>
            </a:extLst>
          </p:cNvPr>
          <p:cNvGraphicFramePr>
            <a:graphicFrameLocks noGrp="1"/>
          </p:cNvGraphicFramePr>
          <p:nvPr/>
        </p:nvGraphicFramePr>
        <p:xfrm>
          <a:off x="0" y="6532604"/>
          <a:ext cx="12192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809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38F6B1B8-D1C6-E9D8-5E0C-611A6A566B3A}"/>
              </a:ext>
            </a:extLst>
          </p:cNvPr>
          <p:cNvSpPr txBox="1"/>
          <p:nvPr/>
        </p:nvSpPr>
        <p:spPr>
          <a:xfrm>
            <a:off x="0" y="365761"/>
            <a:ext cx="12192000" cy="54784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Y" dirty="0">
                <a:solidFill>
                  <a:schemeClr val="bg1">
                    <a:lumMod val="75000"/>
                  </a:schemeClr>
                </a:solidFill>
              </a:rPr>
              <a:t>Suppose you implement a procedure to merge components of an LSM tree. This procedure needs to store the result in GCS: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>
                <a:solidFill>
                  <a:schemeClr val="bg1">
                    <a:lumMod val="75000"/>
                  </a:schemeClr>
                </a:solidFill>
              </a:rPr>
              <a:t>The size of the result is not known up-front. Moreover, the result may be too big to fit in RAM.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>
                <a:solidFill>
                  <a:schemeClr val="bg1">
                    <a:lumMod val="75000"/>
                  </a:schemeClr>
                </a:solidFill>
              </a:rPr>
              <a:t>The connection to GCS is unreliable. However, the merge procedure itself must not implement retries.</a:t>
            </a:r>
          </a:p>
          <a:p>
            <a:pPr marL="342900" indent="-342900">
              <a:buFont typeface="+mj-lt"/>
              <a:buAutoNum type="arabicPeriod"/>
            </a:pPr>
            <a:endParaRPr lang="en-CY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CY" dirty="0">
                <a:solidFill>
                  <a:schemeClr val="bg1">
                    <a:lumMod val="75000"/>
                  </a:schemeClr>
                </a:solidFill>
              </a:rPr>
              <a:t>Suggested implementation:</a:t>
            </a:r>
          </a:p>
          <a:p>
            <a:endParaRPr lang="en-CY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CY" sz="16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type ReliableWriter struct {…}</a:t>
            </a:r>
          </a:p>
          <a:p>
            <a:endParaRPr lang="en-CY" sz="1600" dirty="0">
              <a:solidFill>
                <a:schemeClr val="bg1">
                  <a:lumMod val="7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CY" sz="16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func (w *ReliableWriter) WriteAt(ctx context.Context, buf []byte, off int64) (err error) {…}</a:t>
            </a:r>
          </a:p>
          <a:p>
            <a:r>
              <a:rPr lang="en-CY" sz="16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func (w *ReliableWriter) Complete(ctx context.Context) (err error) {…}</a:t>
            </a:r>
          </a:p>
          <a:p>
            <a:r>
              <a:rPr lang="en-CY" sz="16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func (w *ReliableWriter) Abort(ctx context.Context) {…}</a:t>
            </a:r>
            <a:endParaRPr lang="en-CY" dirty="0">
              <a:solidFill>
                <a:schemeClr val="bg1">
                  <a:lumMod val="75000"/>
                </a:schemeClr>
              </a:solidFill>
              <a:ea typeface="Menlo" panose="020B0609030804020204" pitchFamily="49" charset="0"/>
              <a:cs typeface="Menlo" panose="020B0609030804020204" pitchFamily="49" charset="0"/>
            </a:endParaRPr>
          </a:p>
          <a:p>
            <a:endParaRPr lang="en-CY" dirty="0"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CY" dirty="0">
                <a:ea typeface="Menlo" panose="020B0609030804020204" pitchFamily="49" charset="0"/>
                <a:cs typeface="Menlo" panose="020B0609030804020204" pitchFamily="49" charset="0"/>
              </a:rPr>
              <a:t>Object storages have different APIs for chunked uploads. Our server that uses multiple connections for file transfers will have yet another API.</a:t>
            </a:r>
          </a:p>
          <a:p>
            <a:endParaRPr lang="en-CY" dirty="0"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CY" dirty="0">
                <a:ea typeface="Menlo" panose="020B0609030804020204" pitchFamily="49" charset="0"/>
                <a:cs typeface="Menlo" panose="020B0609030804020204" pitchFamily="49" charset="0"/>
              </a:rPr>
              <a:t>We need to introduce an adapter to the underlying storage.</a:t>
            </a:r>
          </a:p>
          <a:p>
            <a:endParaRPr lang="en-CY" dirty="0"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CY" b="1" dirty="0">
                <a:ea typeface="Menlo" panose="020B0609030804020204" pitchFamily="49" charset="0"/>
                <a:cs typeface="Menlo" panose="020B0609030804020204" pitchFamily="49" charset="0"/>
              </a:rPr>
              <a:t>Question:</a:t>
            </a:r>
            <a:r>
              <a:rPr lang="en-CY" dirty="0">
                <a:ea typeface="Menlo" panose="020B0609030804020204" pitchFamily="49" charset="0"/>
                <a:cs typeface="Menlo" panose="020B0609030804020204" pitchFamily="49" charset="0"/>
              </a:rPr>
              <a:t> where do we implement retries and backoffs? In ReliableWriter or in adapters to storages?</a:t>
            </a:r>
          </a:p>
          <a:p>
            <a:endParaRPr lang="en-CY" dirty="0"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CY" b="1" dirty="0">
                <a:ea typeface="Menlo" panose="020B0609030804020204" pitchFamily="49" charset="0"/>
                <a:cs typeface="Menlo" panose="020B0609030804020204" pitchFamily="49" charset="0"/>
              </a:rPr>
              <a:t>Question:</a:t>
            </a:r>
            <a:r>
              <a:rPr lang="en-CY" dirty="0">
                <a:ea typeface="Menlo" panose="020B0609030804020204" pitchFamily="49" charset="0"/>
                <a:cs typeface="Menlo" panose="020B0609030804020204" pitchFamily="49" charset="0"/>
              </a:rPr>
              <a:t> where do we implement chunking? In the client or in the server? Hint: we want to minimise the server’s RAM usage.</a:t>
            </a:r>
          </a:p>
        </p:txBody>
      </p:sp>
    </p:spTree>
    <p:extLst>
      <p:ext uri="{BB962C8B-B14F-4D97-AF65-F5344CB8AC3E}">
        <p14:creationId xmlns:p14="http://schemas.microsoft.com/office/powerpoint/2010/main" val="15660626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CF254-F1D5-33B2-4426-30E9FF5CA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B97F205-CE61-ABAB-7835-2B589F728A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0306639"/>
              </p:ext>
            </p:extLst>
          </p:nvPr>
        </p:nvGraphicFramePr>
        <p:xfrm>
          <a:off x="0" y="1"/>
          <a:ext cx="12192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1276">
                <a:tc>
                  <a:txBody>
                    <a:bodyPr/>
                    <a:lstStyle/>
                    <a:p>
                      <a:r>
                        <a:rPr lang="en-US" sz="1800" dirty="0"/>
                        <a:t>Reliable and unreliable writers</a:t>
                      </a:r>
                      <a:endParaRPr lang="ru-RU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CF42AFF-1A7F-821C-AF31-061D3E56E830}"/>
              </a:ext>
            </a:extLst>
          </p:cNvPr>
          <p:cNvGraphicFramePr>
            <a:graphicFrameLocks noGrp="1"/>
          </p:cNvGraphicFramePr>
          <p:nvPr/>
        </p:nvGraphicFramePr>
        <p:xfrm>
          <a:off x="0" y="6532604"/>
          <a:ext cx="12192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809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F6995BC-D5D2-9B83-D632-68DC2EB597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7305701"/>
              </p:ext>
            </p:extLst>
          </p:nvPr>
        </p:nvGraphicFramePr>
        <p:xfrm>
          <a:off x="0" y="365761"/>
          <a:ext cx="12192000" cy="1681480"/>
        </p:xfrm>
        <a:graphic>
          <a:graphicData uri="http://schemas.openxmlformats.org/drawingml/2006/table">
            <a:tbl>
              <a:tblPr firstRow="1" bandRow="1"/>
              <a:tblGrid>
                <a:gridCol w="5078896">
                  <a:extLst>
                    <a:ext uri="{9D8B030D-6E8A-4147-A177-3AD203B41FA5}">
                      <a16:colId xmlns:a16="http://schemas.microsoft.com/office/drawing/2014/main" val="1200050995"/>
                    </a:ext>
                  </a:extLst>
                </a:gridCol>
                <a:gridCol w="7113104">
                  <a:extLst>
                    <a:ext uri="{9D8B030D-6E8A-4147-A177-3AD203B41FA5}">
                      <a16:colId xmlns:a16="http://schemas.microsoft.com/office/drawing/2014/main" val="1585237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Y" dirty="0"/>
                        <a:t>ReliableWriter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Y" dirty="0"/>
                        <a:t>UnreliableWriter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25604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WriteAt(ctx, buf, off) error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Complete(ctx) error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Abort(ctx)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WriteAt(ctx, chunkBegin, chunkEnd, buf, off) error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GetResumeOffset(ctx, chunkBegin, chunkEnd) (off, err)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SetObjectSize(size)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Complete(ctx) error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Abort(ctx)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97494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39034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24E3-9708-92FB-606B-69F1E205B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D967E73-8B7B-CCCB-09FA-BFE0251C3556}"/>
              </a:ext>
            </a:extLst>
          </p:cNvPr>
          <p:cNvGraphicFramePr>
            <a:graphicFrameLocks noGrp="1"/>
          </p:cNvGraphicFramePr>
          <p:nvPr/>
        </p:nvGraphicFramePr>
        <p:xfrm>
          <a:off x="0" y="1"/>
          <a:ext cx="12192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1276">
                <a:tc>
                  <a:txBody>
                    <a:bodyPr/>
                    <a:lstStyle/>
                    <a:p>
                      <a:r>
                        <a:rPr lang="en-US" sz="1800" dirty="0"/>
                        <a:t>Reliable and unreliable writers</a:t>
                      </a:r>
                      <a:endParaRPr lang="ru-RU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4F781DB-9B84-5A03-E4EA-8B93E731CFC0}"/>
              </a:ext>
            </a:extLst>
          </p:cNvPr>
          <p:cNvGraphicFramePr>
            <a:graphicFrameLocks noGrp="1"/>
          </p:cNvGraphicFramePr>
          <p:nvPr/>
        </p:nvGraphicFramePr>
        <p:xfrm>
          <a:off x="0" y="6532604"/>
          <a:ext cx="12192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809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E289C2D-5551-3E96-52F7-3E5FEC1694CA}"/>
              </a:ext>
            </a:extLst>
          </p:cNvPr>
          <p:cNvGraphicFramePr>
            <a:graphicFrameLocks noGrp="1"/>
          </p:cNvGraphicFramePr>
          <p:nvPr/>
        </p:nvGraphicFramePr>
        <p:xfrm>
          <a:off x="0" y="365761"/>
          <a:ext cx="12192000" cy="1681480"/>
        </p:xfrm>
        <a:graphic>
          <a:graphicData uri="http://schemas.openxmlformats.org/drawingml/2006/table">
            <a:tbl>
              <a:tblPr firstRow="1" bandRow="1"/>
              <a:tblGrid>
                <a:gridCol w="5078896">
                  <a:extLst>
                    <a:ext uri="{9D8B030D-6E8A-4147-A177-3AD203B41FA5}">
                      <a16:colId xmlns:a16="http://schemas.microsoft.com/office/drawing/2014/main" val="1200050995"/>
                    </a:ext>
                  </a:extLst>
                </a:gridCol>
                <a:gridCol w="7113104">
                  <a:extLst>
                    <a:ext uri="{9D8B030D-6E8A-4147-A177-3AD203B41FA5}">
                      <a16:colId xmlns:a16="http://schemas.microsoft.com/office/drawing/2014/main" val="1585237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Y" dirty="0"/>
                        <a:t>ReliableWriter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Y" dirty="0"/>
                        <a:t>UnreliableWriter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25604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WriteAt(ctx, buf, off) error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Complete(ctx) error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Abort(ctx)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WriteAt(ctx, chunkBegin, chunkEnd, buf, off) error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GetResumeOffset(ctx, chunkBegin, chunkEnd) (off, err)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SetObjectSize(size)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Complete(ctx) error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Abort(ctx)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974949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480B567D-30FF-320B-E546-EF12EE3050B3}"/>
              </a:ext>
            </a:extLst>
          </p:cNvPr>
          <p:cNvSpPr txBox="1"/>
          <p:nvPr/>
        </p:nvSpPr>
        <p:spPr>
          <a:xfrm>
            <a:off x="0" y="2047241"/>
            <a:ext cx="12192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Y" dirty="0"/>
              <a:t>What a reliable writer needs to do: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/>
              <a:t>Collect buffers provided to </a:t>
            </a:r>
            <a:r>
              <a:rPr lang="en-CY" dirty="0">
                <a:latin typeface="Consolas" panose="020B0609020204030204" pitchFamily="49" charset="0"/>
                <a:cs typeface="Consolas" panose="020B0609020204030204" pitchFamily="49" charset="0"/>
              </a:rPr>
              <a:t>WriteAt()</a:t>
            </a:r>
            <a:r>
              <a:rPr lang="en-CY" dirty="0"/>
              <a:t> into a scatter-gather buffer.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/>
              <a:t>Once there is enough data for a chunk, start a goroutine to write it.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/>
              <a:t>If there are too many buffers queued for writing, then throttle the writer.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/>
              <a:t>The chunk writer goroutine must retry if a chunk upload fails.</a:t>
            </a:r>
          </a:p>
        </p:txBody>
      </p:sp>
    </p:spTree>
    <p:extLst>
      <p:ext uri="{BB962C8B-B14F-4D97-AF65-F5344CB8AC3E}">
        <p14:creationId xmlns:p14="http://schemas.microsoft.com/office/powerpoint/2010/main" val="20688391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8282A-375C-6047-E305-2F0BA09A9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7F8ADBD-D6F7-F165-EDB8-493E36D959FA}"/>
              </a:ext>
            </a:extLst>
          </p:cNvPr>
          <p:cNvGraphicFramePr>
            <a:graphicFrameLocks noGrp="1"/>
          </p:cNvGraphicFramePr>
          <p:nvPr/>
        </p:nvGraphicFramePr>
        <p:xfrm>
          <a:off x="0" y="1"/>
          <a:ext cx="12192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1276">
                <a:tc>
                  <a:txBody>
                    <a:bodyPr/>
                    <a:lstStyle/>
                    <a:p>
                      <a:r>
                        <a:rPr lang="en-US" sz="1800" dirty="0"/>
                        <a:t>Reliable and unreliable writers</a:t>
                      </a:r>
                      <a:endParaRPr lang="ru-RU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C00EA09-D83C-4298-6684-7E7C2AEB60EC}"/>
              </a:ext>
            </a:extLst>
          </p:cNvPr>
          <p:cNvGraphicFramePr>
            <a:graphicFrameLocks noGrp="1"/>
          </p:cNvGraphicFramePr>
          <p:nvPr/>
        </p:nvGraphicFramePr>
        <p:xfrm>
          <a:off x="0" y="6532604"/>
          <a:ext cx="12192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809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181417A-BB3C-130B-F321-B67CED08EB74}"/>
              </a:ext>
            </a:extLst>
          </p:cNvPr>
          <p:cNvGraphicFramePr>
            <a:graphicFrameLocks noGrp="1"/>
          </p:cNvGraphicFramePr>
          <p:nvPr/>
        </p:nvGraphicFramePr>
        <p:xfrm>
          <a:off x="0" y="365761"/>
          <a:ext cx="12192000" cy="1681480"/>
        </p:xfrm>
        <a:graphic>
          <a:graphicData uri="http://schemas.openxmlformats.org/drawingml/2006/table">
            <a:tbl>
              <a:tblPr firstRow="1" bandRow="1"/>
              <a:tblGrid>
                <a:gridCol w="5078896">
                  <a:extLst>
                    <a:ext uri="{9D8B030D-6E8A-4147-A177-3AD203B41FA5}">
                      <a16:colId xmlns:a16="http://schemas.microsoft.com/office/drawing/2014/main" val="1200050995"/>
                    </a:ext>
                  </a:extLst>
                </a:gridCol>
                <a:gridCol w="7113104">
                  <a:extLst>
                    <a:ext uri="{9D8B030D-6E8A-4147-A177-3AD203B41FA5}">
                      <a16:colId xmlns:a16="http://schemas.microsoft.com/office/drawing/2014/main" val="1585237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Y" dirty="0"/>
                        <a:t>ReliableWriter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Y" dirty="0"/>
                        <a:t>UnreliableWriter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25604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WriteAt(ctx, buf, off) error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Complete(ctx) error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Abort(ctx)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WriteAt(ctx, chunkBegin, chunkEnd, buf, off) error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GetResumeOffset(ctx, chunkBegin, chunkEnd) (off, err)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SetObjectSize(size)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Complete(ctx) error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Abort(ctx)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974949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EFE8B95B-E425-FE5A-DBFB-84CD1637EA7D}"/>
              </a:ext>
            </a:extLst>
          </p:cNvPr>
          <p:cNvSpPr txBox="1"/>
          <p:nvPr/>
        </p:nvSpPr>
        <p:spPr>
          <a:xfrm>
            <a:off x="0" y="2047241"/>
            <a:ext cx="121920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Y" dirty="0"/>
              <a:t>What a reliable writer needs to do: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/>
              <a:t>Collect buffers provided to </a:t>
            </a:r>
            <a:r>
              <a:rPr lang="en-CY" dirty="0">
                <a:latin typeface="Consolas" panose="020B0609020204030204" pitchFamily="49" charset="0"/>
                <a:cs typeface="Consolas" panose="020B0609020204030204" pitchFamily="49" charset="0"/>
              </a:rPr>
              <a:t>WriteAt()</a:t>
            </a:r>
            <a:r>
              <a:rPr lang="en-CY" dirty="0"/>
              <a:t> into a scatter-gather buffer.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>
                <a:solidFill>
                  <a:schemeClr val="bg1">
                    <a:lumMod val="75000"/>
                  </a:schemeClr>
                </a:solidFill>
              </a:rPr>
              <a:t>Once there is enough data for a chunk, start a goroutine to write it.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>
                <a:solidFill>
                  <a:schemeClr val="bg1">
                    <a:lumMod val="75000"/>
                  </a:schemeClr>
                </a:solidFill>
              </a:rPr>
              <a:t>If there are too many buffers queued for writing, then throttle the writer.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>
                <a:solidFill>
                  <a:schemeClr val="bg1">
                    <a:lumMod val="75000"/>
                  </a:schemeClr>
                </a:solidFill>
              </a:rPr>
              <a:t>The chunk writer goroutine must retry if a chunk upload fails.</a:t>
            </a:r>
          </a:p>
          <a:p>
            <a:pPr marL="342900" indent="-342900">
              <a:buFont typeface="+mj-lt"/>
              <a:buAutoNum type="arabicPeriod"/>
            </a:pPr>
            <a:endParaRPr lang="en-CY" dirty="0"/>
          </a:p>
          <a:p>
            <a:r>
              <a:rPr lang="en-CY" dirty="0"/>
              <a:t>A scatter-gather buffer is a data structure that implements the following operations efficiently: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/>
              <a:t>Append a buffer to the tail.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/>
              <a:t>Splice another sgbuf to the tail.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/>
              <a:t>Take </a:t>
            </a:r>
            <a:r>
              <a:rPr lang="en-CY" b="1" dirty="0"/>
              <a:t>n</a:t>
            </a:r>
            <a:r>
              <a:rPr lang="en-CY" dirty="0"/>
              <a:t> bytes from the head (the result is an sgbuf).</a:t>
            </a:r>
          </a:p>
          <a:p>
            <a:endParaRPr lang="en-CY" dirty="0"/>
          </a:p>
          <a:p>
            <a:r>
              <a:rPr lang="en-CY" b="1" dirty="0"/>
              <a:t>Reminder:</a:t>
            </a:r>
            <a:r>
              <a:rPr lang="en-CY" dirty="0"/>
              <a:t> this is very much a pipe buffer. See also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/>
              <a:t>man 2 splice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/>
              <a:t>man 2 vmsplice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/>
              <a:t>man 2 tee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/>
              <a:t>man 2 sendfile</a:t>
            </a:r>
          </a:p>
        </p:txBody>
      </p:sp>
    </p:spTree>
    <p:extLst>
      <p:ext uri="{BB962C8B-B14F-4D97-AF65-F5344CB8AC3E}">
        <p14:creationId xmlns:p14="http://schemas.microsoft.com/office/powerpoint/2010/main" val="36354901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D2B0F-E02D-697A-1FF7-FA6EB48EC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1B76C2B-900A-B612-4073-483E50D1698B}"/>
              </a:ext>
            </a:extLst>
          </p:cNvPr>
          <p:cNvGraphicFramePr>
            <a:graphicFrameLocks noGrp="1"/>
          </p:cNvGraphicFramePr>
          <p:nvPr/>
        </p:nvGraphicFramePr>
        <p:xfrm>
          <a:off x="0" y="1"/>
          <a:ext cx="12192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1276">
                <a:tc>
                  <a:txBody>
                    <a:bodyPr/>
                    <a:lstStyle/>
                    <a:p>
                      <a:r>
                        <a:rPr lang="en-US" sz="1800" dirty="0"/>
                        <a:t>Reliable and unreliable writers</a:t>
                      </a:r>
                      <a:endParaRPr lang="ru-RU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9889088-D6B7-3D2A-D964-C9D2155A8642}"/>
              </a:ext>
            </a:extLst>
          </p:cNvPr>
          <p:cNvGraphicFramePr>
            <a:graphicFrameLocks noGrp="1"/>
          </p:cNvGraphicFramePr>
          <p:nvPr/>
        </p:nvGraphicFramePr>
        <p:xfrm>
          <a:off x="0" y="6532604"/>
          <a:ext cx="12192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809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ABF1102-D9B3-3900-6378-9A5D274E22DA}"/>
              </a:ext>
            </a:extLst>
          </p:cNvPr>
          <p:cNvGraphicFramePr>
            <a:graphicFrameLocks noGrp="1"/>
          </p:cNvGraphicFramePr>
          <p:nvPr/>
        </p:nvGraphicFramePr>
        <p:xfrm>
          <a:off x="0" y="365761"/>
          <a:ext cx="12192000" cy="1681480"/>
        </p:xfrm>
        <a:graphic>
          <a:graphicData uri="http://schemas.openxmlformats.org/drawingml/2006/table">
            <a:tbl>
              <a:tblPr firstRow="1" bandRow="1"/>
              <a:tblGrid>
                <a:gridCol w="5078896">
                  <a:extLst>
                    <a:ext uri="{9D8B030D-6E8A-4147-A177-3AD203B41FA5}">
                      <a16:colId xmlns:a16="http://schemas.microsoft.com/office/drawing/2014/main" val="1200050995"/>
                    </a:ext>
                  </a:extLst>
                </a:gridCol>
                <a:gridCol w="7113104">
                  <a:extLst>
                    <a:ext uri="{9D8B030D-6E8A-4147-A177-3AD203B41FA5}">
                      <a16:colId xmlns:a16="http://schemas.microsoft.com/office/drawing/2014/main" val="1585237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Y" dirty="0"/>
                        <a:t>ReliableWriter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Y" dirty="0"/>
                        <a:t>UnreliableWriter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25604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WriteAt(ctx, buf, off) error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Complete(ctx) error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Abort(ctx)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WriteAt(ctx, chunkBegin, chunkEnd, buf, off) error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GetResumeOffset(ctx, chunkBegin, chunkEnd) (off, err)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SetObjectSize(size)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Complete(ctx) error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Abort(ctx)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974949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54D3A8E8-3ED6-848E-3841-05A3DF472800}"/>
              </a:ext>
            </a:extLst>
          </p:cNvPr>
          <p:cNvSpPr txBox="1"/>
          <p:nvPr/>
        </p:nvSpPr>
        <p:spPr>
          <a:xfrm>
            <a:off x="0" y="2047241"/>
            <a:ext cx="1219200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Y" dirty="0"/>
              <a:t>What a reliable writer needs to do: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/>
              <a:t>Collect buffers provided to </a:t>
            </a:r>
            <a:r>
              <a:rPr lang="en-CY" dirty="0">
                <a:latin typeface="Consolas" panose="020B0609020204030204" pitchFamily="49" charset="0"/>
                <a:cs typeface="Consolas" panose="020B0609020204030204" pitchFamily="49" charset="0"/>
              </a:rPr>
              <a:t>WriteAt()</a:t>
            </a:r>
            <a:r>
              <a:rPr lang="en-CY" dirty="0"/>
              <a:t> into a scatter-gather buffer.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>
                <a:solidFill>
                  <a:schemeClr val="bg1">
                    <a:lumMod val="75000"/>
                  </a:schemeClr>
                </a:solidFill>
              </a:rPr>
              <a:t>Once there is enough data for a chunk, start a goroutine to write it.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>
                <a:solidFill>
                  <a:schemeClr val="bg1">
                    <a:lumMod val="75000"/>
                  </a:schemeClr>
                </a:solidFill>
              </a:rPr>
              <a:t>If there are too many buffers queued for writing, then throttle the writer.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>
                <a:solidFill>
                  <a:schemeClr val="bg1">
                    <a:lumMod val="75000"/>
                  </a:schemeClr>
                </a:solidFill>
              </a:rPr>
              <a:t>The chunk writer goroutine must retry if a chunk upload fails.</a:t>
            </a:r>
          </a:p>
          <a:p>
            <a:pPr marL="342900" indent="-342900">
              <a:buFont typeface="+mj-lt"/>
              <a:buAutoNum type="arabicPeriod"/>
            </a:pPr>
            <a:endParaRPr lang="en-CY" dirty="0"/>
          </a:p>
          <a:p>
            <a:r>
              <a:rPr lang="en-CY" dirty="0"/>
              <a:t>A scatter-gather buffer is a data structure that implements the following operations efficiently: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/>
              <a:t>Append a buffer to the tail.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/>
              <a:t>Splice another sgbuf to the tail.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/>
              <a:t>Take </a:t>
            </a:r>
            <a:r>
              <a:rPr lang="en-CY" b="1" dirty="0"/>
              <a:t>n</a:t>
            </a:r>
            <a:r>
              <a:rPr lang="en-CY" dirty="0"/>
              <a:t> bytes from the head (the result is an sgbuf).</a:t>
            </a:r>
          </a:p>
          <a:p>
            <a:endParaRPr lang="en-CY" dirty="0"/>
          </a:p>
          <a:p>
            <a:r>
              <a:rPr lang="en-CY" dirty="0"/>
              <a:t>If we assume that </a:t>
            </a:r>
            <a:r>
              <a:rPr lang="en-CY" dirty="0">
                <a:latin typeface="Consolas" panose="020B0609020204030204" pitchFamily="49" charset="0"/>
                <a:cs typeface="Consolas" panose="020B0609020204030204" pitchFamily="49" charset="0"/>
              </a:rPr>
              <a:t>WriteAt()</a:t>
            </a:r>
            <a:r>
              <a:rPr lang="en-CY" dirty="0"/>
              <a:t> transfers the ownership of buffers to </a:t>
            </a:r>
            <a:r>
              <a:rPr lang="en-CY" dirty="0">
                <a:latin typeface="Consolas" panose="020B0609020204030204" pitchFamily="49" charset="0"/>
                <a:cs typeface="Consolas" panose="020B0609020204030204" pitchFamily="49" charset="0"/>
              </a:rPr>
              <a:t>ReliableWriter</a:t>
            </a:r>
            <a:r>
              <a:rPr lang="en-CY" dirty="0"/>
              <a:t>, we may implement a scatter-gather buffer without </a:t>
            </a:r>
            <a:r>
              <a:rPr lang="en-CY" dirty="0">
                <a:latin typeface="Consolas" panose="020B0609020204030204" pitchFamily="49" charset="0"/>
                <a:cs typeface="Consolas" panose="020B0609020204030204" pitchFamily="49" charset="0"/>
              </a:rPr>
              <a:t>memcpy()</a:t>
            </a:r>
            <a:r>
              <a:rPr lang="en-CY" dirty="0"/>
              <a:t>s.</a:t>
            </a:r>
          </a:p>
        </p:txBody>
      </p:sp>
    </p:spTree>
    <p:extLst>
      <p:ext uri="{BB962C8B-B14F-4D97-AF65-F5344CB8AC3E}">
        <p14:creationId xmlns:p14="http://schemas.microsoft.com/office/powerpoint/2010/main" val="3677517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90AC1-6CCD-BE13-563D-12A5349A1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D906BB8-F97C-9B60-6D59-2EAD805AF117}"/>
              </a:ext>
            </a:extLst>
          </p:cNvPr>
          <p:cNvGraphicFramePr>
            <a:graphicFrameLocks noGrp="1"/>
          </p:cNvGraphicFramePr>
          <p:nvPr/>
        </p:nvGraphicFramePr>
        <p:xfrm>
          <a:off x="0" y="1"/>
          <a:ext cx="12192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1276">
                <a:tc>
                  <a:txBody>
                    <a:bodyPr/>
                    <a:lstStyle/>
                    <a:p>
                      <a:r>
                        <a:rPr lang="en-US" sz="1800" dirty="0"/>
                        <a:t>Reliable and unreliable writers</a:t>
                      </a:r>
                      <a:endParaRPr lang="ru-RU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C0ACE34-DAA3-E878-67C7-562F3F0D8B25}"/>
              </a:ext>
            </a:extLst>
          </p:cNvPr>
          <p:cNvGraphicFramePr>
            <a:graphicFrameLocks noGrp="1"/>
          </p:cNvGraphicFramePr>
          <p:nvPr/>
        </p:nvGraphicFramePr>
        <p:xfrm>
          <a:off x="0" y="6532604"/>
          <a:ext cx="12192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809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1297900-7F61-BC38-6ECD-2E5B1FEC293A}"/>
              </a:ext>
            </a:extLst>
          </p:cNvPr>
          <p:cNvGraphicFramePr>
            <a:graphicFrameLocks noGrp="1"/>
          </p:cNvGraphicFramePr>
          <p:nvPr/>
        </p:nvGraphicFramePr>
        <p:xfrm>
          <a:off x="0" y="365761"/>
          <a:ext cx="12192000" cy="1681480"/>
        </p:xfrm>
        <a:graphic>
          <a:graphicData uri="http://schemas.openxmlformats.org/drawingml/2006/table">
            <a:tbl>
              <a:tblPr firstRow="1" bandRow="1"/>
              <a:tblGrid>
                <a:gridCol w="5078896">
                  <a:extLst>
                    <a:ext uri="{9D8B030D-6E8A-4147-A177-3AD203B41FA5}">
                      <a16:colId xmlns:a16="http://schemas.microsoft.com/office/drawing/2014/main" val="1200050995"/>
                    </a:ext>
                  </a:extLst>
                </a:gridCol>
                <a:gridCol w="7113104">
                  <a:extLst>
                    <a:ext uri="{9D8B030D-6E8A-4147-A177-3AD203B41FA5}">
                      <a16:colId xmlns:a16="http://schemas.microsoft.com/office/drawing/2014/main" val="1585237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Y" dirty="0"/>
                        <a:t>ReliableWriter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Y" dirty="0"/>
                        <a:t>UnreliableWriter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25604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WriteAt(ctx, buf, off) error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Complete(ctx) error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Abort(ctx)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WriteAt(ctx, chunkBegin, chunkEnd, buf, off) error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GetResumeOffset(ctx, chunkBegin, chunkEnd) (off, err)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SetObjectSize(size)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Complete(ctx) error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Abort(ctx)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974949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40A6220D-A474-440B-BE8A-4307CF1A0B30}"/>
              </a:ext>
            </a:extLst>
          </p:cNvPr>
          <p:cNvSpPr txBox="1"/>
          <p:nvPr/>
        </p:nvSpPr>
        <p:spPr>
          <a:xfrm>
            <a:off x="0" y="2047241"/>
            <a:ext cx="121920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Y" dirty="0"/>
              <a:t>What a reliable writer needs to do: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>
                <a:solidFill>
                  <a:schemeClr val="bg1">
                    <a:lumMod val="75000"/>
                  </a:schemeClr>
                </a:solidFill>
              </a:rPr>
              <a:t>Collect buffers provided to </a:t>
            </a:r>
            <a:r>
              <a:rPr lang="en-CY" dirty="0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WriteAt()</a:t>
            </a:r>
            <a:r>
              <a:rPr lang="en-CY" dirty="0">
                <a:solidFill>
                  <a:schemeClr val="bg1">
                    <a:lumMod val="75000"/>
                  </a:schemeClr>
                </a:solidFill>
              </a:rPr>
              <a:t> into a scatter-gather buffer.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/>
              <a:t>Once there is enough data for a chunk, start a goroutine to write it.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>
                <a:solidFill>
                  <a:schemeClr val="bg1">
                    <a:lumMod val="75000"/>
                  </a:schemeClr>
                </a:solidFill>
              </a:rPr>
              <a:t>If there are too many buffers queued for writing, then throttle the writer.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>
                <a:solidFill>
                  <a:schemeClr val="bg1">
                    <a:lumMod val="75000"/>
                  </a:schemeClr>
                </a:solidFill>
              </a:rPr>
              <a:t>The chunk writer goroutine must retry if a chunk upload fails.</a:t>
            </a:r>
          </a:p>
          <a:p>
            <a:endParaRPr lang="en-CY" dirty="0"/>
          </a:p>
          <a:p>
            <a:r>
              <a:rPr lang="en-CY" b="1" dirty="0"/>
              <a:t>Question:</a:t>
            </a:r>
            <a:r>
              <a:rPr lang="en-CY" dirty="0"/>
              <a:t> how do we choose the chunk size? It is important to minimise the RAM usage and introduce no latencies.</a:t>
            </a:r>
          </a:p>
          <a:p>
            <a:r>
              <a:rPr lang="en-CY" dirty="0"/>
              <a:t>Static chunk choice can’t be optimal: 256 kbytes per chunk means too slow upload, 32 mbytes per chunk means that </a:t>
            </a:r>
            <a:r>
              <a:rPr lang="en-CY" dirty="0">
                <a:latin typeface="Consolas" panose="020B0609020204030204" pitchFamily="49" charset="0"/>
                <a:cs typeface="Consolas" panose="020B0609020204030204" pitchFamily="49" charset="0"/>
              </a:rPr>
              <a:t>ReliableWriter</a:t>
            </a:r>
            <a:r>
              <a:rPr lang="en-CY" dirty="0"/>
              <a:t> must wait for buffers to accumulate, which introduces latency.</a:t>
            </a:r>
          </a:p>
        </p:txBody>
      </p:sp>
    </p:spTree>
    <p:extLst>
      <p:ext uri="{BB962C8B-B14F-4D97-AF65-F5344CB8AC3E}">
        <p14:creationId xmlns:p14="http://schemas.microsoft.com/office/powerpoint/2010/main" val="7837891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930FD-B5B8-DC31-DCA0-7B3669D7F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8A36466-5BC2-59CC-4F37-158664C2FDEA}"/>
              </a:ext>
            </a:extLst>
          </p:cNvPr>
          <p:cNvGraphicFramePr>
            <a:graphicFrameLocks noGrp="1"/>
          </p:cNvGraphicFramePr>
          <p:nvPr/>
        </p:nvGraphicFramePr>
        <p:xfrm>
          <a:off x="0" y="1"/>
          <a:ext cx="12192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1276">
                <a:tc>
                  <a:txBody>
                    <a:bodyPr/>
                    <a:lstStyle/>
                    <a:p>
                      <a:r>
                        <a:rPr lang="en-US" sz="1800" dirty="0"/>
                        <a:t>Reliable and unreliable writers</a:t>
                      </a:r>
                      <a:endParaRPr lang="ru-RU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B765A41-0E48-3D35-8752-27EF375D4C5E}"/>
              </a:ext>
            </a:extLst>
          </p:cNvPr>
          <p:cNvGraphicFramePr>
            <a:graphicFrameLocks noGrp="1"/>
          </p:cNvGraphicFramePr>
          <p:nvPr/>
        </p:nvGraphicFramePr>
        <p:xfrm>
          <a:off x="0" y="6532604"/>
          <a:ext cx="12192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809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61433CE-F288-B927-6227-618C1F8A859C}"/>
              </a:ext>
            </a:extLst>
          </p:cNvPr>
          <p:cNvGraphicFramePr>
            <a:graphicFrameLocks noGrp="1"/>
          </p:cNvGraphicFramePr>
          <p:nvPr/>
        </p:nvGraphicFramePr>
        <p:xfrm>
          <a:off x="0" y="365761"/>
          <a:ext cx="12192000" cy="1681480"/>
        </p:xfrm>
        <a:graphic>
          <a:graphicData uri="http://schemas.openxmlformats.org/drawingml/2006/table">
            <a:tbl>
              <a:tblPr firstRow="1" bandRow="1"/>
              <a:tblGrid>
                <a:gridCol w="5078896">
                  <a:extLst>
                    <a:ext uri="{9D8B030D-6E8A-4147-A177-3AD203B41FA5}">
                      <a16:colId xmlns:a16="http://schemas.microsoft.com/office/drawing/2014/main" val="1200050995"/>
                    </a:ext>
                  </a:extLst>
                </a:gridCol>
                <a:gridCol w="7113104">
                  <a:extLst>
                    <a:ext uri="{9D8B030D-6E8A-4147-A177-3AD203B41FA5}">
                      <a16:colId xmlns:a16="http://schemas.microsoft.com/office/drawing/2014/main" val="1585237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Y" dirty="0"/>
                        <a:t>ReliableWriter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Y" dirty="0"/>
                        <a:t>UnreliableWriter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25604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WriteAt(ctx, buf, off) error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Complete(ctx) error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Abort(ctx)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WriteAt(ctx, chunkBegin, chunkEnd, buf, off) error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GetResumeOffset(ctx, chunkBegin, chunkEnd) (off, err)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SetObjectSize(size)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Complete(ctx) error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Abort(ctx)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974949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F10EBFE8-E392-EF54-3F6C-83E69564AF5D}"/>
              </a:ext>
            </a:extLst>
          </p:cNvPr>
          <p:cNvSpPr txBox="1"/>
          <p:nvPr/>
        </p:nvSpPr>
        <p:spPr>
          <a:xfrm>
            <a:off x="0" y="2047241"/>
            <a:ext cx="121920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Y" dirty="0"/>
              <a:t>What a reliable writer needs to do: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>
                <a:solidFill>
                  <a:schemeClr val="bg1">
                    <a:lumMod val="75000"/>
                  </a:schemeClr>
                </a:solidFill>
              </a:rPr>
              <a:t>Collect buffers provided to </a:t>
            </a:r>
            <a:r>
              <a:rPr lang="en-CY" dirty="0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WriteAt()</a:t>
            </a:r>
            <a:r>
              <a:rPr lang="en-CY" dirty="0">
                <a:solidFill>
                  <a:schemeClr val="bg1">
                    <a:lumMod val="75000"/>
                  </a:schemeClr>
                </a:solidFill>
              </a:rPr>
              <a:t> into a scatter-gather buffer.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/>
              <a:t>Once there is enough data for a chunk, start a goroutine to write it.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>
                <a:solidFill>
                  <a:schemeClr val="bg1">
                    <a:lumMod val="75000"/>
                  </a:schemeClr>
                </a:solidFill>
              </a:rPr>
              <a:t>If there are too many buffers queued for writing, then throttle the writer.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>
                <a:solidFill>
                  <a:schemeClr val="bg1">
                    <a:lumMod val="75000"/>
                  </a:schemeClr>
                </a:solidFill>
              </a:rPr>
              <a:t>The chunk writer goroutine must retry if a chunk upload fails.</a:t>
            </a:r>
          </a:p>
          <a:p>
            <a:endParaRPr lang="en-CY" dirty="0"/>
          </a:p>
          <a:p>
            <a:r>
              <a:rPr lang="en-CY" b="1" dirty="0"/>
              <a:t>Question:</a:t>
            </a:r>
            <a:r>
              <a:rPr lang="en-CY" dirty="0"/>
              <a:t> how do we choose the chunk size? It is important to minimise the RAM usage and introduce no latencies.</a:t>
            </a:r>
          </a:p>
          <a:p>
            <a:r>
              <a:rPr lang="en-CY" dirty="0"/>
              <a:t>Static chunk choice can’t be optimal: 256 kbytes per chunk means too slow upload, 32 mbytes per chunk means that </a:t>
            </a:r>
            <a:r>
              <a:rPr lang="en-CY" dirty="0">
                <a:latin typeface="Consolas" panose="020B0609020204030204" pitchFamily="49" charset="0"/>
                <a:cs typeface="Consolas" panose="020B0609020204030204" pitchFamily="49" charset="0"/>
              </a:rPr>
              <a:t>ReliableWriter</a:t>
            </a:r>
            <a:r>
              <a:rPr lang="en-CY" dirty="0"/>
              <a:t> must wait for buffers to accumulate, which introduces latency.</a:t>
            </a:r>
          </a:p>
          <a:p>
            <a:endParaRPr lang="en-CY" dirty="0"/>
          </a:p>
          <a:p>
            <a:r>
              <a:rPr lang="en-CY" b="1" dirty="0"/>
              <a:t>Idea:</a:t>
            </a:r>
            <a:r>
              <a:rPr lang="en-CY" dirty="0"/>
              <a:t> choose chunk sizes adaptively. As soon as there is enough data to write a chunk, start a chunk write and let more buffers queue up while a chunk write is proceeding. Then use all available data for the next chunk. Also, chunk sizes must be capped to limit the number of bytes to resend during a retry. That is important for storages like S3 that can’t resume chunk uploads halfway through.</a:t>
            </a:r>
          </a:p>
        </p:txBody>
      </p:sp>
    </p:spTree>
    <p:extLst>
      <p:ext uri="{BB962C8B-B14F-4D97-AF65-F5344CB8AC3E}">
        <p14:creationId xmlns:p14="http://schemas.microsoft.com/office/powerpoint/2010/main" val="35553791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8E8CE-8DFC-AF46-83C4-CC16F010C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F944A38-D8B0-D608-D671-7B960D9AB778}"/>
              </a:ext>
            </a:extLst>
          </p:cNvPr>
          <p:cNvGraphicFramePr>
            <a:graphicFrameLocks noGrp="1"/>
          </p:cNvGraphicFramePr>
          <p:nvPr/>
        </p:nvGraphicFramePr>
        <p:xfrm>
          <a:off x="0" y="1"/>
          <a:ext cx="12192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1276">
                <a:tc>
                  <a:txBody>
                    <a:bodyPr/>
                    <a:lstStyle/>
                    <a:p>
                      <a:r>
                        <a:rPr lang="en-US" sz="1800" dirty="0"/>
                        <a:t>Reliable and unreliable writers</a:t>
                      </a:r>
                      <a:endParaRPr lang="ru-RU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C5732BA-AA1D-5D10-54C0-772960EF75ED}"/>
              </a:ext>
            </a:extLst>
          </p:cNvPr>
          <p:cNvGraphicFramePr>
            <a:graphicFrameLocks noGrp="1"/>
          </p:cNvGraphicFramePr>
          <p:nvPr/>
        </p:nvGraphicFramePr>
        <p:xfrm>
          <a:off x="0" y="6532604"/>
          <a:ext cx="12192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809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3F40F72-2EC6-B10B-420A-5019256760AC}"/>
              </a:ext>
            </a:extLst>
          </p:cNvPr>
          <p:cNvGraphicFramePr>
            <a:graphicFrameLocks noGrp="1"/>
          </p:cNvGraphicFramePr>
          <p:nvPr/>
        </p:nvGraphicFramePr>
        <p:xfrm>
          <a:off x="0" y="365761"/>
          <a:ext cx="12192000" cy="1681480"/>
        </p:xfrm>
        <a:graphic>
          <a:graphicData uri="http://schemas.openxmlformats.org/drawingml/2006/table">
            <a:tbl>
              <a:tblPr firstRow="1" bandRow="1"/>
              <a:tblGrid>
                <a:gridCol w="5078896">
                  <a:extLst>
                    <a:ext uri="{9D8B030D-6E8A-4147-A177-3AD203B41FA5}">
                      <a16:colId xmlns:a16="http://schemas.microsoft.com/office/drawing/2014/main" val="1200050995"/>
                    </a:ext>
                  </a:extLst>
                </a:gridCol>
                <a:gridCol w="7113104">
                  <a:extLst>
                    <a:ext uri="{9D8B030D-6E8A-4147-A177-3AD203B41FA5}">
                      <a16:colId xmlns:a16="http://schemas.microsoft.com/office/drawing/2014/main" val="1585237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Y" dirty="0"/>
                        <a:t>ReliableWriter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Y" dirty="0"/>
                        <a:t>UnreliableWriter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25604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WriteAt(ctx, buf, off) error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Complete(ctx) error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Abort(ctx)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WriteAt(ctx, chunkBegin, chunkEnd, buf, off) error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GetResumeOffset(ctx, chunkBegin, chunkEnd) (off, err)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SetObjectSize(size)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Complete(ctx) error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Abort(ctx)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974949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1EF7F6E1-CC47-A8CB-D93A-BF0DAFD69858}"/>
              </a:ext>
            </a:extLst>
          </p:cNvPr>
          <p:cNvSpPr txBox="1"/>
          <p:nvPr/>
        </p:nvSpPr>
        <p:spPr>
          <a:xfrm>
            <a:off x="0" y="2047241"/>
            <a:ext cx="1219200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Y" dirty="0"/>
              <a:t>What a reliable writer needs to do: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>
                <a:solidFill>
                  <a:schemeClr val="bg1">
                    <a:lumMod val="75000"/>
                  </a:schemeClr>
                </a:solidFill>
              </a:rPr>
              <a:t>Collect buffers provided to </a:t>
            </a:r>
            <a:r>
              <a:rPr lang="en-CY" dirty="0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WriteAt()</a:t>
            </a:r>
            <a:r>
              <a:rPr lang="en-CY" dirty="0">
                <a:solidFill>
                  <a:schemeClr val="bg1">
                    <a:lumMod val="75000"/>
                  </a:schemeClr>
                </a:solidFill>
              </a:rPr>
              <a:t> into a scatter-gather buffer.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>
                <a:solidFill>
                  <a:schemeClr val="bg1">
                    <a:lumMod val="75000"/>
                  </a:schemeClr>
                </a:solidFill>
              </a:rPr>
              <a:t>Once there is enough data for a chunk, start a goroutine to write it.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/>
              <a:t>If there are too many buffers queued for writing, then throttle the writer.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>
                <a:solidFill>
                  <a:schemeClr val="bg1">
                    <a:lumMod val="75000"/>
                  </a:schemeClr>
                </a:solidFill>
              </a:rPr>
              <a:t>The chunk writer goroutine must retry if a chunk upload fails.</a:t>
            </a:r>
          </a:p>
          <a:p>
            <a:endParaRPr lang="en-CY" dirty="0"/>
          </a:p>
          <a:p>
            <a:r>
              <a:rPr lang="en-CY" dirty="0"/>
              <a:t>The user of </a:t>
            </a:r>
            <a:r>
              <a:rPr lang="en-CY" dirty="0">
                <a:latin typeface="Consolas" panose="020B0609020204030204" pitchFamily="49" charset="0"/>
                <a:cs typeface="Consolas" panose="020B0609020204030204" pitchFamily="49" charset="0"/>
              </a:rPr>
              <a:t>ReliableWriter</a:t>
            </a:r>
            <a:r>
              <a:rPr lang="en-CY" dirty="0"/>
              <a:t> may produce data faster than it can be written. When the total size of buffers queued for writing goes above a (configurable) limit, a call to </a:t>
            </a:r>
            <a:r>
              <a:rPr lang="en-CY" dirty="0">
                <a:latin typeface="Consolas" panose="020B0609020204030204" pitchFamily="49" charset="0"/>
                <a:cs typeface="Consolas" panose="020B0609020204030204" pitchFamily="49" charset="0"/>
              </a:rPr>
              <a:t>WriteAt()</a:t>
            </a:r>
            <a:r>
              <a:rPr lang="en-CY" dirty="0"/>
              <a:t> must block until the total size goes below that limit.</a:t>
            </a:r>
          </a:p>
          <a:p>
            <a:endParaRPr lang="en-CY" dirty="0"/>
          </a:p>
          <a:p>
            <a:r>
              <a:rPr lang="en-CY" dirty="0"/>
              <a:t>Multiple implementations are possible: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/>
              <a:t>Use </a:t>
            </a:r>
            <a:r>
              <a:rPr lang="en-CY" dirty="0">
                <a:latin typeface="Consolas" panose="020B0609020204030204" pitchFamily="49" charset="0"/>
                <a:cs typeface="Consolas" panose="020B0609020204030204" pitchFamily="49" charset="0"/>
              </a:rPr>
              <a:t>semaphore.Weighted</a:t>
            </a:r>
            <a:r>
              <a:rPr lang="en-CY" dirty="0"/>
              <a:t> from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golang.org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/x/sync/semaphore</a:t>
            </a:r>
            <a:r>
              <a:rPr lang="en-GB" dirty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Implement a throttle controller that has low and high watermarks. It must block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WriteAt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en-GB" dirty="0"/>
              <a:t> when the total size of buffers goes above the high watermark, and unblocks it when the total size goes below the low watermark.</a:t>
            </a:r>
            <a:endParaRPr lang="en-CY" dirty="0"/>
          </a:p>
        </p:txBody>
      </p:sp>
    </p:spTree>
    <p:extLst>
      <p:ext uri="{BB962C8B-B14F-4D97-AF65-F5344CB8AC3E}">
        <p14:creationId xmlns:p14="http://schemas.microsoft.com/office/powerpoint/2010/main" val="2253319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6A6D3-22E9-099B-EF47-909D934F0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DCAF60C-678F-5BD2-DA45-35579A933040}"/>
              </a:ext>
            </a:extLst>
          </p:cNvPr>
          <p:cNvGraphicFramePr>
            <a:graphicFrameLocks noGrp="1"/>
          </p:cNvGraphicFramePr>
          <p:nvPr/>
        </p:nvGraphicFramePr>
        <p:xfrm>
          <a:off x="0" y="1"/>
          <a:ext cx="12192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1276">
                <a:tc>
                  <a:txBody>
                    <a:bodyPr/>
                    <a:lstStyle/>
                    <a:p>
                      <a:r>
                        <a:rPr lang="en-US" sz="1800" dirty="0"/>
                        <a:t>Reliable and unreliable writers</a:t>
                      </a:r>
                      <a:endParaRPr lang="ru-RU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F761FD0-6D25-5A62-48C4-7F80275681CF}"/>
              </a:ext>
            </a:extLst>
          </p:cNvPr>
          <p:cNvGraphicFramePr>
            <a:graphicFrameLocks noGrp="1"/>
          </p:cNvGraphicFramePr>
          <p:nvPr/>
        </p:nvGraphicFramePr>
        <p:xfrm>
          <a:off x="0" y="6532604"/>
          <a:ext cx="12192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809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BD13E40-8D3B-F685-C5A2-8492A255C71E}"/>
              </a:ext>
            </a:extLst>
          </p:cNvPr>
          <p:cNvGraphicFramePr>
            <a:graphicFrameLocks noGrp="1"/>
          </p:cNvGraphicFramePr>
          <p:nvPr/>
        </p:nvGraphicFramePr>
        <p:xfrm>
          <a:off x="0" y="365761"/>
          <a:ext cx="12192000" cy="1681480"/>
        </p:xfrm>
        <a:graphic>
          <a:graphicData uri="http://schemas.openxmlformats.org/drawingml/2006/table">
            <a:tbl>
              <a:tblPr firstRow="1" bandRow="1"/>
              <a:tblGrid>
                <a:gridCol w="5078896">
                  <a:extLst>
                    <a:ext uri="{9D8B030D-6E8A-4147-A177-3AD203B41FA5}">
                      <a16:colId xmlns:a16="http://schemas.microsoft.com/office/drawing/2014/main" val="1200050995"/>
                    </a:ext>
                  </a:extLst>
                </a:gridCol>
                <a:gridCol w="7113104">
                  <a:extLst>
                    <a:ext uri="{9D8B030D-6E8A-4147-A177-3AD203B41FA5}">
                      <a16:colId xmlns:a16="http://schemas.microsoft.com/office/drawing/2014/main" val="1585237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Y" dirty="0"/>
                        <a:t>ReliableWriter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Y" dirty="0"/>
                        <a:t>UnreliableWriter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25604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WriteAt(ctx, buf, off) error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Complete(ctx) error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Abort(ctx)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WriteAt(ctx, chunkBegin, chunkEnd, buf, off) error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GetResumeOffset(ctx, chunkBegin, chunkEnd) (off, err)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SetObjectSize(size)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Complete(ctx) error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Abort(ctx)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974949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68B73076-295E-2CCE-69BB-C40A14537A6E}"/>
              </a:ext>
            </a:extLst>
          </p:cNvPr>
          <p:cNvSpPr txBox="1"/>
          <p:nvPr/>
        </p:nvSpPr>
        <p:spPr>
          <a:xfrm>
            <a:off x="0" y="2047241"/>
            <a:ext cx="121920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Y" dirty="0"/>
              <a:t>What a reliable writer needs to do: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>
                <a:solidFill>
                  <a:schemeClr val="bg1">
                    <a:lumMod val="75000"/>
                  </a:schemeClr>
                </a:solidFill>
              </a:rPr>
              <a:t>Collect buffers provided to </a:t>
            </a:r>
            <a:r>
              <a:rPr lang="en-CY" dirty="0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WriteAt()</a:t>
            </a:r>
            <a:r>
              <a:rPr lang="en-CY" dirty="0">
                <a:solidFill>
                  <a:schemeClr val="bg1">
                    <a:lumMod val="75000"/>
                  </a:schemeClr>
                </a:solidFill>
              </a:rPr>
              <a:t> into a scatter-gather buffer.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>
                <a:solidFill>
                  <a:schemeClr val="bg1">
                    <a:lumMod val="75000"/>
                  </a:schemeClr>
                </a:solidFill>
              </a:rPr>
              <a:t>Once there is enough data for a chunk, start a goroutine to write it.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>
                <a:solidFill>
                  <a:schemeClr val="bg1">
                    <a:lumMod val="75000"/>
                  </a:schemeClr>
                </a:solidFill>
              </a:rPr>
              <a:t>If there are too many buffers queued for writing, then throttle the writer.</a:t>
            </a:r>
          </a:p>
          <a:p>
            <a:pPr marL="342900" indent="-342900">
              <a:buFont typeface="+mj-lt"/>
              <a:buAutoNum type="arabicPeriod"/>
            </a:pPr>
            <a:r>
              <a:rPr lang="en-CY" dirty="0"/>
              <a:t>The chunk writer goroutine must retry if a chunk upload fails.</a:t>
            </a:r>
          </a:p>
          <a:p>
            <a:endParaRPr lang="en-CY" dirty="0"/>
          </a:p>
          <a:p>
            <a:r>
              <a:rPr lang="en-CY" dirty="0"/>
              <a:t>Recall that a chunk upload may be resume from a non-zero offset within a chunk.</a:t>
            </a:r>
          </a:p>
        </p:txBody>
      </p:sp>
    </p:spTree>
    <p:extLst>
      <p:ext uri="{BB962C8B-B14F-4D97-AF65-F5344CB8AC3E}">
        <p14:creationId xmlns:p14="http://schemas.microsoft.com/office/powerpoint/2010/main" val="39606351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0A11A-2623-4A8F-529D-5ECAEE8FB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B5AC406-B116-44CF-F274-3B6BD17F9265}"/>
              </a:ext>
            </a:extLst>
          </p:cNvPr>
          <p:cNvGraphicFramePr>
            <a:graphicFrameLocks noGrp="1"/>
          </p:cNvGraphicFramePr>
          <p:nvPr/>
        </p:nvGraphicFramePr>
        <p:xfrm>
          <a:off x="0" y="1"/>
          <a:ext cx="12192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1276">
                <a:tc>
                  <a:txBody>
                    <a:bodyPr/>
                    <a:lstStyle/>
                    <a:p>
                      <a:r>
                        <a:rPr lang="en-US" sz="1800" dirty="0"/>
                        <a:t>Reliable and unreliable writers</a:t>
                      </a:r>
                      <a:endParaRPr lang="ru-RU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325B4F4-6E98-6256-512B-A73FBD6CB9D3}"/>
              </a:ext>
            </a:extLst>
          </p:cNvPr>
          <p:cNvGraphicFramePr>
            <a:graphicFrameLocks noGrp="1"/>
          </p:cNvGraphicFramePr>
          <p:nvPr/>
        </p:nvGraphicFramePr>
        <p:xfrm>
          <a:off x="0" y="6532604"/>
          <a:ext cx="12192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809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ACF2BFC-9771-F042-8C62-2905211CBCE6}"/>
              </a:ext>
            </a:extLst>
          </p:cNvPr>
          <p:cNvGraphicFramePr>
            <a:graphicFrameLocks noGrp="1"/>
          </p:cNvGraphicFramePr>
          <p:nvPr/>
        </p:nvGraphicFramePr>
        <p:xfrm>
          <a:off x="0" y="365761"/>
          <a:ext cx="12192000" cy="1681480"/>
        </p:xfrm>
        <a:graphic>
          <a:graphicData uri="http://schemas.openxmlformats.org/drawingml/2006/table">
            <a:tbl>
              <a:tblPr firstRow="1" bandRow="1"/>
              <a:tblGrid>
                <a:gridCol w="5078896">
                  <a:extLst>
                    <a:ext uri="{9D8B030D-6E8A-4147-A177-3AD203B41FA5}">
                      <a16:colId xmlns:a16="http://schemas.microsoft.com/office/drawing/2014/main" val="1200050995"/>
                    </a:ext>
                  </a:extLst>
                </a:gridCol>
                <a:gridCol w="7113104">
                  <a:extLst>
                    <a:ext uri="{9D8B030D-6E8A-4147-A177-3AD203B41FA5}">
                      <a16:colId xmlns:a16="http://schemas.microsoft.com/office/drawing/2014/main" val="1585237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Y" dirty="0"/>
                        <a:t>ReliableWriter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Y" dirty="0"/>
                        <a:t>UnreliableWriter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25604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WriteAt(ctx, buf, off) error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Complete(ctx) error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Abort(ctx)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WriteAt(ctx, chunkBegin, chunkEnd, buf, off) error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GetResumeOffset(ctx, chunkBegin, chunkEnd) (off, err)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SetObjectSize(size)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Complete(ctx) error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CY" sz="1600" dirty="0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Abort(ctx)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974949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D7C535B3-936F-52B8-DCD6-F6744D0787C0}"/>
              </a:ext>
            </a:extLst>
          </p:cNvPr>
          <p:cNvSpPr txBox="1"/>
          <p:nvPr/>
        </p:nvSpPr>
        <p:spPr>
          <a:xfrm>
            <a:off x="0" y="2047241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Y" dirty="0">
                <a:latin typeface="Consolas" panose="020B0609020204030204" pitchFamily="49" charset="0"/>
                <a:cs typeface="Consolas" panose="020B0609020204030204" pitchFamily="49" charset="0"/>
              </a:rPr>
              <a:t>UnreliableWriter</a:t>
            </a:r>
            <a:r>
              <a:rPr lang="en-CY" dirty="0"/>
              <a:t> is much simpler: </a:t>
            </a:r>
            <a:r>
              <a:rPr lang="en-CY" dirty="0">
                <a:latin typeface="Consolas" panose="020B0609020204030204" pitchFamily="49" charset="0"/>
                <a:cs typeface="Consolas" panose="020B0609020204030204" pitchFamily="49" charset="0"/>
              </a:rPr>
              <a:t>WriteAt()</a:t>
            </a:r>
            <a:r>
              <a:rPr lang="en-CY" dirty="0"/>
              <a:t>, </a:t>
            </a:r>
            <a:r>
              <a:rPr lang="en-CY" dirty="0">
                <a:latin typeface="Consolas" panose="020B0609020204030204" pitchFamily="49" charset="0"/>
                <a:cs typeface="Consolas" panose="020B0609020204030204" pitchFamily="49" charset="0"/>
              </a:rPr>
              <a:t>GetResumeOffset()</a:t>
            </a:r>
            <a:r>
              <a:rPr lang="en-CY" dirty="0"/>
              <a:t> and </a:t>
            </a:r>
            <a:r>
              <a:rPr lang="en-CY" dirty="0">
                <a:latin typeface="Consolas" panose="020B0609020204030204" pitchFamily="49" charset="0"/>
                <a:cs typeface="Consolas" panose="020B0609020204030204" pitchFamily="49" charset="0"/>
              </a:rPr>
              <a:t>Complete()</a:t>
            </a:r>
            <a:r>
              <a:rPr lang="en-CY" dirty="0"/>
              <a:t> just call the corresponding HTTP APIs synchronously.</a:t>
            </a:r>
          </a:p>
        </p:txBody>
      </p:sp>
    </p:spTree>
    <p:extLst>
      <p:ext uri="{BB962C8B-B14F-4D97-AF65-F5344CB8AC3E}">
        <p14:creationId xmlns:p14="http://schemas.microsoft.com/office/powerpoint/2010/main" val="23339846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71009</TotalTime>
  <Words>2418</Words>
  <Application>Microsoft Macintosh PowerPoint</Application>
  <PresentationFormat>Widescreen</PresentationFormat>
  <Paragraphs>292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Arial</vt:lpstr>
      <vt:lpstr>Calibri</vt:lpstr>
      <vt:lpstr>Calibri Light</vt:lpstr>
      <vt:lpstr>Consolas</vt:lpstr>
      <vt:lpstr>Menlo</vt:lpstr>
      <vt:lpstr>Office Theme</vt:lpstr>
      <vt:lpstr>Custom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Artem Anisimov</dc:creator>
  <cp:lastModifiedBy>QA Admin-TEST</cp:lastModifiedBy>
  <cp:revision>62</cp:revision>
  <cp:lastPrinted>2019-09-04T08:05:36Z</cp:lastPrinted>
  <dcterms:created xsi:type="dcterms:W3CDTF">2016-09-20T13:25:15Z</dcterms:created>
  <dcterms:modified xsi:type="dcterms:W3CDTF">2025-10-23T14:18:19Z</dcterms:modified>
</cp:coreProperties>
</file>