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80" r:id="rId3"/>
    <p:sldId id="287" r:id="rId4"/>
    <p:sldId id="289" r:id="rId5"/>
    <p:sldId id="306" r:id="rId6"/>
    <p:sldId id="288" r:id="rId7"/>
    <p:sldId id="291" r:id="rId8"/>
    <p:sldId id="292" r:id="rId9"/>
    <p:sldId id="298" r:id="rId10"/>
    <p:sldId id="299" r:id="rId11"/>
    <p:sldId id="307" r:id="rId12"/>
    <p:sldId id="308" r:id="rId13"/>
    <p:sldId id="309" r:id="rId14"/>
    <p:sldId id="312" r:id="rId15"/>
    <p:sldId id="31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5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5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6788E-680A-49E5-BB93-D456A9D23A2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61F6E-92FD-414D-9278-71772D358C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7308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F4945-C160-4CD5-B124-49B9BE14C0AB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3120B-582B-4354-977D-A474A534F6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56565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74511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56A3-10D2-D76D-479E-866C4EF1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5FC1F-D1E0-FE29-2924-9BFF9A57A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93FC5-9FA4-2D99-E87D-6E35109BD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502EA-47DD-D230-0FE2-8C5ABEFE1F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77D77E3-E1F6-8762-79C6-3EA69B0DC6B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83454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E565-EF8B-51D3-2611-202E06CB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90CFE-9EBD-B061-E1D0-15DF5AA04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624E9-9EC1-EFCE-032D-A7E675B5F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95111-48C3-543F-597F-68AF430F05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F5289FB-D339-B78F-9CD1-F995FC60DB9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706571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DA06-8A76-7FDA-914A-CF100479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BF429-91CA-FA54-7821-F6F475F40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47569-EC8E-7983-00E6-CD8922D8F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BC84C-A1CD-F013-B3F6-F9C9BCBD91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50EB4CF-1E6F-7025-C30C-CEAAAFC01DA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39472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AB178-5B98-03AD-7F0E-1005EFE2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7D005-C99B-5649-C6CF-2E18CF59C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079BA-14F9-C230-5E52-60598FB40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4E3AB-A032-9E35-5DDF-71DD1567B3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4762ED34-6243-13A0-2507-BA741110191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591003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ECB6-42A1-9651-C620-CDDA02046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A6478-F00B-52F3-ED17-AE4EF818F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86C32-ED92-683B-9945-C7B9D3860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A74A1-5C38-0787-C895-42EC7F584C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BDEE1F3-20B2-C96F-4D70-D425434AFAB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47760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81929-33F6-118E-8EDB-8164F2E2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01574-451C-3D1F-B2A2-23E4C03DF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962B3-95F5-43B5-CD6E-8F795CC26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698C6-986B-EFE7-A705-EBD15B5DA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B9F1821-26CA-4C82-75F4-E1A0F1804A0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99026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4375-1DFA-A79F-A42F-76B2BBD0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8FDCD-37C3-3CC0-F1A7-0258D87EC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8E487-3E6F-4088-A717-045C9C924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99F79-CC2A-1DA2-C5C4-A18F8F280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2F062DA-4A10-85E7-7281-B0E97FEDE88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798626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AFA2-3A30-B984-6047-6080810FA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8832E-7880-D6B8-089D-8BF637F56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B1236-73EA-D892-9BD5-B98F021AF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EDECA-B4C9-68D2-7CEB-9E2BB1B9A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8108B47-CD25-FFE0-5B90-1A9C7E2922F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285579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CE526-FBB6-419C-1692-8D1135F0E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A2D13-D356-95D1-2BD4-E6CE3473F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7E99C-7232-6841-EC00-FF7D39CFD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F8658-C35B-4880-6BF0-68EF0CA18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AD366A2-6D1F-6250-A5BC-43C1DC44788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47624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11B7A-4104-9E60-8FF5-2D2903CD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86995-7AE2-8E91-FEEC-503CDB859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9B9FB-3261-3AD5-BBF0-C6637B791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67B63-D5B2-02FE-B0BD-BA39598FC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5F3D06D-AD89-2B7B-00B2-57A92037FF8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00446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C515B-5E20-E4C3-C467-4A85B19D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5B231-E083-E66A-1ACA-32C5E3948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D1B38-89B5-D232-80DA-EC45239BA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E9E68-2584-28D5-CA9B-5AC5B879CE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12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7A7D5CB-A59C-E68A-6305-49E8C6CC138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003383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C3B37-2B9F-3BA9-6E8F-D4237846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37309-A364-CBA7-63D8-F827E1A11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508DD-CE97-390C-F7EB-C32A8D7A9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EB208-A7A3-2D76-CA16-74A6407BF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0D66F54-DB82-FA39-0FD9-97CCBFAAAA4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799405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F1D9F-E2A9-5479-9521-8FCA5A942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A2161-C654-8F0C-DA03-908E077D7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36D0F-6970-D465-8244-789A4EE24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2D4A1-0B71-25F6-9EC6-B255156A7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FDFC60B-775F-CE0D-5C90-C459AC4AC48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056917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48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14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98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22754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Основы построения файловых систем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05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02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91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43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64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43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928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964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585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972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057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659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538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784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505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372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8115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352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75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63722-5D9F-4E99-9720-9B6A0C7BB1C9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47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18C88-2408-4CFC-B25C-07450930B282}" type="datetimeFigureOut">
              <a:rPr lang="ru-RU" smtClean="0"/>
              <a:t>27.10.2026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14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18949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3386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997771" y="923419"/>
            <a:ext cx="6690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The basics of programming in C</a:t>
            </a:r>
            <a:endParaRPr lang="ru-RU" sz="4000" dirty="0"/>
          </a:p>
        </p:txBody>
      </p:sp>
      <p:pic>
        <p:nvPicPr>
          <p:cNvPr id="1026" name="Picture 2" descr="Neapolis University Pafos, Cyprus Adaptive • Inspiring • Today • Education">
            <a:extLst>
              <a:ext uri="{FF2B5EF4-FFF2-40B4-BE49-F238E27FC236}">
                <a16:creationId xmlns:a16="http://schemas.microsoft.com/office/drawing/2014/main" id="{4A89C479-1691-99F0-24E5-26D57F72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22" y="2457450"/>
            <a:ext cx="4191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5F9A63-3251-7EB7-FC8E-AE3ABA4B7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638" y="1977686"/>
            <a:ext cx="2677540" cy="290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559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CD35-6B82-1462-3C41-8040372F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979FB0-06C8-B29A-2FC9-53BBA0A4083E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4875F5-6C91-EDC4-6FEA-B8F59E4909EA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2A701B-4E7B-74E8-E694-F72892550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566551"/>
              </p:ext>
            </p:extLst>
          </p:nvPr>
        </p:nvGraphicFramePr>
        <p:xfrm>
          <a:off x="0" y="365761"/>
          <a:ext cx="12192000" cy="115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read_and_parse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("./environ", ...);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if (err != 0)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sprintf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(path, "/proc/%s/environ", entry-&gt;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d_name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report_error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(path,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85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B358-10E1-F151-844C-51B75037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8CD54E-070F-91E3-7253-4F3565175577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071547-9F5B-6F5E-0AFD-81D739096A4A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ED341E-BD0A-1B29-D42E-10FBF706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938666"/>
              </p:ext>
            </p:extLst>
          </p:nvPr>
        </p:nvGraphicFramePr>
        <p:xfrm>
          <a:off x="0" y="365761"/>
          <a:ext cx="12192000" cy="131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read_and_parse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("./environ", ...);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if (err != 0)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sprintf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(path, "/proc/%s/environ", entry-&gt;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d_name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report_error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(path,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Library calls that fail are guaranteed to update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errno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to contain the reason for a failure.</a:t>
                      </a:r>
                    </a:p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Library calls that succeed are guaranteed neither to set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errno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to zero, nor to keep it unchanged.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221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32B8D-B9D5-6F00-5AD3-973C5549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BDA539-80E4-3D7E-A2A4-E023946154E0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075CAC-E6BC-9B82-C8BE-981479F58B76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ABBFEA-C6C7-0E0A-D97C-E227FCFCF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269381"/>
              </p:ext>
            </p:extLst>
          </p:nvPr>
        </p:nvGraphicFramePr>
        <p:xfrm>
          <a:off x="0" y="365761"/>
          <a:ext cx="12192000" cy="496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read_and_parse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("./environ", ...);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if (err != 0)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sprintf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(path, "/proc/%s/environ", entry-&gt;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d_name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report_error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(path,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...</a:t>
                      </a:r>
                    </a:p>
                    <a:p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Library calls that fail are guaranteed to update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errno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to contain the reason for a failure.</a:t>
                      </a:r>
                    </a:p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Library calls that succeed are guaranteed neither to set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errno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to zero, nor to keep it unchanged.</a:t>
                      </a:r>
                    </a:p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ssize_t getrandom(void *buf, size_t len, int flags)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// try the fast syscall first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ssize_t x = SYS_getrandom(buf, len, flags);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if (x &gt;= 0)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    return x;</a:t>
                      </a:r>
                    </a:p>
                    <a:p>
                      <a:endParaRPr lang="en-CY" sz="1600" dirty="0">
                        <a:latin typeface="Consolas" panose="020B0609020204030204" pitchFamily="49" charset="0"/>
                        <a:ea typeface="Menlo" panose="020B060903080402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// errno contains ENOSYS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// use /dev/urandom as a fallback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int fd = open(“/dev/urandom”, O_RDONLY);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…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A successful call to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getrandom()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may set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errno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to a non-zero value.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10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9AA1-5D65-3673-006B-07E31463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DCFE82-B812-B91B-057F-CBFD211CFBF3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0340A1-0CE2-F998-F1C5-688C8CA0D853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5687F4-154F-F942-3300-2DDD1BE0C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78899"/>
              </p:ext>
            </p:extLst>
          </p:nvPr>
        </p:nvGraphicFramePr>
        <p:xfrm>
          <a:off x="0" y="365761"/>
          <a:ext cx="12192000" cy="569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read_and_parse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("./environ", ...);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if (err != 0)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sprintf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(path, "/proc/%s/environ", entry-&gt;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d_name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report_error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(path,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errno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Library calls that fail are guaranteed to update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errno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to contain the reason for a failure.</a:t>
                      </a:r>
                    </a:p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Library calls that succeed are guaranteed neither to set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errno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to zero, nor to keep it unchanged.</a:t>
                      </a:r>
                    </a:p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ssize_t getrandom(void *buf, size_t len, int flags)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// try the fast syscall first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ssize_t x = SYS_getrandom(buf, len, flags);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if (x &gt;= 0)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    return x;</a:t>
                      </a:r>
                    </a:p>
                    <a:p>
                      <a:endParaRPr lang="en-CY" sz="1600" dirty="0">
                        <a:latin typeface="Consolas" panose="020B0609020204030204" pitchFamily="49" charset="0"/>
                        <a:ea typeface="Menlo" panose="020B060903080402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// errno contains ENOSYS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// use /dev/urandom as a fallback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int fd = open(“/dev/urandom”, O_RDONLY);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   …</a:t>
                      </a:r>
                    </a:p>
                    <a:p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A successful call to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getrandom()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may set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errno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to a non-zero value.</a:t>
                      </a:r>
                    </a:p>
                    <a:p>
                      <a:endParaRPr lang="en-CY" sz="1600" dirty="0">
                        <a:latin typeface="+mn-lt"/>
                        <a:ea typeface="Menlo" panose="020B060903080402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CY" sz="1600" b="1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Additional reading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: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vDSO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 and how Linux implements syscalls like </a:t>
                      </a:r>
                      <a:r>
                        <a:rPr lang="en-CY" sz="1600" dirty="0">
                          <a:latin typeface="Consolas" panose="020B0609020204030204" pitchFamily="49" charset="0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gettimeofday()</a:t>
                      </a:r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375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B610-0B3C-6610-F5A1-5FF22370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16A220-EB82-BC7B-708D-EED5837C37A9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35C8DB-EAF4-6724-7D59-D5B159D4982B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1F85BE-96D2-166B-4BC8-786156AEB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507805"/>
              </p:ext>
            </p:extLst>
          </p:nvPr>
        </p:nvGraphicFramePr>
        <p:xfrm>
          <a:off x="0" y="365761"/>
          <a:ext cx="12192000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const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char*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get_executable_name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const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char* path)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char *buffer = malloc(FILEPATH_MAX_SIZE);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369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EC3AB-5FB3-5350-75B0-7525DAEE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B42757-ADA6-69D3-0D77-46A6E8C8BA10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892CB6-A028-39DF-3458-15E497F4FBB6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88D80C-9017-2DF7-6B4E-B9D8AC140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221359"/>
              </p:ext>
            </p:extLst>
          </p:nvPr>
        </p:nvGraphicFramePr>
        <p:xfrm>
          <a:off x="0" y="365761"/>
          <a:ext cx="12192000" cy="204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const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char*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get_executable_name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const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char* path)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char *buffer = malloc(FILEPATH_MAX_SIZE);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Y" sz="1600" dirty="0">
                          <a:latin typeface="+mn-lt"/>
                          <a:ea typeface="Menlo" panose="020B0609030804020204" pitchFamily="49" charset="0"/>
                          <a:cs typeface="Consolas" panose="020B0609020204030204" pitchFamily="49" charset="0"/>
                        </a:rPr>
                        <a:t>Make functions static unless they are part of your public API: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Y" sz="16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</a:t>
                      </a:r>
                      <a:r>
                        <a:rPr lang="en-CY" sz="1600" dirty="0">
                          <a:solidFill>
                            <a:srgbClr val="FF0000"/>
                          </a:solidFill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static</a:t>
                      </a:r>
                      <a:r>
                        <a:rPr lang="en-CY" sz="16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char* </a:t>
                      </a:r>
                      <a:r>
                        <a:rPr lang="en-GB" sz="16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get_executable_name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(...)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Pros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: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The function will not be added to the table of exports of the executable file.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More room for optimisation because the compiler knows all callers of the function.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050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B2E9E-C7B0-CCCF-BAE2-41D7C07F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A80111-4F59-B0EF-B693-EC4979CDCDD9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227C3A-E2F5-1129-EE09-1D2B336F917D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53E72E-6920-E350-9670-42C9E0190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225354"/>
              </p:ext>
            </p:extLst>
          </p:nvPr>
        </p:nvGraphicFramePr>
        <p:xfrm>
          <a:off x="0" y="365761"/>
          <a:ext cx="12192000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cap = 512,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0;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 *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malloc(cap);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if (!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688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14546-D155-1188-DEB5-FEA73FA6E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E986A4-CDC3-0C85-361A-7D550AE8F49D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8DF298-B489-33AC-932A-8CC4CCE9033E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8B2C37-5A72-F123-C07F-39417546C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952080"/>
              </p:ext>
            </p:extLst>
          </p:nvPr>
        </p:nvGraphicFramePr>
        <p:xfrm>
          <a:off x="0" y="365761"/>
          <a:ext cx="12192000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size_t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cap = 512,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len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0;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 *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malloc(cap);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if (!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 *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fs_malloc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(cap);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Avoid accidental complexity. Do not add handling of errors that cannot reasonably occur.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18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6D827-88A1-A677-D64B-A167CEF3C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EB8E85-683D-0EE1-1392-B4A205AE0B35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44924E-DD9B-6C21-5258-24C37BF5EDB8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952F79-86D3-6D5E-B877-787599D54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563357"/>
              </p:ext>
            </p:extLst>
          </p:nvPr>
        </p:nvGraphicFramePr>
        <p:xfrm>
          <a:off x="0" y="365761"/>
          <a:ext cx="12192000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 *buffer = malloc(cap + 1);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while ((r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fread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(buffer + n, 1, cap - n, file)) &gt; 0)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3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1F9B4-2B4F-0BFA-80E8-8249BE12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D8D1C0-0E88-A7BE-8D49-416D35A42136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079A45-A2B4-C79D-FF18-C01DF1D93436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DA2363-5B4A-ABFC-EF8D-E82785968D7A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1"/>
          <a:ext cx="12192000" cy="1249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 *buffer = malloc(cap + 1);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while ((r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fread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(buffer + n, 1, cap - n, file)) &gt; 0)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 *buffer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fs_malloc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(cap + 1);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...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Have safety checks and sanity checks, especially if they are cheap to implement.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43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B3478-1E89-1EA5-CA00-B364844E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5A4AF0-E7D2-5478-D848-531C79F21E37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A69846-3A72-784C-A925-26D300259523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62931-7030-210D-22DD-DFBD68655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182670"/>
              </p:ext>
            </p:extLst>
          </p:nvPr>
        </p:nvGraphicFramePr>
        <p:xfrm>
          <a:off x="0" y="365761"/>
          <a:ext cx="12192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 *buffer = malloc(cap + 1);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while ((r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fread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buffer+n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1, cap-n, file)) &gt; 0)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n += r;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(n == cap)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cap *= 2;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buffer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realloc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(buffer, cap + 1);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892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449BE-8C83-8D52-7DED-B30FC19A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707E98-4FC3-EB03-C7D9-45ED83AB3E24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CAA85B-6056-35AF-849E-300D7B84E065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E3CEC0-1558-3CC0-540A-9D7452112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587167"/>
              </p:ext>
            </p:extLst>
          </p:nvPr>
        </p:nvGraphicFramePr>
        <p:xfrm>
          <a:off x="0" y="365761"/>
          <a:ext cx="12192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72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6548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 *buffer = malloc(cap + 1);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while ((r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fread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buffer+n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1, cap-n, file)) &gt; 0)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n += r;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(n == cap)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cap *= 2;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buffer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realloc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(buffer, cap + 1);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See 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/include/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uapi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linux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limits.h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in the Linux kernel sources: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#define ARG_MAX 131072 /* # bytes of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args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+ environ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             for exec() */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155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DC47-E3FB-8C79-12A8-25294C91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7606AE-0D4F-29F7-8F38-E0A0854DCCF0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programming in C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229803-3085-AAB1-31F7-F553044EF1DF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EAAEF1-1ABB-6E59-7CAB-14B12A993A33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1"/>
          <a:ext cx="12192000" cy="2621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37200">
                  <a:extLst>
                    <a:ext uri="{9D8B030D-6E8A-4147-A177-3AD203B41FA5}">
                      <a16:colId xmlns:a16="http://schemas.microsoft.com/office/drawing/2014/main" val="4261024341"/>
                    </a:ext>
                  </a:extLst>
                </a:gridCol>
                <a:gridCol w="6654800">
                  <a:extLst>
                    <a:ext uri="{9D8B030D-6E8A-4147-A177-3AD203B41FA5}">
                      <a16:colId xmlns:a16="http://schemas.microsoft.com/office/drawing/2014/main" val="2106400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 *buffer = malloc(cap + 1);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while ((r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fread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buffer+n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 1, cap-n, file)) &gt; 0)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n += r;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if (n == cap)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{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cap *= 2;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buffer =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realloc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(buffer, cap + 1);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}</a:t>
                      </a:r>
                    </a:p>
                    <a:p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See 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/include/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uapi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linux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limits.h</a:t>
                      </a: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in the Linux kernel sources: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#define ARG_MAX 131072 /* # bytes of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args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+ environ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             for exec() */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It is fine to impose limits that are reasonably big and simplify the implementation.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 path[512];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snprintf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(path,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sizeof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(path), "/proc/%s/exe", entry-&gt;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d_name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45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536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71158</TotalTime>
  <Words>1245</Words>
  <Application>Microsoft Macintosh PowerPoint</Application>
  <PresentationFormat>Widescreen</PresentationFormat>
  <Paragraphs>184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Menlo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Artem Anisimov</dc:creator>
  <cp:lastModifiedBy>Irvin Sayers</cp:lastModifiedBy>
  <cp:revision>56</cp:revision>
  <cp:lastPrinted>2019-09-04T08:05:36Z</cp:lastPrinted>
  <dcterms:created xsi:type="dcterms:W3CDTF">2016-09-20T13:25:15Z</dcterms:created>
  <dcterms:modified xsi:type="dcterms:W3CDTF">2026-10-27T12:19:55Z</dcterms:modified>
</cp:coreProperties>
</file>