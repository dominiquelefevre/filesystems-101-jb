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55"/>
  </p:notesMasterIdLst>
  <p:handoutMasterIdLst>
    <p:handoutMasterId r:id="rId56"/>
  </p:handoutMasterIdLst>
  <p:sldIdLst>
    <p:sldId id="398" r:id="rId3"/>
    <p:sldId id="369" r:id="rId4"/>
    <p:sldId id="278" r:id="rId5"/>
    <p:sldId id="399" r:id="rId6"/>
    <p:sldId id="367" r:id="rId7"/>
    <p:sldId id="370" r:id="rId8"/>
    <p:sldId id="372" r:id="rId9"/>
    <p:sldId id="371" r:id="rId10"/>
    <p:sldId id="375" r:id="rId11"/>
    <p:sldId id="374" r:id="rId12"/>
    <p:sldId id="373" r:id="rId13"/>
    <p:sldId id="376" r:id="rId14"/>
    <p:sldId id="402" r:id="rId15"/>
    <p:sldId id="404" r:id="rId16"/>
    <p:sldId id="403" r:id="rId17"/>
    <p:sldId id="363" r:id="rId18"/>
    <p:sldId id="405" r:id="rId19"/>
    <p:sldId id="400" r:id="rId20"/>
    <p:sldId id="365" r:id="rId21"/>
    <p:sldId id="406" r:id="rId22"/>
    <p:sldId id="408" r:id="rId23"/>
    <p:sldId id="411" r:id="rId24"/>
    <p:sldId id="410" r:id="rId25"/>
    <p:sldId id="423" r:id="rId26"/>
    <p:sldId id="424" r:id="rId27"/>
    <p:sldId id="426" r:id="rId28"/>
    <p:sldId id="425" r:id="rId29"/>
    <p:sldId id="427" r:id="rId30"/>
    <p:sldId id="428" r:id="rId31"/>
    <p:sldId id="407" r:id="rId32"/>
    <p:sldId id="386" r:id="rId33"/>
    <p:sldId id="390" r:id="rId34"/>
    <p:sldId id="389" r:id="rId35"/>
    <p:sldId id="388" r:id="rId36"/>
    <p:sldId id="419" r:id="rId37"/>
    <p:sldId id="360" r:id="rId38"/>
    <p:sldId id="401" r:id="rId39"/>
    <p:sldId id="381" r:id="rId40"/>
    <p:sldId id="420" r:id="rId41"/>
    <p:sldId id="421" r:id="rId42"/>
    <p:sldId id="382" r:id="rId43"/>
    <p:sldId id="383" r:id="rId44"/>
    <p:sldId id="422" r:id="rId45"/>
    <p:sldId id="412" r:id="rId46"/>
    <p:sldId id="413" r:id="rId47"/>
    <p:sldId id="414" r:id="rId48"/>
    <p:sldId id="377" r:id="rId49"/>
    <p:sldId id="415" r:id="rId50"/>
    <p:sldId id="416" r:id="rId51"/>
    <p:sldId id="417" r:id="rId52"/>
    <p:sldId id="418" r:id="rId53"/>
    <p:sldId id="366" r:id="rId5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324" autoAdjust="0"/>
    <p:restoredTop sz="94660"/>
  </p:normalViewPr>
  <p:slideViewPr>
    <p:cSldViewPr snapToGrid="0">
      <p:cViewPr varScale="1">
        <p:scale>
          <a:sx n="124" d="100"/>
          <a:sy n="124" d="100"/>
        </p:scale>
        <p:origin x="184" y="9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viewProps" Target="viewProps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handoutMaster" Target="handoutMasters/handout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presProps" Target="presProp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ru-RU"/>
              <a:t>Основы построения файловых систем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C6788E-680A-49E5-BB93-D456A9D23A29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061F6E-92FD-414D-9278-71772D358C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2730847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ru-RU"/>
              <a:t>Основы построения файловых систем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DF4945-C160-4CD5-B124-49B9BE14C0AB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33120B-582B-4354-977D-A474A534F6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4565650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1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13745113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2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787129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3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41609653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F9A24-68C1-5AA7-AFE7-08501B030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D369EA-1EFB-F281-8B6C-317C8F50BE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C0A1C6-E011-7E6B-A2FB-A832D95647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C843FB-F522-4F46-1CEC-513C8F3E0E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4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E9C69FA9-F05F-41DB-6A1D-942EEF1FAA5C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2374569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5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15297475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6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9147289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7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11437729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8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5056082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9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10965651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10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618174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11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3352950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12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8938468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4692C-D066-0D47-36CC-B66F25455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9C3B78-C338-B430-CCEC-72FBCCF3BE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0F87E6-5F56-9CF6-D1B8-7191EDCBA3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EA3D50-E5DB-B07C-4BFE-CD20759FDF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13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30E9BB30-BC4F-B542-D582-A3318938B45A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35591497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854D4-6363-4BD1-D3D8-87BF030BD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5BE905-F189-9250-6BED-6B5D289023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2BCB31-C204-810A-E440-8CBD0528DB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BAF96A-B41D-3178-34E4-55101A0445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14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3826B122-ADEF-CEA7-BBDD-BF4BD9A7A842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12033070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CD597-F194-994A-A5A8-5F7DDC69F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7E910E-0B2D-A255-2A5B-DE167AEF39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0504B9-A904-DF73-F66C-EB4A4667CE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19DDB9-B4B6-5189-07CD-571A3BA4D8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15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13F5B883-FEB3-342A-BE6F-8959B9727EC5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6651626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16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8039154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43F18-7634-1E5E-D994-3A2541B7C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45CC7D-D6A5-EB21-89D0-1D5A608E5D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C2D94F-F203-2F9E-BA6C-A48EEFA291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E55ED0-4EFF-0990-6D63-80CE42F59B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17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46216EBE-D3DD-2462-215E-A28D390F7FB7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4872593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FAAB6-DDD7-46BC-6CBD-42823791E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3D3BC9-B270-DBB8-30B9-CCE047B128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B87149-3829-C10B-BBB2-C8CA4D737C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DBF121-282E-47AA-1111-D99BA270E2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18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FD06F050-E55F-8F96-B4CE-E31E87A1C833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24060651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19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198359227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DEE9B-E494-976F-6DEE-2B6504931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34AECB-4993-9A84-246B-A613C6468B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4A18C2-35E1-2A39-229A-80711D2A97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3A812A-ED0F-F852-B38D-DB9F812261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20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8C15B071-381D-14B9-2691-205791E8B8C1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414358036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42931-68DB-A842-A354-A4BB498C0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A71A7E-6040-2D0E-9DE7-9F0192CF76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EB6AD7-F309-28AF-122F-8D7451A685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54DB2D-8ABD-7634-8870-B5FC773267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21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FE788B31-48FA-8BCA-91D9-2E0E63B93E48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276438190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88621-DAE8-8870-839F-B292E5408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028BCB-6DAD-00B8-ADC8-020FEDDAF9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722BB9-4EBC-C1B6-9727-C228C230DB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8F9120-44DA-1773-D5B1-A628E38B67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22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4801E206-F58B-A4F9-1DED-D6A777F203FC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428767744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89E98-7441-3026-2C4A-0247C2C57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0A22DF-AF6B-5312-1B06-B3500008D5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EAC009-71A7-0C89-AA70-6F249672FE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A1D795-707C-C153-EB40-B3AA6C4134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23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616B2FAF-212D-B142-3081-FF90BAC70E33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297667425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85397-E95F-10B5-397A-A35AAFEE9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86F05B-7B8F-10C1-96E0-26EA75E262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5DA2CF-9709-63D7-44F6-4336FA5193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3B62FB-F0B0-31F4-B8A4-52F972F725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24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E243417B-725D-3A46-3EF0-148A0C36C3E0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15747640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08B91-DC28-74FB-EAA5-BCE0504B1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63E69B-7A58-EA36-46D0-56C45DA4CA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40BCA9-18AC-6609-3C17-D5840531FE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458ACF-4BF3-F1DF-A31D-A98EF2BDAF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25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22D88252-9122-C1F6-573A-6422EF559658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45439169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40E60-BD72-9CEA-C01A-71BC387B1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5C4667-A3A8-4530-909B-E2740895D5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BDCDD2-0BEC-9074-E2A6-2F1831E322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360CDF-EC08-9A0D-9B9D-5750E9D6EB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26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9042E27D-C257-BCE0-28BA-1AFFE72A62EC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303712798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0492B-923B-A94D-4442-9C86E81D8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677156-59D2-6F3C-3928-554C8DA56E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7F588A-8205-E59F-4964-1C7496E74C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F2F0DB-C3D9-376A-AA35-7A6453C57D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27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A00A2F19-2E6C-31DD-F1A9-326F6C7FD505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269556770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96A9A-CCDB-6E00-A802-C03CF93CD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5B5112-4D5C-6E3D-356F-A91B79820A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26C3F4-D534-C04A-79D0-0643410D02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9FB41D-6F44-BAB1-92FB-DCCEBFFF45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28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85A297B1-4DF4-236C-D6D6-236EA3C17FAC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44929716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0FC58-AE1C-9F49-3FE3-F765DF76E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2C3DDB-3192-B6EC-4FEB-03D3900B07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35744B-CE35-6BD5-97E4-2F95B656CC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699158-B78C-CA21-BE77-7E80E221C4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29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7F25926D-B723-D61D-1C54-E6FF44CD3814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242725599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8C284-99F0-3E04-66AA-A887EE757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F1880E-B0F5-F8B4-B112-8BE8C48585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5FDB6E-F03D-D433-64C2-069FD8320C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77A5DD-00CA-3C25-1BD4-F2D10DA22D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30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00AAAD20-EB91-F024-1374-F9A381443021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22491366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31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331237850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32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365706141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33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426709004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34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183087965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D403A-4110-9704-FC0C-BF420FD66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3816B6-8F1D-C1C0-A569-7057479222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4313B6-CAFF-0AE3-BEB4-2B8C30BBDB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080FA3-B21F-043F-C02C-843EA15166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35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7A5E2289-E09C-86E3-E724-BB067340859C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323868642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36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274381939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A65A6-621D-7346-E403-2EC94A0D1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C8BEDD-DDE7-E1A8-1AE7-0AD2D2C16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E48F3E-099D-6FD9-E89F-9E54EB8962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E35F59-CB2E-76AD-21FE-727355900A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37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3EE8733F-385B-3892-FF85-3A144A865615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58147993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38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112493124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1EA7D-8BC7-6558-E735-27C4AD896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033051-D795-C27F-4B96-EAC9B2117B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342E3C-25D0-3304-3DB9-6835BA7B92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9D46EF-5E60-68CF-79D0-C62D7213B1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39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94330BD3-2796-0CC0-3B53-FC8B96F79CE6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354093661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C4199-143D-87B2-EC2E-8094F264A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C359E7-257D-BD94-850D-A869AF9784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6F1EBD-CE9C-DCEF-22C3-74AED3432C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332151-F8C1-E893-4FE2-85076CCB3B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40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97154D0C-F277-BDF5-FA8E-824E34DA2F6D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52844068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41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9224479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42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195039201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7914C-4467-E2CC-1BF4-29039F284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BE5B6C-5604-CC9E-69BF-F6B8766A5B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714729-410C-06E7-771F-21E663472C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A84B0F-6044-C024-3473-C1C7601118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43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1FE55E69-3A3B-5A34-C776-5672A9A00079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28222489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44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155831345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E58AC-0842-B2FA-30F7-16C3EDA5C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6369C4-A110-5502-D6C1-6F12A0F152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0CABD4-3DB6-8C22-E61E-5C921569A1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20E21E-A6C0-9C61-8450-30AC0F8371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45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C71ECF82-BF66-F369-7D84-F4602DBB3AE6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293990764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19243-2251-5E8E-DACF-BAB9D25FC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66F381-F13B-67A0-FDE4-C4FD34CD52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D93277-40D5-4F2E-3B4F-81664ABBD0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2A7523-EAC2-70FB-0A2B-F8CD980764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46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076FCA87-80A5-2618-81D3-9C63BD9307E0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377132287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47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81483292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F6010-41A9-2D47-ED3F-8DFB280A0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A90F8A-0D19-3596-0DF9-CADED3EC7C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88A8C9-AE71-657C-D5CE-8D9E13E0FA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B90AF0-7D3D-4AD5-C85F-2D222E841B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48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C58924CA-5719-530B-B9D2-E951EB8C3DE0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122673200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6FF82-78C6-DC01-B06B-B399106AD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669CB9-E2FA-3BE8-6328-DCEBA99763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2452E6-0BA4-655D-B0C0-8209A5DE9D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752581-AA08-6E6E-5D4E-D582FEF354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49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7909BE2D-8D44-25EF-BB30-0F59218066A4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269122996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0052A-9449-67D0-268E-97A1200C4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DA69C1-493F-820B-13B1-9B4DA7FB7B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937A7E-0EDF-FF5C-BF73-D444BA163B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2826A3-A31B-3F27-E3DF-FB16937AE6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50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B8F86532-782F-2955-EC17-395D3F3B47F7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259390746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4CBD0-D6AB-97CF-8331-3A11995BB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81B4FB-CA6E-AB2D-F7FE-E1E3215A69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574BFF-9530-6ADD-1945-0E8654CA54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C10061-C544-E3D2-B289-59BD34B931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51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9237FB27-177A-92E4-C193-CC3328E8E4DC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1746095359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52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25231011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63722-5D9F-4E99-9720-9B6A0C7BB1C9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C827-9CFA-4E1C-AE4D-19624BF57C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9482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63722-5D9F-4E99-9720-9B6A0C7BB1C9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C827-9CFA-4E1C-AE4D-19624BF57C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8140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63722-5D9F-4E99-9720-9B6A0C7BB1C9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C827-9CFA-4E1C-AE4D-19624BF57C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7981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65126"/>
            <a:ext cx="10515600" cy="622754"/>
          </a:xfr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Основы построения файловых систем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63722-5D9F-4E99-9720-9B6A0C7BB1C9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C827-9CFA-4E1C-AE4D-19624BF57C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7053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63722-5D9F-4E99-9720-9B6A0C7BB1C9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C827-9CFA-4E1C-AE4D-19624BF57C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90223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63722-5D9F-4E99-9720-9B6A0C7BB1C9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C827-9CFA-4E1C-AE4D-19624BF57C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9913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63722-5D9F-4E99-9720-9B6A0C7BB1C9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C827-9CFA-4E1C-AE4D-19624BF57C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7432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63722-5D9F-4E99-9720-9B6A0C7BB1C9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C827-9CFA-4E1C-AE4D-19624BF57C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3646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63722-5D9F-4E99-9720-9B6A0C7BB1C9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C827-9CFA-4E1C-AE4D-19624BF57C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2430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63722-5D9F-4E99-9720-9B6A0C7BB1C9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C827-9CFA-4E1C-AE4D-19624BF57C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0928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63722-5D9F-4E99-9720-9B6A0C7BB1C9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C827-9CFA-4E1C-AE4D-19624BF57C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99648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18C88-2408-4CFC-B25C-07450930B282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145A7-1FFA-4548-B8B9-099A1C219A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55850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18C88-2408-4CFC-B25C-07450930B282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145A7-1FFA-4548-B8B9-099A1C219A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69723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18C88-2408-4CFC-B25C-07450930B282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145A7-1FFA-4548-B8B9-099A1C219A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80577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18C88-2408-4CFC-B25C-07450930B282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145A7-1FFA-4548-B8B9-099A1C219A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26596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18C88-2408-4CFC-B25C-07450930B282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145A7-1FFA-4548-B8B9-099A1C219A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25382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18C88-2408-4CFC-B25C-07450930B282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145A7-1FFA-4548-B8B9-099A1C219A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47844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18C88-2408-4CFC-B25C-07450930B282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145A7-1FFA-4548-B8B9-099A1C219A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85054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18C88-2408-4CFC-B25C-07450930B282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145A7-1FFA-4548-B8B9-099A1C219A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037210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18C88-2408-4CFC-B25C-07450930B282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145A7-1FFA-4548-B8B9-099A1C219A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881158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18C88-2408-4CFC-B25C-07450930B282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145A7-1FFA-4548-B8B9-099A1C219A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135203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18C88-2408-4CFC-B25C-07450930B282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145A7-1FFA-4548-B8B9-099A1C219A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1758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C63722-5D9F-4E99-9720-9B6A0C7BB1C9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66C827-9CFA-4E1C-AE4D-19624BF57C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1473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18C88-2408-4CFC-B25C-07450930B282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9145A7-1FFA-4548-B8B9-099A1C219A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8141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algs4.cs.princeton.edu/33balanced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d.uoc.gr/~hy460/pdf/p650-lehman.pdf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d.uoc.gr/~hy460/pdf/p650-lehman.pdf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.umb.edu/~poneil/lsmtree.pdf" TargetMode="Externa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arxiv.org/pdf/1812.07527" TargetMode="External"/><Relationship Id="rId4" Type="http://schemas.openxmlformats.org/officeDocument/2006/relationships/hyperlink" Target="https://queue.acm.org/detail.cfm?id=3220266" TargetMode="Externa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barroso.org/publications/TheTailAtScale.pdf" TargetMode="External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ieeexplore.ieee.org/stamp/stamp.jsp?tp=&amp;arnumber=9167399" TargetMode="Externa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endParaRPr lang="ru-RU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3648654" y="923419"/>
            <a:ext cx="538833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The basics of file systems</a:t>
            </a:r>
            <a:endParaRPr lang="ru-RU" sz="4000" dirty="0"/>
          </a:p>
        </p:txBody>
      </p:sp>
      <p:pic>
        <p:nvPicPr>
          <p:cNvPr id="1026" name="Picture 2" descr="Neapolis University Pafos, Cyprus Adaptive • Inspiring • Today • Education">
            <a:extLst>
              <a:ext uri="{FF2B5EF4-FFF2-40B4-BE49-F238E27FC236}">
                <a16:creationId xmlns:a16="http://schemas.microsoft.com/office/drawing/2014/main" id="{4A89C479-1691-99F0-24E5-26D57F721B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1822" y="2457450"/>
            <a:ext cx="4191000" cy="1943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A35F9A63-3251-7EB7-FC8E-AE3ABA4B7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2638" y="1977686"/>
            <a:ext cx="2677540" cy="2902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09726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5410109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4145396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5985501"/>
              </p:ext>
            </p:extLst>
          </p:nvPr>
        </p:nvGraphicFramePr>
        <p:xfrm>
          <a:off x="1025611" y="929914"/>
          <a:ext cx="10140778" cy="2651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407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200" dirty="0"/>
                        <a:t>Today we will see some ways to store lists of files and extents efficiently.</a:t>
                      </a:r>
                    </a:p>
                    <a:p>
                      <a:endParaRPr lang="en-US" sz="3200" dirty="0"/>
                    </a:p>
                    <a:p>
                      <a:r>
                        <a:rPr lang="en-US" sz="2400" dirty="0"/>
                        <a:t>Warning: choosing parameters of B-trees and LSM trees</a:t>
                      </a:r>
                      <a:br>
                        <a:rPr lang="en-US" sz="2400" dirty="0"/>
                      </a:br>
                      <a:r>
                        <a:rPr lang="en-US" sz="2400" dirty="0"/>
                        <a:t>is very dependent on your task at hand. We will only make</a:t>
                      </a:r>
                      <a:br>
                        <a:rPr lang="en-US" sz="2400" dirty="0"/>
                      </a:br>
                      <a:r>
                        <a:rPr lang="en-US" sz="2400" dirty="0"/>
                        <a:t>an overview.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4634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8902748"/>
              </p:ext>
            </p:extLst>
          </p:nvPr>
        </p:nvGraphicFramePr>
        <p:xfrm>
          <a:off x="0" y="365760"/>
          <a:ext cx="12192000" cy="5118946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4928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31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7793">
                <a:tc gridSpan="3">
                  <a:txBody>
                    <a:bodyPr/>
                    <a:lstStyle/>
                    <a:p>
                      <a:r>
                        <a:rPr lang="en-US" sz="2400" dirty="0"/>
                        <a:t>A reminder</a:t>
                      </a:r>
                      <a:r>
                        <a:rPr lang="ru-RU" sz="2400" baseline="0" dirty="0"/>
                        <a:t>: </a:t>
                      </a:r>
                      <a:r>
                        <a:rPr lang="en-US" sz="2400" u="sng" baseline="0" dirty="0"/>
                        <a:t>how does one store a list of files</a:t>
                      </a:r>
                      <a:r>
                        <a:rPr lang="ru-RU" sz="2400" u="sng" baseline="30000" dirty="0"/>
                        <a:t>*</a:t>
                      </a:r>
                      <a:r>
                        <a:rPr lang="ru-RU" sz="2400" u="sng" baseline="0" dirty="0"/>
                        <a:t>?</a:t>
                      </a:r>
                      <a:endParaRPr lang="ru-RU" sz="2400" u="sng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7793">
                <a:tc gridSpan="2">
                  <a:txBody>
                    <a:bodyPr/>
                    <a:lstStyle/>
                    <a:p>
                      <a:r>
                        <a:rPr lang="en-US" dirty="0"/>
                        <a:t>An array with file names, unsorted:</a:t>
                      </a:r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balanced binary search tree: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7793">
                <a:tc gridSpan="2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  <a:p>
                      <a:endParaRPr lang="ru-RU" dirty="0"/>
                    </a:p>
                    <a:p>
                      <a:endParaRPr lang="ru-RU" dirty="0"/>
                    </a:p>
                    <a:p>
                      <a:endParaRPr lang="ru-RU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7793">
                <a:tc>
                  <a:txBody>
                    <a:bodyPr/>
                    <a:lstStyle/>
                    <a:p>
                      <a:r>
                        <a:rPr lang="en-US" dirty="0"/>
                        <a:t>Jump to the start of the list</a:t>
                      </a:r>
                      <a:r>
                        <a:rPr lang="ru-RU" dirty="0"/>
                        <a:t>:</a:t>
                      </a:r>
                      <a:endParaRPr lang="en-US" dirty="0"/>
                    </a:p>
                    <a:p>
                      <a:r>
                        <a:rPr lang="en-US" dirty="0"/>
                        <a:t>Read the whole list</a:t>
                      </a:r>
                      <a:r>
                        <a:rPr lang="ru-RU" dirty="0"/>
                        <a:t>:</a:t>
                      </a:r>
                      <a:endParaRPr lang="en-US" dirty="0"/>
                    </a:p>
                    <a:p>
                      <a:r>
                        <a:rPr lang="en-US" dirty="0"/>
                        <a:t>Scan the array in RAM</a:t>
                      </a:r>
                      <a:r>
                        <a:rPr lang="en-US" baseline="0" dirty="0"/>
                        <a:t>: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≈</a:t>
                      </a:r>
                      <a:r>
                        <a:rPr lang="en-US" dirty="0"/>
                        <a:t>10msec</a:t>
                      </a:r>
                    </a:p>
                    <a:p>
                      <a:r>
                        <a:rPr lang="en-US" dirty="0"/>
                        <a:t>&lt;1msec (&lt;100K)</a:t>
                      </a:r>
                    </a:p>
                    <a:p>
                      <a:r>
                        <a:rPr lang="en-US" dirty="0"/>
                        <a:t>&lt;1msec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Most files need 4 or 3 random accesses which translates to latencies above 30 msec.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-87220" y="6178994"/>
            <a:ext cx="88501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* </a:t>
            </a:r>
            <a:r>
              <a:rPr lang="en-US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boxes in diagrams depict contiguous areas of a disk; different boxes are assumed not to be adjacent</a:t>
            </a:r>
            <a:endParaRPr lang="ru-RU" sz="1600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616262" y="1482729"/>
            <a:ext cx="1439818" cy="23083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file15, file1,</a:t>
            </a:r>
          </a:p>
          <a:p>
            <a:r>
              <a:rPr lang="en-US" dirty="0"/>
              <a:t>file2, file3,</a:t>
            </a:r>
          </a:p>
          <a:p>
            <a:r>
              <a:rPr lang="en-US" dirty="0"/>
              <a:t>file4, file9,</a:t>
            </a:r>
          </a:p>
          <a:p>
            <a:r>
              <a:rPr lang="en-US" dirty="0"/>
              <a:t>file6, file8,</a:t>
            </a:r>
          </a:p>
          <a:p>
            <a:r>
              <a:rPr lang="en-US" dirty="0"/>
              <a:t>file7, file5,</a:t>
            </a:r>
          </a:p>
          <a:p>
            <a:r>
              <a:rPr lang="en-US" dirty="0"/>
              <a:t>file12, file11,</a:t>
            </a:r>
          </a:p>
          <a:p>
            <a:r>
              <a:rPr lang="en-US" dirty="0"/>
              <a:t>file10, file13,</a:t>
            </a:r>
          </a:p>
          <a:p>
            <a:r>
              <a:rPr lang="en-US" dirty="0"/>
              <a:t>file14, file0</a:t>
            </a:r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7457767" y="2236185"/>
            <a:ext cx="5934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file3</a:t>
            </a:r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6359611" y="2987684"/>
            <a:ext cx="5934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file1</a:t>
            </a:r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8584443" y="2987684"/>
            <a:ext cx="5934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file5</a:t>
            </a:r>
            <a:endParaRPr lang="ru-RU" dirty="0"/>
          </a:p>
        </p:txBody>
      </p:sp>
      <p:sp>
        <p:nvSpPr>
          <p:cNvPr id="12" name="TextBox 11"/>
          <p:cNvSpPr txBox="1"/>
          <p:nvPr/>
        </p:nvSpPr>
        <p:spPr>
          <a:xfrm>
            <a:off x="5766179" y="3819359"/>
            <a:ext cx="5934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file0</a:t>
            </a:r>
            <a:endParaRPr lang="ru-RU" dirty="0"/>
          </a:p>
        </p:txBody>
      </p:sp>
      <p:sp>
        <p:nvSpPr>
          <p:cNvPr id="13" name="TextBox 12"/>
          <p:cNvSpPr txBox="1"/>
          <p:nvPr/>
        </p:nvSpPr>
        <p:spPr>
          <a:xfrm>
            <a:off x="6953043" y="3823114"/>
            <a:ext cx="5934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file2</a:t>
            </a:r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7991011" y="3819359"/>
            <a:ext cx="5934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file4</a:t>
            </a:r>
            <a:endParaRPr lang="ru-RU" dirty="0"/>
          </a:p>
        </p:txBody>
      </p:sp>
      <p:sp>
        <p:nvSpPr>
          <p:cNvPr id="15" name="TextBox 14"/>
          <p:cNvSpPr txBox="1"/>
          <p:nvPr/>
        </p:nvSpPr>
        <p:spPr>
          <a:xfrm>
            <a:off x="9177875" y="3815079"/>
            <a:ext cx="5934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file6</a:t>
            </a:r>
            <a:endParaRPr lang="ru-RU" dirty="0"/>
          </a:p>
        </p:txBody>
      </p:sp>
      <p:cxnSp>
        <p:nvCxnSpPr>
          <p:cNvPr id="21" name="Straight Arrow Connector 20"/>
          <p:cNvCxnSpPr>
            <a:stCxn id="9" idx="2"/>
          </p:cNvCxnSpPr>
          <p:nvPr/>
        </p:nvCxnSpPr>
        <p:spPr>
          <a:xfrm flipH="1">
            <a:off x="6656327" y="2605517"/>
            <a:ext cx="1098156" cy="38216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endCxn id="11" idx="0"/>
          </p:cNvCxnSpPr>
          <p:nvPr/>
        </p:nvCxnSpPr>
        <p:spPr>
          <a:xfrm>
            <a:off x="7754483" y="2605517"/>
            <a:ext cx="1126676" cy="38216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10" idx="2"/>
          </p:cNvCxnSpPr>
          <p:nvPr/>
        </p:nvCxnSpPr>
        <p:spPr>
          <a:xfrm flipH="1">
            <a:off x="6062895" y="3357016"/>
            <a:ext cx="593432" cy="44126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endCxn id="13" idx="0"/>
          </p:cNvCxnSpPr>
          <p:nvPr/>
        </p:nvCxnSpPr>
        <p:spPr>
          <a:xfrm>
            <a:off x="6656327" y="3367104"/>
            <a:ext cx="593432" cy="45601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11" idx="2"/>
            <a:endCxn id="14" idx="0"/>
          </p:cNvCxnSpPr>
          <p:nvPr/>
        </p:nvCxnSpPr>
        <p:spPr>
          <a:xfrm flipH="1">
            <a:off x="8287727" y="3357016"/>
            <a:ext cx="593432" cy="46234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11" idx="2"/>
            <a:endCxn id="15" idx="0"/>
          </p:cNvCxnSpPr>
          <p:nvPr/>
        </p:nvCxnSpPr>
        <p:spPr>
          <a:xfrm>
            <a:off x="8881159" y="3357016"/>
            <a:ext cx="593432" cy="45806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9474591" y="1447691"/>
            <a:ext cx="59343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file7</a:t>
            </a:r>
            <a:endParaRPr lang="ru-RU" dirty="0"/>
          </a:p>
        </p:txBody>
      </p:sp>
      <p:sp>
        <p:nvSpPr>
          <p:cNvPr id="41" name="TextBox 40"/>
          <p:cNvSpPr txBox="1"/>
          <p:nvPr/>
        </p:nvSpPr>
        <p:spPr>
          <a:xfrm>
            <a:off x="11039151" y="2236185"/>
            <a:ext cx="71045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file11</a:t>
            </a:r>
            <a:endParaRPr lang="ru-RU" dirty="0"/>
          </a:p>
        </p:txBody>
      </p:sp>
      <p:cxnSp>
        <p:nvCxnSpPr>
          <p:cNvPr id="43" name="Straight Arrow Connector 42"/>
          <p:cNvCxnSpPr>
            <a:stCxn id="40" idx="2"/>
            <a:endCxn id="9" idx="0"/>
          </p:cNvCxnSpPr>
          <p:nvPr/>
        </p:nvCxnSpPr>
        <p:spPr>
          <a:xfrm flipH="1">
            <a:off x="7754483" y="1817023"/>
            <a:ext cx="2016824" cy="41916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40" idx="2"/>
            <a:endCxn id="41" idx="0"/>
          </p:cNvCxnSpPr>
          <p:nvPr/>
        </p:nvCxnSpPr>
        <p:spPr>
          <a:xfrm>
            <a:off x="9771307" y="1817023"/>
            <a:ext cx="1623070" cy="41916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stCxn id="41" idx="2"/>
          </p:cNvCxnSpPr>
          <p:nvPr/>
        </p:nvCxnSpPr>
        <p:spPr>
          <a:xfrm flipH="1">
            <a:off x="11039151" y="2605517"/>
            <a:ext cx="355226" cy="2934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41" idx="2"/>
          </p:cNvCxnSpPr>
          <p:nvPr/>
        </p:nvCxnSpPr>
        <p:spPr>
          <a:xfrm>
            <a:off x="11394377" y="2605517"/>
            <a:ext cx="355225" cy="28043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674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4408A-3999-7F2A-7766-0D3CB971B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C3B531B-C678-208E-2E45-1041472B497A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2359C02-F37F-DB24-7655-0EBE8AA203E6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8E2DC16-9D8C-9BDB-7B98-E9C1DA4EF2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0105784"/>
              </p:ext>
            </p:extLst>
          </p:nvPr>
        </p:nvGraphicFramePr>
        <p:xfrm>
          <a:off x="-1" y="365761"/>
          <a:ext cx="12192001" cy="43891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2-3-trees</a:t>
                      </a:r>
                      <a:r>
                        <a:rPr lang="ru-RU" sz="2400" dirty="0"/>
                        <a:t> </a:t>
                      </a:r>
                      <a:r>
                        <a:rPr lang="en-US" sz="2400" dirty="0"/>
                        <a:t>and red-black trees</a:t>
                      </a:r>
                      <a:r>
                        <a:rPr lang="ru-RU" sz="2400" dirty="0"/>
                        <a:t> (</a:t>
                      </a:r>
                      <a:r>
                        <a:rPr lang="en-US" sz="2400" dirty="0"/>
                        <a:t>a reminder</a:t>
                      </a:r>
                      <a:r>
                        <a:rPr lang="ru-RU" sz="2400" dirty="0"/>
                        <a:t>)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2-3-tree is a way to represent a set of comparable items.</a:t>
                      </a:r>
                      <a:r>
                        <a:rPr lang="en-US" baseline="0" dirty="0"/>
                        <a:t> It is defined to have the following properties</a:t>
                      </a:r>
                      <a:r>
                        <a:rPr lang="ru-RU" baseline="0" dirty="0"/>
                        <a:t>:</a:t>
                      </a:r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baseline="0" dirty="0"/>
                        <a:t>every node contains one or two items from the set,</a:t>
                      </a:r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baseline="0" dirty="0"/>
                        <a:t>every node has </a:t>
                      </a:r>
                      <a:r>
                        <a:rPr lang="ru-RU" baseline="0" dirty="0"/>
                        <a:t>0, 2 </a:t>
                      </a:r>
                      <a:r>
                        <a:rPr lang="en-US" baseline="0" dirty="0"/>
                        <a:t>or</a:t>
                      </a:r>
                      <a:r>
                        <a:rPr lang="ru-RU" baseline="0" dirty="0"/>
                        <a:t> 3 </a:t>
                      </a:r>
                      <a:r>
                        <a:rPr lang="en-US" baseline="0" dirty="0"/>
                        <a:t>child nodes,</a:t>
                      </a:r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baseline="0" dirty="0"/>
                        <a:t>the tree is fully balanced which means all leaf nodes are equidistant from the root</a:t>
                      </a:r>
                      <a:r>
                        <a:rPr lang="ru-RU" baseline="0" dirty="0"/>
                        <a:t>,</a:t>
                      </a:r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baseline="0" dirty="0"/>
                        <a:t>the tree is a search tree</a:t>
                      </a:r>
                      <a:r>
                        <a:rPr lang="ru-RU" baseline="0" dirty="0"/>
                        <a:t>:</a:t>
                      </a:r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9C6CD8A-0D90-D613-0707-1F6F45328BD6}"/>
              </a:ext>
            </a:extLst>
          </p:cNvPr>
          <p:cNvGraphicFramePr>
            <a:graphicFrameLocks noGrp="1"/>
          </p:cNvGraphicFramePr>
          <p:nvPr/>
        </p:nvGraphicFramePr>
        <p:xfrm>
          <a:off x="8493613" y="2463300"/>
          <a:ext cx="683047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30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993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  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D1B0190-7D11-957C-2030-E14C6D5F1AFF}"/>
              </a:ext>
            </a:extLst>
          </p:cNvPr>
          <p:cNvGraphicFramePr>
            <a:graphicFrameLocks noGrp="1"/>
          </p:cNvGraphicFramePr>
          <p:nvPr/>
        </p:nvGraphicFramePr>
        <p:xfrm>
          <a:off x="1949861" y="2454139"/>
          <a:ext cx="68304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30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Triangle 3">
            <a:extLst>
              <a:ext uri="{FF2B5EF4-FFF2-40B4-BE49-F238E27FC236}">
                <a16:creationId xmlns:a16="http://schemas.microsoft.com/office/drawing/2014/main" id="{23B9C200-BC8C-D4E9-F47E-BE7D7D548F80}"/>
              </a:ext>
            </a:extLst>
          </p:cNvPr>
          <p:cNvSpPr/>
          <p:nvPr/>
        </p:nvSpPr>
        <p:spPr>
          <a:xfrm>
            <a:off x="141774" y="3324819"/>
            <a:ext cx="2031800" cy="1167788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Less than</a:t>
            </a:r>
            <a:r>
              <a:rPr lang="ru-RU" dirty="0"/>
              <a:t> </a:t>
            </a:r>
            <a:r>
              <a:rPr lang="en-US" dirty="0"/>
              <a:t>A</a:t>
            </a:r>
          </a:p>
        </p:txBody>
      </p:sp>
      <p:sp>
        <p:nvSpPr>
          <p:cNvPr id="8" name="Triangle 7">
            <a:extLst>
              <a:ext uri="{FF2B5EF4-FFF2-40B4-BE49-F238E27FC236}">
                <a16:creationId xmlns:a16="http://schemas.microsoft.com/office/drawing/2014/main" id="{7DF8EC49-1AA0-C3B6-3086-8EB8885E2EB6}"/>
              </a:ext>
            </a:extLst>
          </p:cNvPr>
          <p:cNvSpPr/>
          <p:nvPr/>
        </p:nvSpPr>
        <p:spPr>
          <a:xfrm>
            <a:off x="2309507" y="3324819"/>
            <a:ext cx="2031800" cy="1167788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Greater than</a:t>
            </a:r>
            <a:r>
              <a:rPr lang="ru-RU" dirty="0"/>
              <a:t> </a:t>
            </a:r>
            <a:r>
              <a:rPr lang="en-US" dirty="0"/>
              <a:t>A</a:t>
            </a:r>
          </a:p>
        </p:txBody>
      </p:sp>
      <p:sp>
        <p:nvSpPr>
          <p:cNvPr id="12" name="Triangle 11">
            <a:extLst>
              <a:ext uri="{FF2B5EF4-FFF2-40B4-BE49-F238E27FC236}">
                <a16:creationId xmlns:a16="http://schemas.microsoft.com/office/drawing/2014/main" id="{9483AD6F-5ABE-8F06-3708-2B03E2E7566B}"/>
              </a:ext>
            </a:extLst>
          </p:cNvPr>
          <p:cNvSpPr/>
          <p:nvPr/>
        </p:nvSpPr>
        <p:spPr>
          <a:xfrm>
            <a:off x="5662307" y="3324819"/>
            <a:ext cx="2031800" cy="1167788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Less than A</a:t>
            </a:r>
          </a:p>
        </p:txBody>
      </p:sp>
      <p:sp>
        <p:nvSpPr>
          <p:cNvPr id="13" name="Triangle 12">
            <a:extLst>
              <a:ext uri="{FF2B5EF4-FFF2-40B4-BE49-F238E27FC236}">
                <a16:creationId xmlns:a16="http://schemas.microsoft.com/office/drawing/2014/main" id="{21935B5D-155B-BF39-4146-A61CBD284BC7}"/>
              </a:ext>
            </a:extLst>
          </p:cNvPr>
          <p:cNvSpPr/>
          <p:nvPr/>
        </p:nvSpPr>
        <p:spPr>
          <a:xfrm>
            <a:off x="7834226" y="3324819"/>
            <a:ext cx="2031800" cy="1167788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Between</a:t>
            </a:r>
            <a:r>
              <a:rPr lang="ru-RU" dirty="0"/>
              <a:t> </a:t>
            </a:r>
            <a:r>
              <a:rPr lang="en-US" dirty="0"/>
              <a:t>A and</a:t>
            </a:r>
            <a:r>
              <a:rPr lang="ru-RU" dirty="0"/>
              <a:t> </a:t>
            </a:r>
            <a:r>
              <a:rPr lang="en-US" dirty="0"/>
              <a:t>B</a:t>
            </a:r>
          </a:p>
        </p:txBody>
      </p:sp>
      <p:sp>
        <p:nvSpPr>
          <p:cNvPr id="14" name="Triangle 13">
            <a:extLst>
              <a:ext uri="{FF2B5EF4-FFF2-40B4-BE49-F238E27FC236}">
                <a16:creationId xmlns:a16="http://schemas.microsoft.com/office/drawing/2014/main" id="{9051D03E-756C-C57B-3598-889BB35CF067}"/>
              </a:ext>
            </a:extLst>
          </p:cNvPr>
          <p:cNvSpPr/>
          <p:nvPr/>
        </p:nvSpPr>
        <p:spPr>
          <a:xfrm>
            <a:off x="9991155" y="3324819"/>
            <a:ext cx="2031800" cy="1167788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Greater than B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C9F55E8-8E14-DBB0-1AA6-6046B424F2EB}"/>
              </a:ext>
            </a:extLst>
          </p:cNvPr>
          <p:cNvCxnSpPr/>
          <p:nvPr/>
        </p:nvCxnSpPr>
        <p:spPr>
          <a:xfrm flipH="1">
            <a:off x="1139552" y="2824979"/>
            <a:ext cx="810309" cy="49984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431856A-F088-34B5-59EF-BD534EDDFC66}"/>
              </a:ext>
            </a:extLst>
          </p:cNvPr>
          <p:cNvCxnSpPr/>
          <p:nvPr/>
        </p:nvCxnSpPr>
        <p:spPr>
          <a:xfrm>
            <a:off x="2628845" y="2824979"/>
            <a:ext cx="678440" cy="49984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0F1A1F8-91E0-C6D3-F5DE-5BFACE67BDAB}"/>
              </a:ext>
            </a:extLst>
          </p:cNvPr>
          <p:cNvCxnSpPr/>
          <p:nvPr/>
        </p:nvCxnSpPr>
        <p:spPr>
          <a:xfrm flipH="1">
            <a:off x="6663217" y="2824979"/>
            <a:ext cx="1830395" cy="49984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F8B9489-F1CF-210D-90EE-DF0845644774}"/>
              </a:ext>
            </a:extLst>
          </p:cNvPr>
          <p:cNvCxnSpPr/>
          <p:nvPr/>
        </p:nvCxnSpPr>
        <p:spPr>
          <a:xfrm>
            <a:off x="8835136" y="2824979"/>
            <a:ext cx="0" cy="49984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8127E89-E404-8A81-4A7C-22741B5BE2C1}"/>
              </a:ext>
            </a:extLst>
          </p:cNvPr>
          <p:cNvCxnSpPr>
            <a:endCxn id="14" idx="0"/>
          </p:cNvCxnSpPr>
          <p:nvPr/>
        </p:nvCxnSpPr>
        <p:spPr>
          <a:xfrm>
            <a:off x="9176660" y="2824979"/>
            <a:ext cx="1830395" cy="49984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8489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5933113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8389650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7718365"/>
              </p:ext>
            </p:extLst>
          </p:nvPr>
        </p:nvGraphicFramePr>
        <p:xfrm>
          <a:off x="-1" y="365761"/>
          <a:ext cx="12192001" cy="475996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2-3-trees</a:t>
                      </a:r>
                      <a:r>
                        <a:rPr lang="ru-RU" sz="2400" dirty="0"/>
                        <a:t> </a:t>
                      </a:r>
                      <a:r>
                        <a:rPr lang="en-US" sz="2400" dirty="0"/>
                        <a:t>and red-black trees</a:t>
                      </a:r>
                      <a:r>
                        <a:rPr lang="ru-RU" sz="2400" dirty="0"/>
                        <a:t> (</a:t>
                      </a:r>
                      <a:r>
                        <a:rPr lang="en-US" sz="2400" dirty="0"/>
                        <a:t>a reminder</a:t>
                      </a:r>
                      <a:r>
                        <a:rPr lang="ru-RU" sz="2400" dirty="0"/>
                        <a:t>)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2-3-tree is a way to represent a set of comparable items.</a:t>
                      </a:r>
                      <a:r>
                        <a:rPr lang="en-US" baseline="0" dirty="0"/>
                        <a:t> It is defined to have the following properties</a:t>
                      </a:r>
                      <a:r>
                        <a:rPr lang="ru-RU" baseline="0" dirty="0"/>
                        <a:t>:</a:t>
                      </a:r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baseline="0" dirty="0"/>
                        <a:t>every node contains one or two items from the set,</a:t>
                      </a:r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baseline="0" dirty="0"/>
                        <a:t>every node has </a:t>
                      </a:r>
                      <a:r>
                        <a:rPr lang="ru-RU" baseline="0" dirty="0"/>
                        <a:t>0, 2 </a:t>
                      </a:r>
                      <a:r>
                        <a:rPr lang="en-US" baseline="0" dirty="0"/>
                        <a:t>or</a:t>
                      </a:r>
                      <a:r>
                        <a:rPr lang="ru-RU" baseline="0" dirty="0"/>
                        <a:t> 3 </a:t>
                      </a:r>
                      <a:r>
                        <a:rPr lang="en-US" baseline="0" dirty="0"/>
                        <a:t>child nodes,</a:t>
                      </a:r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baseline="0" dirty="0"/>
                        <a:t>the tree is fully balanced which means all leaf nodes are equidistant from the root</a:t>
                      </a:r>
                      <a:r>
                        <a:rPr lang="ru-RU" baseline="0" dirty="0"/>
                        <a:t>,</a:t>
                      </a:r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baseline="0" dirty="0"/>
                        <a:t>the tree is a search tree</a:t>
                      </a:r>
                      <a:r>
                        <a:rPr lang="ru-RU" baseline="0" dirty="0"/>
                        <a:t>:</a:t>
                      </a:r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baseline="0" dirty="0"/>
                        <a:t>Quiz</a:t>
                      </a:r>
                      <a:r>
                        <a:rPr lang="en-US" baseline="0" dirty="0"/>
                        <a:t>: if we know how to represent an ordered set A as a tree, how de we represent a map from A to B?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46042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2663393"/>
              </p:ext>
            </p:extLst>
          </p:nvPr>
        </p:nvGraphicFramePr>
        <p:xfrm>
          <a:off x="8493613" y="2463300"/>
          <a:ext cx="683047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30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993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  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580037"/>
              </p:ext>
            </p:extLst>
          </p:nvPr>
        </p:nvGraphicFramePr>
        <p:xfrm>
          <a:off x="1949861" y="2454139"/>
          <a:ext cx="68304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30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Triangle 3"/>
          <p:cNvSpPr/>
          <p:nvPr/>
        </p:nvSpPr>
        <p:spPr>
          <a:xfrm>
            <a:off x="141774" y="3324819"/>
            <a:ext cx="2031800" cy="1167788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Less than</a:t>
            </a:r>
            <a:r>
              <a:rPr lang="ru-RU" dirty="0"/>
              <a:t> </a:t>
            </a:r>
            <a:r>
              <a:rPr lang="en-US" dirty="0"/>
              <a:t>A</a:t>
            </a:r>
          </a:p>
        </p:txBody>
      </p:sp>
      <p:sp>
        <p:nvSpPr>
          <p:cNvPr id="8" name="Triangle 7"/>
          <p:cNvSpPr/>
          <p:nvPr/>
        </p:nvSpPr>
        <p:spPr>
          <a:xfrm>
            <a:off x="2309507" y="3324819"/>
            <a:ext cx="2031800" cy="1167788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Greater than</a:t>
            </a:r>
            <a:r>
              <a:rPr lang="ru-RU" dirty="0"/>
              <a:t> </a:t>
            </a:r>
            <a:r>
              <a:rPr lang="en-US" dirty="0"/>
              <a:t>A</a:t>
            </a:r>
          </a:p>
        </p:txBody>
      </p:sp>
      <p:sp>
        <p:nvSpPr>
          <p:cNvPr id="12" name="Triangle 11"/>
          <p:cNvSpPr/>
          <p:nvPr/>
        </p:nvSpPr>
        <p:spPr>
          <a:xfrm>
            <a:off x="5662307" y="3324819"/>
            <a:ext cx="2031800" cy="1167788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Less than A</a:t>
            </a:r>
          </a:p>
        </p:txBody>
      </p:sp>
      <p:sp>
        <p:nvSpPr>
          <p:cNvPr id="13" name="Triangle 12"/>
          <p:cNvSpPr/>
          <p:nvPr/>
        </p:nvSpPr>
        <p:spPr>
          <a:xfrm>
            <a:off x="7834226" y="3324819"/>
            <a:ext cx="2031800" cy="1167788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Between</a:t>
            </a:r>
            <a:r>
              <a:rPr lang="ru-RU" dirty="0"/>
              <a:t> </a:t>
            </a:r>
            <a:r>
              <a:rPr lang="en-US" dirty="0"/>
              <a:t>A and</a:t>
            </a:r>
            <a:r>
              <a:rPr lang="ru-RU" dirty="0"/>
              <a:t> </a:t>
            </a:r>
            <a:r>
              <a:rPr lang="en-US" dirty="0"/>
              <a:t>B</a:t>
            </a:r>
          </a:p>
        </p:txBody>
      </p:sp>
      <p:sp>
        <p:nvSpPr>
          <p:cNvPr id="14" name="Triangle 13"/>
          <p:cNvSpPr/>
          <p:nvPr/>
        </p:nvSpPr>
        <p:spPr>
          <a:xfrm>
            <a:off x="9991155" y="3324819"/>
            <a:ext cx="2031800" cy="1167788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Greater than B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 flipH="1">
            <a:off x="1139552" y="2824979"/>
            <a:ext cx="810309" cy="49984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2628845" y="2824979"/>
            <a:ext cx="678440" cy="49984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H="1">
            <a:off x="6663217" y="2824979"/>
            <a:ext cx="1830395" cy="49984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8835136" y="2824979"/>
            <a:ext cx="0" cy="49984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endCxn id="14" idx="0"/>
          </p:cNvCxnSpPr>
          <p:nvPr/>
        </p:nvCxnSpPr>
        <p:spPr>
          <a:xfrm>
            <a:off x="9176660" y="2824979"/>
            <a:ext cx="1830395" cy="49984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88959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5531979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814464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9720021"/>
              </p:ext>
            </p:extLst>
          </p:nvPr>
        </p:nvGraphicFramePr>
        <p:xfrm>
          <a:off x="-1" y="365761"/>
          <a:ext cx="12192001" cy="41148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2-3-trees</a:t>
                      </a:r>
                      <a:r>
                        <a:rPr lang="ru-RU" sz="2400" dirty="0"/>
                        <a:t> </a:t>
                      </a:r>
                      <a:r>
                        <a:rPr lang="en-US" sz="2400" dirty="0"/>
                        <a:t>and red-black trees</a:t>
                      </a:r>
                      <a:r>
                        <a:rPr lang="ru-RU" sz="2400" dirty="0"/>
                        <a:t> (</a:t>
                      </a:r>
                      <a:r>
                        <a:rPr lang="en-US" sz="2400" dirty="0"/>
                        <a:t>a reminder</a:t>
                      </a:r>
                      <a:r>
                        <a:rPr lang="ru-RU" sz="2400" dirty="0"/>
                        <a:t>)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aseline="0" dirty="0"/>
                        <a:t>Inserting an item into a 1-node</a:t>
                      </a:r>
                      <a:r>
                        <a:rPr lang="ru-RU" baseline="0" dirty="0"/>
                        <a:t>:</a:t>
                      </a:r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1962816"/>
              </p:ext>
            </p:extLst>
          </p:nvPr>
        </p:nvGraphicFramePr>
        <p:xfrm>
          <a:off x="2663240" y="1327805"/>
          <a:ext cx="63625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</a:t>
                      </a:r>
                    </a:p>
                  </a:txBody>
                  <a:tcPr>
                    <a:solidFill>
                      <a:srgbClr val="FF000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696020"/>
              </p:ext>
            </p:extLst>
          </p:nvPr>
        </p:nvGraphicFramePr>
        <p:xfrm>
          <a:off x="1239174" y="1932615"/>
          <a:ext cx="636250" cy="375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8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  <a:r>
                        <a:rPr lang="en-US" baseline="0" dirty="0"/>
                        <a:t>   J</a:t>
                      </a:r>
                      <a:endParaRPr lang="en-US" dirty="0"/>
                    </a:p>
                  </a:txBody>
                  <a:tcPr>
                    <a:solidFill>
                      <a:srgbClr val="FF000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0341463"/>
              </p:ext>
            </p:extLst>
          </p:nvPr>
        </p:nvGraphicFramePr>
        <p:xfrm>
          <a:off x="1239174" y="2674195"/>
          <a:ext cx="636250" cy="375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8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1994615"/>
              </p:ext>
            </p:extLst>
          </p:nvPr>
        </p:nvGraphicFramePr>
        <p:xfrm>
          <a:off x="3968229" y="1932615"/>
          <a:ext cx="63625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2472958"/>
              </p:ext>
            </p:extLst>
          </p:nvPr>
        </p:nvGraphicFramePr>
        <p:xfrm>
          <a:off x="199427" y="2674195"/>
          <a:ext cx="636250" cy="375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8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r>
                        <a:rPr lang="en-US" baseline="0" dirty="0"/>
                        <a:t>   C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" name="Table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8115"/>
              </p:ext>
            </p:extLst>
          </p:nvPr>
        </p:nvGraphicFramePr>
        <p:xfrm>
          <a:off x="2278921" y="2674195"/>
          <a:ext cx="636250" cy="375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8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</a:t>
                      </a:r>
                    </a:p>
                  </a:txBody>
                  <a:tcPr>
                    <a:solidFill>
                      <a:srgbClr val="FF000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9219797"/>
              </p:ext>
            </p:extLst>
          </p:nvPr>
        </p:nvGraphicFramePr>
        <p:xfrm>
          <a:off x="3318668" y="2674195"/>
          <a:ext cx="636250" cy="375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8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5840278"/>
              </p:ext>
            </p:extLst>
          </p:nvPr>
        </p:nvGraphicFramePr>
        <p:xfrm>
          <a:off x="4358415" y="2669215"/>
          <a:ext cx="63625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</a:t>
                      </a:r>
                      <a:r>
                        <a:rPr lang="en-US" baseline="0" dirty="0"/>
                        <a:t>   X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1" name="Straight Arrow Connector 10"/>
          <p:cNvCxnSpPr>
            <a:endCxn id="19" idx="0"/>
          </p:cNvCxnSpPr>
          <p:nvPr/>
        </p:nvCxnSpPr>
        <p:spPr>
          <a:xfrm flipH="1">
            <a:off x="1557299" y="1698645"/>
            <a:ext cx="1105941" cy="23397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endCxn id="27" idx="0"/>
          </p:cNvCxnSpPr>
          <p:nvPr/>
        </p:nvCxnSpPr>
        <p:spPr>
          <a:xfrm>
            <a:off x="3299490" y="1698645"/>
            <a:ext cx="986864" cy="23397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endCxn id="29" idx="0"/>
          </p:cNvCxnSpPr>
          <p:nvPr/>
        </p:nvCxnSpPr>
        <p:spPr>
          <a:xfrm flipH="1">
            <a:off x="517552" y="2303455"/>
            <a:ext cx="721621" cy="37074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endCxn id="21" idx="0"/>
          </p:cNvCxnSpPr>
          <p:nvPr/>
        </p:nvCxnSpPr>
        <p:spPr>
          <a:xfrm>
            <a:off x="1557298" y="2305945"/>
            <a:ext cx="1" cy="36825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endCxn id="30" idx="0"/>
          </p:cNvCxnSpPr>
          <p:nvPr/>
        </p:nvCxnSpPr>
        <p:spPr>
          <a:xfrm>
            <a:off x="1875424" y="2303455"/>
            <a:ext cx="721622" cy="37074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endCxn id="31" idx="0"/>
          </p:cNvCxnSpPr>
          <p:nvPr/>
        </p:nvCxnSpPr>
        <p:spPr>
          <a:xfrm flipH="1">
            <a:off x="3636793" y="2298375"/>
            <a:ext cx="331435" cy="37582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endCxn id="32" idx="0"/>
          </p:cNvCxnSpPr>
          <p:nvPr/>
        </p:nvCxnSpPr>
        <p:spPr>
          <a:xfrm>
            <a:off x="4604479" y="2298375"/>
            <a:ext cx="72061" cy="37084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835677" y="3848350"/>
            <a:ext cx="16992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search for</a:t>
            </a:r>
            <a:r>
              <a:rPr lang="ru-RU" dirty="0"/>
              <a:t> </a:t>
            </a:r>
            <a:r>
              <a:rPr lang="en-US" b="1" dirty="0">
                <a:solidFill>
                  <a:srgbClr val="FF0000"/>
                </a:solidFill>
              </a:rPr>
              <a:t>K</a:t>
            </a:r>
            <a:br>
              <a:rPr lang="ru-RU" dirty="0"/>
            </a:br>
            <a:r>
              <a:rPr lang="en-US" dirty="0"/>
              <a:t>stops here</a:t>
            </a:r>
          </a:p>
        </p:txBody>
      </p:sp>
      <p:cxnSp>
        <p:nvCxnSpPr>
          <p:cNvPr id="48" name="Straight Arrow Connector 47"/>
          <p:cNvCxnSpPr>
            <a:stCxn id="46" idx="0"/>
            <a:endCxn id="30" idx="2"/>
          </p:cNvCxnSpPr>
          <p:nvPr/>
        </p:nvCxnSpPr>
        <p:spPr>
          <a:xfrm flipV="1">
            <a:off x="1685301" y="3050015"/>
            <a:ext cx="911745" cy="79833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85991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7715178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1518796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7922759"/>
              </p:ext>
            </p:extLst>
          </p:nvPr>
        </p:nvGraphicFramePr>
        <p:xfrm>
          <a:off x="-1" y="365761"/>
          <a:ext cx="12192001" cy="41148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2-3-trees</a:t>
                      </a:r>
                      <a:r>
                        <a:rPr lang="ru-RU" sz="2400" dirty="0"/>
                        <a:t> </a:t>
                      </a:r>
                      <a:r>
                        <a:rPr lang="en-US" sz="2400" dirty="0"/>
                        <a:t>and red-black trees</a:t>
                      </a:r>
                      <a:r>
                        <a:rPr lang="ru-RU" sz="2400" dirty="0"/>
                        <a:t> (</a:t>
                      </a:r>
                      <a:r>
                        <a:rPr lang="en-US" sz="2400" dirty="0"/>
                        <a:t>a reminder</a:t>
                      </a:r>
                      <a:r>
                        <a:rPr lang="ru-RU" sz="2400" dirty="0"/>
                        <a:t>)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aseline="0" dirty="0"/>
                        <a:t>Inserting an item into a 1-node</a:t>
                      </a:r>
                      <a:r>
                        <a:rPr lang="ru-RU" baseline="0" dirty="0"/>
                        <a:t>:</a:t>
                      </a:r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5798353"/>
              </p:ext>
            </p:extLst>
          </p:nvPr>
        </p:nvGraphicFramePr>
        <p:xfrm>
          <a:off x="2663240" y="1327805"/>
          <a:ext cx="63625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</a:t>
                      </a:r>
                    </a:p>
                  </a:txBody>
                  <a:tcPr>
                    <a:solidFill>
                      <a:srgbClr val="FF0000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3649570"/>
              </p:ext>
            </p:extLst>
          </p:nvPr>
        </p:nvGraphicFramePr>
        <p:xfrm>
          <a:off x="1239174" y="1932615"/>
          <a:ext cx="636250" cy="375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8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  <a:r>
                        <a:rPr lang="en-US" baseline="0" dirty="0"/>
                        <a:t>   J</a:t>
                      </a:r>
                      <a:endParaRPr lang="en-US" dirty="0"/>
                    </a:p>
                  </a:txBody>
                  <a:tcPr>
                    <a:solidFill>
                      <a:srgbClr val="FF0000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0222826"/>
              </p:ext>
            </p:extLst>
          </p:nvPr>
        </p:nvGraphicFramePr>
        <p:xfrm>
          <a:off x="1239174" y="2674195"/>
          <a:ext cx="636250" cy="375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8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</a:t>
                      </a:r>
                    </a:p>
                  </a:txBody>
                  <a:tcPr>
                    <a:solidFill>
                      <a:schemeClr val="accent1"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6923838"/>
              </p:ext>
            </p:extLst>
          </p:nvPr>
        </p:nvGraphicFramePr>
        <p:xfrm>
          <a:off x="3968229" y="1932615"/>
          <a:ext cx="63625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</a:t>
                      </a:r>
                    </a:p>
                  </a:txBody>
                  <a:tcPr>
                    <a:solidFill>
                      <a:schemeClr val="accent1"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3167299"/>
              </p:ext>
            </p:extLst>
          </p:nvPr>
        </p:nvGraphicFramePr>
        <p:xfrm>
          <a:off x="199427" y="2674195"/>
          <a:ext cx="636250" cy="375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8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r>
                        <a:rPr lang="en-US" baseline="0" dirty="0"/>
                        <a:t>   C</a:t>
                      </a:r>
                      <a:endParaRPr lang="en-US" dirty="0"/>
                    </a:p>
                  </a:txBody>
                  <a:tcPr>
                    <a:solidFill>
                      <a:schemeClr val="accent1"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" name="Table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9816942"/>
              </p:ext>
            </p:extLst>
          </p:nvPr>
        </p:nvGraphicFramePr>
        <p:xfrm>
          <a:off x="2278921" y="2674195"/>
          <a:ext cx="636250" cy="375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8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</a:t>
                      </a:r>
                    </a:p>
                  </a:txBody>
                  <a:tcPr>
                    <a:solidFill>
                      <a:srgbClr val="FF0000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2138637"/>
              </p:ext>
            </p:extLst>
          </p:nvPr>
        </p:nvGraphicFramePr>
        <p:xfrm>
          <a:off x="3318668" y="2674195"/>
          <a:ext cx="636250" cy="375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8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>
                    <a:solidFill>
                      <a:schemeClr val="accent1"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995617"/>
              </p:ext>
            </p:extLst>
          </p:nvPr>
        </p:nvGraphicFramePr>
        <p:xfrm>
          <a:off x="4358415" y="2669215"/>
          <a:ext cx="63625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</a:t>
                      </a:r>
                      <a:r>
                        <a:rPr lang="en-US" baseline="0" dirty="0"/>
                        <a:t>   X</a:t>
                      </a:r>
                      <a:endParaRPr lang="en-US" dirty="0"/>
                    </a:p>
                  </a:txBody>
                  <a:tcPr>
                    <a:solidFill>
                      <a:schemeClr val="accent1"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1" name="Straight Arrow Connector 10"/>
          <p:cNvCxnSpPr/>
          <p:nvPr/>
        </p:nvCxnSpPr>
        <p:spPr>
          <a:xfrm flipH="1">
            <a:off x="1557299" y="1714055"/>
            <a:ext cx="1105941" cy="233970"/>
          </a:xfrm>
          <a:prstGeom prst="straightConnector1">
            <a:avLst/>
          </a:prstGeom>
          <a:ln w="25400">
            <a:solidFill>
              <a:schemeClr val="accent1">
                <a:alpha val="3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3299490" y="1714055"/>
            <a:ext cx="986864" cy="233970"/>
          </a:xfrm>
          <a:prstGeom prst="straightConnector1">
            <a:avLst/>
          </a:prstGeom>
          <a:ln w="25400">
            <a:solidFill>
              <a:schemeClr val="accent1">
                <a:alpha val="3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endCxn id="29" idx="0"/>
          </p:cNvCxnSpPr>
          <p:nvPr/>
        </p:nvCxnSpPr>
        <p:spPr>
          <a:xfrm flipH="1">
            <a:off x="517552" y="2303455"/>
            <a:ext cx="721621" cy="370740"/>
          </a:xfrm>
          <a:prstGeom prst="straightConnector1">
            <a:avLst/>
          </a:prstGeom>
          <a:ln w="25400">
            <a:solidFill>
              <a:schemeClr val="accent1">
                <a:alpha val="3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endCxn id="21" idx="0"/>
          </p:cNvCxnSpPr>
          <p:nvPr/>
        </p:nvCxnSpPr>
        <p:spPr>
          <a:xfrm>
            <a:off x="1557298" y="2305945"/>
            <a:ext cx="1" cy="368250"/>
          </a:xfrm>
          <a:prstGeom prst="straightConnector1">
            <a:avLst/>
          </a:prstGeom>
          <a:ln w="25400">
            <a:solidFill>
              <a:schemeClr val="accent1">
                <a:alpha val="3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endCxn id="30" idx="0"/>
          </p:cNvCxnSpPr>
          <p:nvPr/>
        </p:nvCxnSpPr>
        <p:spPr>
          <a:xfrm>
            <a:off x="1875424" y="2303455"/>
            <a:ext cx="721622" cy="370740"/>
          </a:xfrm>
          <a:prstGeom prst="straightConnector1">
            <a:avLst/>
          </a:prstGeom>
          <a:ln w="25400">
            <a:solidFill>
              <a:schemeClr val="accent1">
                <a:alpha val="3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endCxn id="31" idx="0"/>
          </p:cNvCxnSpPr>
          <p:nvPr/>
        </p:nvCxnSpPr>
        <p:spPr>
          <a:xfrm flipH="1">
            <a:off x="3636793" y="2298375"/>
            <a:ext cx="331435" cy="375820"/>
          </a:xfrm>
          <a:prstGeom prst="straightConnector1">
            <a:avLst/>
          </a:prstGeom>
          <a:ln w="25400">
            <a:solidFill>
              <a:schemeClr val="accent1">
                <a:alpha val="3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endCxn id="32" idx="0"/>
          </p:cNvCxnSpPr>
          <p:nvPr/>
        </p:nvCxnSpPr>
        <p:spPr>
          <a:xfrm>
            <a:off x="4604479" y="2298375"/>
            <a:ext cx="72061" cy="370840"/>
          </a:xfrm>
          <a:prstGeom prst="straightConnector1">
            <a:avLst/>
          </a:prstGeom>
          <a:ln w="25400">
            <a:solidFill>
              <a:schemeClr val="accent1">
                <a:alpha val="3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9" name="Table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6328958"/>
              </p:ext>
            </p:extLst>
          </p:nvPr>
        </p:nvGraphicFramePr>
        <p:xfrm>
          <a:off x="8661766" y="1308478"/>
          <a:ext cx="63625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</a:t>
                      </a:r>
                    </a:p>
                  </a:txBody>
                  <a:tcPr>
                    <a:solidFill>
                      <a:srgbClr val="FF000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0" name="Table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9109040"/>
              </p:ext>
            </p:extLst>
          </p:nvPr>
        </p:nvGraphicFramePr>
        <p:xfrm>
          <a:off x="7237700" y="1913288"/>
          <a:ext cx="636250" cy="375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8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  <a:r>
                        <a:rPr lang="en-US" baseline="0" dirty="0"/>
                        <a:t>   J</a:t>
                      </a:r>
                      <a:endParaRPr lang="en-US" dirty="0"/>
                    </a:p>
                  </a:txBody>
                  <a:tcPr>
                    <a:solidFill>
                      <a:srgbClr val="FF000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" name="Table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7605104"/>
              </p:ext>
            </p:extLst>
          </p:nvPr>
        </p:nvGraphicFramePr>
        <p:xfrm>
          <a:off x="7237700" y="2654868"/>
          <a:ext cx="636250" cy="375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8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" name="Table 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2898488"/>
              </p:ext>
            </p:extLst>
          </p:nvPr>
        </p:nvGraphicFramePr>
        <p:xfrm>
          <a:off x="9966755" y="1913288"/>
          <a:ext cx="63625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3" name="Table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8767537"/>
              </p:ext>
            </p:extLst>
          </p:nvPr>
        </p:nvGraphicFramePr>
        <p:xfrm>
          <a:off x="6197953" y="2654868"/>
          <a:ext cx="636250" cy="375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8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r>
                        <a:rPr lang="en-US" baseline="0" dirty="0"/>
                        <a:t>   C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4" name="Table 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6629506"/>
              </p:ext>
            </p:extLst>
          </p:nvPr>
        </p:nvGraphicFramePr>
        <p:xfrm>
          <a:off x="8277447" y="2654868"/>
          <a:ext cx="636250" cy="375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82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K</a:t>
                      </a:r>
                      <a:r>
                        <a:rPr lang="en-US" baseline="0" dirty="0">
                          <a:solidFill>
                            <a:schemeClr val="bg1"/>
                          </a:solidFill>
                        </a:rPr>
                        <a:t>   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L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5" name="Table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528353"/>
              </p:ext>
            </p:extLst>
          </p:nvPr>
        </p:nvGraphicFramePr>
        <p:xfrm>
          <a:off x="9317194" y="2654868"/>
          <a:ext cx="636250" cy="375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8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6" name="Table 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1042195"/>
              </p:ext>
            </p:extLst>
          </p:nvPr>
        </p:nvGraphicFramePr>
        <p:xfrm>
          <a:off x="10356941" y="2649888"/>
          <a:ext cx="63625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</a:t>
                      </a:r>
                      <a:r>
                        <a:rPr lang="en-US" baseline="0" dirty="0"/>
                        <a:t>   X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7" name="Straight Arrow Connector 56"/>
          <p:cNvCxnSpPr/>
          <p:nvPr/>
        </p:nvCxnSpPr>
        <p:spPr>
          <a:xfrm flipH="1">
            <a:off x="7555825" y="1679318"/>
            <a:ext cx="1105941" cy="23397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>
            <a:off x="9298016" y="1679318"/>
            <a:ext cx="986864" cy="23397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flipH="1">
            <a:off x="6516078" y="2284128"/>
            <a:ext cx="721621" cy="37074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>
            <a:off x="7555824" y="2286618"/>
            <a:ext cx="1" cy="36825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>
            <a:off x="7873950" y="2284128"/>
            <a:ext cx="721622" cy="37074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 flipH="1">
            <a:off x="9635319" y="2279048"/>
            <a:ext cx="331435" cy="37582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>
            <a:off x="10603005" y="2279048"/>
            <a:ext cx="72061" cy="37084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5032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4555566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5734272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2372635"/>
              </p:ext>
            </p:extLst>
          </p:nvPr>
        </p:nvGraphicFramePr>
        <p:xfrm>
          <a:off x="-1" y="365761"/>
          <a:ext cx="12192001" cy="57607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2-3-trees</a:t>
                      </a:r>
                      <a:r>
                        <a:rPr lang="ru-RU" sz="2400" dirty="0"/>
                        <a:t> </a:t>
                      </a:r>
                      <a:r>
                        <a:rPr lang="en-US" sz="2400" dirty="0"/>
                        <a:t>and red-black trees</a:t>
                      </a:r>
                      <a:r>
                        <a:rPr lang="ru-RU" sz="2400" dirty="0"/>
                        <a:t> (</a:t>
                      </a:r>
                      <a:r>
                        <a:rPr lang="en-US" sz="2400" dirty="0"/>
                        <a:t>a reminder</a:t>
                      </a:r>
                      <a:r>
                        <a:rPr lang="ru-RU" sz="2400" dirty="0"/>
                        <a:t>)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aseline="0" dirty="0"/>
                        <a:t>Inserting an item into a 2-node</a:t>
                      </a:r>
                      <a:r>
                        <a:rPr lang="ru-RU" baseline="0" dirty="0"/>
                        <a:t>:</a:t>
                      </a:r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52" name="Table 1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4530573"/>
              </p:ext>
            </p:extLst>
          </p:nvPr>
        </p:nvGraphicFramePr>
        <p:xfrm>
          <a:off x="2380843" y="1483553"/>
          <a:ext cx="747013" cy="375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70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820">
                <a:tc>
                  <a:txBody>
                    <a:bodyPr/>
                    <a:lstStyle/>
                    <a:p>
                      <a:pPr algn="ctr"/>
                      <a:r>
                        <a:rPr lang="en-US" baseline="0" dirty="0"/>
                        <a:t>M</a:t>
                      </a:r>
                      <a:endParaRPr lang="en-US" dirty="0"/>
                    </a:p>
                  </a:txBody>
                  <a:tcPr>
                    <a:solidFill>
                      <a:srgbClr val="FF000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3" name="Table 1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673097"/>
              </p:ext>
            </p:extLst>
          </p:nvPr>
        </p:nvGraphicFramePr>
        <p:xfrm>
          <a:off x="1434487" y="2144499"/>
          <a:ext cx="747012" cy="375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70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8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  <a:r>
                        <a:rPr lang="en-US" baseline="0" dirty="0"/>
                        <a:t>   J</a:t>
                      </a:r>
                      <a:endParaRPr lang="en-US" dirty="0"/>
                    </a:p>
                  </a:txBody>
                  <a:tcPr>
                    <a:solidFill>
                      <a:srgbClr val="FF000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4" name="Table 1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1274324"/>
              </p:ext>
            </p:extLst>
          </p:nvPr>
        </p:nvGraphicFramePr>
        <p:xfrm>
          <a:off x="4348785" y="2120601"/>
          <a:ext cx="636250" cy="375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8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5" name="Table 1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4271977"/>
              </p:ext>
            </p:extLst>
          </p:nvPr>
        </p:nvGraphicFramePr>
        <p:xfrm>
          <a:off x="1954414" y="2801977"/>
          <a:ext cx="636250" cy="375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8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6" name="Table 1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3746265"/>
              </p:ext>
            </p:extLst>
          </p:nvPr>
        </p:nvGraphicFramePr>
        <p:xfrm>
          <a:off x="2887883" y="2795167"/>
          <a:ext cx="636250" cy="375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8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7" name="Table 1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0317964"/>
              </p:ext>
            </p:extLst>
          </p:nvPr>
        </p:nvGraphicFramePr>
        <p:xfrm>
          <a:off x="553020" y="2810318"/>
          <a:ext cx="734966" cy="375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49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8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   C</a:t>
                      </a:r>
                    </a:p>
                  </a:txBody>
                  <a:tcPr>
                    <a:solidFill>
                      <a:srgbClr val="FF000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8" name="Table 1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5477936"/>
              </p:ext>
            </p:extLst>
          </p:nvPr>
        </p:nvGraphicFramePr>
        <p:xfrm>
          <a:off x="3821351" y="2801977"/>
          <a:ext cx="636250" cy="375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8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9" name="Table 1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6426400"/>
              </p:ext>
            </p:extLst>
          </p:nvPr>
        </p:nvGraphicFramePr>
        <p:xfrm>
          <a:off x="4754819" y="2798417"/>
          <a:ext cx="63625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2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</a:t>
                      </a:r>
                      <a:r>
                        <a:rPr lang="en-US" baseline="0" dirty="0"/>
                        <a:t>   X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60" name="Straight Arrow Connector 159"/>
          <p:cNvCxnSpPr/>
          <p:nvPr/>
        </p:nvCxnSpPr>
        <p:spPr>
          <a:xfrm>
            <a:off x="3124263" y="1847644"/>
            <a:ext cx="1542647" cy="27295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/>
          <p:cNvCxnSpPr/>
          <p:nvPr/>
        </p:nvCxnSpPr>
        <p:spPr>
          <a:xfrm flipH="1">
            <a:off x="4139476" y="2496421"/>
            <a:ext cx="209308" cy="30555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/>
          <p:cNvCxnSpPr/>
          <p:nvPr/>
        </p:nvCxnSpPr>
        <p:spPr>
          <a:xfrm>
            <a:off x="4985035" y="2496421"/>
            <a:ext cx="87909" cy="30199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/>
          <p:cNvCxnSpPr/>
          <p:nvPr/>
        </p:nvCxnSpPr>
        <p:spPr>
          <a:xfrm flipH="1">
            <a:off x="1807993" y="1847644"/>
            <a:ext cx="586031" cy="296855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/>
          <p:cNvCxnSpPr/>
          <p:nvPr/>
        </p:nvCxnSpPr>
        <p:spPr>
          <a:xfrm flipH="1">
            <a:off x="903490" y="2503383"/>
            <a:ext cx="530996" cy="291784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/>
          <p:cNvCxnSpPr/>
          <p:nvPr/>
        </p:nvCxnSpPr>
        <p:spPr>
          <a:xfrm>
            <a:off x="1807993" y="2520319"/>
            <a:ext cx="464546" cy="281658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/>
          <p:cNvCxnSpPr/>
          <p:nvPr/>
        </p:nvCxnSpPr>
        <p:spPr>
          <a:xfrm>
            <a:off x="2178320" y="2520319"/>
            <a:ext cx="1027688" cy="274848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TextBox 167"/>
          <p:cNvSpPr txBox="1"/>
          <p:nvPr/>
        </p:nvSpPr>
        <p:spPr>
          <a:xfrm>
            <a:off x="86398" y="4011610"/>
            <a:ext cx="17184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search for</a:t>
            </a:r>
            <a:r>
              <a:rPr lang="ru-RU" dirty="0"/>
              <a:t> </a:t>
            </a:r>
            <a:r>
              <a:rPr lang="en-US" b="1" dirty="0">
                <a:solidFill>
                  <a:srgbClr val="FF0000"/>
                </a:solidFill>
              </a:rPr>
              <a:t>D</a:t>
            </a:r>
            <a:br>
              <a:rPr lang="en-US" dirty="0"/>
            </a:br>
            <a:r>
              <a:rPr lang="en-US" dirty="0"/>
              <a:t>stops here</a:t>
            </a:r>
          </a:p>
        </p:txBody>
      </p:sp>
      <p:cxnSp>
        <p:nvCxnSpPr>
          <p:cNvPr id="170" name="Straight Arrow Connector 169"/>
          <p:cNvCxnSpPr/>
          <p:nvPr/>
        </p:nvCxnSpPr>
        <p:spPr>
          <a:xfrm flipH="1" flipV="1">
            <a:off x="920503" y="3186138"/>
            <a:ext cx="142829" cy="82547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09993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1210616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2740096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6158029"/>
              </p:ext>
            </p:extLst>
          </p:nvPr>
        </p:nvGraphicFramePr>
        <p:xfrm>
          <a:off x="-1" y="365761"/>
          <a:ext cx="12192001" cy="57607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2-3-trees</a:t>
                      </a:r>
                      <a:r>
                        <a:rPr lang="ru-RU" sz="2400" dirty="0"/>
                        <a:t> </a:t>
                      </a:r>
                      <a:r>
                        <a:rPr lang="en-US" sz="2400" dirty="0"/>
                        <a:t>and red-black trees</a:t>
                      </a:r>
                      <a:r>
                        <a:rPr lang="ru-RU" sz="2400" dirty="0"/>
                        <a:t> (</a:t>
                      </a:r>
                      <a:r>
                        <a:rPr lang="en-US" sz="2400" dirty="0"/>
                        <a:t>a reminder</a:t>
                      </a:r>
                      <a:r>
                        <a:rPr lang="ru-RU" sz="2400" dirty="0"/>
                        <a:t>)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aseline="0" dirty="0"/>
                        <a:t>Inserting an item into a 2-node</a:t>
                      </a:r>
                      <a:r>
                        <a:rPr lang="ru-RU" baseline="0" dirty="0"/>
                        <a:t>:</a:t>
                      </a:r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2" name="Table 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9041291"/>
              </p:ext>
            </p:extLst>
          </p:nvPr>
        </p:nvGraphicFramePr>
        <p:xfrm>
          <a:off x="9020464" y="1479051"/>
          <a:ext cx="747013" cy="375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70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820">
                <a:tc>
                  <a:txBody>
                    <a:bodyPr/>
                    <a:lstStyle/>
                    <a:p>
                      <a:pPr algn="ctr"/>
                      <a:r>
                        <a:rPr lang="en-US" baseline="0" dirty="0"/>
                        <a:t>M</a:t>
                      </a:r>
                      <a:endParaRPr lang="en-US" dirty="0"/>
                    </a:p>
                  </a:txBody>
                  <a:tcPr>
                    <a:solidFill>
                      <a:srgbClr val="FF000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4" name="Table 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1929756"/>
              </p:ext>
            </p:extLst>
          </p:nvPr>
        </p:nvGraphicFramePr>
        <p:xfrm>
          <a:off x="8074108" y="2139997"/>
          <a:ext cx="747012" cy="375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70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8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  <a:r>
                        <a:rPr lang="en-US" baseline="0" dirty="0"/>
                        <a:t>   J</a:t>
                      </a:r>
                      <a:endParaRPr lang="en-US" dirty="0"/>
                    </a:p>
                  </a:txBody>
                  <a:tcPr>
                    <a:solidFill>
                      <a:srgbClr val="FF000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5" name="Table 7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6550354"/>
              </p:ext>
            </p:extLst>
          </p:nvPr>
        </p:nvGraphicFramePr>
        <p:xfrm>
          <a:off x="10988406" y="2116099"/>
          <a:ext cx="636250" cy="375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8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6" name="Table 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3065813"/>
              </p:ext>
            </p:extLst>
          </p:nvPr>
        </p:nvGraphicFramePr>
        <p:xfrm>
          <a:off x="8594035" y="2797475"/>
          <a:ext cx="636250" cy="375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8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7" name="Table 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7894875"/>
              </p:ext>
            </p:extLst>
          </p:nvPr>
        </p:nvGraphicFramePr>
        <p:xfrm>
          <a:off x="9527504" y="2790665"/>
          <a:ext cx="636250" cy="375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8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9" name="Table 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398410"/>
              </p:ext>
            </p:extLst>
          </p:nvPr>
        </p:nvGraphicFramePr>
        <p:xfrm>
          <a:off x="6795716" y="2790665"/>
          <a:ext cx="1494791" cy="375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47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8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   C   D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0" name="Table 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80878"/>
              </p:ext>
            </p:extLst>
          </p:nvPr>
        </p:nvGraphicFramePr>
        <p:xfrm>
          <a:off x="10460972" y="2797475"/>
          <a:ext cx="636250" cy="375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8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1" name="Table 8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2366875"/>
              </p:ext>
            </p:extLst>
          </p:nvPr>
        </p:nvGraphicFramePr>
        <p:xfrm>
          <a:off x="11394440" y="2793915"/>
          <a:ext cx="63625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2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</a:t>
                      </a:r>
                      <a:r>
                        <a:rPr lang="en-US" baseline="0" dirty="0"/>
                        <a:t>   X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84" name="Straight Arrow Connector 83"/>
          <p:cNvCxnSpPr/>
          <p:nvPr/>
        </p:nvCxnSpPr>
        <p:spPr>
          <a:xfrm>
            <a:off x="9763884" y="1843142"/>
            <a:ext cx="1542647" cy="27295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/>
          <p:nvPr/>
        </p:nvCxnSpPr>
        <p:spPr>
          <a:xfrm flipH="1">
            <a:off x="10779097" y="2491919"/>
            <a:ext cx="209308" cy="30555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/>
          <p:cNvCxnSpPr/>
          <p:nvPr/>
        </p:nvCxnSpPr>
        <p:spPr>
          <a:xfrm>
            <a:off x="11624656" y="2491919"/>
            <a:ext cx="87909" cy="30199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/>
          <p:cNvCxnSpPr>
            <a:endCxn id="74" idx="0"/>
          </p:cNvCxnSpPr>
          <p:nvPr/>
        </p:nvCxnSpPr>
        <p:spPr>
          <a:xfrm flipH="1">
            <a:off x="8447614" y="1843142"/>
            <a:ext cx="586031" cy="296855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/>
          <p:cNvCxnSpPr>
            <a:endCxn id="79" idx="0"/>
          </p:cNvCxnSpPr>
          <p:nvPr/>
        </p:nvCxnSpPr>
        <p:spPr>
          <a:xfrm flipH="1">
            <a:off x="7543111" y="2498881"/>
            <a:ext cx="530996" cy="291784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/>
          <p:cNvCxnSpPr>
            <a:stCxn id="74" idx="2"/>
            <a:endCxn id="76" idx="0"/>
          </p:cNvCxnSpPr>
          <p:nvPr/>
        </p:nvCxnSpPr>
        <p:spPr>
          <a:xfrm>
            <a:off x="8447614" y="2515817"/>
            <a:ext cx="464546" cy="281658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/>
          <p:cNvCxnSpPr>
            <a:endCxn id="77" idx="0"/>
          </p:cNvCxnSpPr>
          <p:nvPr/>
        </p:nvCxnSpPr>
        <p:spPr>
          <a:xfrm>
            <a:off x="8817941" y="2515817"/>
            <a:ext cx="1027688" cy="274848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2" name="Table 1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0991830"/>
              </p:ext>
            </p:extLst>
          </p:nvPr>
        </p:nvGraphicFramePr>
        <p:xfrm>
          <a:off x="2380843" y="1483553"/>
          <a:ext cx="747013" cy="375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70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820">
                <a:tc>
                  <a:txBody>
                    <a:bodyPr/>
                    <a:lstStyle/>
                    <a:p>
                      <a:pPr algn="ctr"/>
                      <a:r>
                        <a:rPr lang="en-US" baseline="0" dirty="0"/>
                        <a:t>M</a:t>
                      </a:r>
                      <a:endParaRPr lang="en-US" dirty="0"/>
                    </a:p>
                  </a:txBody>
                  <a:tcPr>
                    <a:solidFill>
                      <a:srgbClr val="FF0000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3" name="Table 1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2580040"/>
              </p:ext>
            </p:extLst>
          </p:nvPr>
        </p:nvGraphicFramePr>
        <p:xfrm>
          <a:off x="1434487" y="2144499"/>
          <a:ext cx="747012" cy="375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70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8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  <a:r>
                        <a:rPr lang="en-US" baseline="0" dirty="0"/>
                        <a:t>   J</a:t>
                      </a:r>
                      <a:endParaRPr lang="en-US" dirty="0"/>
                    </a:p>
                  </a:txBody>
                  <a:tcPr>
                    <a:solidFill>
                      <a:srgbClr val="FF0000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4" name="Table 1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3255404"/>
              </p:ext>
            </p:extLst>
          </p:nvPr>
        </p:nvGraphicFramePr>
        <p:xfrm>
          <a:off x="4348785" y="2120601"/>
          <a:ext cx="636250" cy="375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8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</a:t>
                      </a:r>
                    </a:p>
                  </a:txBody>
                  <a:tcPr>
                    <a:solidFill>
                      <a:schemeClr val="accent1"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5" name="Table 1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0485636"/>
              </p:ext>
            </p:extLst>
          </p:nvPr>
        </p:nvGraphicFramePr>
        <p:xfrm>
          <a:off x="1954414" y="2801977"/>
          <a:ext cx="636250" cy="375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8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</a:t>
                      </a:r>
                    </a:p>
                  </a:txBody>
                  <a:tcPr>
                    <a:solidFill>
                      <a:schemeClr val="accent1"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6" name="Table 1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1615292"/>
              </p:ext>
            </p:extLst>
          </p:nvPr>
        </p:nvGraphicFramePr>
        <p:xfrm>
          <a:off x="2887883" y="2795167"/>
          <a:ext cx="636250" cy="375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8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</a:t>
                      </a:r>
                    </a:p>
                  </a:txBody>
                  <a:tcPr>
                    <a:solidFill>
                      <a:schemeClr val="accent1"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7" name="Table 1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6242240"/>
              </p:ext>
            </p:extLst>
          </p:nvPr>
        </p:nvGraphicFramePr>
        <p:xfrm>
          <a:off x="553020" y="2810318"/>
          <a:ext cx="734966" cy="375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49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8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   C</a:t>
                      </a:r>
                    </a:p>
                  </a:txBody>
                  <a:tcPr>
                    <a:solidFill>
                      <a:srgbClr val="FF0000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8" name="Table 1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4451529"/>
              </p:ext>
            </p:extLst>
          </p:nvPr>
        </p:nvGraphicFramePr>
        <p:xfrm>
          <a:off x="3821351" y="2801977"/>
          <a:ext cx="636250" cy="375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8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>
                    <a:solidFill>
                      <a:schemeClr val="accent1"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9" name="Table 1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5894874"/>
              </p:ext>
            </p:extLst>
          </p:nvPr>
        </p:nvGraphicFramePr>
        <p:xfrm>
          <a:off x="4754819" y="2798417"/>
          <a:ext cx="63625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2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</a:t>
                      </a:r>
                      <a:r>
                        <a:rPr lang="en-US" baseline="0" dirty="0"/>
                        <a:t>   X</a:t>
                      </a:r>
                      <a:endParaRPr lang="en-US" dirty="0"/>
                    </a:p>
                  </a:txBody>
                  <a:tcPr>
                    <a:solidFill>
                      <a:schemeClr val="accent1"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60" name="Straight Arrow Connector 159"/>
          <p:cNvCxnSpPr/>
          <p:nvPr/>
        </p:nvCxnSpPr>
        <p:spPr>
          <a:xfrm>
            <a:off x="3124263" y="1847644"/>
            <a:ext cx="1542647" cy="272957"/>
          </a:xfrm>
          <a:prstGeom prst="straightConnector1">
            <a:avLst/>
          </a:prstGeom>
          <a:ln w="25400">
            <a:solidFill>
              <a:schemeClr val="accent1">
                <a:alpha val="3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/>
          <p:cNvCxnSpPr/>
          <p:nvPr/>
        </p:nvCxnSpPr>
        <p:spPr>
          <a:xfrm flipH="1">
            <a:off x="4139476" y="2496421"/>
            <a:ext cx="209308" cy="305556"/>
          </a:xfrm>
          <a:prstGeom prst="straightConnector1">
            <a:avLst/>
          </a:prstGeom>
          <a:ln w="25400">
            <a:solidFill>
              <a:schemeClr val="accent1">
                <a:alpha val="3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/>
          <p:cNvCxnSpPr/>
          <p:nvPr/>
        </p:nvCxnSpPr>
        <p:spPr>
          <a:xfrm>
            <a:off x="4985035" y="2496421"/>
            <a:ext cx="87909" cy="301996"/>
          </a:xfrm>
          <a:prstGeom prst="straightConnector1">
            <a:avLst/>
          </a:prstGeom>
          <a:ln w="25400">
            <a:solidFill>
              <a:schemeClr val="accent1">
                <a:alpha val="3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/>
          <p:cNvCxnSpPr/>
          <p:nvPr/>
        </p:nvCxnSpPr>
        <p:spPr>
          <a:xfrm flipH="1">
            <a:off x="1807993" y="1847644"/>
            <a:ext cx="586031" cy="296855"/>
          </a:xfrm>
          <a:prstGeom prst="straightConnector1">
            <a:avLst/>
          </a:prstGeom>
          <a:ln w="25400">
            <a:solidFill>
              <a:schemeClr val="accent1">
                <a:alpha val="3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/>
          <p:cNvCxnSpPr/>
          <p:nvPr/>
        </p:nvCxnSpPr>
        <p:spPr>
          <a:xfrm flipH="1">
            <a:off x="903490" y="2503383"/>
            <a:ext cx="530996" cy="291784"/>
          </a:xfrm>
          <a:prstGeom prst="straightConnector1">
            <a:avLst/>
          </a:prstGeom>
          <a:ln w="25400">
            <a:solidFill>
              <a:schemeClr val="accent1">
                <a:alpha val="3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/>
          <p:cNvCxnSpPr/>
          <p:nvPr/>
        </p:nvCxnSpPr>
        <p:spPr>
          <a:xfrm>
            <a:off x="1807993" y="2520319"/>
            <a:ext cx="464546" cy="281658"/>
          </a:xfrm>
          <a:prstGeom prst="straightConnector1">
            <a:avLst/>
          </a:prstGeom>
          <a:ln w="25400">
            <a:solidFill>
              <a:schemeClr val="accent1">
                <a:alpha val="3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/>
          <p:cNvCxnSpPr/>
          <p:nvPr/>
        </p:nvCxnSpPr>
        <p:spPr>
          <a:xfrm>
            <a:off x="2178320" y="2520319"/>
            <a:ext cx="1027688" cy="274848"/>
          </a:xfrm>
          <a:prstGeom prst="straightConnector1">
            <a:avLst/>
          </a:prstGeom>
          <a:ln w="25400">
            <a:solidFill>
              <a:schemeClr val="accent1">
                <a:alpha val="3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83264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0763771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2930346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5258865"/>
              </p:ext>
            </p:extLst>
          </p:nvPr>
        </p:nvGraphicFramePr>
        <p:xfrm>
          <a:off x="-1" y="365761"/>
          <a:ext cx="12192001" cy="57607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2-3-trees</a:t>
                      </a:r>
                      <a:r>
                        <a:rPr lang="ru-RU" sz="2400" dirty="0"/>
                        <a:t> </a:t>
                      </a:r>
                      <a:r>
                        <a:rPr lang="en-US" sz="2400" dirty="0"/>
                        <a:t>and red-black trees</a:t>
                      </a:r>
                      <a:r>
                        <a:rPr lang="ru-RU" sz="2400" dirty="0"/>
                        <a:t> (</a:t>
                      </a:r>
                      <a:r>
                        <a:rPr lang="en-US" sz="2400" dirty="0"/>
                        <a:t>a reminder</a:t>
                      </a:r>
                      <a:r>
                        <a:rPr lang="ru-RU" sz="2400" dirty="0"/>
                        <a:t>)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aseline="0" dirty="0"/>
                        <a:t>Inserting an item into a 2-node</a:t>
                      </a:r>
                      <a:r>
                        <a:rPr lang="ru-RU" baseline="0" dirty="0"/>
                        <a:t>:</a:t>
                      </a:r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2" name="Table 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4772018"/>
              </p:ext>
            </p:extLst>
          </p:nvPr>
        </p:nvGraphicFramePr>
        <p:xfrm>
          <a:off x="9020464" y="1479051"/>
          <a:ext cx="747013" cy="375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70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820">
                <a:tc>
                  <a:txBody>
                    <a:bodyPr/>
                    <a:lstStyle/>
                    <a:p>
                      <a:pPr algn="ctr"/>
                      <a:r>
                        <a:rPr lang="en-US" baseline="0" dirty="0"/>
                        <a:t>M</a:t>
                      </a:r>
                      <a:endParaRPr lang="en-US" dirty="0"/>
                    </a:p>
                  </a:txBody>
                  <a:tcPr>
                    <a:solidFill>
                      <a:srgbClr val="FF0000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4" name="Table 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3898751"/>
              </p:ext>
            </p:extLst>
          </p:nvPr>
        </p:nvGraphicFramePr>
        <p:xfrm>
          <a:off x="8074108" y="2139997"/>
          <a:ext cx="747012" cy="375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70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8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  <a:r>
                        <a:rPr lang="en-US" baseline="0" dirty="0"/>
                        <a:t>   J</a:t>
                      </a:r>
                      <a:endParaRPr lang="en-US" dirty="0"/>
                    </a:p>
                  </a:txBody>
                  <a:tcPr>
                    <a:solidFill>
                      <a:srgbClr val="FF0000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5" name="Table 7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2227644"/>
              </p:ext>
            </p:extLst>
          </p:nvPr>
        </p:nvGraphicFramePr>
        <p:xfrm>
          <a:off x="10988406" y="2116099"/>
          <a:ext cx="636250" cy="375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8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</a:t>
                      </a:r>
                    </a:p>
                  </a:txBody>
                  <a:tcPr>
                    <a:solidFill>
                      <a:schemeClr val="accent1"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6" name="Table 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3576129"/>
              </p:ext>
            </p:extLst>
          </p:nvPr>
        </p:nvGraphicFramePr>
        <p:xfrm>
          <a:off x="8594035" y="2797475"/>
          <a:ext cx="636250" cy="375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8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</a:t>
                      </a:r>
                    </a:p>
                  </a:txBody>
                  <a:tcPr>
                    <a:solidFill>
                      <a:schemeClr val="accent1"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7" name="Table 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6304775"/>
              </p:ext>
            </p:extLst>
          </p:nvPr>
        </p:nvGraphicFramePr>
        <p:xfrm>
          <a:off x="9527504" y="2790665"/>
          <a:ext cx="636250" cy="375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8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</a:t>
                      </a:r>
                    </a:p>
                  </a:txBody>
                  <a:tcPr>
                    <a:solidFill>
                      <a:schemeClr val="accent1"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9" name="Table 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7112511"/>
              </p:ext>
            </p:extLst>
          </p:nvPr>
        </p:nvGraphicFramePr>
        <p:xfrm>
          <a:off x="6795716" y="2790665"/>
          <a:ext cx="1494791" cy="375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47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8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   C   D</a:t>
                      </a:r>
                    </a:p>
                  </a:txBody>
                  <a:tcPr>
                    <a:solidFill>
                      <a:srgbClr val="FF0000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0" name="Table 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1693539"/>
              </p:ext>
            </p:extLst>
          </p:nvPr>
        </p:nvGraphicFramePr>
        <p:xfrm>
          <a:off x="10460972" y="2797475"/>
          <a:ext cx="636250" cy="375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8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>
                    <a:solidFill>
                      <a:schemeClr val="accent1"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1" name="Table 8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73332"/>
              </p:ext>
            </p:extLst>
          </p:nvPr>
        </p:nvGraphicFramePr>
        <p:xfrm>
          <a:off x="11394440" y="2793915"/>
          <a:ext cx="63625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2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</a:t>
                      </a:r>
                      <a:r>
                        <a:rPr lang="en-US" baseline="0" dirty="0"/>
                        <a:t>   X</a:t>
                      </a:r>
                      <a:endParaRPr lang="en-US" dirty="0"/>
                    </a:p>
                  </a:txBody>
                  <a:tcPr>
                    <a:solidFill>
                      <a:schemeClr val="accent1"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84" name="Straight Arrow Connector 83"/>
          <p:cNvCxnSpPr/>
          <p:nvPr/>
        </p:nvCxnSpPr>
        <p:spPr>
          <a:xfrm>
            <a:off x="9763884" y="1843142"/>
            <a:ext cx="1542647" cy="272957"/>
          </a:xfrm>
          <a:prstGeom prst="straightConnector1">
            <a:avLst/>
          </a:prstGeom>
          <a:ln w="25400">
            <a:solidFill>
              <a:schemeClr val="accent1">
                <a:alpha val="3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/>
          <p:nvPr/>
        </p:nvCxnSpPr>
        <p:spPr>
          <a:xfrm flipH="1">
            <a:off x="10779097" y="2491919"/>
            <a:ext cx="209308" cy="305556"/>
          </a:xfrm>
          <a:prstGeom prst="straightConnector1">
            <a:avLst/>
          </a:prstGeom>
          <a:ln w="25400">
            <a:solidFill>
              <a:schemeClr val="accent1">
                <a:alpha val="3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/>
          <p:cNvCxnSpPr/>
          <p:nvPr/>
        </p:nvCxnSpPr>
        <p:spPr>
          <a:xfrm>
            <a:off x="11624656" y="2491919"/>
            <a:ext cx="87909" cy="301996"/>
          </a:xfrm>
          <a:prstGeom prst="straightConnector1">
            <a:avLst/>
          </a:prstGeom>
          <a:ln w="25400">
            <a:solidFill>
              <a:schemeClr val="accent1">
                <a:alpha val="3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1" name="Table 9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7882389"/>
              </p:ext>
            </p:extLst>
          </p:nvPr>
        </p:nvGraphicFramePr>
        <p:xfrm>
          <a:off x="2384002" y="4010833"/>
          <a:ext cx="747013" cy="375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70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820">
                <a:tc>
                  <a:txBody>
                    <a:bodyPr/>
                    <a:lstStyle/>
                    <a:p>
                      <a:pPr algn="ctr"/>
                      <a:r>
                        <a:rPr lang="en-US" baseline="0" dirty="0"/>
                        <a:t>M</a:t>
                      </a:r>
                      <a:endParaRPr lang="en-US" dirty="0"/>
                    </a:p>
                  </a:txBody>
                  <a:tcPr>
                    <a:solidFill>
                      <a:srgbClr val="FF000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4" name="Table 9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6307427"/>
              </p:ext>
            </p:extLst>
          </p:nvPr>
        </p:nvGraphicFramePr>
        <p:xfrm>
          <a:off x="4351944" y="4647881"/>
          <a:ext cx="636250" cy="375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8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5" name="Table 9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417418"/>
              </p:ext>
            </p:extLst>
          </p:nvPr>
        </p:nvGraphicFramePr>
        <p:xfrm>
          <a:off x="1957573" y="5329257"/>
          <a:ext cx="636250" cy="375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8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6" name="Table 9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8585245"/>
              </p:ext>
            </p:extLst>
          </p:nvPr>
        </p:nvGraphicFramePr>
        <p:xfrm>
          <a:off x="2891042" y="5322447"/>
          <a:ext cx="636250" cy="375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8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7" name="Table 9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0853753"/>
              </p:ext>
            </p:extLst>
          </p:nvPr>
        </p:nvGraphicFramePr>
        <p:xfrm>
          <a:off x="1024105" y="5322447"/>
          <a:ext cx="636250" cy="375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8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8" name="Table 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847948"/>
              </p:ext>
            </p:extLst>
          </p:nvPr>
        </p:nvGraphicFramePr>
        <p:xfrm>
          <a:off x="159255" y="5322447"/>
          <a:ext cx="636250" cy="375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8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9" name="Table 9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856222"/>
              </p:ext>
            </p:extLst>
          </p:nvPr>
        </p:nvGraphicFramePr>
        <p:xfrm>
          <a:off x="3824510" y="5329257"/>
          <a:ext cx="636250" cy="375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8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0" name="Table 9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2943752"/>
              </p:ext>
            </p:extLst>
          </p:nvPr>
        </p:nvGraphicFramePr>
        <p:xfrm>
          <a:off x="4757978" y="5325697"/>
          <a:ext cx="63625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2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</a:t>
                      </a:r>
                      <a:r>
                        <a:rPr lang="en-US" baseline="0" dirty="0"/>
                        <a:t>   X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03" name="Straight Arrow Connector 102"/>
          <p:cNvCxnSpPr/>
          <p:nvPr/>
        </p:nvCxnSpPr>
        <p:spPr>
          <a:xfrm>
            <a:off x="3127422" y="4374924"/>
            <a:ext cx="1542647" cy="27295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/>
          <p:cNvCxnSpPr/>
          <p:nvPr/>
        </p:nvCxnSpPr>
        <p:spPr>
          <a:xfrm flipH="1">
            <a:off x="4142635" y="5023701"/>
            <a:ext cx="209308" cy="30555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/>
          <p:cNvCxnSpPr/>
          <p:nvPr/>
        </p:nvCxnSpPr>
        <p:spPr>
          <a:xfrm>
            <a:off x="4988194" y="5023701"/>
            <a:ext cx="87909" cy="30199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9" name="Table 1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8654941"/>
              </p:ext>
            </p:extLst>
          </p:nvPr>
        </p:nvGraphicFramePr>
        <p:xfrm>
          <a:off x="1276352" y="4662432"/>
          <a:ext cx="117716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71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   E   J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31" name="Straight Arrow Connector 130"/>
          <p:cNvCxnSpPr>
            <a:endCxn id="129" idx="0"/>
          </p:cNvCxnSpPr>
          <p:nvPr/>
        </p:nvCxnSpPr>
        <p:spPr>
          <a:xfrm flipH="1">
            <a:off x="1864935" y="4393463"/>
            <a:ext cx="538557" cy="268969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/>
          <p:cNvCxnSpPr>
            <a:endCxn id="98" idx="0"/>
          </p:cNvCxnSpPr>
          <p:nvPr/>
        </p:nvCxnSpPr>
        <p:spPr>
          <a:xfrm flipH="1">
            <a:off x="477380" y="5033272"/>
            <a:ext cx="798971" cy="289175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/>
          <p:cNvCxnSpPr>
            <a:endCxn id="97" idx="0"/>
          </p:cNvCxnSpPr>
          <p:nvPr/>
        </p:nvCxnSpPr>
        <p:spPr>
          <a:xfrm flipH="1">
            <a:off x="1342230" y="5038252"/>
            <a:ext cx="396881" cy="284195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/>
          <p:cNvCxnSpPr>
            <a:endCxn id="95" idx="0"/>
          </p:cNvCxnSpPr>
          <p:nvPr/>
        </p:nvCxnSpPr>
        <p:spPr>
          <a:xfrm>
            <a:off x="2024823" y="5023701"/>
            <a:ext cx="250875" cy="30555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/>
          <p:cNvCxnSpPr>
            <a:endCxn id="96" idx="0"/>
          </p:cNvCxnSpPr>
          <p:nvPr/>
        </p:nvCxnSpPr>
        <p:spPr>
          <a:xfrm>
            <a:off x="2428282" y="5023701"/>
            <a:ext cx="780885" cy="29874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/>
          <p:cNvCxnSpPr>
            <a:endCxn id="74" idx="0"/>
          </p:cNvCxnSpPr>
          <p:nvPr/>
        </p:nvCxnSpPr>
        <p:spPr>
          <a:xfrm flipH="1">
            <a:off x="8447614" y="1843142"/>
            <a:ext cx="586031" cy="296855"/>
          </a:xfrm>
          <a:prstGeom prst="straightConnector1">
            <a:avLst/>
          </a:prstGeom>
          <a:ln w="25400">
            <a:solidFill>
              <a:schemeClr val="accent1">
                <a:alpha val="3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/>
          <p:cNvCxnSpPr>
            <a:endCxn id="79" idx="0"/>
          </p:cNvCxnSpPr>
          <p:nvPr/>
        </p:nvCxnSpPr>
        <p:spPr>
          <a:xfrm flipH="1">
            <a:off x="7543111" y="2498881"/>
            <a:ext cx="530996" cy="291784"/>
          </a:xfrm>
          <a:prstGeom prst="straightConnector1">
            <a:avLst/>
          </a:prstGeom>
          <a:ln w="25400">
            <a:solidFill>
              <a:schemeClr val="accent1">
                <a:alpha val="3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/>
          <p:cNvCxnSpPr>
            <a:stCxn id="74" idx="2"/>
            <a:endCxn id="76" idx="0"/>
          </p:cNvCxnSpPr>
          <p:nvPr/>
        </p:nvCxnSpPr>
        <p:spPr>
          <a:xfrm>
            <a:off x="8447614" y="2515817"/>
            <a:ext cx="464546" cy="281658"/>
          </a:xfrm>
          <a:prstGeom prst="straightConnector1">
            <a:avLst/>
          </a:prstGeom>
          <a:ln w="25400">
            <a:solidFill>
              <a:schemeClr val="accent1">
                <a:alpha val="3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/>
          <p:cNvCxnSpPr>
            <a:endCxn id="77" idx="0"/>
          </p:cNvCxnSpPr>
          <p:nvPr/>
        </p:nvCxnSpPr>
        <p:spPr>
          <a:xfrm>
            <a:off x="8817941" y="2515817"/>
            <a:ext cx="1027688" cy="274848"/>
          </a:xfrm>
          <a:prstGeom prst="straightConnector1">
            <a:avLst/>
          </a:prstGeom>
          <a:ln w="25400">
            <a:solidFill>
              <a:schemeClr val="accent1">
                <a:alpha val="3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2" name="Table 1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1871665"/>
              </p:ext>
            </p:extLst>
          </p:nvPr>
        </p:nvGraphicFramePr>
        <p:xfrm>
          <a:off x="2380843" y="1483553"/>
          <a:ext cx="747013" cy="375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70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820">
                <a:tc>
                  <a:txBody>
                    <a:bodyPr/>
                    <a:lstStyle/>
                    <a:p>
                      <a:pPr algn="ctr"/>
                      <a:r>
                        <a:rPr lang="en-US" baseline="0" dirty="0"/>
                        <a:t>M</a:t>
                      </a:r>
                      <a:endParaRPr lang="en-US" dirty="0"/>
                    </a:p>
                  </a:txBody>
                  <a:tcPr>
                    <a:solidFill>
                      <a:srgbClr val="FF0000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3" name="Table 1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115004"/>
              </p:ext>
            </p:extLst>
          </p:nvPr>
        </p:nvGraphicFramePr>
        <p:xfrm>
          <a:off x="1434487" y="2144499"/>
          <a:ext cx="747012" cy="375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70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8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  <a:r>
                        <a:rPr lang="en-US" baseline="0" dirty="0"/>
                        <a:t>   J</a:t>
                      </a:r>
                      <a:endParaRPr lang="en-US" dirty="0"/>
                    </a:p>
                  </a:txBody>
                  <a:tcPr>
                    <a:solidFill>
                      <a:srgbClr val="FF0000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4" name="Table 1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9994988"/>
              </p:ext>
            </p:extLst>
          </p:nvPr>
        </p:nvGraphicFramePr>
        <p:xfrm>
          <a:off x="4348785" y="2120601"/>
          <a:ext cx="636250" cy="375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8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</a:t>
                      </a:r>
                    </a:p>
                  </a:txBody>
                  <a:tcPr>
                    <a:solidFill>
                      <a:schemeClr val="accent1"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5" name="Table 1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2652376"/>
              </p:ext>
            </p:extLst>
          </p:nvPr>
        </p:nvGraphicFramePr>
        <p:xfrm>
          <a:off x="1954414" y="2801977"/>
          <a:ext cx="636250" cy="375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8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</a:t>
                      </a:r>
                    </a:p>
                  </a:txBody>
                  <a:tcPr>
                    <a:solidFill>
                      <a:schemeClr val="accent1"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6" name="Table 1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5012958"/>
              </p:ext>
            </p:extLst>
          </p:nvPr>
        </p:nvGraphicFramePr>
        <p:xfrm>
          <a:off x="2887883" y="2795167"/>
          <a:ext cx="636250" cy="375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8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</a:t>
                      </a:r>
                    </a:p>
                  </a:txBody>
                  <a:tcPr>
                    <a:solidFill>
                      <a:schemeClr val="accent1"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7" name="Table 1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108018"/>
              </p:ext>
            </p:extLst>
          </p:nvPr>
        </p:nvGraphicFramePr>
        <p:xfrm>
          <a:off x="553020" y="2810318"/>
          <a:ext cx="734966" cy="375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49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8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   C</a:t>
                      </a:r>
                    </a:p>
                  </a:txBody>
                  <a:tcPr>
                    <a:solidFill>
                      <a:srgbClr val="FF0000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8" name="Table 1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8847791"/>
              </p:ext>
            </p:extLst>
          </p:nvPr>
        </p:nvGraphicFramePr>
        <p:xfrm>
          <a:off x="3821351" y="2801977"/>
          <a:ext cx="636250" cy="375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8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>
                    <a:solidFill>
                      <a:schemeClr val="accent1"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9" name="Table 1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4188978"/>
              </p:ext>
            </p:extLst>
          </p:nvPr>
        </p:nvGraphicFramePr>
        <p:xfrm>
          <a:off x="4754819" y="2798417"/>
          <a:ext cx="63625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2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</a:t>
                      </a:r>
                      <a:r>
                        <a:rPr lang="en-US" baseline="0" dirty="0"/>
                        <a:t>   X</a:t>
                      </a:r>
                      <a:endParaRPr lang="en-US" dirty="0"/>
                    </a:p>
                  </a:txBody>
                  <a:tcPr>
                    <a:solidFill>
                      <a:schemeClr val="accent1"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60" name="Straight Arrow Connector 159"/>
          <p:cNvCxnSpPr/>
          <p:nvPr/>
        </p:nvCxnSpPr>
        <p:spPr>
          <a:xfrm>
            <a:off x="3124263" y="1847644"/>
            <a:ext cx="1542647" cy="272957"/>
          </a:xfrm>
          <a:prstGeom prst="straightConnector1">
            <a:avLst/>
          </a:prstGeom>
          <a:ln w="25400">
            <a:solidFill>
              <a:schemeClr val="accent1">
                <a:alpha val="3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/>
          <p:cNvCxnSpPr/>
          <p:nvPr/>
        </p:nvCxnSpPr>
        <p:spPr>
          <a:xfrm flipH="1">
            <a:off x="4139476" y="2496421"/>
            <a:ext cx="209308" cy="305556"/>
          </a:xfrm>
          <a:prstGeom prst="straightConnector1">
            <a:avLst/>
          </a:prstGeom>
          <a:ln w="25400">
            <a:solidFill>
              <a:schemeClr val="accent1">
                <a:alpha val="3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/>
          <p:cNvCxnSpPr/>
          <p:nvPr/>
        </p:nvCxnSpPr>
        <p:spPr>
          <a:xfrm>
            <a:off x="4985035" y="2496421"/>
            <a:ext cx="87909" cy="301996"/>
          </a:xfrm>
          <a:prstGeom prst="straightConnector1">
            <a:avLst/>
          </a:prstGeom>
          <a:ln w="25400">
            <a:solidFill>
              <a:schemeClr val="accent1">
                <a:alpha val="3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/>
          <p:cNvCxnSpPr/>
          <p:nvPr/>
        </p:nvCxnSpPr>
        <p:spPr>
          <a:xfrm flipH="1">
            <a:off x="1807993" y="1847644"/>
            <a:ext cx="586031" cy="296855"/>
          </a:xfrm>
          <a:prstGeom prst="straightConnector1">
            <a:avLst/>
          </a:prstGeom>
          <a:ln w="25400">
            <a:solidFill>
              <a:schemeClr val="accent1">
                <a:alpha val="3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/>
          <p:cNvCxnSpPr/>
          <p:nvPr/>
        </p:nvCxnSpPr>
        <p:spPr>
          <a:xfrm flipH="1">
            <a:off x="903490" y="2503383"/>
            <a:ext cx="530996" cy="291784"/>
          </a:xfrm>
          <a:prstGeom prst="straightConnector1">
            <a:avLst/>
          </a:prstGeom>
          <a:ln w="25400">
            <a:solidFill>
              <a:schemeClr val="accent1">
                <a:alpha val="3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/>
          <p:cNvCxnSpPr/>
          <p:nvPr/>
        </p:nvCxnSpPr>
        <p:spPr>
          <a:xfrm>
            <a:off x="1807993" y="2520319"/>
            <a:ext cx="464546" cy="281658"/>
          </a:xfrm>
          <a:prstGeom prst="straightConnector1">
            <a:avLst/>
          </a:prstGeom>
          <a:ln w="25400">
            <a:solidFill>
              <a:schemeClr val="accent1">
                <a:alpha val="3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/>
          <p:cNvCxnSpPr/>
          <p:nvPr/>
        </p:nvCxnSpPr>
        <p:spPr>
          <a:xfrm>
            <a:off x="2178320" y="2520319"/>
            <a:ext cx="1027688" cy="274848"/>
          </a:xfrm>
          <a:prstGeom prst="straightConnector1">
            <a:avLst/>
          </a:prstGeom>
          <a:ln w="25400">
            <a:solidFill>
              <a:schemeClr val="accent1">
                <a:alpha val="3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11445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8460419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3562854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7353069"/>
              </p:ext>
            </p:extLst>
          </p:nvPr>
        </p:nvGraphicFramePr>
        <p:xfrm>
          <a:off x="-1" y="365761"/>
          <a:ext cx="12192001" cy="57607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2-3-trees</a:t>
                      </a:r>
                      <a:r>
                        <a:rPr lang="ru-RU" sz="2400" dirty="0"/>
                        <a:t> </a:t>
                      </a:r>
                      <a:r>
                        <a:rPr lang="en-US" sz="2400" dirty="0"/>
                        <a:t>and red-black trees</a:t>
                      </a:r>
                      <a:r>
                        <a:rPr lang="ru-RU" sz="2400" dirty="0"/>
                        <a:t> (</a:t>
                      </a:r>
                      <a:r>
                        <a:rPr lang="en-US" sz="2400" dirty="0"/>
                        <a:t>a reminder</a:t>
                      </a:r>
                      <a:r>
                        <a:rPr lang="ru-RU" sz="2400" dirty="0"/>
                        <a:t>)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aseline="0" dirty="0"/>
                        <a:t>Inserting an item into a 2-node</a:t>
                      </a:r>
                      <a:r>
                        <a:rPr lang="ru-RU" baseline="0" dirty="0"/>
                        <a:t>:</a:t>
                      </a:r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2" name="Table 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859731"/>
              </p:ext>
            </p:extLst>
          </p:nvPr>
        </p:nvGraphicFramePr>
        <p:xfrm>
          <a:off x="9020464" y="1479051"/>
          <a:ext cx="747013" cy="375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70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820">
                <a:tc>
                  <a:txBody>
                    <a:bodyPr/>
                    <a:lstStyle/>
                    <a:p>
                      <a:pPr algn="ctr"/>
                      <a:r>
                        <a:rPr lang="en-US" baseline="0" dirty="0"/>
                        <a:t>M</a:t>
                      </a:r>
                      <a:endParaRPr lang="en-US" dirty="0"/>
                    </a:p>
                  </a:txBody>
                  <a:tcPr>
                    <a:solidFill>
                      <a:srgbClr val="FF0000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4" name="Table 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0509729"/>
              </p:ext>
            </p:extLst>
          </p:nvPr>
        </p:nvGraphicFramePr>
        <p:xfrm>
          <a:off x="8074108" y="2139997"/>
          <a:ext cx="747012" cy="375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70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8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  <a:r>
                        <a:rPr lang="en-US" baseline="0" dirty="0"/>
                        <a:t>   J</a:t>
                      </a:r>
                      <a:endParaRPr lang="en-US" dirty="0"/>
                    </a:p>
                  </a:txBody>
                  <a:tcPr>
                    <a:solidFill>
                      <a:srgbClr val="FF0000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5" name="Table 7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028642"/>
              </p:ext>
            </p:extLst>
          </p:nvPr>
        </p:nvGraphicFramePr>
        <p:xfrm>
          <a:off x="10988406" y="2116099"/>
          <a:ext cx="636250" cy="375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8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</a:t>
                      </a:r>
                    </a:p>
                  </a:txBody>
                  <a:tcPr>
                    <a:solidFill>
                      <a:schemeClr val="accent1"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6" name="Table 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4445612"/>
              </p:ext>
            </p:extLst>
          </p:nvPr>
        </p:nvGraphicFramePr>
        <p:xfrm>
          <a:off x="8594035" y="2797475"/>
          <a:ext cx="636250" cy="375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8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</a:t>
                      </a:r>
                    </a:p>
                  </a:txBody>
                  <a:tcPr>
                    <a:solidFill>
                      <a:schemeClr val="accent1"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7" name="Table 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8563471"/>
              </p:ext>
            </p:extLst>
          </p:nvPr>
        </p:nvGraphicFramePr>
        <p:xfrm>
          <a:off x="9527504" y="2790665"/>
          <a:ext cx="636250" cy="375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8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</a:t>
                      </a:r>
                    </a:p>
                  </a:txBody>
                  <a:tcPr>
                    <a:solidFill>
                      <a:schemeClr val="accent1"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9" name="Table 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6859368"/>
              </p:ext>
            </p:extLst>
          </p:nvPr>
        </p:nvGraphicFramePr>
        <p:xfrm>
          <a:off x="6795716" y="2790665"/>
          <a:ext cx="1494791" cy="375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47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8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   C   D</a:t>
                      </a:r>
                    </a:p>
                  </a:txBody>
                  <a:tcPr>
                    <a:solidFill>
                      <a:srgbClr val="FF0000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0" name="Table 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3525659"/>
              </p:ext>
            </p:extLst>
          </p:nvPr>
        </p:nvGraphicFramePr>
        <p:xfrm>
          <a:off x="10460972" y="2797475"/>
          <a:ext cx="636250" cy="375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8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>
                    <a:solidFill>
                      <a:schemeClr val="accent1"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1" name="Table 8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3710905"/>
              </p:ext>
            </p:extLst>
          </p:nvPr>
        </p:nvGraphicFramePr>
        <p:xfrm>
          <a:off x="11394440" y="2793915"/>
          <a:ext cx="63625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2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</a:t>
                      </a:r>
                      <a:r>
                        <a:rPr lang="en-US" baseline="0" dirty="0"/>
                        <a:t>   X</a:t>
                      </a:r>
                      <a:endParaRPr lang="en-US" dirty="0"/>
                    </a:p>
                  </a:txBody>
                  <a:tcPr>
                    <a:solidFill>
                      <a:schemeClr val="accent1"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84" name="Straight Arrow Connector 83"/>
          <p:cNvCxnSpPr/>
          <p:nvPr/>
        </p:nvCxnSpPr>
        <p:spPr>
          <a:xfrm>
            <a:off x="9763884" y="1843142"/>
            <a:ext cx="1542647" cy="272957"/>
          </a:xfrm>
          <a:prstGeom prst="straightConnector1">
            <a:avLst/>
          </a:prstGeom>
          <a:ln w="25400">
            <a:solidFill>
              <a:schemeClr val="accent1">
                <a:alpha val="3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/>
          <p:nvPr/>
        </p:nvCxnSpPr>
        <p:spPr>
          <a:xfrm flipH="1">
            <a:off x="10779097" y="2491919"/>
            <a:ext cx="209308" cy="305556"/>
          </a:xfrm>
          <a:prstGeom prst="straightConnector1">
            <a:avLst/>
          </a:prstGeom>
          <a:ln w="25400">
            <a:solidFill>
              <a:schemeClr val="accent1">
                <a:alpha val="3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/>
          <p:cNvCxnSpPr/>
          <p:nvPr/>
        </p:nvCxnSpPr>
        <p:spPr>
          <a:xfrm>
            <a:off x="11624656" y="2491919"/>
            <a:ext cx="87909" cy="301996"/>
          </a:xfrm>
          <a:prstGeom prst="straightConnector1">
            <a:avLst/>
          </a:prstGeom>
          <a:ln w="25400">
            <a:solidFill>
              <a:schemeClr val="accent1">
                <a:alpha val="3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1" name="Table 9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0366464"/>
              </p:ext>
            </p:extLst>
          </p:nvPr>
        </p:nvGraphicFramePr>
        <p:xfrm>
          <a:off x="2384002" y="4010833"/>
          <a:ext cx="747013" cy="375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70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820">
                <a:tc>
                  <a:txBody>
                    <a:bodyPr/>
                    <a:lstStyle/>
                    <a:p>
                      <a:pPr algn="ctr"/>
                      <a:r>
                        <a:rPr lang="en-US" baseline="0" dirty="0"/>
                        <a:t>M</a:t>
                      </a:r>
                      <a:endParaRPr lang="en-US" dirty="0"/>
                    </a:p>
                  </a:txBody>
                  <a:tcPr>
                    <a:solidFill>
                      <a:srgbClr val="FF0000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4" name="Table 9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1439016"/>
              </p:ext>
            </p:extLst>
          </p:nvPr>
        </p:nvGraphicFramePr>
        <p:xfrm>
          <a:off x="4351944" y="4647881"/>
          <a:ext cx="636250" cy="375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8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</a:t>
                      </a:r>
                    </a:p>
                  </a:txBody>
                  <a:tcPr>
                    <a:solidFill>
                      <a:schemeClr val="accent1"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5" name="Table 9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4532632"/>
              </p:ext>
            </p:extLst>
          </p:nvPr>
        </p:nvGraphicFramePr>
        <p:xfrm>
          <a:off x="1957573" y="5329257"/>
          <a:ext cx="636250" cy="375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8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</a:t>
                      </a:r>
                    </a:p>
                  </a:txBody>
                  <a:tcPr>
                    <a:solidFill>
                      <a:schemeClr val="accent1"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6" name="Table 9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1092795"/>
              </p:ext>
            </p:extLst>
          </p:nvPr>
        </p:nvGraphicFramePr>
        <p:xfrm>
          <a:off x="2891042" y="5322447"/>
          <a:ext cx="636250" cy="375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8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</a:t>
                      </a:r>
                    </a:p>
                  </a:txBody>
                  <a:tcPr>
                    <a:solidFill>
                      <a:schemeClr val="accent1"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7" name="Table 9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3425954"/>
              </p:ext>
            </p:extLst>
          </p:nvPr>
        </p:nvGraphicFramePr>
        <p:xfrm>
          <a:off x="1024105" y="5322447"/>
          <a:ext cx="636250" cy="375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8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>
                    <a:solidFill>
                      <a:srgbClr val="FF0000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8" name="Table 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7783966"/>
              </p:ext>
            </p:extLst>
          </p:nvPr>
        </p:nvGraphicFramePr>
        <p:xfrm>
          <a:off x="159255" y="5322447"/>
          <a:ext cx="636250" cy="375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8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>
                    <a:solidFill>
                      <a:srgbClr val="FF0000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9" name="Table 9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595719"/>
              </p:ext>
            </p:extLst>
          </p:nvPr>
        </p:nvGraphicFramePr>
        <p:xfrm>
          <a:off x="3824510" y="5329257"/>
          <a:ext cx="636250" cy="375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8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>
                    <a:solidFill>
                      <a:schemeClr val="accent1"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0" name="Table 9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549172"/>
              </p:ext>
            </p:extLst>
          </p:nvPr>
        </p:nvGraphicFramePr>
        <p:xfrm>
          <a:off x="4757978" y="5325697"/>
          <a:ext cx="63625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2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</a:t>
                      </a:r>
                      <a:r>
                        <a:rPr lang="en-US" baseline="0" dirty="0"/>
                        <a:t>   X</a:t>
                      </a:r>
                      <a:endParaRPr lang="en-US" dirty="0"/>
                    </a:p>
                  </a:txBody>
                  <a:tcPr>
                    <a:solidFill>
                      <a:schemeClr val="accent1"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03" name="Straight Arrow Connector 102"/>
          <p:cNvCxnSpPr/>
          <p:nvPr/>
        </p:nvCxnSpPr>
        <p:spPr>
          <a:xfrm>
            <a:off x="3050027" y="4386653"/>
            <a:ext cx="1542647" cy="272957"/>
          </a:xfrm>
          <a:prstGeom prst="straightConnector1">
            <a:avLst/>
          </a:prstGeom>
          <a:ln w="25400">
            <a:solidFill>
              <a:schemeClr val="accent1">
                <a:alpha val="3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/>
          <p:cNvCxnSpPr/>
          <p:nvPr/>
        </p:nvCxnSpPr>
        <p:spPr>
          <a:xfrm flipH="1">
            <a:off x="4142635" y="5023701"/>
            <a:ext cx="209308" cy="305556"/>
          </a:xfrm>
          <a:prstGeom prst="straightConnector1">
            <a:avLst/>
          </a:prstGeom>
          <a:ln w="25400">
            <a:solidFill>
              <a:schemeClr val="accent1">
                <a:alpha val="3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/>
          <p:cNvCxnSpPr/>
          <p:nvPr/>
        </p:nvCxnSpPr>
        <p:spPr>
          <a:xfrm>
            <a:off x="4988194" y="5023701"/>
            <a:ext cx="87909" cy="301996"/>
          </a:xfrm>
          <a:prstGeom prst="straightConnector1">
            <a:avLst/>
          </a:prstGeom>
          <a:ln w="25400">
            <a:solidFill>
              <a:schemeClr val="accent1">
                <a:alpha val="3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0" name="Table 10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2091670"/>
              </p:ext>
            </p:extLst>
          </p:nvPr>
        </p:nvGraphicFramePr>
        <p:xfrm>
          <a:off x="9014155" y="4010833"/>
          <a:ext cx="747013" cy="375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70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8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  <a:r>
                        <a:rPr lang="en-US" baseline="0" dirty="0"/>
                        <a:t>   M</a:t>
                      </a:r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1" name="Table 1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744964"/>
              </p:ext>
            </p:extLst>
          </p:nvPr>
        </p:nvGraphicFramePr>
        <p:xfrm>
          <a:off x="7259933" y="4651593"/>
          <a:ext cx="636250" cy="375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820">
                <a:tc>
                  <a:txBody>
                    <a:bodyPr/>
                    <a:lstStyle/>
                    <a:p>
                      <a:pPr algn="ctr"/>
                      <a:r>
                        <a:rPr lang="en-US" baseline="0" dirty="0"/>
                        <a:t>C</a:t>
                      </a:r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2" name="Table 1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9038370"/>
              </p:ext>
            </p:extLst>
          </p:nvPr>
        </p:nvGraphicFramePr>
        <p:xfrm>
          <a:off x="9014156" y="4657452"/>
          <a:ext cx="747012" cy="375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70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8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3" name="Table 1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2519632"/>
              </p:ext>
            </p:extLst>
          </p:nvPr>
        </p:nvGraphicFramePr>
        <p:xfrm>
          <a:off x="10982097" y="4647881"/>
          <a:ext cx="636250" cy="375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8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4" name="Table 1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577573"/>
              </p:ext>
            </p:extLst>
          </p:nvPr>
        </p:nvGraphicFramePr>
        <p:xfrm>
          <a:off x="8587726" y="5329257"/>
          <a:ext cx="636250" cy="375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8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5" name="Table 1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5964450"/>
              </p:ext>
            </p:extLst>
          </p:nvPr>
        </p:nvGraphicFramePr>
        <p:xfrm>
          <a:off x="9521195" y="5322447"/>
          <a:ext cx="636250" cy="375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8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6" name="Table 1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553734"/>
              </p:ext>
            </p:extLst>
          </p:nvPr>
        </p:nvGraphicFramePr>
        <p:xfrm>
          <a:off x="7654258" y="5322447"/>
          <a:ext cx="636250" cy="375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8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>
                    <a:solidFill>
                      <a:srgbClr val="FF000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7" name="Table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549001"/>
              </p:ext>
            </p:extLst>
          </p:nvPr>
        </p:nvGraphicFramePr>
        <p:xfrm>
          <a:off x="6789408" y="5322447"/>
          <a:ext cx="636250" cy="375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8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>
                    <a:solidFill>
                      <a:srgbClr val="FF000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8" name="Table 1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3630077"/>
              </p:ext>
            </p:extLst>
          </p:nvPr>
        </p:nvGraphicFramePr>
        <p:xfrm>
          <a:off x="10454663" y="5329257"/>
          <a:ext cx="636250" cy="375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8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9" name="Table 1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0674088"/>
              </p:ext>
            </p:extLst>
          </p:nvPr>
        </p:nvGraphicFramePr>
        <p:xfrm>
          <a:off x="11388131" y="5325697"/>
          <a:ext cx="63625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2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</a:t>
                      </a:r>
                      <a:r>
                        <a:rPr lang="en-US" baseline="0" dirty="0"/>
                        <a:t>   X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20" name="Straight Arrow Connector 119"/>
          <p:cNvCxnSpPr/>
          <p:nvPr/>
        </p:nvCxnSpPr>
        <p:spPr>
          <a:xfrm flipH="1">
            <a:off x="7578058" y="4374924"/>
            <a:ext cx="1455587" cy="276669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/>
          <p:cNvCxnSpPr/>
          <p:nvPr/>
        </p:nvCxnSpPr>
        <p:spPr>
          <a:xfrm>
            <a:off x="9384069" y="4374924"/>
            <a:ext cx="3593" cy="282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/>
          <p:cNvCxnSpPr/>
          <p:nvPr/>
        </p:nvCxnSpPr>
        <p:spPr>
          <a:xfrm>
            <a:off x="9757575" y="4374924"/>
            <a:ext cx="1542647" cy="27295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/>
          <p:cNvCxnSpPr/>
          <p:nvPr/>
        </p:nvCxnSpPr>
        <p:spPr>
          <a:xfrm flipH="1">
            <a:off x="7107533" y="5023701"/>
            <a:ext cx="152399" cy="29874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/>
          <p:cNvCxnSpPr/>
          <p:nvPr/>
        </p:nvCxnSpPr>
        <p:spPr>
          <a:xfrm>
            <a:off x="7890329" y="5023701"/>
            <a:ext cx="82054" cy="29874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/>
          <p:cNvCxnSpPr/>
          <p:nvPr/>
        </p:nvCxnSpPr>
        <p:spPr>
          <a:xfrm flipH="1">
            <a:off x="8905851" y="5048825"/>
            <a:ext cx="104402" cy="28043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/>
          <p:cNvCxnSpPr/>
          <p:nvPr/>
        </p:nvCxnSpPr>
        <p:spPr>
          <a:xfrm>
            <a:off x="9734918" y="5048825"/>
            <a:ext cx="104402" cy="27362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/>
          <p:cNvCxnSpPr/>
          <p:nvPr/>
        </p:nvCxnSpPr>
        <p:spPr>
          <a:xfrm flipH="1">
            <a:off x="10772788" y="5023701"/>
            <a:ext cx="209308" cy="30555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/>
          <p:cNvCxnSpPr/>
          <p:nvPr/>
        </p:nvCxnSpPr>
        <p:spPr>
          <a:xfrm>
            <a:off x="11618347" y="5023701"/>
            <a:ext cx="87909" cy="30199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9" name="Table 1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7254885"/>
              </p:ext>
            </p:extLst>
          </p:nvPr>
        </p:nvGraphicFramePr>
        <p:xfrm>
          <a:off x="1276352" y="4662432"/>
          <a:ext cx="117716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71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   E   J</a:t>
                      </a:r>
                    </a:p>
                  </a:txBody>
                  <a:tcPr>
                    <a:solidFill>
                      <a:srgbClr val="FF0000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31" name="Straight Arrow Connector 130"/>
          <p:cNvCxnSpPr>
            <a:endCxn id="129" idx="0"/>
          </p:cNvCxnSpPr>
          <p:nvPr/>
        </p:nvCxnSpPr>
        <p:spPr>
          <a:xfrm flipH="1">
            <a:off x="1864935" y="4393463"/>
            <a:ext cx="538557" cy="268969"/>
          </a:xfrm>
          <a:prstGeom prst="straightConnector1">
            <a:avLst/>
          </a:prstGeom>
          <a:ln w="25400">
            <a:solidFill>
              <a:schemeClr val="accent1">
                <a:alpha val="3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/>
          <p:cNvCxnSpPr>
            <a:endCxn id="98" idx="0"/>
          </p:cNvCxnSpPr>
          <p:nvPr/>
        </p:nvCxnSpPr>
        <p:spPr>
          <a:xfrm flipH="1">
            <a:off x="477380" y="5033272"/>
            <a:ext cx="798971" cy="289175"/>
          </a:xfrm>
          <a:prstGeom prst="straightConnector1">
            <a:avLst/>
          </a:prstGeom>
          <a:ln w="25400">
            <a:solidFill>
              <a:schemeClr val="accent1">
                <a:alpha val="3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/>
          <p:cNvCxnSpPr>
            <a:endCxn id="97" idx="0"/>
          </p:cNvCxnSpPr>
          <p:nvPr/>
        </p:nvCxnSpPr>
        <p:spPr>
          <a:xfrm flipH="1">
            <a:off x="1342230" y="5038252"/>
            <a:ext cx="396881" cy="284195"/>
          </a:xfrm>
          <a:prstGeom prst="straightConnector1">
            <a:avLst/>
          </a:prstGeom>
          <a:ln w="25400">
            <a:solidFill>
              <a:schemeClr val="accent1">
                <a:alpha val="3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/>
          <p:cNvCxnSpPr>
            <a:endCxn id="95" idx="0"/>
          </p:cNvCxnSpPr>
          <p:nvPr/>
        </p:nvCxnSpPr>
        <p:spPr>
          <a:xfrm>
            <a:off x="2024823" y="5023701"/>
            <a:ext cx="250875" cy="305556"/>
          </a:xfrm>
          <a:prstGeom prst="straightConnector1">
            <a:avLst/>
          </a:prstGeom>
          <a:ln w="25400">
            <a:solidFill>
              <a:schemeClr val="accent1">
                <a:alpha val="3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/>
          <p:cNvCxnSpPr>
            <a:endCxn id="96" idx="0"/>
          </p:cNvCxnSpPr>
          <p:nvPr/>
        </p:nvCxnSpPr>
        <p:spPr>
          <a:xfrm>
            <a:off x="2428282" y="5023701"/>
            <a:ext cx="780885" cy="298746"/>
          </a:xfrm>
          <a:prstGeom prst="straightConnector1">
            <a:avLst/>
          </a:prstGeom>
          <a:ln w="25400">
            <a:solidFill>
              <a:schemeClr val="accent1">
                <a:alpha val="3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/>
          <p:cNvCxnSpPr>
            <a:endCxn id="74" idx="0"/>
          </p:cNvCxnSpPr>
          <p:nvPr/>
        </p:nvCxnSpPr>
        <p:spPr>
          <a:xfrm flipH="1">
            <a:off x="8447614" y="1843142"/>
            <a:ext cx="586031" cy="296855"/>
          </a:xfrm>
          <a:prstGeom prst="straightConnector1">
            <a:avLst/>
          </a:prstGeom>
          <a:ln w="25400">
            <a:solidFill>
              <a:schemeClr val="accent1">
                <a:alpha val="3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/>
          <p:cNvCxnSpPr>
            <a:endCxn id="79" idx="0"/>
          </p:cNvCxnSpPr>
          <p:nvPr/>
        </p:nvCxnSpPr>
        <p:spPr>
          <a:xfrm flipH="1">
            <a:off x="7543111" y="2498881"/>
            <a:ext cx="530996" cy="291784"/>
          </a:xfrm>
          <a:prstGeom prst="straightConnector1">
            <a:avLst/>
          </a:prstGeom>
          <a:ln w="25400">
            <a:solidFill>
              <a:schemeClr val="accent1">
                <a:alpha val="3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/>
          <p:cNvCxnSpPr>
            <a:stCxn id="74" idx="2"/>
            <a:endCxn id="76" idx="0"/>
          </p:cNvCxnSpPr>
          <p:nvPr/>
        </p:nvCxnSpPr>
        <p:spPr>
          <a:xfrm>
            <a:off x="8447614" y="2515817"/>
            <a:ext cx="464546" cy="281658"/>
          </a:xfrm>
          <a:prstGeom prst="straightConnector1">
            <a:avLst/>
          </a:prstGeom>
          <a:ln w="25400">
            <a:solidFill>
              <a:schemeClr val="accent1">
                <a:alpha val="3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/>
          <p:cNvCxnSpPr>
            <a:endCxn id="77" idx="0"/>
          </p:cNvCxnSpPr>
          <p:nvPr/>
        </p:nvCxnSpPr>
        <p:spPr>
          <a:xfrm>
            <a:off x="8817941" y="2515817"/>
            <a:ext cx="1027688" cy="274848"/>
          </a:xfrm>
          <a:prstGeom prst="straightConnector1">
            <a:avLst/>
          </a:prstGeom>
          <a:ln w="25400">
            <a:solidFill>
              <a:schemeClr val="accent1">
                <a:alpha val="3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2" name="Table 1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7326764"/>
              </p:ext>
            </p:extLst>
          </p:nvPr>
        </p:nvGraphicFramePr>
        <p:xfrm>
          <a:off x="2380843" y="1483553"/>
          <a:ext cx="747013" cy="375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70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820">
                <a:tc>
                  <a:txBody>
                    <a:bodyPr/>
                    <a:lstStyle/>
                    <a:p>
                      <a:pPr algn="ctr"/>
                      <a:r>
                        <a:rPr lang="en-US" baseline="0" dirty="0"/>
                        <a:t>M</a:t>
                      </a:r>
                      <a:endParaRPr lang="en-US" dirty="0"/>
                    </a:p>
                  </a:txBody>
                  <a:tcPr>
                    <a:solidFill>
                      <a:srgbClr val="FF0000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3" name="Table 1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8001819"/>
              </p:ext>
            </p:extLst>
          </p:nvPr>
        </p:nvGraphicFramePr>
        <p:xfrm>
          <a:off x="1434487" y="2144499"/>
          <a:ext cx="747012" cy="375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70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8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  <a:r>
                        <a:rPr lang="en-US" baseline="0" dirty="0"/>
                        <a:t>   J</a:t>
                      </a:r>
                      <a:endParaRPr lang="en-US" dirty="0"/>
                    </a:p>
                  </a:txBody>
                  <a:tcPr>
                    <a:solidFill>
                      <a:srgbClr val="FF0000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4" name="Table 1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7852392"/>
              </p:ext>
            </p:extLst>
          </p:nvPr>
        </p:nvGraphicFramePr>
        <p:xfrm>
          <a:off x="4348785" y="2120601"/>
          <a:ext cx="636250" cy="375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8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</a:t>
                      </a:r>
                    </a:p>
                  </a:txBody>
                  <a:tcPr>
                    <a:solidFill>
                      <a:schemeClr val="accent1"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5" name="Table 1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6106482"/>
              </p:ext>
            </p:extLst>
          </p:nvPr>
        </p:nvGraphicFramePr>
        <p:xfrm>
          <a:off x="1954414" y="2801977"/>
          <a:ext cx="636250" cy="375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8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</a:t>
                      </a:r>
                    </a:p>
                  </a:txBody>
                  <a:tcPr>
                    <a:solidFill>
                      <a:schemeClr val="accent1"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6" name="Table 1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7417304"/>
              </p:ext>
            </p:extLst>
          </p:nvPr>
        </p:nvGraphicFramePr>
        <p:xfrm>
          <a:off x="2887883" y="2795167"/>
          <a:ext cx="636250" cy="375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8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</a:t>
                      </a:r>
                    </a:p>
                  </a:txBody>
                  <a:tcPr>
                    <a:solidFill>
                      <a:schemeClr val="accent1"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7" name="Table 1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8961076"/>
              </p:ext>
            </p:extLst>
          </p:nvPr>
        </p:nvGraphicFramePr>
        <p:xfrm>
          <a:off x="553020" y="2810318"/>
          <a:ext cx="734966" cy="375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49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8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   C</a:t>
                      </a:r>
                    </a:p>
                  </a:txBody>
                  <a:tcPr>
                    <a:solidFill>
                      <a:srgbClr val="FF0000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8" name="Table 1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1153341"/>
              </p:ext>
            </p:extLst>
          </p:nvPr>
        </p:nvGraphicFramePr>
        <p:xfrm>
          <a:off x="3821351" y="2801977"/>
          <a:ext cx="636250" cy="375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8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>
                    <a:solidFill>
                      <a:schemeClr val="accent1"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9" name="Table 1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180840"/>
              </p:ext>
            </p:extLst>
          </p:nvPr>
        </p:nvGraphicFramePr>
        <p:xfrm>
          <a:off x="4754819" y="2798417"/>
          <a:ext cx="63625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2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</a:t>
                      </a:r>
                      <a:r>
                        <a:rPr lang="en-US" baseline="0" dirty="0"/>
                        <a:t>   X</a:t>
                      </a:r>
                      <a:endParaRPr lang="en-US" dirty="0"/>
                    </a:p>
                  </a:txBody>
                  <a:tcPr>
                    <a:solidFill>
                      <a:schemeClr val="accent1"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60" name="Straight Arrow Connector 159"/>
          <p:cNvCxnSpPr/>
          <p:nvPr/>
        </p:nvCxnSpPr>
        <p:spPr>
          <a:xfrm>
            <a:off x="3124263" y="1847644"/>
            <a:ext cx="1542647" cy="272957"/>
          </a:xfrm>
          <a:prstGeom prst="straightConnector1">
            <a:avLst/>
          </a:prstGeom>
          <a:ln w="25400">
            <a:solidFill>
              <a:schemeClr val="accent1">
                <a:alpha val="3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/>
          <p:cNvCxnSpPr/>
          <p:nvPr/>
        </p:nvCxnSpPr>
        <p:spPr>
          <a:xfrm flipH="1">
            <a:off x="4139476" y="2496421"/>
            <a:ext cx="209308" cy="305556"/>
          </a:xfrm>
          <a:prstGeom prst="straightConnector1">
            <a:avLst/>
          </a:prstGeom>
          <a:ln w="25400">
            <a:solidFill>
              <a:schemeClr val="accent1">
                <a:alpha val="3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/>
          <p:cNvCxnSpPr/>
          <p:nvPr/>
        </p:nvCxnSpPr>
        <p:spPr>
          <a:xfrm>
            <a:off x="4985035" y="2496421"/>
            <a:ext cx="87909" cy="301996"/>
          </a:xfrm>
          <a:prstGeom prst="straightConnector1">
            <a:avLst/>
          </a:prstGeom>
          <a:ln w="25400">
            <a:solidFill>
              <a:schemeClr val="accent1">
                <a:alpha val="3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/>
          <p:cNvCxnSpPr/>
          <p:nvPr/>
        </p:nvCxnSpPr>
        <p:spPr>
          <a:xfrm flipH="1">
            <a:off x="1807993" y="1847644"/>
            <a:ext cx="586031" cy="296855"/>
          </a:xfrm>
          <a:prstGeom prst="straightConnector1">
            <a:avLst/>
          </a:prstGeom>
          <a:ln w="25400">
            <a:solidFill>
              <a:schemeClr val="accent1">
                <a:alpha val="3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/>
          <p:cNvCxnSpPr/>
          <p:nvPr/>
        </p:nvCxnSpPr>
        <p:spPr>
          <a:xfrm flipH="1">
            <a:off x="903490" y="2503383"/>
            <a:ext cx="530996" cy="291784"/>
          </a:xfrm>
          <a:prstGeom prst="straightConnector1">
            <a:avLst/>
          </a:prstGeom>
          <a:ln w="25400">
            <a:solidFill>
              <a:schemeClr val="accent1">
                <a:alpha val="3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/>
          <p:cNvCxnSpPr/>
          <p:nvPr/>
        </p:nvCxnSpPr>
        <p:spPr>
          <a:xfrm>
            <a:off x="1807993" y="2520319"/>
            <a:ext cx="464546" cy="281658"/>
          </a:xfrm>
          <a:prstGeom prst="straightConnector1">
            <a:avLst/>
          </a:prstGeom>
          <a:ln w="25400">
            <a:solidFill>
              <a:schemeClr val="accent1">
                <a:alpha val="3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/>
          <p:cNvCxnSpPr/>
          <p:nvPr/>
        </p:nvCxnSpPr>
        <p:spPr>
          <a:xfrm>
            <a:off x="2178320" y="2520319"/>
            <a:ext cx="1027688" cy="274848"/>
          </a:xfrm>
          <a:prstGeom prst="straightConnector1">
            <a:avLst/>
          </a:prstGeom>
          <a:ln w="25400">
            <a:solidFill>
              <a:schemeClr val="accent1">
                <a:alpha val="3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96096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4241204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0941907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7241281"/>
              </p:ext>
            </p:extLst>
          </p:nvPr>
        </p:nvGraphicFramePr>
        <p:xfrm>
          <a:off x="-1" y="365761"/>
          <a:ext cx="12192002" cy="60350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75700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219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en-US" sz="2400" dirty="0"/>
                        <a:t>2-3-trees</a:t>
                      </a:r>
                      <a:r>
                        <a:rPr lang="ru-RU" sz="2400" dirty="0"/>
                        <a:t> </a:t>
                      </a:r>
                      <a:r>
                        <a:rPr lang="en-US" sz="2400" dirty="0"/>
                        <a:t>and red-black trees</a:t>
                      </a:r>
                      <a:r>
                        <a:rPr lang="ru-RU" sz="2400" dirty="0"/>
                        <a:t> (</a:t>
                      </a:r>
                      <a:r>
                        <a:rPr lang="en-US" sz="2400" dirty="0"/>
                        <a:t>a reminder</a:t>
                      </a:r>
                      <a:r>
                        <a:rPr lang="ru-RU" sz="2400" dirty="0"/>
                        <a:t>)</a:t>
                      </a:r>
                      <a:endParaRPr lang="en-US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2-3-</a:t>
                      </a:r>
                      <a:r>
                        <a:rPr lang="en-US" dirty="0"/>
                        <a:t>trees</a:t>
                      </a:r>
                      <a:r>
                        <a:rPr lang="ru-RU" dirty="0"/>
                        <a:t> </a:t>
                      </a:r>
                      <a:r>
                        <a:rPr lang="en-US" dirty="0" err="1"/>
                        <a:t>bijectively</a:t>
                      </a:r>
                      <a:r>
                        <a:rPr lang="en-US" dirty="0"/>
                        <a:t> map to red-black trees</a:t>
                      </a:r>
                      <a:r>
                        <a:rPr lang="ru-RU" baseline="0" dirty="0"/>
                        <a:t>:</a:t>
                      </a:r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/>
                        <a:t>See the details here</a:t>
                      </a:r>
                      <a:r>
                        <a:rPr lang="ru-RU" baseline="0" dirty="0"/>
                        <a:t>:</a:t>
                      </a:r>
                      <a:br>
                        <a:rPr lang="ru-RU" baseline="0" dirty="0"/>
                      </a:br>
                      <a:r>
                        <a:rPr lang="en-US" baseline="0" dirty="0">
                          <a:hlinkClick r:id="rId3"/>
                        </a:rPr>
                        <a:t>https://algs4.cs.princeton.edu/33balanced/</a:t>
                      </a:r>
                      <a:endParaRPr lang="en-US" baseline="0" dirty="0"/>
                    </a:p>
                    <a:p>
                      <a:endParaRPr lang="en-US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6604082"/>
              </p:ext>
            </p:extLst>
          </p:nvPr>
        </p:nvGraphicFramePr>
        <p:xfrm>
          <a:off x="3561854" y="1369948"/>
          <a:ext cx="683047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30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993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  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Triangle 11"/>
          <p:cNvSpPr/>
          <p:nvPr/>
        </p:nvSpPr>
        <p:spPr>
          <a:xfrm>
            <a:off x="730548" y="2231467"/>
            <a:ext cx="2031800" cy="1167788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Less than</a:t>
            </a:r>
            <a:r>
              <a:rPr lang="ru-RU" dirty="0"/>
              <a:t> </a:t>
            </a:r>
            <a:r>
              <a:rPr lang="en-US" dirty="0"/>
              <a:t>A</a:t>
            </a:r>
          </a:p>
        </p:txBody>
      </p:sp>
      <p:sp>
        <p:nvSpPr>
          <p:cNvPr id="13" name="Triangle 12"/>
          <p:cNvSpPr/>
          <p:nvPr/>
        </p:nvSpPr>
        <p:spPr>
          <a:xfrm>
            <a:off x="2902467" y="2231467"/>
            <a:ext cx="2031800" cy="1167788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Between</a:t>
            </a:r>
            <a:r>
              <a:rPr lang="ru-RU" dirty="0"/>
              <a:t> </a:t>
            </a:r>
            <a:r>
              <a:rPr lang="en-US" dirty="0"/>
              <a:t>A and</a:t>
            </a:r>
            <a:r>
              <a:rPr lang="ru-RU" dirty="0"/>
              <a:t> </a:t>
            </a:r>
            <a:r>
              <a:rPr lang="en-US" dirty="0"/>
              <a:t>B</a:t>
            </a:r>
          </a:p>
        </p:txBody>
      </p:sp>
      <p:sp>
        <p:nvSpPr>
          <p:cNvPr id="14" name="Triangle 13"/>
          <p:cNvSpPr/>
          <p:nvPr/>
        </p:nvSpPr>
        <p:spPr>
          <a:xfrm>
            <a:off x="5059396" y="2231467"/>
            <a:ext cx="2031800" cy="1167788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Greater than B</a:t>
            </a:r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1731458" y="1731627"/>
            <a:ext cx="1830395" cy="49984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3903377" y="1731627"/>
            <a:ext cx="0" cy="49984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endCxn id="14" idx="0"/>
          </p:cNvCxnSpPr>
          <p:nvPr/>
        </p:nvCxnSpPr>
        <p:spPr>
          <a:xfrm>
            <a:off x="4244901" y="1731627"/>
            <a:ext cx="1830395" cy="49984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452019"/>
              </p:ext>
            </p:extLst>
          </p:nvPr>
        </p:nvGraphicFramePr>
        <p:xfrm>
          <a:off x="3561854" y="3748214"/>
          <a:ext cx="683047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30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993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" name="Triangle 18"/>
          <p:cNvSpPr/>
          <p:nvPr/>
        </p:nvSpPr>
        <p:spPr>
          <a:xfrm>
            <a:off x="730548" y="5052671"/>
            <a:ext cx="2031800" cy="1167788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Less than</a:t>
            </a:r>
            <a:r>
              <a:rPr lang="ru-RU" dirty="0"/>
              <a:t> </a:t>
            </a:r>
            <a:r>
              <a:rPr lang="en-US" dirty="0"/>
              <a:t>A</a:t>
            </a:r>
          </a:p>
        </p:txBody>
      </p:sp>
      <p:sp>
        <p:nvSpPr>
          <p:cNvPr id="21" name="Triangle 20"/>
          <p:cNvSpPr/>
          <p:nvPr/>
        </p:nvSpPr>
        <p:spPr>
          <a:xfrm>
            <a:off x="2902467" y="5052671"/>
            <a:ext cx="2031800" cy="1167788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Between</a:t>
            </a:r>
            <a:r>
              <a:rPr lang="ru-RU" dirty="0"/>
              <a:t> </a:t>
            </a:r>
            <a:r>
              <a:rPr lang="en-US" dirty="0"/>
              <a:t>A and</a:t>
            </a:r>
            <a:r>
              <a:rPr lang="ru-RU" dirty="0"/>
              <a:t> </a:t>
            </a:r>
            <a:r>
              <a:rPr lang="en-US" dirty="0"/>
              <a:t>B</a:t>
            </a:r>
          </a:p>
        </p:txBody>
      </p:sp>
      <p:sp>
        <p:nvSpPr>
          <p:cNvPr id="23" name="Triangle 22"/>
          <p:cNvSpPr/>
          <p:nvPr/>
        </p:nvSpPr>
        <p:spPr>
          <a:xfrm>
            <a:off x="5059396" y="4609733"/>
            <a:ext cx="2031800" cy="1167788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Greater than B</a:t>
            </a:r>
          </a:p>
        </p:txBody>
      </p:sp>
      <p:cxnSp>
        <p:nvCxnSpPr>
          <p:cNvPr id="27" name="Straight Arrow Connector 26"/>
          <p:cNvCxnSpPr/>
          <p:nvPr/>
        </p:nvCxnSpPr>
        <p:spPr>
          <a:xfrm>
            <a:off x="4244901" y="4109893"/>
            <a:ext cx="1830395" cy="49984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Table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2555280"/>
              </p:ext>
            </p:extLst>
          </p:nvPr>
        </p:nvGraphicFramePr>
        <p:xfrm>
          <a:off x="2477488" y="4307972"/>
          <a:ext cx="683047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30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993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0" name="Straight Arrow Connector 9"/>
          <p:cNvCxnSpPr/>
          <p:nvPr/>
        </p:nvCxnSpPr>
        <p:spPr>
          <a:xfrm flipH="1">
            <a:off x="1746448" y="4673732"/>
            <a:ext cx="731040" cy="37893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3160535" y="4673732"/>
            <a:ext cx="737386" cy="36576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endCxn id="28" idx="0"/>
          </p:cNvCxnSpPr>
          <p:nvPr/>
        </p:nvCxnSpPr>
        <p:spPr>
          <a:xfrm flipH="1">
            <a:off x="2819011" y="4097173"/>
            <a:ext cx="742842" cy="21079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69635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225BA-DFCD-343E-73A2-97C3D58A0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44D005C-C9AE-7EE9-08D7-9D1DC5F54907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1FD218E-95D3-85BE-139C-021287CB0A9D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C553713-7BD0-7235-5AC7-1B2618A5EC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750197"/>
              </p:ext>
            </p:extLst>
          </p:nvPr>
        </p:nvGraphicFramePr>
        <p:xfrm>
          <a:off x="0" y="365762"/>
          <a:ext cx="12192000" cy="32918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400" dirty="0"/>
                        <a:t>B-trees: a bit of motivation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2-3-trees have a higher branching factor than BST, hence their height is lower.</a:t>
                      </a:r>
                    </a:p>
                    <a:p>
                      <a:endParaRPr lang="en-US" dirty="0"/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dirty="0"/>
                        <a:t>Lower height is beneficial because it implies fewer random IOs when moving from the root to a leaf.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dirty="0"/>
                        <a:t>However, nodes need more storage space and take more time to read and write.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endParaRPr lang="en-US" dirty="0"/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US" dirty="0"/>
                        <a:t>#2 is not an issue.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endParaRPr lang="en-US" dirty="0"/>
                    </a:p>
                    <a:p>
                      <a:pPr marL="0" indent="0">
                        <a:buFont typeface="+mj-lt"/>
                        <a:buNone/>
                      </a:pPr>
                      <a:endParaRPr lang="en-US" dirty="0"/>
                    </a:p>
                    <a:p>
                      <a:pPr marL="0" indent="0">
                        <a:buFont typeface="+mj-lt"/>
                        <a:buNone/>
                      </a:pPr>
                      <a:endParaRPr lang="en-US" dirty="0"/>
                    </a:p>
                    <a:p>
                      <a:pPr marL="0" indent="0">
                        <a:buFont typeface="+mj-lt"/>
                        <a:buNone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44760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1BB7E-A8AF-32E3-1B0A-037260BDA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5684F15-0657-032B-60E4-DEDCD815D1C4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A1FB7DD-3CBB-84A2-BD3C-0166CCF2F0B5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253CBEB-047C-9D36-BD7E-849C26A51B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4469894"/>
              </p:ext>
            </p:extLst>
          </p:nvPr>
        </p:nvGraphicFramePr>
        <p:xfrm>
          <a:off x="0" y="365762"/>
          <a:ext cx="12192000" cy="32918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400" dirty="0"/>
                        <a:t>B-trees: a bit of motivation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2-3-trees have a higher branching factor than BST, hence their height is lower.</a:t>
                      </a:r>
                    </a:p>
                    <a:p>
                      <a:endParaRPr lang="en-US" dirty="0"/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dirty="0"/>
                        <a:t>Lower height is beneficial because it implies fewer random IOs when moving from the root to a leaf.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dirty="0"/>
                        <a:t>However, nodes need more storage space and take more time to read and write.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endParaRPr lang="en-US" dirty="0"/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US" dirty="0"/>
                        <a:t>#2 is not an issue. Consider a disk with 4k sectors. Reading 16 bytes, 128 bytes or 4096 bytes takes the same time and the same amount of RAM.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endParaRPr lang="en-US" dirty="0"/>
                    </a:p>
                    <a:p>
                      <a:pPr marL="0" indent="0">
                        <a:buFont typeface="+mj-lt"/>
                        <a:buNone/>
                      </a:pPr>
                      <a:endParaRPr lang="en-US" dirty="0"/>
                    </a:p>
                    <a:p>
                      <a:pPr marL="0" indent="0">
                        <a:buFont typeface="+mj-lt"/>
                        <a:buNone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5918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58EBB-877A-917B-55ED-94E073C42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C8836AE-AFD2-E8F3-41A7-14E68B616AEC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6DD4FB5-8146-F206-46E1-F386D3CC3EDB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6096BB5-23BD-C330-C5B6-E9F4402850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7327063"/>
              </p:ext>
            </p:extLst>
          </p:nvPr>
        </p:nvGraphicFramePr>
        <p:xfrm>
          <a:off x="0" y="365762"/>
          <a:ext cx="12192000" cy="32918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400" dirty="0"/>
                        <a:t>B-trees: a bit of motivation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2-3-trees have a higher branching factor than BST, hence their height is lower.</a:t>
                      </a:r>
                    </a:p>
                    <a:p>
                      <a:endParaRPr lang="en-US" dirty="0"/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dirty="0"/>
                        <a:t>Lower height is beneficial because it implies fewer random IOs when moving from the root to a leaf.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dirty="0"/>
                        <a:t>However, nodes need more storage space and take more time to read and write.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endParaRPr lang="en-US" dirty="0"/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US" dirty="0"/>
                        <a:t>#2 is not an issue. Consider a disk with 4k sectors. Reading 16 bytes, 128 bytes or 4096 bytes takes the same time and the same amount of RAM.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endParaRPr lang="en-US" dirty="0"/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US" dirty="0"/>
                        <a:t>The RAM behaves in a very similar way. A processor reads and writes only whole cache lines which turns the RAM into a block device with the sector size of 64 bytes on x86-64.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8796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0036084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3753902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8711114"/>
              </p:ext>
            </p:extLst>
          </p:nvPr>
        </p:nvGraphicFramePr>
        <p:xfrm>
          <a:off x="0" y="365762"/>
          <a:ext cx="12192000" cy="57607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400" dirty="0"/>
                        <a:t>B-trees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5439976"/>
              </p:ext>
            </p:extLst>
          </p:nvPr>
        </p:nvGraphicFramePr>
        <p:xfrm>
          <a:off x="120823" y="3065441"/>
          <a:ext cx="13043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……..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7650350"/>
              </p:ext>
            </p:extLst>
          </p:nvPr>
        </p:nvGraphicFramePr>
        <p:xfrm>
          <a:off x="1702488" y="3070867"/>
          <a:ext cx="13043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……..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7729089"/>
              </p:ext>
            </p:extLst>
          </p:nvPr>
        </p:nvGraphicFramePr>
        <p:xfrm>
          <a:off x="3284153" y="3065441"/>
          <a:ext cx="13043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……..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865818" y="3065441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….</a:t>
            </a:r>
            <a:endParaRPr lang="ru-RU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1256724"/>
              </p:ext>
            </p:extLst>
          </p:nvPr>
        </p:nvGraphicFramePr>
        <p:xfrm>
          <a:off x="5504249" y="3070867"/>
          <a:ext cx="13043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……..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5779171"/>
              </p:ext>
            </p:extLst>
          </p:nvPr>
        </p:nvGraphicFramePr>
        <p:xfrm>
          <a:off x="1702488" y="2374902"/>
          <a:ext cx="13043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……..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9049796"/>
              </p:ext>
            </p:extLst>
          </p:nvPr>
        </p:nvGraphicFramePr>
        <p:xfrm>
          <a:off x="4865818" y="2374902"/>
          <a:ext cx="13043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……..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3" name="Straight Arrow Connector 12"/>
          <p:cNvCxnSpPr>
            <a:endCxn id="3" idx="0"/>
          </p:cNvCxnSpPr>
          <p:nvPr/>
        </p:nvCxnSpPr>
        <p:spPr>
          <a:xfrm flipH="1">
            <a:off x="772985" y="2745742"/>
            <a:ext cx="1064053" cy="31969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endCxn id="7" idx="0"/>
          </p:cNvCxnSpPr>
          <p:nvPr/>
        </p:nvCxnSpPr>
        <p:spPr>
          <a:xfrm>
            <a:off x="2354650" y="2745742"/>
            <a:ext cx="0" cy="3251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endCxn id="8" idx="0"/>
          </p:cNvCxnSpPr>
          <p:nvPr/>
        </p:nvCxnSpPr>
        <p:spPr>
          <a:xfrm>
            <a:off x="2833816" y="2745742"/>
            <a:ext cx="1102499" cy="31969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endCxn id="9" idx="0"/>
          </p:cNvCxnSpPr>
          <p:nvPr/>
        </p:nvCxnSpPr>
        <p:spPr>
          <a:xfrm>
            <a:off x="6005384" y="2745742"/>
            <a:ext cx="151027" cy="3251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735779" y="2370984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….</a:t>
            </a:r>
            <a:endParaRPr lang="ru-RU" dirty="0"/>
          </a:p>
        </p:txBody>
      </p: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6937204"/>
              </p:ext>
            </p:extLst>
          </p:nvPr>
        </p:nvGraphicFramePr>
        <p:xfrm>
          <a:off x="2456170" y="1684363"/>
          <a:ext cx="13043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……..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3" name="Straight Arrow Connector 22"/>
          <p:cNvCxnSpPr>
            <a:endCxn id="10" idx="0"/>
          </p:cNvCxnSpPr>
          <p:nvPr/>
        </p:nvCxnSpPr>
        <p:spPr>
          <a:xfrm flipH="1">
            <a:off x="2354650" y="2055203"/>
            <a:ext cx="264982" cy="31969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3599935" y="2055203"/>
            <a:ext cx="336380" cy="31578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6909766"/>
              </p:ext>
            </p:extLst>
          </p:nvPr>
        </p:nvGraphicFramePr>
        <p:xfrm>
          <a:off x="3727541" y="922231"/>
          <a:ext cx="13043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……..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4320423" y="1681997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….</a:t>
            </a:r>
            <a:endParaRPr lang="ru-RU" dirty="0"/>
          </a:p>
        </p:txBody>
      </p:sp>
      <p:cxnSp>
        <p:nvCxnSpPr>
          <p:cNvPr id="30" name="Straight Arrow Connector 29"/>
          <p:cNvCxnSpPr>
            <a:endCxn id="21" idx="0"/>
          </p:cNvCxnSpPr>
          <p:nvPr/>
        </p:nvCxnSpPr>
        <p:spPr>
          <a:xfrm flipH="1">
            <a:off x="3108332" y="1293071"/>
            <a:ext cx="827983" cy="39129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4865818" y="1282091"/>
            <a:ext cx="415606" cy="33610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759145" y="829765"/>
            <a:ext cx="5532861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definition of a B-tree the same as that of a 2-3-tree.</a:t>
            </a:r>
            <a:br>
              <a:rPr lang="en-US" dirty="0"/>
            </a:br>
            <a:r>
              <a:rPr lang="en-US" dirty="0"/>
              <a:t>However, we allow more elements in a node.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Nodes contain arrays of pairs (k</a:t>
            </a:r>
            <a:r>
              <a:rPr lang="en-US" baseline="-25000" dirty="0"/>
              <a:t>i</a:t>
            </a:r>
            <a:r>
              <a:rPr lang="en-US" dirty="0"/>
              <a:t>, p</a:t>
            </a:r>
            <a:r>
              <a:rPr lang="en-US" baseline="-25000" dirty="0"/>
              <a:t>i</a:t>
            </a:r>
            <a:r>
              <a:rPr lang="en-US" dirty="0"/>
              <a:t>) that are ordered</a:t>
            </a:r>
            <a:br>
              <a:rPr lang="ru-RU" dirty="0"/>
            </a:br>
            <a:r>
              <a:rPr lang="en-US" dirty="0"/>
              <a:t>by their key,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Pointers in leaf nodes point to user data,</a:t>
            </a:r>
            <a:r>
              <a:rPr lang="ru-RU" dirty="0"/>
              <a:t> </a:t>
            </a:r>
            <a:r>
              <a:rPr lang="en-US" dirty="0"/>
              <a:t>pointers in</a:t>
            </a:r>
            <a:br>
              <a:rPr lang="en-US" dirty="0"/>
            </a:br>
            <a:r>
              <a:rPr lang="en-US" dirty="0"/>
              <a:t>internal nodes point to tree nodes in the next level,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Nodes contain L elements at least and 2L elements</a:t>
            </a:r>
            <a:br>
              <a:rPr lang="en-US" dirty="0"/>
            </a:br>
            <a:r>
              <a:rPr lang="en-US" dirty="0"/>
              <a:t>at most</a:t>
            </a:r>
            <a:r>
              <a:rPr lang="ru-RU" dirty="0"/>
              <a:t>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leaf nodes are at the same tree level</a:t>
            </a:r>
            <a:r>
              <a:rPr lang="ru-RU" dirty="0"/>
              <a:t>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pointer</a:t>
            </a:r>
            <a:r>
              <a:rPr lang="ru-RU" dirty="0"/>
              <a:t> </a:t>
            </a:r>
            <a:r>
              <a:rPr lang="en-US" dirty="0"/>
              <a:t>p</a:t>
            </a:r>
            <a:r>
              <a:rPr lang="en-US" baseline="-25000" dirty="0"/>
              <a:t>i</a:t>
            </a:r>
            <a:r>
              <a:rPr lang="en-US" dirty="0"/>
              <a:t> in an internal node points to a subtree</a:t>
            </a:r>
            <a:br>
              <a:rPr lang="en-US" dirty="0"/>
            </a:br>
            <a:r>
              <a:rPr lang="en-US" dirty="0"/>
              <a:t>with keys in the range</a:t>
            </a:r>
            <a:r>
              <a:rPr lang="ru-RU" dirty="0"/>
              <a:t> </a:t>
            </a:r>
            <a:r>
              <a:rPr lang="en-US" dirty="0"/>
              <a:t>[k</a:t>
            </a:r>
            <a:r>
              <a:rPr lang="en-US" baseline="-25000" dirty="0"/>
              <a:t>i-1</a:t>
            </a:r>
            <a:r>
              <a:rPr lang="en-US" dirty="0"/>
              <a:t>, k</a:t>
            </a:r>
            <a:r>
              <a:rPr lang="en-US" baseline="-25000" dirty="0"/>
              <a:t>i</a:t>
            </a:r>
            <a:r>
              <a:rPr lang="en-US" dirty="0"/>
              <a:t>) (be careful with</a:t>
            </a:r>
            <a:r>
              <a:rPr lang="ru-RU" dirty="0"/>
              <a:t> </a:t>
            </a:r>
            <a:r>
              <a:rPr lang="en-US" dirty="0"/>
              <a:t>k</a:t>
            </a:r>
            <a:r>
              <a:rPr lang="en-US" baseline="-25000" dirty="0"/>
              <a:t>0</a:t>
            </a:r>
            <a:r>
              <a:rPr lang="en-US" dirty="0"/>
              <a:t>!)</a:t>
            </a:r>
            <a:r>
              <a:rPr lang="ru-RU" dirty="0"/>
              <a:t>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an insert produces a node with 2L+1 elements, then</a:t>
            </a:r>
            <a:br>
              <a:rPr lang="en-US" dirty="0"/>
            </a:br>
            <a:r>
              <a:rPr lang="en-US" dirty="0"/>
              <a:t>the head L items and tail L items are split into their</a:t>
            </a:r>
            <a:br>
              <a:rPr lang="en-US" dirty="0"/>
            </a:br>
            <a:r>
              <a:rPr lang="en-US" dirty="0"/>
              <a:t>nodes, and the median item is moved to the parent.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436544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B1983-ED12-1503-0CD0-160A036CA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17FAD6F-F3C0-E9E8-11AC-BE313E2ACAEB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5CF2D6E-1159-9894-178A-F4B3BE4EFE8D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2313F4E-2F35-DB59-3DAE-A6A0DCB846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8355067"/>
              </p:ext>
            </p:extLst>
          </p:nvPr>
        </p:nvGraphicFramePr>
        <p:xfrm>
          <a:off x="0" y="365762"/>
          <a:ext cx="12192000" cy="57607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400" dirty="0"/>
                        <a:t>B-trees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1A10A20-68A1-8AB7-7E25-2F2E866542F6}"/>
              </a:ext>
            </a:extLst>
          </p:cNvPr>
          <p:cNvGraphicFramePr>
            <a:graphicFrameLocks noGrp="1"/>
          </p:cNvGraphicFramePr>
          <p:nvPr/>
        </p:nvGraphicFramePr>
        <p:xfrm>
          <a:off x="120823" y="3065441"/>
          <a:ext cx="13043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……..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F652E0E-FFAC-4D02-1A8E-6A4B35173A20}"/>
              </a:ext>
            </a:extLst>
          </p:cNvPr>
          <p:cNvGraphicFramePr>
            <a:graphicFrameLocks noGrp="1"/>
          </p:cNvGraphicFramePr>
          <p:nvPr/>
        </p:nvGraphicFramePr>
        <p:xfrm>
          <a:off x="1702488" y="3070867"/>
          <a:ext cx="13043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……..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1115989-3A47-DEEB-51D2-B2B4BFB2D5BB}"/>
              </a:ext>
            </a:extLst>
          </p:cNvPr>
          <p:cNvGraphicFramePr>
            <a:graphicFrameLocks noGrp="1"/>
          </p:cNvGraphicFramePr>
          <p:nvPr/>
        </p:nvGraphicFramePr>
        <p:xfrm>
          <a:off x="3284153" y="3065441"/>
          <a:ext cx="13043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……..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7F298E7-D529-0BD0-B995-67613CAE909E}"/>
              </a:ext>
            </a:extLst>
          </p:cNvPr>
          <p:cNvSpPr txBox="1"/>
          <p:nvPr/>
        </p:nvSpPr>
        <p:spPr>
          <a:xfrm>
            <a:off x="4865818" y="3065441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….</a:t>
            </a:r>
            <a:endParaRPr lang="ru-RU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37F9199-603F-7375-8381-A4653D8F35C8}"/>
              </a:ext>
            </a:extLst>
          </p:cNvPr>
          <p:cNvGraphicFramePr>
            <a:graphicFrameLocks noGrp="1"/>
          </p:cNvGraphicFramePr>
          <p:nvPr/>
        </p:nvGraphicFramePr>
        <p:xfrm>
          <a:off x="5504249" y="3070867"/>
          <a:ext cx="13043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……..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096F1FE-F734-9CAF-516E-D56280CE0E03}"/>
              </a:ext>
            </a:extLst>
          </p:cNvPr>
          <p:cNvGraphicFramePr>
            <a:graphicFrameLocks noGrp="1"/>
          </p:cNvGraphicFramePr>
          <p:nvPr/>
        </p:nvGraphicFramePr>
        <p:xfrm>
          <a:off x="1702488" y="2374902"/>
          <a:ext cx="13043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……..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5028982-9F4E-A128-30E1-FE45EE159C7E}"/>
              </a:ext>
            </a:extLst>
          </p:cNvPr>
          <p:cNvGraphicFramePr>
            <a:graphicFrameLocks noGrp="1"/>
          </p:cNvGraphicFramePr>
          <p:nvPr/>
        </p:nvGraphicFramePr>
        <p:xfrm>
          <a:off x="4865818" y="2374902"/>
          <a:ext cx="13043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……..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2A55885-1089-284B-D3B0-CF3DDEF9A744}"/>
              </a:ext>
            </a:extLst>
          </p:cNvPr>
          <p:cNvCxnSpPr>
            <a:endCxn id="3" idx="0"/>
          </p:cNvCxnSpPr>
          <p:nvPr/>
        </p:nvCxnSpPr>
        <p:spPr>
          <a:xfrm flipH="1">
            <a:off x="772985" y="2745742"/>
            <a:ext cx="1064053" cy="31969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1ED668A-0E05-9719-AE30-8732FD7A92F8}"/>
              </a:ext>
            </a:extLst>
          </p:cNvPr>
          <p:cNvCxnSpPr>
            <a:endCxn id="7" idx="0"/>
          </p:cNvCxnSpPr>
          <p:nvPr/>
        </p:nvCxnSpPr>
        <p:spPr>
          <a:xfrm>
            <a:off x="2354650" y="2745742"/>
            <a:ext cx="0" cy="3251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2909656-2EDA-3078-DD76-08C10022CEED}"/>
              </a:ext>
            </a:extLst>
          </p:cNvPr>
          <p:cNvCxnSpPr>
            <a:endCxn id="8" idx="0"/>
          </p:cNvCxnSpPr>
          <p:nvPr/>
        </p:nvCxnSpPr>
        <p:spPr>
          <a:xfrm>
            <a:off x="2833816" y="2745742"/>
            <a:ext cx="1102499" cy="31969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E8C2E21-F9CB-7CB6-F0D4-465BB6D32F45}"/>
              </a:ext>
            </a:extLst>
          </p:cNvPr>
          <p:cNvCxnSpPr>
            <a:endCxn id="9" idx="0"/>
          </p:cNvCxnSpPr>
          <p:nvPr/>
        </p:nvCxnSpPr>
        <p:spPr>
          <a:xfrm>
            <a:off x="6005384" y="2745742"/>
            <a:ext cx="151027" cy="3251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A1AA7BA-5E67-78AD-A617-3743DD9E496E}"/>
              </a:ext>
            </a:extLst>
          </p:cNvPr>
          <p:cNvSpPr txBox="1"/>
          <p:nvPr/>
        </p:nvSpPr>
        <p:spPr>
          <a:xfrm>
            <a:off x="3735779" y="2370984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….</a:t>
            </a:r>
            <a:endParaRPr lang="ru-RU" dirty="0"/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570D77AE-3823-F794-B262-4744C9E49F41}"/>
              </a:ext>
            </a:extLst>
          </p:cNvPr>
          <p:cNvGraphicFramePr>
            <a:graphicFrameLocks noGrp="1"/>
          </p:cNvGraphicFramePr>
          <p:nvPr/>
        </p:nvGraphicFramePr>
        <p:xfrm>
          <a:off x="2456170" y="1684363"/>
          <a:ext cx="13043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……..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C9527C1-F4D3-6022-024A-70443485BD2F}"/>
              </a:ext>
            </a:extLst>
          </p:cNvPr>
          <p:cNvCxnSpPr>
            <a:endCxn id="10" idx="0"/>
          </p:cNvCxnSpPr>
          <p:nvPr/>
        </p:nvCxnSpPr>
        <p:spPr>
          <a:xfrm flipH="1">
            <a:off x="2354650" y="2055203"/>
            <a:ext cx="264982" cy="31969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146535B-E038-6C04-D307-723D3ABB6BBA}"/>
              </a:ext>
            </a:extLst>
          </p:cNvPr>
          <p:cNvCxnSpPr/>
          <p:nvPr/>
        </p:nvCxnSpPr>
        <p:spPr>
          <a:xfrm>
            <a:off x="3599935" y="2055203"/>
            <a:ext cx="336380" cy="31578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E1B1D712-E164-F84F-23EC-83B271E77AE5}"/>
              </a:ext>
            </a:extLst>
          </p:cNvPr>
          <p:cNvGraphicFramePr>
            <a:graphicFrameLocks noGrp="1"/>
          </p:cNvGraphicFramePr>
          <p:nvPr/>
        </p:nvGraphicFramePr>
        <p:xfrm>
          <a:off x="3727541" y="922231"/>
          <a:ext cx="13043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……..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3894D317-6969-5955-BD18-2B5C8F15D06A}"/>
              </a:ext>
            </a:extLst>
          </p:cNvPr>
          <p:cNvSpPr txBox="1"/>
          <p:nvPr/>
        </p:nvSpPr>
        <p:spPr>
          <a:xfrm>
            <a:off x="4320423" y="1681997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….</a:t>
            </a:r>
            <a:endParaRPr lang="ru-RU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F05E3A9-49CC-5AFA-CF52-DC2ED31F2C7D}"/>
              </a:ext>
            </a:extLst>
          </p:cNvPr>
          <p:cNvCxnSpPr>
            <a:endCxn id="21" idx="0"/>
          </p:cNvCxnSpPr>
          <p:nvPr/>
        </p:nvCxnSpPr>
        <p:spPr>
          <a:xfrm flipH="1">
            <a:off x="3108332" y="1293071"/>
            <a:ext cx="827983" cy="39129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E0190DA-15C3-139D-DF78-AAAE975920C4}"/>
              </a:ext>
            </a:extLst>
          </p:cNvPr>
          <p:cNvCxnSpPr/>
          <p:nvPr/>
        </p:nvCxnSpPr>
        <p:spPr>
          <a:xfrm>
            <a:off x="4865818" y="1282091"/>
            <a:ext cx="415606" cy="33610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37E91042-01B0-2CC3-2AC1-EC91B253CF5E}"/>
              </a:ext>
            </a:extLst>
          </p:cNvPr>
          <p:cNvSpPr txBox="1"/>
          <p:nvPr/>
        </p:nvSpPr>
        <p:spPr>
          <a:xfrm>
            <a:off x="6759145" y="829765"/>
            <a:ext cx="5532861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definition of a B-tree the same as that of a 2-3-tree.</a:t>
            </a:r>
            <a:br>
              <a:rPr lang="en-US" dirty="0"/>
            </a:br>
            <a:r>
              <a:rPr lang="en-US" dirty="0"/>
              <a:t>However, we allow more elements in a node.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Nodes contain arrays of pairs (k</a:t>
            </a:r>
            <a:r>
              <a:rPr lang="en-US" baseline="-25000" dirty="0"/>
              <a:t>i</a:t>
            </a:r>
            <a:r>
              <a:rPr lang="en-US" dirty="0"/>
              <a:t>, p</a:t>
            </a:r>
            <a:r>
              <a:rPr lang="en-US" baseline="-25000" dirty="0"/>
              <a:t>i</a:t>
            </a:r>
            <a:r>
              <a:rPr lang="en-US" dirty="0"/>
              <a:t>) that are ordered</a:t>
            </a:r>
            <a:br>
              <a:rPr lang="ru-RU" dirty="0"/>
            </a:br>
            <a:r>
              <a:rPr lang="en-US" dirty="0"/>
              <a:t>by their key,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Pointers in leaf nodes point to user data,</a:t>
            </a:r>
            <a:r>
              <a:rPr lang="ru-RU" dirty="0"/>
              <a:t> </a:t>
            </a:r>
            <a:r>
              <a:rPr lang="en-US" dirty="0"/>
              <a:t>pointers in</a:t>
            </a:r>
            <a:br>
              <a:rPr lang="en-US" dirty="0"/>
            </a:br>
            <a:r>
              <a:rPr lang="en-US" dirty="0"/>
              <a:t>internal nodes point to tree nodes in the next level,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Nodes contain L elements at least and 2L elements</a:t>
            </a:r>
            <a:br>
              <a:rPr lang="en-US" dirty="0"/>
            </a:br>
            <a:r>
              <a:rPr lang="en-US" dirty="0"/>
              <a:t>at most</a:t>
            </a:r>
            <a:r>
              <a:rPr lang="ru-RU" dirty="0"/>
              <a:t>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leaf nodes are at the same tree level</a:t>
            </a:r>
            <a:r>
              <a:rPr lang="ru-RU" dirty="0"/>
              <a:t>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pointer</a:t>
            </a:r>
            <a:r>
              <a:rPr lang="ru-RU" dirty="0"/>
              <a:t> </a:t>
            </a:r>
            <a:r>
              <a:rPr lang="en-US" dirty="0"/>
              <a:t>p</a:t>
            </a:r>
            <a:r>
              <a:rPr lang="en-US" baseline="-25000" dirty="0"/>
              <a:t>i</a:t>
            </a:r>
            <a:r>
              <a:rPr lang="en-US" dirty="0"/>
              <a:t> in an internal node points to a subtree</a:t>
            </a:r>
            <a:br>
              <a:rPr lang="en-US" dirty="0"/>
            </a:br>
            <a:r>
              <a:rPr lang="en-US" dirty="0"/>
              <a:t>with keys in the range</a:t>
            </a:r>
            <a:r>
              <a:rPr lang="ru-RU" dirty="0"/>
              <a:t> </a:t>
            </a:r>
            <a:r>
              <a:rPr lang="en-US" dirty="0"/>
              <a:t>[k</a:t>
            </a:r>
            <a:r>
              <a:rPr lang="en-US" baseline="-25000" dirty="0"/>
              <a:t>i-1</a:t>
            </a:r>
            <a:r>
              <a:rPr lang="en-US" dirty="0"/>
              <a:t>, k</a:t>
            </a:r>
            <a:r>
              <a:rPr lang="en-US" baseline="-25000" dirty="0"/>
              <a:t>i</a:t>
            </a:r>
            <a:r>
              <a:rPr lang="en-US" dirty="0"/>
              <a:t>) (be careful with</a:t>
            </a:r>
            <a:r>
              <a:rPr lang="ru-RU" dirty="0"/>
              <a:t> </a:t>
            </a:r>
            <a:r>
              <a:rPr lang="en-US" dirty="0"/>
              <a:t>k</a:t>
            </a:r>
            <a:r>
              <a:rPr lang="en-US" baseline="-25000" dirty="0"/>
              <a:t>0</a:t>
            </a:r>
            <a:r>
              <a:rPr lang="en-US" dirty="0"/>
              <a:t>!)</a:t>
            </a:r>
            <a:r>
              <a:rPr lang="ru-RU" dirty="0"/>
              <a:t>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an insert produces a node with 2L+1 elements, then</a:t>
            </a:r>
            <a:br>
              <a:rPr lang="en-US" dirty="0"/>
            </a:br>
            <a:r>
              <a:rPr lang="en-US" dirty="0"/>
              <a:t>the head L items and tail L items are split into their</a:t>
            </a:r>
            <a:br>
              <a:rPr lang="en-US" dirty="0"/>
            </a:br>
            <a:r>
              <a:rPr lang="en-US" dirty="0"/>
              <a:t>nodes, and the median item is moved to the parent.</a:t>
            </a:r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BC49CD-7EA2-EFF8-E6A4-2BAF650B979F}"/>
              </a:ext>
            </a:extLst>
          </p:cNvPr>
          <p:cNvSpPr txBox="1"/>
          <p:nvPr/>
        </p:nvSpPr>
        <p:spPr>
          <a:xfrm>
            <a:off x="0" y="4926153"/>
            <a:ext cx="67591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Y" dirty="0"/>
              <a:t>Deciding which subtree to descend into is naturally implemented</a:t>
            </a:r>
            <a:br>
              <a:rPr lang="en-CY" dirty="0"/>
            </a:br>
            <a:r>
              <a:rPr lang="en-CY" dirty="0"/>
              <a:t>with a binary search because keys in a node are sorted. However, implementations of B-trees often use linear search instead.</a:t>
            </a:r>
          </a:p>
          <a:p>
            <a:r>
              <a:rPr lang="en-CY" b="1" dirty="0"/>
              <a:t>Quiz</a:t>
            </a:r>
            <a:r>
              <a:rPr lang="en-CY" dirty="0"/>
              <a:t>: why is that often a good idea?</a:t>
            </a:r>
          </a:p>
        </p:txBody>
      </p:sp>
    </p:spTree>
    <p:extLst>
      <p:ext uri="{BB962C8B-B14F-4D97-AF65-F5344CB8AC3E}">
        <p14:creationId xmlns:p14="http://schemas.microsoft.com/office/powerpoint/2010/main" val="3655111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57531-838E-0C2F-CB5D-2C25EA0EE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711324A-B765-7BEF-1D66-BF9B26F90B67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743CFC1-80CB-A06A-7C8A-5FAEB3854815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2B63453-B43F-C805-75E5-5D5F83EBE9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4460655"/>
              </p:ext>
            </p:extLst>
          </p:nvPr>
        </p:nvGraphicFramePr>
        <p:xfrm>
          <a:off x="0" y="365762"/>
          <a:ext cx="12192000" cy="57607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400" dirty="0"/>
                        <a:t>B-trees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Some obvious problems to deal with</a:t>
                      </a:r>
                      <a:r>
                        <a:rPr lang="ru-RU" dirty="0"/>
                        <a:t>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Inserting an element produces random IO if nodes need to be split.</a:t>
                      </a:r>
                      <a:endParaRPr lang="en-US" baseline="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aseline="0" dirty="0"/>
                        <a:t>Removing an item needs complex rebalancing</a:t>
                      </a:r>
                      <a:r>
                        <a:rPr lang="ru-RU" baseline="0" dirty="0"/>
                        <a:t>, </a:t>
                      </a:r>
                      <a:r>
                        <a:rPr lang="en-US" baseline="0" dirty="0"/>
                        <a:t>or produces garbage.</a:t>
                      </a:r>
                      <a:endParaRPr lang="ru-RU" baseline="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A multithreaded writer to a B-tree needs to lock all nodes going from the root to the leaf.</a:t>
                      </a:r>
                      <a:br>
                        <a:rPr lang="en-US" dirty="0"/>
                      </a:br>
                      <a:r>
                        <a:rPr lang="en-US" dirty="0"/>
                        <a:t>Essentially, it is a global lock.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84B5C35-71B2-4178-0C00-6FD87F381FA4}"/>
              </a:ext>
            </a:extLst>
          </p:cNvPr>
          <p:cNvGraphicFramePr>
            <a:graphicFrameLocks noGrp="1"/>
          </p:cNvGraphicFramePr>
          <p:nvPr/>
        </p:nvGraphicFramePr>
        <p:xfrm>
          <a:off x="120823" y="3065441"/>
          <a:ext cx="13043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……..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0080602-6F78-67F6-D8B4-9C44BDD11778}"/>
              </a:ext>
            </a:extLst>
          </p:cNvPr>
          <p:cNvGraphicFramePr>
            <a:graphicFrameLocks noGrp="1"/>
          </p:cNvGraphicFramePr>
          <p:nvPr/>
        </p:nvGraphicFramePr>
        <p:xfrm>
          <a:off x="1702488" y="3070867"/>
          <a:ext cx="13043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……..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495FB4B-4062-4F07-3F52-F41BA4858504}"/>
              </a:ext>
            </a:extLst>
          </p:cNvPr>
          <p:cNvGraphicFramePr>
            <a:graphicFrameLocks noGrp="1"/>
          </p:cNvGraphicFramePr>
          <p:nvPr/>
        </p:nvGraphicFramePr>
        <p:xfrm>
          <a:off x="3284153" y="3065441"/>
          <a:ext cx="13043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……..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CA2C3A5-302B-D5A2-03F8-BD5E96B0621F}"/>
              </a:ext>
            </a:extLst>
          </p:cNvPr>
          <p:cNvSpPr txBox="1"/>
          <p:nvPr/>
        </p:nvSpPr>
        <p:spPr>
          <a:xfrm>
            <a:off x="4865818" y="3065441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….</a:t>
            </a:r>
            <a:endParaRPr lang="ru-RU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0BE20D1-84BC-6600-676F-292FDE86A18D}"/>
              </a:ext>
            </a:extLst>
          </p:cNvPr>
          <p:cNvGraphicFramePr>
            <a:graphicFrameLocks noGrp="1"/>
          </p:cNvGraphicFramePr>
          <p:nvPr/>
        </p:nvGraphicFramePr>
        <p:xfrm>
          <a:off x="5504249" y="3070867"/>
          <a:ext cx="13043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……..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5AFAA35-3E0C-06DE-A2E6-EAB5CDA6C08B}"/>
              </a:ext>
            </a:extLst>
          </p:cNvPr>
          <p:cNvGraphicFramePr>
            <a:graphicFrameLocks noGrp="1"/>
          </p:cNvGraphicFramePr>
          <p:nvPr/>
        </p:nvGraphicFramePr>
        <p:xfrm>
          <a:off x="1702488" y="2374902"/>
          <a:ext cx="13043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……..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9E1EC4D-66C9-8DDD-CA23-3B20BC93E723}"/>
              </a:ext>
            </a:extLst>
          </p:cNvPr>
          <p:cNvGraphicFramePr>
            <a:graphicFrameLocks noGrp="1"/>
          </p:cNvGraphicFramePr>
          <p:nvPr/>
        </p:nvGraphicFramePr>
        <p:xfrm>
          <a:off x="4865818" y="2374902"/>
          <a:ext cx="13043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……..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BE16899-7427-B9EC-0380-1E02AA0C425A}"/>
              </a:ext>
            </a:extLst>
          </p:cNvPr>
          <p:cNvCxnSpPr>
            <a:endCxn id="3" idx="0"/>
          </p:cNvCxnSpPr>
          <p:nvPr/>
        </p:nvCxnSpPr>
        <p:spPr>
          <a:xfrm flipH="1">
            <a:off x="772985" y="2745742"/>
            <a:ext cx="1064053" cy="31969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CEA3614-E8C0-9121-7CE0-DD950B375DF8}"/>
              </a:ext>
            </a:extLst>
          </p:cNvPr>
          <p:cNvCxnSpPr>
            <a:endCxn id="7" idx="0"/>
          </p:cNvCxnSpPr>
          <p:nvPr/>
        </p:nvCxnSpPr>
        <p:spPr>
          <a:xfrm>
            <a:off x="2354650" y="2745742"/>
            <a:ext cx="0" cy="3251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5DE9CCD-99FB-7D32-BD10-6C9DFCC44709}"/>
              </a:ext>
            </a:extLst>
          </p:cNvPr>
          <p:cNvCxnSpPr>
            <a:endCxn id="8" idx="0"/>
          </p:cNvCxnSpPr>
          <p:nvPr/>
        </p:nvCxnSpPr>
        <p:spPr>
          <a:xfrm>
            <a:off x="2833816" y="2745742"/>
            <a:ext cx="1102499" cy="31969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05E14B4-2751-4D61-0BFB-AAF7A8454C24}"/>
              </a:ext>
            </a:extLst>
          </p:cNvPr>
          <p:cNvCxnSpPr>
            <a:endCxn id="9" idx="0"/>
          </p:cNvCxnSpPr>
          <p:nvPr/>
        </p:nvCxnSpPr>
        <p:spPr>
          <a:xfrm>
            <a:off x="6005384" y="2745742"/>
            <a:ext cx="151027" cy="3251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BF896C7-301F-47B0-A993-860C65B31787}"/>
              </a:ext>
            </a:extLst>
          </p:cNvPr>
          <p:cNvSpPr txBox="1"/>
          <p:nvPr/>
        </p:nvSpPr>
        <p:spPr>
          <a:xfrm>
            <a:off x="3735779" y="2370984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….</a:t>
            </a:r>
            <a:endParaRPr lang="ru-RU" dirty="0"/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3144C072-D088-7FB9-03BD-A05F9DA0027C}"/>
              </a:ext>
            </a:extLst>
          </p:cNvPr>
          <p:cNvGraphicFramePr>
            <a:graphicFrameLocks noGrp="1"/>
          </p:cNvGraphicFramePr>
          <p:nvPr/>
        </p:nvGraphicFramePr>
        <p:xfrm>
          <a:off x="2456170" y="1684363"/>
          <a:ext cx="13043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……..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FE113F8-561D-6D8E-05E8-0C1C15F5B8DE}"/>
              </a:ext>
            </a:extLst>
          </p:cNvPr>
          <p:cNvCxnSpPr>
            <a:endCxn id="10" idx="0"/>
          </p:cNvCxnSpPr>
          <p:nvPr/>
        </p:nvCxnSpPr>
        <p:spPr>
          <a:xfrm flipH="1">
            <a:off x="2354650" y="2055203"/>
            <a:ext cx="264982" cy="31969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6FCCA8C-1120-E15B-65CB-57E6243BD559}"/>
              </a:ext>
            </a:extLst>
          </p:cNvPr>
          <p:cNvCxnSpPr/>
          <p:nvPr/>
        </p:nvCxnSpPr>
        <p:spPr>
          <a:xfrm>
            <a:off x="3599935" y="2055203"/>
            <a:ext cx="336380" cy="31578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52C2FB16-D1B5-6958-E49B-DC1160AC99B9}"/>
              </a:ext>
            </a:extLst>
          </p:cNvPr>
          <p:cNvGraphicFramePr>
            <a:graphicFrameLocks noGrp="1"/>
          </p:cNvGraphicFramePr>
          <p:nvPr/>
        </p:nvGraphicFramePr>
        <p:xfrm>
          <a:off x="3727541" y="922231"/>
          <a:ext cx="13043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……..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83903B10-E380-F59D-8891-74D8E28BF515}"/>
              </a:ext>
            </a:extLst>
          </p:cNvPr>
          <p:cNvSpPr txBox="1"/>
          <p:nvPr/>
        </p:nvSpPr>
        <p:spPr>
          <a:xfrm>
            <a:off x="4320423" y="1681997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….</a:t>
            </a:r>
            <a:endParaRPr lang="ru-RU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9766429-1C7C-F637-95A2-F4377B579797}"/>
              </a:ext>
            </a:extLst>
          </p:cNvPr>
          <p:cNvCxnSpPr>
            <a:endCxn id="21" idx="0"/>
          </p:cNvCxnSpPr>
          <p:nvPr/>
        </p:nvCxnSpPr>
        <p:spPr>
          <a:xfrm flipH="1">
            <a:off x="3108332" y="1293071"/>
            <a:ext cx="827983" cy="39129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BD0292D-DD98-E117-1A36-69846B4CAB3B}"/>
              </a:ext>
            </a:extLst>
          </p:cNvPr>
          <p:cNvCxnSpPr/>
          <p:nvPr/>
        </p:nvCxnSpPr>
        <p:spPr>
          <a:xfrm>
            <a:off x="4865818" y="1282091"/>
            <a:ext cx="415606" cy="33610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8345709F-1C35-9ED0-2C12-6BD210C4F156}"/>
              </a:ext>
            </a:extLst>
          </p:cNvPr>
          <p:cNvSpPr txBox="1"/>
          <p:nvPr/>
        </p:nvSpPr>
        <p:spPr>
          <a:xfrm>
            <a:off x="6759145" y="829765"/>
            <a:ext cx="5532861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definition of a B-tree the same as that of a 2-3-tree.</a:t>
            </a:r>
            <a:br>
              <a:rPr lang="en-US" dirty="0"/>
            </a:br>
            <a:r>
              <a:rPr lang="en-US" dirty="0"/>
              <a:t>However, we allow more elements in a node.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Nodes contain arrays of pairs (k</a:t>
            </a:r>
            <a:r>
              <a:rPr lang="en-US" baseline="-25000" dirty="0"/>
              <a:t>i</a:t>
            </a:r>
            <a:r>
              <a:rPr lang="en-US" dirty="0"/>
              <a:t>, p</a:t>
            </a:r>
            <a:r>
              <a:rPr lang="en-US" baseline="-25000" dirty="0"/>
              <a:t>i</a:t>
            </a:r>
            <a:r>
              <a:rPr lang="en-US" dirty="0"/>
              <a:t>) that are ordered</a:t>
            </a:r>
            <a:br>
              <a:rPr lang="ru-RU" dirty="0"/>
            </a:br>
            <a:r>
              <a:rPr lang="en-US" dirty="0"/>
              <a:t>by their key,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Pointers in leaf nodes point to user data,</a:t>
            </a:r>
            <a:r>
              <a:rPr lang="ru-RU" dirty="0"/>
              <a:t> </a:t>
            </a:r>
            <a:r>
              <a:rPr lang="en-US" dirty="0"/>
              <a:t>pointers in</a:t>
            </a:r>
            <a:br>
              <a:rPr lang="en-US" dirty="0"/>
            </a:br>
            <a:r>
              <a:rPr lang="en-US" dirty="0"/>
              <a:t>internal nodes point to tree nodes in the next level,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Nodes contain L elements at least and 2L elements</a:t>
            </a:r>
            <a:br>
              <a:rPr lang="en-US" dirty="0"/>
            </a:br>
            <a:r>
              <a:rPr lang="en-US" dirty="0"/>
              <a:t>at most</a:t>
            </a:r>
            <a:r>
              <a:rPr lang="ru-RU" dirty="0"/>
              <a:t>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leaf nodes are at the same tree level</a:t>
            </a:r>
            <a:r>
              <a:rPr lang="ru-RU" dirty="0"/>
              <a:t>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pointer</a:t>
            </a:r>
            <a:r>
              <a:rPr lang="ru-RU" dirty="0"/>
              <a:t> </a:t>
            </a:r>
            <a:r>
              <a:rPr lang="en-US" dirty="0"/>
              <a:t>p</a:t>
            </a:r>
            <a:r>
              <a:rPr lang="en-US" baseline="-25000" dirty="0"/>
              <a:t>i</a:t>
            </a:r>
            <a:r>
              <a:rPr lang="en-US" dirty="0"/>
              <a:t> in an internal node points to a subtree</a:t>
            </a:r>
            <a:br>
              <a:rPr lang="en-US" dirty="0"/>
            </a:br>
            <a:r>
              <a:rPr lang="en-US" dirty="0"/>
              <a:t>with keys in the range</a:t>
            </a:r>
            <a:r>
              <a:rPr lang="ru-RU" dirty="0"/>
              <a:t> </a:t>
            </a:r>
            <a:r>
              <a:rPr lang="en-US" dirty="0"/>
              <a:t>[k</a:t>
            </a:r>
            <a:r>
              <a:rPr lang="en-US" baseline="-25000" dirty="0"/>
              <a:t>i-1</a:t>
            </a:r>
            <a:r>
              <a:rPr lang="en-US" dirty="0"/>
              <a:t>, k</a:t>
            </a:r>
            <a:r>
              <a:rPr lang="en-US" baseline="-25000" dirty="0"/>
              <a:t>i</a:t>
            </a:r>
            <a:r>
              <a:rPr lang="en-US" dirty="0"/>
              <a:t>) (be careful with</a:t>
            </a:r>
            <a:r>
              <a:rPr lang="ru-RU" dirty="0"/>
              <a:t> </a:t>
            </a:r>
            <a:r>
              <a:rPr lang="en-US" dirty="0"/>
              <a:t>k</a:t>
            </a:r>
            <a:r>
              <a:rPr lang="en-US" baseline="-25000" dirty="0"/>
              <a:t>0</a:t>
            </a:r>
            <a:r>
              <a:rPr lang="en-US" dirty="0"/>
              <a:t>!)</a:t>
            </a:r>
            <a:r>
              <a:rPr lang="ru-RU" dirty="0"/>
              <a:t>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an insert produces a node with 2L+1 elements, then</a:t>
            </a:r>
            <a:br>
              <a:rPr lang="en-US" dirty="0"/>
            </a:br>
            <a:r>
              <a:rPr lang="en-US" dirty="0"/>
              <a:t>the head L items and tail L items are split into their</a:t>
            </a:r>
            <a:br>
              <a:rPr lang="en-US" dirty="0"/>
            </a:br>
            <a:r>
              <a:rPr lang="en-US" dirty="0"/>
              <a:t>nodes, and the median item is moved to the parent.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395397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4227613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2524047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1943450"/>
              </p:ext>
            </p:extLst>
          </p:nvPr>
        </p:nvGraphicFramePr>
        <p:xfrm>
          <a:off x="0" y="365762"/>
          <a:ext cx="12192000" cy="57607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  <a:r>
                        <a:rPr lang="en-US" sz="2400" baseline="30000" dirty="0"/>
                        <a:t>link</a:t>
                      </a:r>
                      <a:r>
                        <a:rPr lang="en-US" sz="2400" dirty="0"/>
                        <a:t>-trees (Lehman, Yao)</a:t>
                      </a:r>
                      <a:r>
                        <a:rPr lang="en-US" sz="2400" baseline="30000" dirty="0"/>
                        <a:t>*</a:t>
                      </a:r>
                      <a:endParaRPr lang="ru-RU" sz="2400" baseline="30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r>
                        <a:rPr lang="en-US" baseline="0" dirty="0">
                          <a:hlinkClick r:id="rId3"/>
                        </a:rPr>
                        <a:t>https://www.csd.uoc.gr/~hy460/pdf/p650-lehman.pdf</a:t>
                      </a:r>
                      <a:endParaRPr lang="ru-RU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2237804"/>
              </p:ext>
            </p:extLst>
          </p:nvPr>
        </p:nvGraphicFramePr>
        <p:xfrm>
          <a:off x="361176" y="3058160"/>
          <a:ext cx="13043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……..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674915"/>
              </p:ext>
            </p:extLst>
          </p:nvPr>
        </p:nvGraphicFramePr>
        <p:xfrm>
          <a:off x="3534116" y="3053542"/>
          <a:ext cx="13043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……..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2159105"/>
              </p:ext>
            </p:extLst>
          </p:nvPr>
        </p:nvGraphicFramePr>
        <p:xfrm>
          <a:off x="5115781" y="3048116"/>
          <a:ext cx="13043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……..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697446" y="3048116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….</a:t>
            </a:r>
            <a:endParaRPr lang="ru-RU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1520468"/>
              </p:ext>
            </p:extLst>
          </p:nvPr>
        </p:nvGraphicFramePr>
        <p:xfrm>
          <a:off x="7335877" y="3053542"/>
          <a:ext cx="13043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……..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524701"/>
              </p:ext>
            </p:extLst>
          </p:nvPr>
        </p:nvGraphicFramePr>
        <p:xfrm>
          <a:off x="3534116" y="2357577"/>
          <a:ext cx="13043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……..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2142473"/>
              </p:ext>
            </p:extLst>
          </p:nvPr>
        </p:nvGraphicFramePr>
        <p:xfrm>
          <a:off x="6697446" y="2357577"/>
          <a:ext cx="13043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……..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3" name="Straight Arrow Connector 12"/>
          <p:cNvCxnSpPr>
            <a:cxnSpLocks/>
            <a:endCxn id="3" idx="0"/>
          </p:cNvCxnSpPr>
          <p:nvPr/>
        </p:nvCxnSpPr>
        <p:spPr>
          <a:xfrm flipH="1">
            <a:off x="1013338" y="2722991"/>
            <a:ext cx="2662194" cy="33516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endCxn id="7" idx="0"/>
          </p:cNvCxnSpPr>
          <p:nvPr/>
        </p:nvCxnSpPr>
        <p:spPr>
          <a:xfrm>
            <a:off x="4186278" y="2728417"/>
            <a:ext cx="0" cy="325125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endCxn id="8" idx="0"/>
          </p:cNvCxnSpPr>
          <p:nvPr/>
        </p:nvCxnSpPr>
        <p:spPr>
          <a:xfrm>
            <a:off x="4665444" y="2728417"/>
            <a:ext cx="1102499" cy="31969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endCxn id="9" idx="0"/>
          </p:cNvCxnSpPr>
          <p:nvPr/>
        </p:nvCxnSpPr>
        <p:spPr>
          <a:xfrm>
            <a:off x="7837012" y="2728417"/>
            <a:ext cx="151027" cy="3251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567407" y="2353659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….</a:t>
            </a:r>
            <a:endParaRPr lang="ru-RU" dirty="0"/>
          </a:p>
        </p:txBody>
      </p: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2110087"/>
              </p:ext>
            </p:extLst>
          </p:nvPr>
        </p:nvGraphicFramePr>
        <p:xfrm>
          <a:off x="4287798" y="1667038"/>
          <a:ext cx="13043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……..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3" name="Straight Arrow Connector 22"/>
          <p:cNvCxnSpPr>
            <a:endCxn id="10" idx="0"/>
          </p:cNvCxnSpPr>
          <p:nvPr/>
        </p:nvCxnSpPr>
        <p:spPr>
          <a:xfrm flipH="1">
            <a:off x="4186278" y="2037878"/>
            <a:ext cx="264982" cy="31969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5380763" y="2041796"/>
            <a:ext cx="336380" cy="31578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5336226"/>
              </p:ext>
            </p:extLst>
          </p:nvPr>
        </p:nvGraphicFramePr>
        <p:xfrm>
          <a:off x="5559169" y="904906"/>
          <a:ext cx="13043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……..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6152051" y="1664672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….</a:t>
            </a:r>
            <a:endParaRPr lang="ru-RU" dirty="0"/>
          </a:p>
        </p:txBody>
      </p:sp>
      <p:cxnSp>
        <p:nvCxnSpPr>
          <p:cNvPr id="30" name="Straight Arrow Connector 29"/>
          <p:cNvCxnSpPr>
            <a:endCxn id="21" idx="0"/>
          </p:cNvCxnSpPr>
          <p:nvPr/>
        </p:nvCxnSpPr>
        <p:spPr>
          <a:xfrm flipH="1">
            <a:off x="4939960" y="1275746"/>
            <a:ext cx="827983" cy="39129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6697446" y="1264766"/>
            <a:ext cx="415606" cy="33610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0" y="6194050"/>
            <a:ext cx="19980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>
                <a:solidFill>
                  <a:schemeClr val="bg1">
                    <a:lumMod val="65000"/>
                  </a:schemeClr>
                </a:solidFill>
              </a:rPr>
              <a:t>* Postgres uses these.</a:t>
            </a:r>
            <a:endParaRPr lang="ru-RU" sz="16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E572FEEE-1B8E-2039-0602-588C7120ED59}"/>
              </a:ext>
            </a:extLst>
          </p:cNvPr>
          <p:cNvSpPr/>
          <p:nvPr/>
        </p:nvSpPr>
        <p:spPr>
          <a:xfrm>
            <a:off x="178676" y="1067280"/>
            <a:ext cx="2869324" cy="113240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Y" dirty="0">
                <a:solidFill>
                  <a:schemeClr val="tx1"/>
                </a:solidFill>
              </a:rPr>
              <a:t>Suppose this node is to be split upon an insert.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8ABCDF2-35E2-AEC0-BC67-D8399E4AD920}"/>
              </a:ext>
            </a:extLst>
          </p:cNvPr>
          <p:cNvCxnSpPr>
            <a:cxnSpLocks/>
            <a:stCxn id="24" idx="2"/>
            <a:endCxn id="3" idx="0"/>
          </p:cNvCxnSpPr>
          <p:nvPr/>
        </p:nvCxnSpPr>
        <p:spPr>
          <a:xfrm flipH="1">
            <a:off x="1013338" y="2199686"/>
            <a:ext cx="600000" cy="858474"/>
          </a:xfrm>
          <a:prstGeom prst="straightConnector1">
            <a:avLst/>
          </a:prstGeom>
          <a:ln w="1905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53736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EA5DB-5A47-3F5C-1796-DCD0B7B24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9314CEE-FC2A-F6BD-866D-167DC0B1D875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2CBFCCD-09E7-686B-8117-FC7C6F91D463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3FDBEEF-D482-2028-2857-17D803BEED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1476212"/>
              </p:ext>
            </p:extLst>
          </p:nvPr>
        </p:nvGraphicFramePr>
        <p:xfrm>
          <a:off x="0" y="365762"/>
          <a:ext cx="12192000" cy="57607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  <a:r>
                        <a:rPr lang="en-US" sz="2400" baseline="30000" dirty="0"/>
                        <a:t>link</a:t>
                      </a:r>
                      <a:r>
                        <a:rPr lang="en-US" sz="2400" dirty="0"/>
                        <a:t>-trees (Lehman, Yao)</a:t>
                      </a:r>
                      <a:r>
                        <a:rPr lang="en-US" sz="2400" baseline="30000" dirty="0"/>
                        <a:t>*</a:t>
                      </a:r>
                      <a:endParaRPr lang="ru-RU" sz="2400" baseline="30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When splitting a node, one need not modify the parent immediately. We can augment a node with a pointer to the sibling on the right. Essentially, it implements nodes have more than 2L elements as a list of properly sized nodes.</a:t>
                      </a:r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r>
                        <a:rPr lang="en-US" baseline="0" dirty="0"/>
                        <a:t>A background process later updates parent nodes to add pointers to all nodes produced by splitting.</a:t>
                      </a:r>
                      <a:endParaRPr lang="ru-RU" baseline="0" dirty="0"/>
                    </a:p>
                    <a:p>
                      <a:endParaRPr lang="ru-RU" baseline="0" dirty="0"/>
                    </a:p>
                    <a:p>
                      <a:r>
                        <a:rPr lang="en-US" baseline="0" dirty="0"/>
                        <a:t>This way it suffices to write-lock only one node when inserting a value.</a:t>
                      </a:r>
                    </a:p>
                    <a:p>
                      <a:endParaRPr lang="en-US" baseline="0" dirty="0"/>
                    </a:p>
                    <a:p>
                      <a:r>
                        <a:rPr lang="en-US" baseline="0" dirty="0">
                          <a:hlinkClick r:id="rId3"/>
                        </a:rPr>
                        <a:t>https://www.csd.uoc.gr/~hy460/pdf/p650-lehman.pdf</a:t>
                      </a:r>
                      <a:endParaRPr lang="ru-RU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F38A2D3-7DFE-9491-2253-49B167407369}"/>
              </a:ext>
            </a:extLst>
          </p:cNvPr>
          <p:cNvGraphicFramePr>
            <a:graphicFrameLocks noGrp="1"/>
          </p:cNvGraphicFramePr>
          <p:nvPr/>
        </p:nvGraphicFramePr>
        <p:xfrm>
          <a:off x="361176" y="3058160"/>
          <a:ext cx="13043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……..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8EEA2DA-7DDA-67E3-429D-75E309B92BAB}"/>
              </a:ext>
            </a:extLst>
          </p:cNvPr>
          <p:cNvGraphicFramePr>
            <a:graphicFrameLocks noGrp="1"/>
          </p:cNvGraphicFramePr>
          <p:nvPr/>
        </p:nvGraphicFramePr>
        <p:xfrm>
          <a:off x="3534116" y="3053542"/>
          <a:ext cx="13043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……..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46456BC-BBF8-1490-C893-5A91686FF6BB}"/>
              </a:ext>
            </a:extLst>
          </p:cNvPr>
          <p:cNvGraphicFramePr>
            <a:graphicFrameLocks noGrp="1"/>
          </p:cNvGraphicFramePr>
          <p:nvPr/>
        </p:nvGraphicFramePr>
        <p:xfrm>
          <a:off x="5115781" y="3048116"/>
          <a:ext cx="13043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……..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A742ADD-79B1-FE27-6B7A-3CD0F74FC341}"/>
              </a:ext>
            </a:extLst>
          </p:cNvPr>
          <p:cNvSpPr txBox="1"/>
          <p:nvPr/>
        </p:nvSpPr>
        <p:spPr>
          <a:xfrm>
            <a:off x="6697446" y="3048116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….</a:t>
            </a:r>
            <a:endParaRPr lang="ru-RU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B84D968-B48F-EC7B-BA38-5B969C414D58}"/>
              </a:ext>
            </a:extLst>
          </p:cNvPr>
          <p:cNvGraphicFramePr>
            <a:graphicFrameLocks noGrp="1"/>
          </p:cNvGraphicFramePr>
          <p:nvPr/>
        </p:nvGraphicFramePr>
        <p:xfrm>
          <a:off x="7335877" y="3053542"/>
          <a:ext cx="13043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……..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D5DA7DC-6072-1A79-5355-2627A68AC8CB}"/>
              </a:ext>
            </a:extLst>
          </p:cNvPr>
          <p:cNvGraphicFramePr>
            <a:graphicFrameLocks noGrp="1"/>
          </p:cNvGraphicFramePr>
          <p:nvPr/>
        </p:nvGraphicFramePr>
        <p:xfrm>
          <a:off x="3534116" y="2357577"/>
          <a:ext cx="13043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……..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2ED77E8-F924-CE68-FE94-CF97D2190871}"/>
              </a:ext>
            </a:extLst>
          </p:cNvPr>
          <p:cNvGraphicFramePr>
            <a:graphicFrameLocks noGrp="1"/>
          </p:cNvGraphicFramePr>
          <p:nvPr/>
        </p:nvGraphicFramePr>
        <p:xfrm>
          <a:off x="6697446" y="2357577"/>
          <a:ext cx="13043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……..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8155278-0F7D-512D-53AD-5B85515F1278}"/>
              </a:ext>
            </a:extLst>
          </p:cNvPr>
          <p:cNvCxnSpPr>
            <a:cxnSpLocks/>
            <a:endCxn id="3" idx="0"/>
          </p:cNvCxnSpPr>
          <p:nvPr/>
        </p:nvCxnSpPr>
        <p:spPr>
          <a:xfrm flipH="1">
            <a:off x="1013338" y="2722991"/>
            <a:ext cx="2662194" cy="33516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ADE1174-BB88-63F7-BC04-8E369C29F3F2}"/>
              </a:ext>
            </a:extLst>
          </p:cNvPr>
          <p:cNvCxnSpPr>
            <a:endCxn id="7" idx="0"/>
          </p:cNvCxnSpPr>
          <p:nvPr/>
        </p:nvCxnSpPr>
        <p:spPr>
          <a:xfrm>
            <a:off x="4186278" y="2728417"/>
            <a:ext cx="0" cy="325125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FD2804D-6B2E-6911-2C78-B4B4C818B7AC}"/>
              </a:ext>
            </a:extLst>
          </p:cNvPr>
          <p:cNvCxnSpPr>
            <a:endCxn id="8" idx="0"/>
          </p:cNvCxnSpPr>
          <p:nvPr/>
        </p:nvCxnSpPr>
        <p:spPr>
          <a:xfrm>
            <a:off x="4665444" y="2728417"/>
            <a:ext cx="1102499" cy="31969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FA4B8A4-8217-75A4-30C4-BA53CE5367E5}"/>
              </a:ext>
            </a:extLst>
          </p:cNvPr>
          <p:cNvCxnSpPr>
            <a:endCxn id="9" idx="0"/>
          </p:cNvCxnSpPr>
          <p:nvPr/>
        </p:nvCxnSpPr>
        <p:spPr>
          <a:xfrm>
            <a:off x="7837012" y="2728417"/>
            <a:ext cx="151027" cy="3251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B6D4E0A-F509-6184-F6E0-2D9D8670AE06}"/>
              </a:ext>
            </a:extLst>
          </p:cNvPr>
          <p:cNvSpPr txBox="1"/>
          <p:nvPr/>
        </p:nvSpPr>
        <p:spPr>
          <a:xfrm>
            <a:off x="5567407" y="2353659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….</a:t>
            </a:r>
            <a:endParaRPr lang="ru-RU" dirty="0"/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D4FBCCB5-2E2A-0566-5528-5E614AF2B1AC}"/>
              </a:ext>
            </a:extLst>
          </p:cNvPr>
          <p:cNvGraphicFramePr>
            <a:graphicFrameLocks noGrp="1"/>
          </p:cNvGraphicFramePr>
          <p:nvPr/>
        </p:nvGraphicFramePr>
        <p:xfrm>
          <a:off x="4287798" y="1667038"/>
          <a:ext cx="13043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……..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25FECE0-BD6D-0F18-01A8-38451C175563}"/>
              </a:ext>
            </a:extLst>
          </p:cNvPr>
          <p:cNvCxnSpPr>
            <a:endCxn id="10" idx="0"/>
          </p:cNvCxnSpPr>
          <p:nvPr/>
        </p:nvCxnSpPr>
        <p:spPr>
          <a:xfrm flipH="1">
            <a:off x="4186278" y="2037878"/>
            <a:ext cx="264982" cy="31969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1D57AE4-6984-5814-4EB5-78BCFC30B043}"/>
              </a:ext>
            </a:extLst>
          </p:cNvPr>
          <p:cNvCxnSpPr/>
          <p:nvPr/>
        </p:nvCxnSpPr>
        <p:spPr>
          <a:xfrm>
            <a:off x="5380763" y="2041796"/>
            <a:ext cx="336380" cy="31578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E8B52EFF-5A80-BCC3-0D5A-1D5E9E41824B}"/>
              </a:ext>
            </a:extLst>
          </p:cNvPr>
          <p:cNvGraphicFramePr>
            <a:graphicFrameLocks noGrp="1"/>
          </p:cNvGraphicFramePr>
          <p:nvPr/>
        </p:nvGraphicFramePr>
        <p:xfrm>
          <a:off x="5559169" y="904906"/>
          <a:ext cx="13043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……..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72328533-D768-3D1C-2581-F6ED8041972C}"/>
              </a:ext>
            </a:extLst>
          </p:cNvPr>
          <p:cNvSpPr txBox="1"/>
          <p:nvPr/>
        </p:nvSpPr>
        <p:spPr>
          <a:xfrm>
            <a:off x="6152051" y="1664672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….</a:t>
            </a:r>
            <a:endParaRPr lang="ru-RU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FAF40A5-B575-1DEF-F6B3-0E4803F47EB4}"/>
              </a:ext>
            </a:extLst>
          </p:cNvPr>
          <p:cNvCxnSpPr>
            <a:endCxn id="21" idx="0"/>
          </p:cNvCxnSpPr>
          <p:nvPr/>
        </p:nvCxnSpPr>
        <p:spPr>
          <a:xfrm flipH="1">
            <a:off x="4939960" y="1275746"/>
            <a:ext cx="827983" cy="39129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1E680B2-C8BA-4008-9B75-395B4A6BA20E}"/>
              </a:ext>
            </a:extLst>
          </p:cNvPr>
          <p:cNvCxnSpPr/>
          <p:nvPr/>
        </p:nvCxnSpPr>
        <p:spPr>
          <a:xfrm>
            <a:off x="6697446" y="1264766"/>
            <a:ext cx="415606" cy="33610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Right Arrow 15">
            <a:extLst>
              <a:ext uri="{FF2B5EF4-FFF2-40B4-BE49-F238E27FC236}">
                <a16:creationId xmlns:a16="http://schemas.microsoft.com/office/drawing/2014/main" id="{5E407FEA-A89E-4115-BC25-6D04F21D7577}"/>
              </a:ext>
            </a:extLst>
          </p:cNvPr>
          <p:cNvSpPr/>
          <p:nvPr/>
        </p:nvSpPr>
        <p:spPr>
          <a:xfrm>
            <a:off x="1660114" y="3176489"/>
            <a:ext cx="277341" cy="146567"/>
          </a:xfrm>
          <a:prstGeom prst="rightArrow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B2314FC-C813-88F6-7E77-B0DDABADE374}"/>
              </a:ext>
            </a:extLst>
          </p:cNvPr>
          <p:cNvSpPr txBox="1"/>
          <p:nvPr/>
        </p:nvSpPr>
        <p:spPr>
          <a:xfrm>
            <a:off x="0" y="6194050"/>
            <a:ext cx="19980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>
                <a:solidFill>
                  <a:schemeClr val="bg1">
                    <a:lumMod val="65000"/>
                  </a:schemeClr>
                </a:solidFill>
              </a:rPr>
              <a:t>* Postgres uses these.</a:t>
            </a:r>
            <a:endParaRPr lang="ru-RU" sz="1600" i="1" dirty="0">
              <a:solidFill>
                <a:schemeClr val="bg1">
                  <a:lumMod val="65000"/>
                </a:schemeClr>
              </a:solidFill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C844613A-4747-B867-E594-83122B6D8A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9131636"/>
              </p:ext>
            </p:extLst>
          </p:nvPr>
        </p:nvGraphicFramePr>
        <p:xfrm>
          <a:off x="1940628" y="3058160"/>
          <a:ext cx="13043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……..</a:t>
                      </a:r>
                      <a:endParaRPr lang="ru-RU" dirty="0"/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73FCE0EC-6579-1CA3-B2B1-A784FB23F183}"/>
              </a:ext>
            </a:extLst>
          </p:cNvPr>
          <p:cNvSpPr/>
          <p:nvPr/>
        </p:nvSpPr>
        <p:spPr>
          <a:xfrm>
            <a:off x="178676" y="1067280"/>
            <a:ext cx="2869324" cy="113240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Y" dirty="0">
                <a:solidFill>
                  <a:schemeClr val="tx1"/>
                </a:solidFill>
              </a:rPr>
              <a:t>This node has no pointer from the parent, only a link from the left sibling.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181C1F9-29AA-3149-8076-50D0D4537BF2}"/>
              </a:ext>
            </a:extLst>
          </p:cNvPr>
          <p:cNvCxnSpPr>
            <a:stCxn id="24" idx="2"/>
            <a:endCxn id="14" idx="0"/>
          </p:cNvCxnSpPr>
          <p:nvPr/>
        </p:nvCxnSpPr>
        <p:spPr>
          <a:xfrm>
            <a:off x="1613338" y="2199686"/>
            <a:ext cx="979452" cy="858474"/>
          </a:xfrm>
          <a:prstGeom prst="straightConnector1">
            <a:avLst/>
          </a:prstGeom>
          <a:ln w="1905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09695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C5C77-F1FF-8F6E-D5E1-67483D399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52CCC61-5F5C-778D-5AEF-C8832D1271EB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507D92B-AD1B-7AD1-29CF-B90F01B3064A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CBC93E4-0634-3653-920B-1E53EF6931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0445661"/>
              </p:ext>
            </p:extLst>
          </p:nvPr>
        </p:nvGraphicFramePr>
        <p:xfrm>
          <a:off x="0" y="365762"/>
          <a:ext cx="12192000" cy="57607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400" dirty="0"/>
                        <a:t>B-trees: different designs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1D45902-E248-F809-BA8C-18A0C8BF18A2}"/>
              </a:ext>
            </a:extLst>
          </p:cNvPr>
          <p:cNvGraphicFramePr>
            <a:graphicFrameLocks noGrp="1"/>
          </p:cNvGraphicFramePr>
          <p:nvPr/>
        </p:nvGraphicFramePr>
        <p:xfrm>
          <a:off x="120823" y="3065441"/>
          <a:ext cx="13043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……..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A81F4AA-A90A-DF1D-44D1-6C32685E327B}"/>
              </a:ext>
            </a:extLst>
          </p:cNvPr>
          <p:cNvGraphicFramePr>
            <a:graphicFrameLocks noGrp="1"/>
          </p:cNvGraphicFramePr>
          <p:nvPr/>
        </p:nvGraphicFramePr>
        <p:xfrm>
          <a:off x="1702488" y="3070867"/>
          <a:ext cx="13043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……..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2E24A48-24D1-B3A0-8E09-25DA1F6228A2}"/>
              </a:ext>
            </a:extLst>
          </p:cNvPr>
          <p:cNvGraphicFramePr>
            <a:graphicFrameLocks noGrp="1"/>
          </p:cNvGraphicFramePr>
          <p:nvPr/>
        </p:nvGraphicFramePr>
        <p:xfrm>
          <a:off x="3284153" y="3065441"/>
          <a:ext cx="13043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……..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0F94EA6-8DF8-51A5-3DB9-E5A8F315C654}"/>
              </a:ext>
            </a:extLst>
          </p:cNvPr>
          <p:cNvSpPr txBox="1"/>
          <p:nvPr/>
        </p:nvSpPr>
        <p:spPr>
          <a:xfrm>
            <a:off x="4865818" y="3065441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….</a:t>
            </a:r>
            <a:endParaRPr lang="ru-RU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AD16E0E-3523-840C-DC90-3486CEBEB835}"/>
              </a:ext>
            </a:extLst>
          </p:cNvPr>
          <p:cNvGraphicFramePr>
            <a:graphicFrameLocks noGrp="1"/>
          </p:cNvGraphicFramePr>
          <p:nvPr/>
        </p:nvGraphicFramePr>
        <p:xfrm>
          <a:off x="5504249" y="3070867"/>
          <a:ext cx="13043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……..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52C1B35-C488-52E0-34CE-DF15B977FF57}"/>
              </a:ext>
            </a:extLst>
          </p:cNvPr>
          <p:cNvGraphicFramePr>
            <a:graphicFrameLocks noGrp="1"/>
          </p:cNvGraphicFramePr>
          <p:nvPr/>
        </p:nvGraphicFramePr>
        <p:xfrm>
          <a:off x="1702488" y="2374902"/>
          <a:ext cx="13043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……..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C58A016-25FE-8E05-F5B3-22DCD46D3945}"/>
              </a:ext>
            </a:extLst>
          </p:cNvPr>
          <p:cNvGraphicFramePr>
            <a:graphicFrameLocks noGrp="1"/>
          </p:cNvGraphicFramePr>
          <p:nvPr/>
        </p:nvGraphicFramePr>
        <p:xfrm>
          <a:off x="4865818" y="2374902"/>
          <a:ext cx="13043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……..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B60D91D-0ECD-18AC-03DD-43021EE71BDA}"/>
              </a:ext>
            </a:extLst>
          </p:cNvPr>
          <p:cNvCxnSpPr>
            <a:endCxn id="3" idx="0"/>
          </p:cNvCxnSpPr>
          <p:nvPr/>
        </p:nvCxnSpPr>
        <p:spPr>
          <a:xfrm flipH="1">
            <a:off x="772985" y="2745742"/>
            <a:ext cx="1064053" cy="31969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17BC30C-52DC-163F-F721-890498F8A27E}"/>
              </a:ext>
            </a:extLst>
          </p:cNvPr>
          <p:cNvCxnSpPr>
            <a:endCxn id="7" idx="0"/>
          </p:cNvCxnSpPr>
          <p:nvPr/>
        </p:nvCxnSpPr>
        <p:spPr>
          <a:xfrm>
            <a:off x="2354650" y="2745742"/>
            <a:ext cx="0" cy="3251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4FB44E6-10CD-F38C-391C-4A43F8D23464}"/>
              </a:ext>
            </a:extLst>
          </p:cNvPr>
          <p:cNvCxnSpPr>
            <a:endCxn id="8" idx="0"/>
          </p:cNvCxnSpPr>
          <p:nvPr/>
        </p:nvCxnSpPr>
        <p:spPr>
          <a:xfrm>
            <a:off x="2833816" y="2745742"/>
            <a:ext cx="1102499" cy="31969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6070969-2B59-750C-6E24-8C5E8B0A253D}"/>
              </a:ext>
            </a:extLst>
          </p:cNvPr>
          <p:cNvCxnSpPr>
            <a:endCxn id="9" idx="0"/>
          </p:cNvCxnSpPr>
          <p:nvPr/>
        </p:nvCxnSpPr>
        <p:spPr>
          <a:xfrm>
            <a:off x="6005384" y="2745742"/>
            <a:ext cx="151027" cy="3251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9851FF7-661E-61B1-8EA6-452006B117FD}"/>
              </a:ext>
            </a:extLst>
          </p:cNvPr>
          <p:cNvSpPr txBox="1"/>
          <p:nvPr/>
        </p:nvSpPr>
        <p:spPr>
          <a:xfrm>
            <a:off x="3735779" y="2370984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….</a:t>
            </a:r>
            <a:endParaRPr lang="ru-RU" dirty="0"/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5920CA1F-A21B-1C4A-CCCD-1CF2C5E45A98}"/>
              </a:ext>
            </a:extLst>
          </p:cNvPr>
          <p:cNvGraphicFramePr>
            <a:graphicFrameLocks noGrp="1"/>
          </p:cNvGraphicFramePr>
          <p:nvPr/>
        </p:nvGraphicFramePr>
        <p:xfrm>
          <a:off x="2456170" y="1684363"/>
          <a:ext cx="13043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……..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509E6A2-C68A-3F90-F452-75D24365149E}"/>
              </a:ext>
            </a:extLst>
          </p:cNvPr>
          <p:cNvCxnSpPr>
            <a:endCxn id="10" idx="0"/>
          </p:cNvCxnSpPr>
          <p:nvPr/>
        </p:nvCxnSpPr>
        <p:spPr>
          <a:xfrm flipH="1">
            <a:off x="2354650" y="2055203"/>
            <a:ext cx="264982" cy="31969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73048A7-EB26-B060-BD73-32D70EB75917}"/>
              </a:ext>
            </a:extLst>
          </p:cNvPr>
          <p:cNvCxnSpPr/>
          <p:nvPr/>
        </p:nvCxnSpPr>
        <p:spPr>
          <a:xfrm>
            <a:off x="3599935" y="2055203"/>
            <a:ext cx="336380" cy="31578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E2D28FEE-B198-3AD1-BB94-6F9A50B82C67}"/>
              </a:ext>
            </a:extLst>
          </p:cNvPr>
          <p:cNvGraphicFramePr>
            <a:graphicFrameLocks noGrp="1"/>
          </p:cNvGraphicFramePr>
          <p:nvPr/>
        </p:nvGraphicFramePr>
        <p:xfrm>
          <a:off x="3727541" y="922231"/>
          <a:ext cx="13043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……..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492691AB-7150-DBF0-8D1E-0FEDCC2A570E}"/>
              </a:ext>
            </a:extLst>
          </p:cNvPr>
          <p:cNvSpPr txBox="1"/>
          <p:nvPr/>
        </p:nvSpPr>
        <p:spPr>
          <a:xfrm>
            <a:off x="4320423" y="1681997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….</a:t>
            </a:r>
            <a:endParaRPr lang="ru-RU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C365A21-04DD-C011-BA6F-BB22ADB81E5E}"/>
              </a:ext>
            </a:extLst>
          </p:cNvPr>
          <p:cNvCxnSpPr>
            <a:endCxn id="21" idx="0"/>
          </p:cNvCxnSpPr>
          <p:nvPr/>
        </p:nvCxnSpPr>
        <p:spPr>
          <a:xfrm flipH="1">
            <a:off x="3108332" y="1293071"/>
            <a:ext cx="827983" cy="39129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C08AC89-FE82-3F0A-4F2B-B79A273D3DE5}"/>
              </a:ext>
            </a:extLst>
          </p:cNvPr>
          <p:cNvCxnSpPr/>
          <p:nvPr/>
        </p:nvCxnSpPr>
        <p:spPr>
          <a:xfrm>
            <a:off x="4865818" y="1282091"/>
            <a:ext cx="415606" cy="33610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EEDD62A-AD45-72C3-E74D-78C500B23C2A}"/>
              </a:ext>
            </a:extLst>
          </p:cNvPr>
          <p:cNvSpPr txBox="1"/>
          <p:nvPr/>
        </p:nvSpPr>
        <p:spPr>
          <a:xfrm>
            <a:off x="6759145" y="829765"/>
            <a:ext cx="49122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There may be many definitions of B-trees tuned to</a:t>
            </a:r>
            <a:br>
              <a:rPr lang="en-US" dirty="0"/>
            </a:br>
            <a:r>
              <a:rPr lang="en-US" dirty="0"/>
              <a:t>particular use cases.</a:t>
            </a:r>
          </a:p>
        </p:txBody>
      </p:sp>
    </p:spTree>
    <p:extLst>
      <p:ext uri="{BB962C8B-B14F-4D97-AF65-F5344CB8AC3E}">
        <p14:creationId xmlns:p14="http://schemas.microsoft.com/office/powerpoint/2010/main" val="32570104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3FECE-6A69-3DBA-2A13-D18FB62F3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0CEE8B8-3DFC-4D21-0D3C-75AC0B629C15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F3724DA-D360-B9DB-7F6B-738016B5D22C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96E487E-4647-C7B0-6476-7B239F77B11B}"/>
              </a:ext>
            </a:extLst>
          </p:cNvPr>
          <p:cNvGraphicFramePr>
            <a:graphicFrameLocks noGrp="1"/>
          </p:cNvGraphicFramePr>
          <p:nvPr/>
        </p:nvGraphicFramePr>
        <p:xfrm>
          <a:off x="0" y="365762"/>
          <a:ext cx="12192000" cy="57607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400" dirty="0"/>
                        <a:t>B-trees: different designs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8EC3B63-39EC-4C2B-797A-FD6727FC0D4C}"/>
              </a:ext>
            </a:extLst>
          </p:cNvPr>
          <p:cNvGraphicFramePr>
            <a:graphicFrameLocks noGrp="1"/>
          </p:cNvGraphicFramePr>
          <p:nvPr/>
        </p:nvGraphicFramePr>
        <p:xfrm>
          <a:off x="120823" y="3065441"/>
          <a:ext cx="13043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……..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5B875E9-E837-E047-FC3F-ADACD4F5754A}"/>
              </a:ext>
            </a:extLst>
          </p:cNvPr>
          <p:cNvGraphicFramePr>
            <a:graphicFrameLocks noGrp="1"/>
          </p:cNvGraphicFramePr>
          <p:nvPr/>
        </p:nvGraphicFramePr>
        <p:xfrm>
          <a:off x="1702488" y="3070867"/>
          <a:ext cx="13043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……..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8A2D0D2-3A37-7EFC-DEFA-453D0C6A00C7}"/>
              </a:ext>
            </a:extLst>
          </p:cNvPr>
          <p:cNvGraphicFramePr>
            <a:graphicFrameLocks noGrp="1"/>
          </p:cNvGraphicFramePr>
          <p:nvPr/>
        </p:nvGraphicFramePr>
        <p:xfrm>
          <a:off x="3284153" y="3065441"/>
          <a:ext cx="13043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……..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6123A9E-5CA4-3F83-CAAF-302B560B1F8E}"/>
              </a:ext>
            </a:extLst>
          </p:cNvPr>
          <p:cNvSpPr txBox="1"/>
          <p:nvPr/>
        </p:nvSpPr>
        <p:spPr>
          <a:xfrm>
            <a:off x="4865818" y="3065441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….</a:t>
            </a:r>
            <a:endParaRPr lang="ru-RU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DB14DFD-E1D0-CB28-7E8C-D37F55952581}"/>
              </a:ext>
            </a:extLst>
          </p:cNvPr>
          <p:cNvGraphicFramePr>
            <a:graphicFrameLocks noGrp="1"/>
          </p:cNvGraphicFramePr>
          <p:nvPr/>
        </p:nvGraphicFramePr>
        <p:xfrm>
          <a:off x="5504249" y="3070867"/>
          <a:ext cx="13043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……..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0BF59E2-692E-1243-19D8-77681E3C7838}"/>
              </a:ext>
            </a:extLst>
          </p:cNvPr>
          <p:cNvGraphicFramePr>
            <a:graphicFrameLocks noGrp="1"/>
          </p:cNvGraphicFramePr>
          <p:nvPr/>
        </p:nvGraphicFramePr>
        <p:xfrm>
          <a:off x="1702488" y="2374902"/>
          <a:ext cx="13043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……..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C701ED9-97AF-D28B-6779-3A51E470FEBF}"/>
              </a:ext>
            </a:extLst>
          </p:cNvPr>
          <p:cNvGraphicFramePr>
            <a:graphicFrameLocks noGrp="1"/>
          </p:cNvGraphicFramePr>
          <p:nvPr/>
        </p:nvGraphicFramePr>
        <p:xfrm>
          <a:off x="4865818" y="2374902"/>
          <a:ext cx="13043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……..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8EB7C43-A0EB-326C-FC38-74ED7F303AEE}"/>
              </a:ext>
            </a:extLst>
          </p:cNvPr>
          <p:cNvCxnSpPr>
            <a:endCxn id="3" idx="0"/>
          </p:cNvCxnSpPr>
          <p:nvPr/>
        </p:nvCxnSpPr>
        <p:spPr>
          <a:xfrm flipH="1">
            <a:off x="772985" y="2745742"/>
            <a:ext cx="1064053" cy="31969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FFEE11D-BB2E-3A9C-0C21-90555315DA97}"/>
              </a:ext>
            </a:extLst>
          </p:cNvPr>
          <p:cNvCxnSpPr>
            <a:endCxn id="7" idx="0"/>
          </p:cNvCxnSpPr>
          <p:nvPr/>
        </p:nvCxnSpPr>
        <p:spPr>
          <a:xfrm>
            <a:off x="2354650" y="2745742"/>
            <a:ext cx="0" cy="3251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155458A-ED0C-8B6F-1FDA-8AD47616DE02}"/>
              </a:ext>
            </a:extLst>
          </p:cNvPr>
          <p:cNvCxnSpPr>
            <a:endCxn id="8" idx="0"/>
          </p:cNvCxnSpPr>
          <p:nvPr/>
        </p:nvCxnSpPr>
        <p:spPr>
          <a:xfrm>
            <a:off x="2833816" y="2745742"/>
            <a:ext cx="1102499" cy="31969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6BAB94B-D21B-3889-04A8-0EF2648D7C60}"/>
              </a:ext>
            </a:extLst>
          </p:cNvPr>
          <p:cNvCxnSpPr>
            <a:endCxn id="9" idx="0"/>
          </p:cNvCxnSpPr>
          <p:nvPr/>
        </p:nvCxnSpPr>
        <p:spPr>
          <a:xfrm>
            <a:off x="6005384" y="2745742"/>
            <a:ext cx="151027" cy="3251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6123609-7DBD-E782-E8CA-BC91F812908A}"/>
              </a:ext>
            </a:extLst>
          </p:cNvPr>
          <p:cNvSpPr txBox="1"/>
          <p:nvPr/>
        </p:nvSpPr>
        <p:spPr>
          <a:xfrm>
            <a:off x="3735779" y="2370984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….</a:t>
            </a:r>
            <a:endParaRPr lang="ru-RU" dirty="0"/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178A6E8F-760D-EDEE-C1D2-85812FD2DA0B}"/>
              </a:ext>
            </a:extLst>
          </p:cNvPr>
          <p:cNvGraphicFramePr>
            <a:graphicFrameLocks noGrp="1"/>
          </p:cNvGraphicFramePr>
          <p:nvPr/>
        </p:nvGraphicFramePr>
        <p:xfrm>
          <a:off x="2456170" y="1684363"/>
          <a:ext cx="13043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……..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FE5117D-7CD3-B435-7B48-DDE7E73E6516}"/>
              </a:ext>
            </a:extLst>
          </p:cNvPr>
          <p:cNvCxnSpPr>
            <a:endCxn id="10" idx="0"/>
          </p:cNvCxnSpPr>
          <p:nvPr/>
        </p:nvCxnSpPr>
        <p:spPr>
          <a:xfrm flipH="1">
            <a:off x="2354650" y="2055203"/>
            <a:ext cx="264982" cy="31969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817BECA-48B6-F584-04DD-3E78C8344FE9}"/>
              </a:ext>
            </a:extLst>
          </p:cNvPr>
          <p:cNvCxnSpPr/>
          <p:nvPr/>
        </p:nvCxnSpPr>
        <p:spPr>
          <a:xfrm>
            <a:off x="3599935" y="2055203"/>
            <a:ext cx="336380" cy="31578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4B00E968-CB0B-E5E5-9216-635A94A50301}"/>
              </a:ext>
            </a:extLst>
          </p:cNvPr>
          <p:cNvGraphicFramePr>
            <a:graphicFrameLocks noGrp="1"/>
          </p:cNvGraphicFramePr>
          <p:nvPr/>
        </p:nvGraphicFramePr>
        <p:xfrm>
          <a:off x="3727541" y="922231"/>
          <a:ext cx="13043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……..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53550F40-5B4E-263A-E5D8-2BB8830272EF}"/>
              </a:ext>
            </a:extLst>
          </p:cNvPr>
          <p:cNvSpPr txBox="1"/>
          <p:nvPr/>
        </p:nvSpPr>
        <p:spPr>
          <a:xfrm>
            <a:off x="4320423" y="1681997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….</a:t>
            </a:r>
            <a:endParaRPr lang="ru-RU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012B52A-9EC3-F87B-9310-6AB674B5452B}"/>
              </a:ext>
            </a:extLst>
          </p:cNvPr>
          <p:cNvCxnSpPr>
            <a:endCxn id="21" idx="0"/>
          </p:cNvCxnSpPr>
          <p:nvPr/>
        </p:nvCxnSpPr>
        <p:spPr>
          <a:xfrm flipH="1">
            <a:off x="3108332" y="1293071"/>
            <a:ext cx="827983" cy="39129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B39B6A6-F687-9277-53D7-C51DF10564A5}"/>
              </a:ext>
            </a:extLst>
          </p:cNvPr>
          <p:cNvCxnSpPr/>
          <p:nvPr/>
        </p:nvCxnSpPr>
        <p:spPr>
          <a:xfrm>
            <a:off x="4865818" y="1282091"/>
            <a:ext cx="415606" cy="33610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7FCB5BC-F029-F5B4-5AF2-629077A37305}"/>
              </a:ext>
            </a:extLst>
          </p:cNvPr>
          <p:cNvSpPr txBox="1"/>
          <p:nvPr/>
        </p:nvSpPr>
        <p:spPr>
          <a:xfrm>
            <a:off x="6759145" y="829765"/>
            <a:ext cx="5338064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There may be many definitions of B-trees tuned to</a:t>
            </a:r>
            <a:br>
              <a:rPr lang="en-US" dirty="0"/>
            </a:br>
            <a:r>
              <a:rPr lang="en-US" dirty="0"/>
              <a:t>particular use cases.</a:t>
            </a:r>
          </a:p>
          <a:p>
            <a:endParaRPr lang="en-US" dirty="0"/>
          </a:p>
          <a:p>
            <a:r>
              <a:rPr lang="en-US" dirty="0"/>
              <a:t>Keys and values may be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fixed-length (a DB index over a fixed-width column),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variable-length (a list of directory entries).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When a tree has variable-length keys and values, it is</a:t>
            </a:r>
            <a:br>
              <a:rPr lang="en-US" dirty="0"/>
            </a:br>
            <a:r>
              <a:rPr lang="en-US" dirty="0"/>
              <a:t>fine to disregard the limits on the number of items</a:t>
            </a:r>
            <a:br>
              <a:rPr lang="en-US" dirty="0"/>
            </a:br>
            <a:r>
              <a:rPr lang="en-US" dirty="0"/>
              <a:t>in a node.</a:t>
            </a:r>
          </a:p>
        </p:txBody>
      </p:sp>
    </p:spTree>
    <p:extLst>
      <p:ext uri="{BB962C8B-B14F-4D97-AF65-F5344CB8AC3E}">
        <p14:creationId xmlns:p14="http://schemas.microsoft.com/office/powerpoint/2010/main" val="32507097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44837-76B6-6CF6-CCB2-CE804EB6B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C0E1066-D875-47D9-78B7-1C515A825593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2916955-6586-BF3E-FB52-C1E498CF8AAF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1EE476D-6E8D-AFEE-5A77-03A585ABA5DB}"/>
              </a:ext>
            </a:extLst>
          </p:cNvPr>
          <p:cNvGraphicFramePr>
            <a:graphicFrameLocks noGrp="1"/>
          </p:cNvGraphicFramePr>
          <p:nvPr/>
        </p:nvGraphicFramePr>
        <p:xfrm>
          <a:off x="0" y="365762"/>
          <a:ext cx="12192000" cy="57607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400" dirty="0"/>
                        <a:t>B-trees: different designs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F913721-1EEF-7E49-BC79-B317DAD8BE7D}"/>
              </a:ext>
            </a:extLst>
          </p:cNvPr>
          <p:cNvGraphicFramePr>
            <a:graphicFrameLocks noGrp="1"/>
          </p:cNvGraphicFramePr>
          <p:nvPr/>
        </p:nvGraphicFramePr>
        <p:xfrm>
          <a:off x="120823" y="3065441"/>
          <a:ext cx="13043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……..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7213E0C-5A46-8C5E-5DCB-3D77921E76A2}"/>
              </a:ext>
            </a:extLst>
          </p:cNvPr>
          <p:cNvGraphicFramePr>
            <a:graphicFrameLocks noGrp="1"/>
          </p:cNvGraphicFramePr>
          <p:nvPr/>
        </p:nvGraphicFramePr>
        <p:xfrm>
          <a:off x="1702488" y="3070867"/>
          <a:ext cx="13043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……..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8702A5B-3ED5-165D-311F-920AB512621D}"/>
              </a:ext>
            </a:extLst>
          </p:cNvPr>
          <p:cNvGraphicFramePr>
            <a:graphicFrameLocks noGrp="1"/>
          </p:cNvGraphicFramePr>
          <p:nvPr/>
        </p:nvGraphicFramePr>
        <p:xfrm>
          <a:off x="3284153" y="3065441"/>
          <a:ext cx="13043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……..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38A17A3-C923-32DC-51A9-A9566BA20CEA}"/>
              </a:ext>
            </a:extLst>
          </p:cNvPr>
          <p:cNvSpPr txBox="1"/>
          <p:nvPr/>
        </p:nvSpPr>
        <p:spPr>
          <a:xfrm>
            <a:off x="4865818" y="3065441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….</a:t>
            </a:r>
            <a:endParaRPr lang="ru-RU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71CA989-0131-DC64-2260-658489B8931E}"/>
              </a:ext>
            </a:extLst>
          </p:cNvPr>
          <p:cNvGraphicFramePr>
            <a:graphicFrameLocks noGrp="1"/>
          </p:cNvGraphicFramePr>
          <p:nvPr/>
        </p:nvGraphicFramePr>
        <p:xfrm>
          <a:off x="5504249" y="3070867"/>
          <a:ext cx="13043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……..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7F9F54B-8070-ABEF-F08A-B3B8A535C7FC}"/>
              </a:ext>
            </a:extLst>
          </p:cNvPr>
          <p:cNvGraphicFramePr>
            <a:graphicFrameLocks noGrp="1"/>
          </p:cNvGraphicFramePr>
          <p:nvPr/>
        </p:nvGraphicFramePr>
        <p:xfrm>
          <a:off x="1702488" y="2374902"/>
          <a:ext cx="13043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……..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103014A-6840-F7C0-32CB-2B32859E3BD2}"/>
              </a:ext>
            </a:extLst>
          </p:cNvPr>
          <p:cNvGraphicFramePr>
            <a:graphicFrameLocks noGrp="1"/>
          </p:cNvGraphicFramePr>
          <p:nvPr/>
        </p:nvGraphicFramePr>
        <p:xfrm>
          <a:off x="4865818" y="2374902"/>
          <a:ext cx="13043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……..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B59102A-00CB-D549-251A-9AF925309C4F}"/>
              </a:ext>
            </a:extLst>
          </p:cNvPr>
          <p:cNvCxnSpPr>
            <a:endCxn id="3" idx="0"/>
          </p:cNvCxnSpPr>
          <p:nvPr/>
        </p:nvCxnSpPr>
        <p:spPr>
          <a:xfrm flipH="1">
            <a:off x="772985" y="2745742"/>
            <a:ext cx="1064053" cy="31969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0AC7D06-F452-3934-841E-4F64464BD390}"/>
              </a:ext>
            </a:extLst>
          </p:cNvPr>
          <p:cNvCxnSpPr>
            <a:endCxn id="7" idx="0"/>
          </p:cNvCxnSpPr>
          <p:nvPr/>
        </p:nvCxnSpPr>
        <p:spPr>
          <a:xfrm>
            <a:off x="2354650" y="2745742"/>
            <a:ext cx="0" cy="3251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1A5AE12-A65D-B3FC-C9F0-346D13C3203E}"/>
              </a:ext>
            </a:extLst>
          </p:cNvPr>
          <p:cNvCxnSpPr>
            <a:endCxn id="8" idx="0"/>
          </p:cNvCxnSpPr>
          <p:nvPr/>
        </p:nvCxnSpPr>
        <p:spPr>
          <a:xfrm>
            <a:off x="2833816" y="2745742"/>
            <a:ext cx="1102499" cy="31969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AAAC2FF-1773-5C22-E9D7-D49FE819A1DB}"/>
              </a:ext>
            </a:extLst>
          </p:cNvPr>
          <p:cNvCxnSpPr>
            <a:endCxn id="9" idx="0"/>
          </p:cNvCxnSpPr>
          <p:nvPr/>
        </p:nvCxnSpPr>
        <p:spPr>
          <a:xfrm>
            <a:off x="6005384" y="2745742"/>
            <a:ext cx="151027" cy="3251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017EADF-E4A4-993C-5BFF-6D238F1CD7A6}"/>
              </a:ext>
            </a:extLst>
          </p:cNvPr>
          <p:cNvSpPr txBox="1"/>
          <p:nvPr/>
        </p:nvSpPr>
        <p:spPr>
          <a:xfrm>
            <a:off x="3735779" y="2370984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….</a:t>
            </a:r>
            <a:endParaRPr lang="ru-RU" dirty="0"/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71EE0992-417E-40BC-A5DB-233D83E4F1F4}"/>
              </a:ext>
            </a:extLst>
          </p:cNvPr>
          <p:cNvGraphicFramePr>
            <a:graphicFrameLocks noGrp="1"/>
          </p:cNvGraphicFramePr>
          <p:nvPr/>
        </p:nvGraphicFramePr>
        <p:xfrm>
          <a:off x="2456170" y="1684363"/>
          <a:ext cx="13043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……..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7483922-5E26-6117-FFC5-85E0D7BD168C}"/>
              </a:ext>
            </a:extLst>
          </p:cNvPr>
          <p:cNvCxnSpPr>
            <a:endCxn id="10" idx="0"/>
          </p:cNvCxnSpPr>
          <p:nvPr/>
        </p:nvCxnSpPr>
        <p:spPr>
          <a:xfrm flipH="1">
            <a:off x="2354650" y="2055203"/>
            <a:ext cx="264982" cy="31969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9B87CB3-2D0A-4C56-8862-8DEED5312073}"/>
              </a:ext>
            </a:extLst>
          </p:cNvPr>
          <p:cNvCxnSpPr/>
          <p:nvPr/>
        </p:nvCxnSpPr>
        <p:spPr>
          <a:xfrm>
            <a:off x="3599935" y="2055203"/>
            <a:ext cx="336380" cy="31578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7CE6BECB-EF44-A597-3BDE-A6B92BB9A949}"/>
              </a:ext>
            </a:extLst>
          </p:cNvPr>
          <p:cNvGraphicFramePr>
            <a:graphicFrameLocks noGrp="1"/>
          </p:cNvGraphicFramePr>
          <p:nvPr/>
        </p:nvGraphicFramePr>
        <p:xfrm>
          <a:off x="3727541" y="922231"/>
          <a:ext cx="13043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……..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C7C560F2-DB4F-FA2C-A874-BA187F34AF30}"/>
              </a:ext>
            </a:extLst>
          </p:cNvPr>
          <p:cNvSpPr txBox="1"/>
          <p:nvPr/>
        </p:nvSpPr>
        <p:spPr>
          <a:xfrm>
            <a:off x="4320423" y="1681997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….</a:t>
            </a:r>
            <a:endParaRPr lang="ru-RU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CD7A6A8-5D95-00D6-4374-DE7E0D2AB6FF}"/>
              </a:ext>
            </a:extLst>
          </p:cNvPr>
          <p:cNvCxnSpPr>
            <a:endCxn id="21" idx="0"/>
          </p:cNvCxnSpPr>
          <p:nvPr/>
        </p:nvCxnSpPr>
        <p:spPr>
          <a:xfrm flipH="1">
            <a:off x="3108332" y="1293071"/>
            <a:ext cx="827983" cy="39129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57700C4-3C77-59D5-3707-322F30329943}"/>
              </a:ext>
            </a:extLst>
          </p:cNvPr>
          <p:cNvCxnSpPr/>
          <p:nvPr/>
        </p:nvCxnSpPr>
        <p:spPr>
          <a:xfrm>
            <a:off x="4865818" y="1282091"/>
            <a:ext cx="415606" cy="33610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3F43FE5-08F6-AC6E-3FB6-94E4958DC5E4}"/>
              </a:ext>
            </a:extLst>
          </p:cNvPr>
          <p:cNvSpPr txBox="1"/>
          <p:nvPr/>
        </p:nvSpPr>
        <p:spPr>
          <a:xfrm>
            <a:off x="6759145" y="829765"/>
            <a:ext cx="5397503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There may be many definitions of B-trees tuned to</a:t>
            </a:r>
            <a:br>
              <a:rPr lang="en-US" dirty="0"/>
            </a:br>
            <a:r>
              <a:rPr lang="en-US" dirty="0"/>
              <a:t>particular use cases.</a:t>
            </a:r>
          </a:p>
          <a:p>
            <a:endParaRPr lang="en-US" dirty="0"/>
          </a:p>
          <a:p>
            <a:r>
              <a:rPr lang="en-US" dirty="0"/>
              <a:t>Red-black trees store user data both in leaf and internal</a:t>
            </a:r>
            <a:br>
              <a:rPr lang="en-US" dirty="0"/>
            </a:br>
            <a:r>
              <a:rPr lang="en-US" dirty="0"/>
              <a:t>nodes. Our definition of B-trees has pointers to user</a:t>
            </a:r>
            <a:br>
              <a:rPr lang="en-US" dirty="0"/>
            </a:br>
            <a:r>
              <a:rPr lang="en-US" dirty="0"/>
              <a:t>data only in leaves.</a:t>
            </a:r>
          </a:p>
          <a:p>
            <a:endParaRPr lang="en-US" dirty="0"/>
          </a:p>
          <a:p>
            <a:r>
              <a:rPr lang="en-US" dirty="0" err="1"/>
              <a:t>Reiserfs</a:t>
            </a:r>
            <a:r>
              <a:rPr lang="en-US" dirty="0"/>
              <a:t> 3 has a unified tree to store all file system</a:t>
            </a:r>
            <a:br>
              <a:rPr lang="en-US" dirty="0"/>
            </a:br>
            <a:r>
              <a:rPr lang="en-US" dirty="0"/>
              <a:t>objects. Some are stored in the tree, and some outside: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file metadata, directory entries and data blocks with</a:t>
            </a:r>
            <a:br>
              <a:rPr lang="en-US" dirty="0"/>
            </a:br>
            <a:r>
              <a:rPr lang="en-US" dirty="0"/>
              <a:t>packed tails are stored in leaf nodes directly,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non-tail parts of files only have pointers to blocks</a:t>
            </a:r>
            <a:br>
              <a:rPr lang="en-US" dirty="0"/>
            </a:br>
            <a:r>
              <a:rPr lang="en-US" dirty="0"/>
              <a:t>in leaf nodes.</a:t>
            </a:r>
          </a:p>
        </p:txBody>
      </p:sp>
    </p:spTree>
    <p:extLst>
      <p:ext uri="{BB962C8B-B14F-4D97-AF65-F5344CB8AC3E}">
        <p14:creationId xmlns:p14="http://schemas.microsoft.com/office/powerpoint/2010/main" val="41412180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4DA85-8123-95A2-3221-70CE9EA6D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66AEF41-A585-F353-1553-5B1C3992E184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B23968C-27CE-8203-7003-34D44388C08D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06C4571-B782-01DF-3A7B-5AA3A5C240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2655450"/>
              </p:ext>
            </p:extLst>
          </p:nvPr>
        </p:nvGraphicFramePr>
        <p:xfrm>
          <a:off x="0" y="365762"/>
          <a:ext cx="12192000" cy="57607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400" dirty="0"/>
                        <a:t>B-trees: different designs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6FD2E7F4-85F9-1DDA-ED8A-76FF51A3C75E}"/>
              </a:ext>
            </a:extLst>
          </p:cNvPr>
          <p:cNvSpPr txBox="1"/>
          <p:nvPr/>
        </p:nvSpPr>
        <p:spPr>
          <a:xfrm>
            <a:off x="6759145" y="829765"/>
            <a:ext cx="53279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Imagine that entries in a B-tree have common prefixes.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250078D2-C250-595B-6E2F-4E848CE73C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2548327"/>
              </p:ext>
            </p:extLst>
          </p:nvPr>
        </p:nvGraphicFramePr>
        <p:xfrm>
          <a:off x="151829" y="2991983"/>
          <a:ext cx="1286553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6553">
                  <a:extLst>
                    <a:ext uri="{9D8B030D-6E8A-4147-A177-3AD203B41FA5}">
                      <a16:colId xmlns:a16="http://schemas.microsoft.com/office/drawing/2014/main" val="26411618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Y" dirty="0"/>
                        <a:t>AAA000</a:t>
                      </a:r>
                    </a:p>
                    <a:p>
                      <a:pPr algn="ctr"/>
                      <a:r>
                        <a:rPr lang="en-CY" dirty="0"/>
                        <a:t>AAA001</a:t>
                      </a:r>
                    </a:p>
                    <a:p>
                      <a:pPr algn="ctr"/>
                      <a:r>
                        <a:rPr lang="en-CY" dirty="0"/>
                        <a:t>AAA002</a:t>
                      </a:r>
                    </a:p>
                    <a:p>
                      <a:pPr algn="ctr"/>
                      <a:r>
                        <a:rPr lang="en-CY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9024833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136665A3-9B21-A990-C023-468BC91046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979592"/>
              </p:ext>
            </p:extLst>
          </p:nvPr>
        </p:nvGraphicFramePr>
        <p:xfrm>
          <a:off x="1855627" y="2991983"/>
          <a:ext cx="1286553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6553">
                  <a:extLst>
                    <a:ext uri="{9D8B030D-6E8A-4147-A177-3AD203B41FA5}">
                      <a16:colId xmlns:a16="http://schemas.microsoft.com/office/drawing/2014/main" val="26411618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Y" dirty="0"/>
                        <a:t>BBB100</a:t>
                      </a:r>
                    </a:p>
                    <a:p>
                      <a:pPr algn="ctr"/>
                      <a:r>
                        <a:rPr lang="en-CY" dirty="0"/>
                        <a:t>BBB101</a:t>
                      </a:r>
                    </a:p>
                    <a:p>
                      <a:pPr algn="ctr"/>
                      <a:r>
                        <a:rPr lang="en-CY" dirty="0"/>
                        <a:t>BBB102</a:t>
                      </a:r>
                    </a:p>
                    <a:p>
                      <a:pPr algn="ctr"/>
                      <a:r>
                        <a:rPr lang="en-CY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9024833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C868C2FE-92CE-3B1F-2E69-AA8EA3EF45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6857164"/>
              </p:ext>
            </p:extLst>
          </p:nvPr>
        </p:nvGraphicFramePr>
        <p:xfrm>
          <a:off x="3559425" y="2991983"/>
          <a:ext cx="1286553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6553">
                  <a:extLst>
                    <a:ext uri="{9D8B030D-6E8A-4147-A177-3AD203B41FA5}">
                      <a16:colId xmlns:a16="http://schemas.microsoft.com/office/drawing/2014/main" val="26411618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Y" dirty="0"/>
                        <a:t>CCC200</a:t>
                      </a:r>
                    </a:p>
                    <a:p>
                      <a:pPr algn="ctr"/>
                      <a:r>
                        <a:rPr lang="en-CY" dirty="0"/>
                        <a:t>CCC201</a:t>
                      </a:r>
                    </a:p>
                    <a:p>
                      <a:pPr algn="ctr"/>
                      <a:r>
                        <a:rPr lang="en-CY" dirty="0"/>
                        <a:t>CCC202</a:t>
                      </a:r>
                    </a:p>
                    <a:p>
                      <a:pPr algn="ctr"/>
                      <a:r>
                        <a:rPr lang="en-CY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9024833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BD2D5F6F-1A4C-E860-A0E0-3FC10298E6AB}"/>
              </a:ext>
            </a:extLst>
          </p:cNvPr>
          <p:cNvSpPr txBox="1"/>
          <p:nvPr/>
        </p:nvSpPr>
        <p:spPr>
          <a:xfrm>
            <a:off x="5263223" y="3401677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….</a:t>
            </a:r>
            <a:endParaRPr lang="ru-RU" dirty="0"/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31D95221-A9A4-F943-991D-901746BD06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4559979"/>
              </p:ext>
            </p:extLst>
          </p:nvPr>
        </p:nvGraphicFramePr>
        <p:xfrm>
          <a:off x="151829" y="2086129"/>
          <a:ext cx="469414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4716">
                  <a:extLst>
                    <a:ext uri="{9D8B030D-6E8A-4147-A177-3AD203B41FA5}">
                      <a16:colId xmlns:a16="http://schemas.microsoft.com/office/drawing/2014/main" val="2178383920"/>
                    </a:ext>
                  </a:extLst>
                </a:gridCol>
                <a:gridCol w="1564716">
                  <a:extLst>
                    <a:ext uri="{9D8B030D-6E8A-4147-A177-3AD203B41FA5}">
                      <a16:colId xmlns:a16="http://schemas.microsoft.com/office/drawing/2014/main" val="423755531"/>
                    </a:ext>
                  </a:extLst>
                </a:gridCol>
                <a:gridCol w="1564716">
                  <a:extLst>
                    <a:ext uri="{9D8B030D-6E8A-4147-A177-3AD203B41FA5}">
                      <a16:colId xmlns:a16="http://schemas.microsoft.com/office/drawing/2014/main" val="1974585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Y" dirty="0"/>
                        <a:t>BBB100, ptr</a:t>
                      </a:r>
                      <a:r>
                        <a:rPr lang="en-CY" baseline="-25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Y" dirty="0"/>
                        <a:t>CCC200, ptr</a:t>
                      </a:r>
                      <a:r>
                        <a:rPr lang="en-CY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Y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880743"/>
                  </a:ext>
                </a:extLst>
              </a:tr>
            </a:tbl>
          </a:graphicData>
        </a:graphic>
      </p:graphicFrame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A775B8E-969C-900E-6E9D-5CF155A64A0F}"/>
              </a:ext>
            </a:extLst>
          </p:cNvPr>
          <p:cNvCxnSpPr>
            <a:cxnSpLocks/>
            <a:endCxn id="12" idx="0"/>
          </p:cNvCxnSpPr>
          <p:nvPr/>
        </p:nvCxnSpPr>
        <p:spPr>
          <a:xfrm flipH="1">
            <a:off x="795105" y="2456969"/>
            <a:ext cx="448068" cy="5350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F04E9D4-2419-F514-A181-B898793AFF88}"/>
              </a:ext>
            </a:extLst>
          </p:cNvPr>
          <p:cNvCxnSpPr>
            <a:cxnSpLocks/>
            <a:endCxn id="16" idx="0"/>
          </p:cNvCxnSpPr>
          <p:nvPr/>
        </p:nvCxnSpPr>
        <p:spPr>
          <a:xfrm flipH="1">
            <a:off x="2498903" y="2456969"/>
            <a:ext cx="305942" cy="5350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9516A4B-A97B-C8BF-60C8-7152956EA4EA}"/>
              </a:ext>
            </a:extLst>
          </p:cNvPr>
          <p:cNvCxnSpPr>
            <a:cxnSpLocks/>
            <a:endCxn id="18" idx="0"/>
          </p:cNvCxnSpPr>
          <p:nvPr/>
        </p:nvCxnSpPr>
        <p:spPr>
          <a:xfrm flipH="1">
            <a:off x="4202701" y="2456969"/>
            <a:ext cx="307654" cy="5350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5911883-7344-DF82-36CE-35354DC416C1}"/>
              </a:ext>
            </a:extLst>
          </p:cNvPr>
          <p:cNvCxnSpPr>
            <a:cxnSpLocks/>
            <a:endCxn id="24" idx="0"/>
          </p:cNvCxnSpPr>
          <p:nvPr/>
        </p:nvCxnSpPr>
        <p:spPr>
          <a:xfrm flipH="1">
            <a:off x="2498903" y="1046204"/>
            <a:ext cx="2853933" cy="10399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46276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F9A51-016A-3FFC-A292-35847535D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82195AA-A724-83E3-76C1-78C3C5E0C4FC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EC7E9E6-02AC-5DD8-C8F0-4AD3F8BCBA99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EE9F629-689B-FCA2-0E9D-FFACBB37E6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8939899"/>
              </p:ext>
            </p:extLst>
          </p:nvPr>
        </p:nvGraphicFramePr>
        <p:xfrm>
          <a:off x="0" y="365762"/>
          <a:ext cx="12192000" cy="57607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400" dirty="0"/>
                        <a:t>B-trees: different designs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46CA8229-60C4-0AF7-90CD-A3C71C876109}"/>
              </a:ext>
            </a:extLst>
          </p:cNvPr>
          <p:cNvSpPr txBox="1"/>
          <p:nvPr/>
        </p:nvSpPr>
        <p:spPr>
          <a:xfrm>
            <a:off x="6759145" y="829765"/>
            <a:ext cx="533466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Imagine that entries in a B-tree have common prefixes.</a:t>
            </a:r>
          </a:p>
          <a:p>
            <a:endParaRPr lang="en-US" dirty="0"/>
          </a:p>
          <a:p>
            <a:r>
              <a:rPr lang="en-US" dirty="0"/>
              <a:t>This is a frequent situation with B-trees. It occurs every</a:t>
            </a:r>
            <a:br>
              <a:rPr lang="en-US" dirty="0"/>
            </a:br>
            <a:r>
              <a:rPr lang="en-US" dirty="0"/>
              <a:t>time you have a UUDv7 primary key in your DB.</a:t>
            </a:r>
          </a:p>
          <a:p>
            <a:endParaRPr lang="en-US" dirty="0"/>
          </a:p>
          <a:p>
            <a:r>
              <a:rPr lang="en-US" b="1" dirty="0"/>
              <a:t>Quiz</a:t>
            </a:r>
            <a:r>
              <a:rPr lang="en-US" dirty="0"/>
              <a:t>: what are UUIDv4 and UUIDv7? Why the latter is</a:t>
            </a:r>
            <a:br>
              <a:rPr lang="en-US" dirty="0"/>
            </a:br>
            <a:r>
              <a:rPr lang="en-US" dirty="0"/>
              <a:t>preferable?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4DAE76A-8A77-4ABD-9666-2C353847DC9F}"/>
              </a:ext>
            </a:extLst>
          </p:cNvPr>
          <p:cNvGraphicFramePr>
            <a:graphicFrameLocks noGrp="1"/>
          </p:cNvGraphicFramePr>
          <p:nvPr/>
        </p:nvGraphicFramePr>
        <p:xfrm>
          <a:off x="151829" y="2991983"/>
          <a:ext cx="1286553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6553">
                  <a:extLst>
                    <a:ext uri="{9D8B030D-6E8A-4147-A177-3AD203B41FA5}">
                      <a16:colId xmlns:a16="http://schemas.microsoft.com/office/drawing/2014/main" val="26411618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Y" dirty="0"/>
                        <a:t>AAA000</a:t>
                      </a:r>
                    </a:p>
                    <a:p>
                      <a:pPr algn="ctr"/>
                      <a:r>
                        <a:rPr lang="en-CY" dirty="0"/>
                        <a:t>AAA001</a:t>
                      </a:r>
                    </a:p>
                    <a:p>
                      <a:pPr algn="ctr"/>
                      <a:r>
                        <a:rPr lang="en-CY" dirty="0"/>
                        <a:t>AAA002</a:t>
                      </a:r>
                    </a:p>
                    <a:p>
                      <a:pPr algn="ctr"/>
                      <a:r>
                        <a:rPr lang="en-CY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9024833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981D45AB-35B5-B1A7-423C-C26D09B3501B}"/>
              </a:ext>
            </a:extLst>
          </p:cNvPr>
          <p:cNvGraphicFramePr>
            <a:graphicFrameLocks noGrp="1"/>
          </p:cNvGraphicFramePr>
          <p:nvPr/>
        </p:nvGraphicFramePr>
        <p:xfrm>
          <a:off x="1855627" y="2991983"/>
          <a:ext cx="1286553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6553">
                  <a:extLst>
                    <a:ext uri="{9D8B030D-6E8A-4147-A177-3AD203B41FA5}">
                      <a16:colId xmlns:a16="http://schemas.microsoft.com/office/drawing/2014/main" val="26411618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Y" dirty="0"/>
                        <a:t>BBB100</a:t>
                      </a:r>
                    </a:p>
                    <a:p>
                      <a:pPr algn="ctr"/>
                      <a:r>
                        <a:rPr lang="en-CY" dirty="0"/>
                        <a:t>BBB101</a:t>
                      </a:r>
                    </a:p>
                    <a:p>
                      <a:pPr algn="ctr"/>
                      <a:r>
                        <a:rPr lang="en-CY" dirty="0"/>
                        <a:t>BBB102</a:t>
                      </a:r>
                    </a:p>
                    <a:p>
                      <a:pPr algn="ctr"/>
                      <a:r>
                        <a:rPr lang="en-CY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9024833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8CBECFC-6B24-3AD8-11F6-A29FB5CE9C2F}"/>
              </a:ext>
            </a:extLst>
          </p:cNvPr>
          <p:cNvGraphicFramePr>
            <a:graphicFrameLocks noGrp="1"/>
          </p:cNvGraphicFramePr>
          <p:nvPr/>
        </p:nvGraphicFramePr>
        <p:xfrm>
          <a:off x="3559425" y="2991983"/>
          <a:ext cx="1286553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6553">
                  <a:extLst>
                    <a:ext uri="{9D8B030D-6E8A-4147-A177-3AD203B41FA5}">
                      <a16:colId xmlns:a16="http://schemas.microsoft.com/office/drawing/2014/main" val="26411618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Y" dirty="0"/>
                        <a:t>CCC200</a:t>
                      </a:r>
                    </a:p>
                    <a:p>
                      <a:pPr algn="ctr"/>
                      <a:r>
                        <a:rPr lang="en-CY" dirty="0"/>
                        <a:t>CCC201</a:t>
                      </a:r>
                    </a:p>
                    <a:p>
                      <a:pPr algn="ctr"/>
                      <a:r>
                        <a:rPr lang="en-CY" dirty="0"/>
                        <a:t>CCC202</a:t>
                      </a:r>
                    </a:p>
                    <a:p>
                      <a:pPr algn="ctr"/>
                      <a:r>
                        <a:rPr lang="en-CY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9024833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57900219-98D8-B5FF-986D-70986D3CD38F}"/>
              </a:ext>
            </a:extLst>
          </p:cNvPr>
          <p:cNvSpPr txBox="1"/>
          <p:nvPr/>
        </p:nvSpPr>
        <p:spPr>
          <a:xfrm>
            <a:off x="5263223" y="3401677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….</a:t>
            </a:r>
            <a:endParaRPr lang="ru-RU" dirty="0"/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D79A79FD-5162-632D-37CB-9023D0FE5509}"/>
              </a:ext>
            </a:extLst>
          </p:cNvPr>
          <p:cNvGraphicFramePr>
            <a:graphicFrameLocks noGrp="1"/>
          </p:cNvGraphicFramePr>
          <p:nvPr/>
        </p:nvGraphicFramePr>
        <p:xfrm>
          <a:off x="151829" y="2086129"/>
          <a:ext cx="469414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4716">
                  <a:extLst>
                    <a:ext uri="{9D8B030D-6E8A-4147-A177-3AD203B41FA5}">
                      <a16:colId xmlns:a16="http://schemas.microsoft.com/office/drawing/2014/main" val="2178383920"/>
                    </a:ext>
                  </a:extLst>
                </a:gridCol>
                <a:gridCol w="1564716">
                  <a:extLst>
                    <a:ext uri="{9D8B030D-6E8A-4147-A177-3AD203B41FA5}">
                      <a16:colId xmlns:a16="http://schemas.microsoft.com/office/drawing/2014/main" val="423755531"/>
                    </a:ext>
                  </a:extLst>
                </a:gridCol>
                <a:gridCol w="1564716">
                  <a:extLst>
                    <a:ext uri="{9D8B030D-6E8A-4147-A177-3AD203B41FA5}">
                      <a16:colId xmlns:a16="http://schemas.microsoft.com/office/drawing/2014/main" val="1974585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Y" dirty="0"/>
                        <a:t>BBB100, ptr</a:t>
                      </a:r>
                      <a:r>
                        <a:rPr lang="en-CY" baseline="-25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Y" dirty="0"/>
                        <a:t>CCC200, ptr</a:t>
                      </a:r>
                      <a:r>
                        <a:rPr lang="en-CY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Y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880743"/>
                  </a:ext>
                </a:extLst>
              </a:tr>
            </a:tbl>
          </a:graphicData>
        </a:graphic>
      </p:graphicFrame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5CBD4E6-2CC0-2BE3-90DC-D4B2885778E1}"/>
              </a:ext>
            </a:extLst>
          </p:cNvPr>
          <p:cNvCxnSpPr>
            <a:cxnSpLocks/>
            <a:endCxn id="12" idx="0"/>
          </p:cNvCxnSpPr>
          <p:nvPr/>
        </p:nvCxnSpPr>
        <p:spPr>
          <a:xfrm flipH="1">
            <a:off x="795105" y="2456969"/>
            <a:ext cx="448068" cy="5350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5BB0188-856F-DB0D-31EE-A2A637826D95}"/>
              </a:ext>
            </a:extLst>
          </p:cNvPr>
          <p:cNvCxnSpPr>
            <a:cxnSpLocks/>
            <a:endCxn id="16" idx="0"/>
          </p:cNvCxnSpPr>
          <p:nvPr/>
        </p:nvCxnSpPr>
        <p:spPr>
          <a:xfrm flipH="1">
            <a:off x="2498903" y="2456969"/>
            <a:ext cx="305942" cy="5350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19A8D27-DD66-1259-415A-60EDD93C4D90}"/>
              </a:ext>
            </a:extLst>
          </p:cNvPr>
          <p:cNvCxnSpPr>
            <a:cxnSpLocks/>
            <a:endCxn id="18" idx="0"/>
          </p:cNvCxnSpPr>
          <p:nvPr/>
        </p:nvCxnSpPr>
        <p:spPr>
          <a:xfrm flipH="1">
            <a:off x="4202701" y="2456969"/>
            <a:ext cx="307654" cy="5350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EF1D85F-931B-5D38-4F9F-BAB611847CB8}"/>
              </a:ext>
            </a:extLst>
          </p:cNvPr>
          <p:cNvCxnSpPr>
            <a:cxnSpLocks/>
            <a:endCxn id="24" idx="0"/>
          </p:cNvCxnSpPr>
          <p:nvPr/>
        </p:nvCxnSpPr>
        <p:spPr>
          <a:xfrm flipH="1">
            <a:off x="2498903" y="1046204"/>
            <a:ext cx="2853933" cy="10399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7F5E506-9F2E-920D-C783-BBCBB41F451E}"/>
              </a:ext>
            </a:extLst>
          </p:cNvPr>
          <p:cNvSpPr txBox="1"/>
          <p:nvPr/>
        </p:nvSpPr>
        <p:spPr>
          <a:xfrm>
            <a:off x="0" y="6213011"/>
            <a:ext cx="86919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Y" sz="1600" i="1" dirty="0">
                <a:solidFill>
                  <a:schemeClr val="bg1">
                    <a:lumMod val="75000"/>
                  </a:schemeClr>
                </a:solidFill>
              </a:rPr>
              <a:t>* See </a:t>
            </a:r>
            <a:r>
              <a:rPr lang="en-GB" sz="1600" i="1" dirty="0">
                <a:solidFill>
                  <a:schemeClr val="bg1">
                    <a:lumMod val="75000"/>
                  </a:schemeClr>
                </a:solidFill>
              </a:rPr>
              <a:t>https://</a:t>
            </a:r>
            <a:r>
              <a:rPr lang="en-GB" sz="1600" i="1" dirty="0" err="1">
                <a:solidFill>
                  <a:schemeClr val="bg1">
                    <a:lumMod val="75000"/>
                  </a:schemeClr>
                </a:solidFill>
              </a:rPr>
              <a:t>www.postgresql.org</a:t>
            </a:r>
            <a:r>
              <a:rPr lang="en-GB" sz="1600" i="1" dirty="0">
                <a:solidFill>
                  <a:schemeClr val="bg1">
                    <a:lumMod val="75000"/>
                  </a:schemeClr>
                </a:solidFill>
              </a:rPr>
              <a:t>/docs/current/datatype-</a:t>
            </a:r>
            <a:r>
              <a:rPr lang="en-GB" sz="1600" i="1" dirty="0" err="1">
                <a:solidFill>
                  <a:schemeClr val="bg1">
                    <a:lumMod val="75000"/>
                  </a:schemeClr>
                </a:solidFill>
              </a:rPr>
              <a:t>uuid.html</a:t>
            </a:r>
            <a:endParaRPr lang="en-CY" sz="1600" i="1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11271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DA5A0-8F94-7AC5-49D2-B63F2E71F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F04202C-3238-C4A9-6374-3181C6D813D9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8ADEF15-AB37-13BB-D394-5382ECC90EA3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06EF5F2-F4F9-BA65-3E7D-52D2879A7C9A}"/>
              </a:ext>
            </a:extLst>
          </p:cNvPr>
          <p:cNvGraphicFramePr>
            <a:graphicFrameLocks noGrp="1"/>
          </p:cNvGraphicFramePr>
          <p:nvPr/>
        </p:nvGraphicFramePr>
        <p:xfrm>
          <a:off x="0" y="365762"/>
          <a:ext cx="12192000" cy="57607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400" dirty="0"/>
                        <a:t>B-trees: different designs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EA3035BF-FBA0-8EA8-499C-38F6BCDBD1B9}"/>
              </a:ext>
            </a:extLst>
          </p:cNvPr>
          <p:cNvSpPr txBox="1"/>
          <p:nvPr/>
        </p:nvSpPr>
        <p:spPr>
          <a:xfrm>
            <a:off x="6759145" y="829765"/>
            <a:ext cx="5327933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Imagine that entries in a B-tree have common prefixes.</a:t>
            </a:r>
          </a:p>
          <a:p>
            <a:endParaRPr lang="en-US" dirty="0"/>
          </a:p>
          <a:p>
            <a:r>
              <a:rPr lang="en-US" b="1" dirty="0" err="1"/>
              <a:t>Optimisation</a:t>
            </a:r>
            <a:r>
              <a:rPr lang="en-US" b="1" dirty="0"/>
              <a:t> 1 (separator key truncation)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Keys in directory nodes are only needed only for</a:t>
            </a:r>
            <a:br>
              <a:rPr lang="en-US" dirty="0"/>
            </a:br>
            <a:r>
              <a:rPr lang="en-US" dirty="0"/>
              <a:t>searching. We can truncate them if we can keep</a:t>
            </a:r>
            <a:br>
              <a:rPr lang="en-US" dirty="0"/>
            </a:br>
            <a:r>
              <a:rPr lang="en-US" dirty="0"/>
              <a:t>the property “pointer</a:t>
            </a:r>
            <a:r>
              <a:rPr lang="ru-RU" dirty="0"/>
              <a:t> </a:t>
            </a:r>
            <a:r>
              <a:rPr lang="en-US" dirty="0"/>
              <a:t>p</a:t>
            </a:r>
            <a:r>
              <a:rPr lang="en-US" baseline="-25000" dirty="0"/>
              <a:t>i</a:t>
            </a:r>
            <a:r>
              <a:rPr lang="en-US" dirty="0"/>
              <a:t> in an internal node points to</a:t>
            </a:r>
            <a:br>
              <a:rPr lang="en-US" dirty="0"/>
            </a:br>
            <a:r>
              <a:rPr lang="en-US" dirty="0"/>
              <a:t>a subtree with keys in the range</a:t>
            </a:r>
            <a:r>
              <a:rPr lang="ru-RU" dirty="0"/>
              <a:t> </a:t>
            </a:r>
            <a:r>
              <a:rPr lang="en-US" dirty="0"/>
              <a:t>[k</a:t>
            </a:r>
            <a:r>
              <a:rPr lang="en-US" baseline="-25000" dirty="0"/>
              <a:t>i-1</a:t>
            </a:r>
            <a:r>
              <a:rPr lang="en-US" dirty="0"/>
              <a:t>, k</a:t>
            </a:r>
            <a:r>
              <a:rPr lang="en-US" baseline="-25000" dirty="0"/>
              <a:t>i</a:t>
            </a:r>
            <a:r>
              <a:rPr lang="en-US" dirty="0"/>
              <a:t>)”.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8285EF4-274D-CD27-3C35-398CD45A2081}"/>
              </a:ext>
            </a:extLst>
          </p:cNvPr>
          <p:cNvGraphicFramePr>
            <a:graphicFrameLocks noGrp="1"/>
          </p:cNvGraphicFramePr>
          <p:nvPr/>
        </p:nvGraphicFramePr>
        <p:xfrm>
          <a:off x="151829" y="2991983"/>
          <a:ext cx="1286553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6553">
                  <a:extLst>
                    <a:ext uri="{9D8B030D-6E8A-4147-A177-3AD203B41FA5}">
                      <a16:colId xmlns:a16="http://schemas.microsoft.com/office/drawing/2014/main" val="26411618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Y" dirty="0"/>
                        <a:t>AAA000</a:t>
                      </a:r>
                    </a:p>
                    <a:p>
                      <a:pPr algn="ctr"/>
                      <a:r>
                        <a:rPr lang="en-CY" dirty="0"/>
                        <a:t>AAA001</a:t>
                      </a:r>
                    </a:p>
                    <a:p>
                      <a:pPr algn="ctr"/>
                      <a:r>
                        <a:rPr lang="en-CY" dirty="0"/>
                        <a:t>AAA002</a:t>
                      </a:r>
                    </a:p>
                    <a:p>
                      <a:pPr algn="ctr"/>
                      <a:r>
                        <a:rPr lang="en-CY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9024833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F3BF999E-3A58-7D52-6D46-502A37D0F954}"/>
              </a:ext>
            </a:extLst>
          </p:cNvPr>
          <p:cNvGraphicFramePr>
            <a:graphicFrameLocks noGrp="1"/>
          </p:cNvGraphicFramePr>
          <p:nvPr/>
        </p:nvGraphicFramePr>
        <p:xfrm>
          <a:off x="1855627" y="2991983"/>
          <a:ext cx="1286553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6553">
                  <a:extLst>
                    <a:ext uri="{9D8B030D-6E8A-4147-A177-3AD203B41FA5}">
                      <a16:colId xmlns:a16="http://schemas.microsoft.com/office/drawing/2014/main" val="26411618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Y" dirty="0"/>
                        <a:t>BBB100</a:t>
                      </a:r>
                    </a:p>
                    <a:p>
                      <a:pPr algn="ctr"/>
                      <a:r>
                        <a:rPr lang="en-CY" dirty="0"/>
                        <a:t>BBB101</a:t>
                      </a:r>
                    </a:p>
                    <a:p>
                      <a:pPr algn="ctr"/>
                      <a:r>
                        <a:rPr lang="en-CY" dirty="0"/>
                        <a:t>BBB102</a:t>
                      </a:r>
                    </a:p>
                    <a:p>
                      <a:pPr algn="ctr"/>
                      <a:r>
                        <a:rPr lang="en-CY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9024833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C0B3ACD-B54A-206D-24A6-744B7F081A2D}"/>
              </a:ext>
            </a:extLst>
          </p:cNvPr>
          <p:cNvGraphicFramePr>
            <a:graphicFrameLocks noGrp="1"/>
          </p:cNvGraphicFramePr>
          <p:nvPr/>
        </p:nvGraphicFramePr>
        <p:xfrm>
          <a:off x="3559425" y="2991983"/>
          <a:ext cx="1286553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6553">
                  <a:extLst>
                    <a:ext uri="{9D8B030D-6E8A-4147-A177-3AD203B41FA5}">
                      <a16:colId xmlns:a16="http://schemas.microsoft.com/office/drawing/2014/main" val="26411618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Y" dirty="0"/>
                        <a:t>CCC200</a:t>
                      </a:r>
                    </a:p>
                    <a:p>
                      <a:pPr algn="ctr"/>
                      <a:r>
                        <a:rPr lang="en-CY" dirty="0"/>
                        <a:t>CCC201</a:t>
                      </a:r>
                    </a:p>
                    <a:p>
                      <a:pPr algn="ctr"/>
                      <a:r>
                        <a:rPr lang="en-CY" dirty="0"/>
                        <a:t>CCC202</a:t>
                      </a:r>
                    </a:p>
                    <a:p>
                      <a:pPr algn="ctr"/>
                      <a:r>
                        <a:rPr lang="en-CY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9024833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09720774-0AD4-89C2-BEC7-FA50B5FA3D39}"/>
              </a:ext>
            </a:extLst>
          </p:cNvPr>
          <p:cNvSpPr txBox="1"/>
          <p:nvPr/>
        </p:nvSpPr>
        <p:spPr>
          <a:xfrm>
            <a:off x="5263223" y="3401677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….</a:t>
            </a:r>
            <a:endParaRPr lang="ru-RU" dirty="0"/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31E6F1B3-5188-C41C-4293-1EE52C1D3D25}"/>
              </a:ext>
            </a:extLst>
          </p:cNvPr>
          <p:cNvGraphicFramePr>
            <a:graphicFrameLocks noGrp="1"/>
          </p:cNvGraphicFramePr>
          <p:nvPr/>
        </p:nvGraphicFramePr>
        <p:xfrm>
          <a:off x="151829" y="2086129"/>
          <a:ext cx="469414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4716">
                  <a:extLst>
                    <a:ext uri="{9D8B030D-6E8A-4147-A177-3AD203B41FA5}">
                      <a16:colId xmlns:a16="http://schemas.microsoft.com/office/drawing/2014/main" val="2178383920"/>
                    </a:ext>
                  </a:extLst>
                </a:gridCol>
                <a:gridCol w="1564716">
                  <a:extLst>
                    <a:ext uri="{9D8B030D-6E8A-4147-A177-3AD203B41FA5}">
                      <a16:colId xmlns:a16="http://schemas.microsoft.com/office/drawing/2014/main" val="423755531"/>
                    </a:ext>
                  </a:extLst>
                </a:gridCol>
                <a:gridCol w="1564716">
                  <a:extLst>
                    <a:ext uri="{9D8B030D-6E8A-4147-A177-3AD203B41FA5}">
                      <a16:colId xmlns:a16="http://schemas.microsoft.com/office/drawing/2014/main" val="1974585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Y" dirty="0"/>
                        <a:t>BBB100, ptr</a:t>
                      </a:r>
                      <a:r>
                        <a:rPr lang="en-CY" baseline="-25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Y" dirty="0"/>
                        <a:t>CCC200, ptr</a:t>
                      </a:r>
                      <a:r>
                        <a:rPr lang="en-CY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Y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880743"/>
                  </a:ext>
                </a:extLst>
              </a:tr>
            </a:tbl>
          </a:graphicData>
        </a:graphic>
      </p:graphicFrame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CA2A16C-AAE0-18D3-4BD4-84E350F098D3}"/>
              </a:ext>
            </a:extLst>
          </p:cNvPr>
          <p:cNvCxnSpPr>
            <a:cxnSpLocks/>
            <a:endCxn id="12" idx="0"/>
          </p:cNvCxnSpPr>
          <p:nvPr/>
        </p:nvCxnSpPr>
        <p:spPr>
          <a:xfrm flipH="1">
            <a:off x="795105" y="2456969"/>
            <a:ext cx="448068" cy="5350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22AC288-A918-D1BE-F885-A7301E6B0AA0}"/>
              </a:ext>
            </a:extLst>
          </p:cNvPr>
          <p:cNvCxnSpPr>
            <a:cxnSpLocks/>
            <a:endCxn id="16" idx="0"/>
          </p:cNvCxnSpPr>
          <p:nvPr/>
        </p:nvCxnSpPr>
        <p:spPr>
          <a:xfrm flipH="1">
            <a:off x="2498903" y="2456969"/>
            <a:ext cx="305942" cy="5350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CA1753E-72A4-1C38-7503-E35E558E74B8}"/>
              </a:ext>
            </a:extLst>
          </p:cNvPr>
          <p:cNvCxnSpPr>
            <a:cxnSpLocks/>
            <a:endCxn id="18" idx="0"/>
          </p:cNvCxnSpPr>
          <p:nvPr/>
        </p:nvCxnSpPr>
        <p:spPr>
          <a:xfrm flipH="1">
            <a:off x="4202701" y="2456969"/>
            <a:ext cx="307654" cy="5350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BF2F1B05-FF6C-7F29-928E-D4100E26E834}"/>
              </a:ext>
            </a:extLst>
          </p:cNvPr>
          <p:cNvCxnSpPr>
            <a:cxnSpLocks/>
            <a:endCxn id="24" idx="0"/>
          </p:cNvCxnSpPr>
          <p:nvPr/>
        </p:nvCxnSpPr>
        <p:spPr>
          <a:xfrm flipH="1">
            <a:off x="2498903" y="1046204"/>
            <a:ext cx="2853933" cy="10399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94291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B1088-0DAC-A1DD-BC1E-F2FF047FC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B9928CD-EA85-11B8-0E86-632A62B9C403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1209303-7955-F37D-168D-09248D0F4DFA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3031BFC-ADD9-F145-A164-B7AADF5B2E12}"/>
              </a:ext>
            </a:extLst>
          </p:cNvPr>
          <p:cNvGraphicFramePr>
            <a:graphicFrameLocks noGrp="1"/>
          </p:cNvGraphicFramePr>
          <p:nvPr/>
        </p:nvGraphicFramePr>
        <p:xfrm>
          <a:off x="0" y="365762"/>
          <a:ext cx="12192000" cy="57607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400" dirty="0"/>
                        <a:t>B-trees: different designs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2582EF44-5C50-2595-69B4-ADEEDA8E10D9}"/>
              </a:ext>
            </a:extLst>
          </p:cNvPr>
          <p:cNvSpPr txBox="1"/>
          <p:nvPr/>
        </p:nvSpPr>
        <p:spPr>
          <a:xfrm>
            <a:off x="6759145" y="829765"/>
            <a:ext cx="5385385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Imagine that entries in a B-tree have common prefixes.</a:t>
            </a:r>
          </a:p>
          <a:p>
            <a:endParaRPr lang="en-US" dirty="0"/>
          </a:p>
          <a:p>
            <a:r>
              <a:rPr lang="en-US" b="1" dirty="0" err="1"/>
              <a:t>Optimisation</a:t>
            </a:r>
            <a:r>
              <a:rPr lang="en-US" b="1" dirty="0"/>
              <a:t> 1 (separator key truncation)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Keys in directory nodes are only needed only for</a:t>
            </a:r>
            <a:br>
              <a:rPr lang="en-US" dirty="0"/>
            </a:br>
            <a:r>
              <a:rPr lang="en-US" dirty="0"/>
              <a:t>searching. We can truncate them if we can keep</a:t>
            </a:r>
            <a:br>
              <a:rPr lang="en-US" dirty="0"/>
            </a:br>
            <a:r>
              <a:rPr lang="en-US" dirty="0"/>
              <a:t>the property “pointer</a:t>
            </a:r>
            <a:r>
              <a:rPr lang="ru-RU" dirty="0"/>
              <a:t> </a:t>
            </a:r>
            <a:r>
              <a:rPr lang="en-US" dirty="0"/>
              <a:t>p</a:t>
            </a:r>
            <a:r>
              <a:rPr lang="en-US" baseline="-25000" dirty="0"/>
              <a:t>i</a:t>
            </a:r>
            <a:r>
              <a:rPr lang="en-US" dirty="0"/>
              <a:t> in an internal node points to</a:t>
            </a:r>
            <a:br>
              <a:rPr lang="en-US" dirty="0"/>
            </a:br>
            <a:r>
              <a:rPr lang="en-US" dirty="0"/>
              <a:t>a subtree with keys in the range</a:t>
            </a:r>
            <a:r>
              <a:rPr lang="ru-RU" dirty="0"/>
              <a:t> </a:t>
            </a:r>
            <a:r>
              <a:rPr lang="en-US" dirty="0"/>
              <a:t>[k</a:t>
            </a:r>
            <a:r>
              <a:rPr lang="en-US" baseline="-25000" dirty="0"/>
              <a:t>i-1</a:t>
            </a:r>
            <a:r>
              <a:rPr lang="en-US" dirty="0"/>
              <a:t>, k</a:t>
            </a:r>
            <a:r>
              <a:rPr lang="en-US" baseline="-25000" dirty="0"/>
              <a:t>i</a:t>
            </a:r>
            <a:r>
              <a:rPr lang="en-US" dirty="0"/>
              <a:t>)”.</a:t>
            </a:r>
          </a:p>
          <a:p>
            <a:endParaRPr lang="en-US" dirty="0"/>
          </a:p>
          <a:p>
            <a:r>
              <a:rPr lang="en-US" dirty="0"/>
              <a:t>Entries in directory pages become shorter and we can</a:t>
            </a:r>
            <a:br>
              <a:rPr lang="en-US" dirty="0"/>
            </a:br>
            <a:r>
              <a:rPr lang="en-US" dirty="0"/>
              <a:t>increase the fan-out factor of the tree, which decreases</a:t>
            </a:r>
            <a:br>
              <a:rPr lang="en-US" dirty="0"/>
            </a:br>
            <a:r>
              <a:rPr lang="en-US" dirty="0"/>
              <a:t>the depth.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418C37FB-A4A3-7E0F-DAC1-64F08638E2E8}"/>
              </a:ext>
            </a:extLst>
          </p:cNvPr>
          <p:cNvGraphicFramePr>
            <a:graphicFrameLocks noGrp="1"/>
          </p:cNvGraphicFramePr>
          <p:nvPr/>
        </p:nvGraphicFramePr>
        <p:xfrm>
          <a:off x="151829" y="2991983"/>
          <a:ext cx="1286553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6553">
                  <a:extLst>
                    <a:ext uri="{9D8B030D-6E8A-4147-A177-3AD203B41FA5}">
                      <a16:colId xmlns:a16="http://schemas.microsoft.com/office/drawing/2014/main" val="26411618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Y" dirty="0"/>
                        <a:t>AAA000</a:t>
                      </a:r>
                    </a:p>
                    <a:p>
                      <a:pPr algn="ctr"/>
                      <a:r>
                        <a:rPr lang="en-CY" dirty="0"/>
                        <a:t>AAA001</a:t>
                      </a:r>
                    </a:p>
                    <a:p>
                      <a:pPr algn="ctr"/>
                      <a:r>
                        <a:rPr lang="en-CY" dirty="0"/>
                        <a:t>AAA002</a:t>
                      </a:r>
                    </a:p>
                    <a:p>
                      <a:pPr algn="ctr"/>
                      <a:r>
                        <a:rPr lang="en-CY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9024833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29455092-D9C8-F6A6-F73E-D9512E56B689}"/>
              </a:ext>
            </a:extLst>
          </p:cNvPr>
          <p:cNvGraphicFramePr>
            <a:graphicFrameLocks noGrp="1"/>
          </p:cNvGraphicFramePr>
          <p:nvPr/>
        </p:nvGraphicFramePr>
        <p:xfrm>
          <a:off x="1855627" y="2991983"/>
          <a:ext cx="1286553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6553">
                  <a:extLst>
                    <a:ext uri="{9D8B030D-6E8A-4147-A177-3AD203B41FA5}">
                      <a16:colId xmlns:a16="http://schemas.microsoft.com/office/drawing/2014/main" val="26411618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Y" dirty="0"/>
                        <a:t>BBB100</a:t>
                      </a:r>
                    </a:p>
                    <a:p>
                      <a:pPr algn="ctr"/>
                      <a:r>
                        <a:rPr lang="en-CY" dirty="0"/>
                        <a:t>BBB101</a:t>
                      </a:r>
                    </a:p>
                    <a:p>
                      <a:pPr algn="ctr"/>
                      <a:r>
                        <a:rPr lang="en-CY" dirty="0"/>
                        <a:t>BBB102</a:t>
                      </a:r>
                    </a:p>
                    <a:p>
                      <a:pPr algn="ctr"/>
                      <a:r>
                        <a:rPr lang="en-CY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9024833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50D9F1CF-89F0-2764-F1E6-FF39CB375D84}"/>
              </a:ext>
            </a:extLst>
          </p:cNvPr>
          <p:cNvGraphicFramePr>
            <a:graphicFrameLocks noGrp="1"/>
          </p:cNvGraphicFramePr>
          <p:nvPr/>
        </p:nvGraphicFramePr>
        <p:xfrm>
          <a:off x="3559425" y="2991983"/>
          <a:ext cx="1286553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6553">
                  <a:extLst>
                    <a:ext uri="{9D8B030D-6E8A-4147-A177-3AD203B41FA5}">
                      <a16:colId xmlns:a16="http://schemas.microsoft.com/office/drawing/2014/main" val="26411618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Y" dirty="0"/>
                        <a:t>CCC200</a:t>
                      </a:r>
                    </a:p>
                    <a:p>
                      <a:pPr algn="ctr"/>
                      <a:r>
                        <a:rPr lang="en-CY" dirty="0"/>
                        <a:t>CCC201</a:t>
                      </a:r>
                    </a:p>
                    <a:p>
                      <a:pPr algn="ctr"/>
                      <a:r>
                        <a:rPr lang="en-CY" dirty="0"/>
                        <a:t>CCC202</a:t>
                      </a:r>
                    </a:p>
                    <a:p>
                      <a:pPr algn="ctr"/>
                      <a:r>
                        <a:rPr lang="en-CY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9024833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7BF860E6-A4CA-044B-3CCD-789A312B7410}"/>
              </a:ext>
            </a:extLst>
          </p:cNvPr>
          <p:cNvSpPr txBox="1"/>
          <p:nvPr/>
        </p:nvSpPr>
        <p:spPr>
          <a:xfrm>
            <a:off x="5263223" y="3401677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….</a:t>
            </a:r>
            <a:endParaRPr lang="ru-RU" dirty="0"/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59C2DAA7-9339-6A05-1614-2BBA8D9DD9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4082345"/>
              </p:ext>
            </p:extLst>
          </p:nvPr>
        </p:nvGraphicFramePr>
        <p:xfrm>
          <a:off x="151829" y="2086129"/>
          <a:ext cx="469414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4716">
                  <a:extLst>
                    <a:ext uri="{9D8B030D-6E8A-4147-A177-3AD203B41FA5}">
                      <a16:colId xmlns:a16="http://schemas.microsoft.com/office/drawing/2014/main" val="2178383920"/>
                    </a:ext>
                  </a:extLst>
                </a:gridCol>
                <a:gridCol w="1564716">
                  <a:extLst>
                    <a:ext uri="{9D8B030D-6E8A-4147-A177-3AD203B41FA5}">
                      <a16:colId xmlns:a16="http://schemas.microsoft.com/office/drawing/2014/main" val="423755531"/>
                    </a:ext>
                  </a:extLst>
                </a:gridCol>
                <a:gridCol w="1564716">
                  <a:extLst>
                    <a:ext uri="{9D8B030D-6E8A-4147-A177-3AD203B41FA5}">
                      <a16:colId xmlns:a16="http://schemas.microsoft.com/office/drawing/2014/main" val="1974585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Y" dirty="0"/>
                        <a:t>B, ptr</a:t>
                      </a:r>
                      <a:r>
                        <a:rPr lang="en-CY" baseline="-25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Y" dirty="0"/>
                        <a:t>C, ptr</a:t>
                      </a:r>
                      <a:r>
                        <a:rPr lang="en-CY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Y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880743"/>
                  </a:ext>
                </a:extLst>
              </a:tr>
            </a:tbl>
          </a:graphicData>
        </a:graphic>
      </p:graphicFrame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BF6978E-92FC-E07D-70BF-CC734B8DA038}"/>
              </a:ext>
            </a:extLst>
          </p:cNvPr>
          <p:cNvCxnSpPr>
            <a:cxnSpLocks/>
            <a:endCxn id="12" idx="0"/>
          </p:cNvCxnSpPr>
          <p:nvPr/>
        </p:nvCxnSpPr>
        <p:spPr>
          <a:xfrm flipH="1">
            <a:off x="795105" y="2456969"/>
            <a:ext cx="448068" cy="5350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661D9A3-B3B4-89FD-5BDC-58D67465F25D}"/>
              </a:ext>
            </a:extLst>
          </p:cNvPr>
          <p:cNvCxnSpPr>
            <a:cxnSpLocks/>
            <a:endCxn id="16" idx="0"/>
          </p:cNvCxnSpPr>
          <p:nvPr/>
        </p:nvCxnSpPr>
        <p:spPr>
          <a:xfrm flipH="1">
            <a:off x="2498903" y="2456969"/>
            <a:ext cx="305942" cy="5350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CC79D0E-A431-C8D1-E19F-8B591E617749}"/>
              </a:ext>
            </a:extLst>
          </p:cNvPr>
          <p:cNvCxnSpPr>
            <a:cxnSpLocks/>
            <a:endCxn id="18" idx="0"/>
          </p:cNvCxnSpPr>
          <p:nvPr/>
        </p:nvCxnSpPr>
        <p:spPr>
          <a:xfrm flipH="1">
            <a:off x="4202701" y="2456969"/>
            <a:ext cx="307654" cy="5350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CCB5B56-9796-8FA1-9C49-802CAF485CE4}"/>
              </a:ext>
            </a:extLst>
          </p:cNvPr>
          <p:cNvCxnSpPr>
            <a:cxnSpLocks/>
            <a:endCxn id="24" idx="0"/>
          </p:cNvCxnSpPr>
          <p:nvPr/>
        </p:nvCxnSpPr>
        <p:spPr>
          <a:xfrm flipH="1">
            <a:off x="2498903" y="1046204"/>
            <a:ext cx="2853933" cy="10399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51899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E258D-259C-EEDF-14A6-E72513CA8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6345469-9715-A306-9C0E-6927DC027DC9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51B9122-969B-7026-45CC-5721A4BEA927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D0BC78A-549D-4037-2115-A503A9A9829D}"/>
              </a:ext>
            </a:extLst>
          </p:cNvPr>
          <p:cNvGraphicFramePr>
            <a:graphicFrameLocks noGrp="1"/>
          </p:cNvGraphicFramePr>
          <p:nvPr/>
        </p:nvGraphicFramePr>
        <p:xfrm>
          <a:off x="0" y="365762"/>
          <a:ext cx="12192000" cy="57607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400" dirty="0"/>
                        <a:t>B-trees: different designs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92B19AB8-4773-4AB5-98A3-3F72392F1F34}"/>
              </a:ext>
            </a:extLst>
          </p:cNvPr>
          <p:cNvSpPr txBox="1"/>
          <p:nvPr/>
        </p:nvSpPr>
        <p:spPr>
          <a:xfrm>
            <a:off x="6759145" y="829765"/>
            <a:ext cx="5331460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Imagine that entries in a B-tree have common prefixes.</a:t>
            </a:r>
          </a:p>
          <a:p>
            <a:endParaRPr lang="en-US" dirty="0"/>
          </a:p>
          <a:p>
            <a:r>
              <a:rPr lang="en-US" b="1" dirty="0" err="1"/>
              <a:t>Optimisation</a:t>
            </a:r>
            <a:r>
              <a:rPr lang="en-US" b="1" dirty="0"/>
              <a:t> 1 (separator key truncation)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Keys in directory nodes are only needed only for</a:t>
            </a:r>
            <a:br>
              <a:rPr lang="en-US" dirty="0"/>
            </a:br>
            <a:r>
              <a:rPr lang="en-US" dirty="0"/>
              <a:t>searching. We can truncate them if we can keep</a:t>
            </a:r>
            <a:br>
              <a:rPr lang="en-US" dirty="0"/>
            </a:br>
            <a:r>
              <a:rPr lang="en-US" dirty="0"/>
              <a:t>the property “pointer</a:t>
            </a:r>
            <a:r>
              <a:rPr lang="ru-RU" dirty="0"/>
              <a:t> </a:t>
            </a:r>
            <a:r>
              <a:rPr lang="en-US" dirty="0"/>
              <a:t>p</a:t>
            </a:r>
            <a:r>
              <a:rPr lang="en-US" baseline="-25000" dirty="0"/>
              <a:t>i</a:t>
            </a:r>
            <a:r>
              <a:rPr lang="en-US" dirty="0"/>
              <a:t> in an internal node points to</a:t>
            </a:r>
            <a:br>
              <a:rPr lang="en-US" dirty="0"/>
            </a:br>
            <a:r>
              <a:rPr lang="en-US" dirty="0"/>
              <a:t>a subtree with keys in the range</a:t>
            </a:r>
            <a:r>
              <a:rPr lang="ru-RU" dirty="0"/>
              <a:t> </a:t>
            </a:r>
            <a:r>
              <a:rPr lang="en-US" dirty="0"/>
              <a:t>[k</a:t>
            </a:r>
            <a:r>
              <a:rPr lang="en-US" baseline="-25000" dirty="0"/>
              <a:t>i-1</a:t>
            </a:r>
            <a:r>
              <a:rPr lang="en-US" dirty="0"/>
              <a:t>, k</a:t>
            </a:r>
            <a:r>
              <a:rPr lang="en-US" baseline="-25000" dirty="0"/>
              <a:t>i</a:t>
            </a:r>
            <a:r>
              <a:rPr lang="en-US" dirty="0"/>
              <a:t>)”.</a:t>
            </a:r>
          </a:p>
          <a:p>
            <a:endParaRPr lang="en-US" dirty="0"/>
          </a:p>
          <a:p>
            <a:r>
              <a:rPr lang="en-US" b="1" dirty="0" err="1"/>
              <a:t>Optimisation</a:t>
            </a:r>
            <a:r>
              <a:rPr lang="en-US" b="1" dirty="0"/>
              <a:t> 2 (prefix compression)</a:t>
            </a:r>
            <a:r>
              <a:rPr lang="en-US" dirty="0"/>
              <a:t>:</a:t>
            </a:r>
          </a:p>
          <a:p>
            <a:r>
              <a:rPr lang="en-US" dirty="0"/>
              <a:t>Data pages store only suffixes of keys. Shared prefixes</a:t>
            </a:r>
            <a:br>
              <a:rPr lang="en-US" dirty="0"/>
            </a:br>
            <a:r>
              <a:rPr lang="en-US" dirty="0"/>
              <a:t>are stored in directory pages. One concatenates strings</a:t>
            </a:r>
            <a:br>
              <a:rPr lang="en-US" dirty="0"/>
            </a:br>
            <a:r>
              <a:rPr lang="en-US" dirty="0"/>
              <a:t>in directory pages and in data pages to obtain keys.</a:t>
            </a:r>
            <a:br>
              <a:rPr lang="en-US" dirty="0"/>
            </a:br>
            <a:r>
              <a:rPr lang="en-US" dirty="0"/>
              <a:t>This resembles a lot a compressed prefix tree.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433C3559-87E7-39F7-DE93-FBC606615866}"/>
              </a:ext>
            </a:extLst>
          </p:cNvPr>
          <p:cNvGraphicFramePr>
            <a:graphicFrameLocks noGrp="1"/>
          </p:cNvGraphicFramePr>
          <p:nvPr/>
        </p:nvGraphicFramePr>
        <p:xfrm>
          <a:off x="151829" y="2991983"/>
          <a:ext cx="1286553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6553">
                  <a:extLst>
                    <a:ext uri="{9D8B030D-6E8A-4147-A177-3AD203B41FA5}">
                      <a16:colId xmlns:a16="http://schemas.microsoft.com/office/drawing/2014/main" val="26411618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Y" dirty="0"/>
                        <a:t>AAA000</a:t>
                      </a:r>
                    </a:p>
                    <a:p>
                      <a:pPr algn="ctr"/>
                      <a:r>
                        <a:rPr lang="en-CY" dirty="0"/>
                        <a:t>AAA001</a:t>
                      </a:r>
                    </a:p>
                    <a:p>
                      <a:pPr algn="ctr"/>
                      <a:r>
                        <a:rPr lang="en-CY" dirty="0"/>
                        <a:t>AAA002</a:t>
                      </a:r>
                    </a:p>
                    <a:p>
                      <a:pPr algn="ctr"/>
                      <a:r>
                        <a:rPr lang="en-CY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9024833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E7992465-5607-4DB5-DCE9-AC065663A6F6}"/>
              </a:ext>
            </a:extLst>
          </p:cNvPr>
          <p:cNvGraphicFramePr>
            <a:graphicFrameLocks noGrp="1"/>
          </p:cNvGraphicFramePr>
          <p:nvPr/>
        </p:nvGraphicFramePr>
        <p:xfrm>
          <a:off x="1855627" y="2991983"/>
          <a:ext cx="1286553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6553">
                  <a:extLst>
                    <a:ext uri="{9D8B030D-6E8A-4147-A177-3AD203B41FA5}">
                      <a16:colId xmlns:a16="http://schemas.microsoft.com/office/drawing/2014/main" val="26411618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Y" dirty="0"/>
                        <a:t>BBB100</a:t>
                      </a:r>
                    </a:p>
                    <a:p>
                      <a:pPr algn="ctr"/>
                      <a:r>
                        <a:rPr lang="en-CY" dirty="0"/>
                        <a:t>BBB101</a:t>
                      </a:r>
                    </a:p>
                    <a:p>
                      <a:pPr algn="ctr"/>
                      <a:r>
                        <a:rPr lang="en-CY" dirty="0"/>
                        <a:t>BBB102</a:t>
                      </a:r>
                    </a:p>
                    <a:p>
                      <a:pPr algn="ctr"/>
                      <a:r>
                        <a:rPr lang="en-CY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9024833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8ABCDE1C-663B-AB8C-1DE4-DF5336E50F74}"/>
              </a:ext>
            </a:extLst>
          </p:cNvPr>
          <p:cNvGraphicFramePr>
            <a:graphicFrameLocks noGrp="1"/>
          </p:cNvGraphicFramePr>
          <p:nvPr/>
        </p:nvGraphicFramePr>
        <p:xfrm>
          <a:off x="3559425" y="2991983"/>
          <a:ext cx="1286553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6553">
                  <a:extLst>
                    <a:ext uri="{9D8B030D-6E8A-4147-A177-3AD203B41FA5}">
                      <a16:colId xmlns:a16="http://schemas.microsoft.com/office/drawing/2014/main" val="26411618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Y" dirty="0"/>
                        <a:t>CCC200</a:t>
                      </a:r>
                    </a:p>
                    <a:p>
                      <a:pPr algn="ctr"/>
                      <a:r>
                        <a:rPr lang="en-CY" dirty="0"/>
                        <a:t>CCC201</a:t>
                      </a:r>
                    </a:p>
                    <a:p>
                      <a:pPr algn="ctr"/>
                      <a:r>
                        <a:rPr lang="en-CY" dirty="0"/>
                        <a:t>CCC202</a:t>
                      </a:r>
                    </a:p>
                    <a:p>
                      <a:pPr algn="ctr"/>
                      <a:r>
                        <a:rPr lang="en-CY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9024833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850CFAEF-CAFA-967F-32D6-C98183E1AA09}"/>
              </a:ext>
            </a:extLst>
          </p:cNvPr>
          <p:cNvSpPr txBox="1"/>
          <p:nvPr/>
        </p:nvSpPr>
        <p:spPr>
          <a:xfrm>
            <a:off x="5263223" y="3401677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….</a:t>
            </a:r>
            <a:endParaRPr lang="ru-RU" dirty="0"/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B18AAD06-32BA-B45C-BCC1-1675BBA22B14}"/>
              </a:ext>
            </a:extLst>
          </p:cNvPr>
          <p:cNvGraphicFramePr>
            <a:graphicFrameLocks noGrp="1"/>
          </p:cNvGraphicFramePr>
          <p:nvPr/>
        </p:nvGraphicFramePr>
        <p:xfrm>
          <a:off x="151829" y="2086129"/>
          <a:ext cx="469414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4716">
                  <a:extLst>
                    <a:ext uri="{9D8B030D-6E8A-4147-A177-3AD203B41FA5}">
                      <a16:colId xmlns:a16="http://schemas.microsoft.com/office/drawing/2014/main" val="2178383920"/>
                    </a:ext>
                  </a:extLst>
                </a:gridCol>
                <a:gridCol w="1564716">
                  <a:extLst>
                    <a:ext uri="{9D8B030D-6E8A-4147-A177-3AD203B41FA5}">
                      <a16:colId xmlns:a16="http://schemas.microsoft.com/office/drawing/2014/main" val="423755531"/>
                    </a:ext>
                  </a:extLst>
                </a:gridCol>
                <a:gridCol w="1564716">
                  <a:extLst>
                    <a:ext uri="{9D8B030D-6E8A-4147-A177-3AD203B41FA5}">
                      <a16:colId xmlns:a16="http://schemas.microsoft.com/office/drawing/2014/main" val="1974585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Y" dirty="0"/>
                        <a:t>BBB100, ptr</a:t>
                      </a:r>
                      <a:r>
                        <a:rPr lang="en-CY" baseline="-25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Y" dirty="0"/>
                        <a:t>CCC200, ptr</a:t>
                      </a:r>
                      <a:r>
                        <a:rPr lang="en-CY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Y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880743"/>
                  </a:ext>
                </a:extLst>
              </a:tr>
            </a:tbl>
          </a:graphicData>
        </a:graphic>
      </p:graphicFrame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22BDE63-9A85-B242-0287-DC2B4A9376E4}"/>
              </a:ext>
            </a:extLst>
          </p:cNvPr>
          <p:cNvCxnSpPr>
            <a:cxnSpLocks/>
            <a:endCxn id="12" idx="0"/>
          </p:cNvCxnSpPr>
          <p:nvPr/>
        </p:nvCxnSpPr>
        <p:spPr>
          <a:xfrm flipH="1">
            <a:off x="795105" y="2456969"/>
            <a:ext cx="448068" cy="5350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7B76B59-7826-4460-27AC-0A60E0DE60F5}"/>
              </a:ext>
            </a:extLst>
          </p:cNvPr>
          <p:cNvCxnSpPr>
            <a:cxnSpLocks/>
            <a:endCxn id="16" idx="0"/>
          </p:cNvCxnSpPr>
          <p:nvPr/>
        </p:nvCxnSpPr>
        <p:spPr>
          <a:xfrm flipH="1">
            <a:off x="2498903" y="2456969"/>
            <a:ext cx="305942" cy="5350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BFA7DEE-770B-3A70-E77F-BA22A7297BC4}"/>
              </a:ext>
            </a:extLst>
          </p:cNvPr>
          <p:cNvCxnSpPr>
            <a:cxnSpLocks/>
            <a:endCxn id="18" idx="0"/>
          </p:cNvCxnSpPr>
          <p:nvPr/>
        </p:nvCxnSpPr>
        <p:spPr>
          <a:xfrm flipH="1">
            <a:off x="4202701" y="2456969"/>
            <a:ext cx="307654" cy="5350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8A8A7CD-43F6-2E1A-113A-94E81C728463}"/>
              </a:ext>
            </a:extLst>
          </p:cNvPr>
          <p:cNvCxnSpPr>
            <a:cxnSpLocks/>
            <a:endCxn id="24" idx="0"/>
          </p:cNvCxnSpPr>
          <p:nvPr/>
        </p:nvCxnSpPr>
        <p:spPr>
          <a:xfrm flipH="1">
            <a:off x="2498903" y="1046204"/>
            <a:ext cx="2853933" cy="10399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09079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17349-5FA4-139B-C723-7B73B55F5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459E597-D9F8-CB26-112A-51D0DF94681D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FB6A61F-2FEB-FA98-D602-46F72CF75974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9C607F8-DE82-F297-E508-8ECEAC6AA2A0}"/>
              </a:ext>
            </a:extLst>
          </p:cNvPr>
          <p:cNvGraphicFramePr>
            <a:graphicFrameLocks noGrp="1"/>
          </p:cNvGraphicFramePr>
          <p:nvPr/>
        </p:nvGraphicFramePr>
        <p:xfrm>
          <a:off x="0" y="365762"/>
          <a:ext cx="12192000" cy="57607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400" dirty="0"/>
                        <a:t>B-trees: different designs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A7B6E56A-D3E7-3C09-F801-DEF400989A89}"/>
              </a:ext>
            </a:extLst>
          </p:cNvPr>
          <p:cNvSpPr txBox="1"/>
          <p:nvPr/>
        </p:nvSpPr>
        <p:spPr>
          <a:xfrm>
            <a:off x="6759145" y="829765"/>
            <a:ext cx="5331460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Imagine that entries in a B-tree have common prefixes.</a:t>
            </a:r>
          </a:p>
          <a:p>
            <a:endParaRPr lang="en-US" dirty="0"/>
          </a:p>
          <a:p>
            <a:r>
              <a:rPr lang="en-US" b="1" dirty="0" err="1"/>
              <a:t>Optimisation</a:t>
            </a:r>
            <a:r>
              <a:rPr lang="en-US" b="1" dirty="0"/>
              <a:t> 1 (separator key truncation)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Keys in directory nodes are only needed only for</a:t>
            </a:r>
            <a:br>
              <a:rPr lang="en-US" dirty="0"/>
            </a:br>
            <a:r>
              <a:rPr lang="en-US" dirty="0"/>
              <a:t>searching. We can truncate them if we can keep</a:t>
            </a:r>
            <a:br>
              <a:rPr lang="en-US" dirty="0"/>
            </a:br>
            <a:r>
              <a:rPr lang="en-US" dirty="0"/>
              <a:t>the property “pointer</a:t>
            </a:r>
            <a:r>
              <a:rPr lang="ru-RU" dirty="0"/>
              <a:t> </a:t>
            </a:r>
            <a:r>
              <a:rPr lang="en-US" dirty="0"/>
              <a:t>p</a:t>
            </a:r>
            <a:r>
              <a:rPr lang="en-US" baseline="-25000" dirty="0"/>
              <a:t>i</a:t>
            </a:r>
            <a:r>
              <a:rPr lang="en-US" dirty="0"/>
              <a:t> in an internal node points to</a:t>
            </a:r>
            <a:br>
              <a:rPr lang="en-US" dirty="0"/>
            </a:br>
            <a:r>
              <a:rPr lang="en-US" dirty="0"/>
              <a:t>a subtree with keys in the range</a:t>
            </a:r>
            <a:r>
              <a:rPr lang="ru-RU" dirty="0"/>
              <a:t> </a:t>
            </a:r>
            <a:r>
              <a:rPr lang="en-US" dirty="0"/>
              <a:t>[k</a:t>
            </a:r>
            <a:r>
              <a:rPr lang="en-US" baseline="-25000" dirty="0"/>
              <a:t>i-1</a:t>
            </a:r>
            <a:r>
              <a:rPr lang="en-US" dirty="0"/>
              <a:t>, k</a:t>
            </a:r>
            <a:r>
              <a:rPr lang="en-US" baseline="-25000" dirty="0"/>
              <a:t>i</a:t>
            </a:r>
            <a:r>
              <a:rPr lang="en-US" dirty="0"/>
              <a:t>)”.</a:t>
            </a:r>
          </a:p>
          <a:p>
            <a:endParaRPr lang="en-US" dirty="0"/>
          </a:p>
          <a:p>
            <a:r>
              <a:rPr lang="en-US" b="1" dirty="0" err="1"/>
              <a:t>Optimisation</a:t>
            </a:r>
            <a:r>
              <a:rPr lang="en-US" b="1" dirty="0"/>
              <a:t> 2 (prefix compression)</a:t>
            </a:r>
            <a:r>
              <a:rPr lang="en-US" dirty="0"/>
              <a:t>:</a:t>
            </a:r>
          </a:p>
          <a:p>
            <a:r>
              <a:rPr lang="en-US" dirty="0"/>
              <a:t>Data pages store only suffixes of keys. Shared prefixes</a:t>
            </a:r>
            <a:br>
              <a:rPr lang="en-US" dirty="0"/>
            </a:br>
            <a:r>
              <a:rPr lang="en-US" dirty="0"/>
              <a:t>are stored in directory pages. One concatenates strings</a:t>
            </a:r>
            <a:br>
              <a:rPr lang="en-US" dirty="0"/>
            </a:br>
            <a:r>
              <a:rPr lang="en-US" dirty="0"/>
              <a:t>in directory pages and in data pages to obtain keys.</a:t>
            </a:r>
            <a:br>
              <a:rPr lang="en-US" dirty="0"/>
            </a:br>
            <a:r>
              <a:rPr lang="en-US" dirty="0"/>
              <a:t>This resembles a lot a compressed prefix tree.</a:t>
            </a:r>
          </a:p>
          <a:p>
            <a:br>
              <a:rPr lang="en-US" dirty="0"/>
            </a:br>
            <a:br>
              <a:rPr lang="en-US" dirty="0"/>
            </a:br>
            <a:r>
              <a:rPr lang="en-US" b="1" dirty="0"/>
              <a:t>NOTE</a:t>
            </a:r>
            <a:r>
              <a:rPr lang="en-US" dirty="0"/>
              <a:t>: we need to change the sorting rule: “pointer</a:t>
            </a:r>
            <a:r>
              <a:rPr lang="ru-RU" dirty="0"/>
              <a:t> </a:t>
            </a:r>
            <a:r>
              <a:rPr lang="en-US" dirty="0"/>
              <a:t>p</a:t>
            </a:r>
            <a:r>
              <a:rPr lang="en-US" baseline="-25000" dirty="0"/>
              <a:t>i</a:t>
            </a:r>
            <a:br>
              <a:rPr lang="en-US" dirty="0"/>
            </a:br>
            <a:r>
              <a:rPr lang="en-US" dirty="0"/>
              <a:t>points to a subtree with keys in the range</a:t>
            </a:r>
            <a:r>
              <a:rPr lang="ru-RU" dirty="0"/>
              <a:t> </a:t>
            </a:r>
            <a:r>
              <a:rPr lang="en-US" dirty="0"/>
              <a:t>[k</a:t>
            </a:r>
            <a:r>
              <a:rPr lang="en-US" baseline="-25000" dirty="0"/>
              <a:t>i</a:t>
            </a:r>
            <a:r>
              <a:rPr lang="en-US" dirty="0"/>
              <a:t>, k</a:t>
            </a:r>
            <a:r>
              <a:rPr lang="en-US" baseline="-25000" dirty="0"/>
              <a:t>i+1</a:t>
            </a:r>
            <a:r>
              <a:rPr lang="en-US" dirty="0"/>
              <a:t>)”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088D7FB1-1692-6FCB-1305-2763E15DF2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0721944"/>
              </p:ext>
            </p:extLst>
          </p:nvPr>
        </p:nvGraphicFramePr>
        <p:xfrm>
          <a:off x="151829" y="2991983"/>
          <a:ext cx="1286553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6553">
                  <a:extLst>
                    <a:ext uri="{9D8B030D-6E8A-4147-A177-3AD203B41FA5}">
                      <a16:colId xmlns:a16="http://schemas.microsoft.com/office/drawing/2014/main" val="26411618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Y" dirty="0"/>
                        <a:t>000</a:t>
                      </a:r>
                    </a:p>
                    <a:p>
                      <a:pPr algn="ctr"/>
                      <a:r>
                        <a:rPr lang="en-CY" dirty="0"/>
                        <a:t>001</a:t>
                      </a:r>
                    </a:p>
                    <a:p>
                      <a:pPr algn="ctr"/>
                      <a:r>
                        <a:rPr lang="en-CY" dirty="0"/>
                        <a:t>002</a:t>
                      </a:r>
                    </a:p>
                    <a:p>
                      <a:pPr algn="ctr"/>
                      <a:r>
                        <a:rPr lang="en-CY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9024833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B9042505-F5D5-3349-414C-1DE7A8F27E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1810629"/>
              </p:ext>
            </p:extLst>
          </p:nvPr>
        </p:nvGraphicFramePr>
        <p:xfrm>
          <a:off x="1855627" y="2991983"/>
          <a:ext cx="1286553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6553">
                  <a:extLst>
                    <a:ext uri="{9D8B030D-6E8A-4147-A177-3AD203B41FA5}">
                      <a16:colId xmlns:a16="http://schemas.microsoft.com/office/drawing/2014/main" val="26411618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Y" dirty="0"/>
                        <a:t>100</a:t>
                      </a:r>
                    </a:p>
                    <a:p>
                      <a:pPr algn="ctr"/>
                      <a:r>
                        <a:rPr lang="en-CY" dirty="0"/>
                        <a:t>101</a:t>
                      </a:r>
                    </a:p>
                    <a:p>
                      <a:pPr algn="ctr"/>
                      <a:r>
                        <a:rPr lang="en-CY" dirty="0"/>
                        <a:t>102</a:t>
                      </a:r>
                    </a:p>
                    <a:p>
                      <a:pPr algn="ctr"/>
                      <a:r>
                        <a:rPr lang="en-CY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9024833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7AC98D83-5CA8-944D-3A77-0535F130EA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7000685"/>
              </p:ext>
            </p:extLst>
          </p:nvPr>
        </p:nvGraphicFramePr>
        <p:xfrm>
          <a:off x="3559425" y="2991983"/>
          <a:ext cx="1286553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6553">
                  <a:extLst>
                    <a:ext uri="{9D8B030D-6E8A-4147-A177-3AD203B41FA5}">
                      <a16:colId xmlns:a16="http://schemas.microsoft.com/office/drawing/2014/main" val="26411618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Y" dirty="0"/>
                        <a:t>200</a:t>
                      </a:r>
                    </a:p>
                    <a:p>
                      <a:pPr algn="ctr"/>
                      <a:r>
                        <a:rPr lang="en-CY" dirty="0"/>
                        <a:t>201</a:t>
                      </a:r>
                    </a:p>
                    <a:p>
                      <a:pPr algn="ctr"/>
                      <a:r>
                        <a:rPr lang="en-CY" dirty="0"/>
                        <a:t>202</a:t>
                      </a:r>
                    </a:p>
                    <a:p>
                      <a:pPr algn="ctr"/>
                      <a:r>
                        <a:rPr lang="en-CY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9024833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0E68FB23-43B2-AA89-C4C6-57FE5964F1D1}"/>
              </a:ext>
            </a:extLst>
          </p:cNvPr>
          <p:cNvSpPr txBox="1"/>
          <p:nvPr/>
        </p:nvSpPr>
        <p:spPr>
          <a:xfrm>
            <a:off x="5263223" y="3401677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….</a:t>
            </a:r>
            <a:endParaRPr lang="ru-RU" dirty="0"/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9EA92BD8-1FC1-6B33-C2BB-F61089436C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8011895"/>
              </p:ext>
            </p:extLst>
          </p:nvPr>
        </p:nvGraphicFramePr>
        <p:xfrm>
          <a:off x="151829" y="2086129"/>
          <a:ext cx="469414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4716">
                  <a:extLst>
                    <a:ext uri="{9D8B030D-6E8A-4147-A177-3AD203B41FA5}">
                      <a16:colId xmlns:a16="http://schemas.microsoft.com/office/drawing/2014/main" val="2178383920"/>
                    </a:ext>
                  </a:extLst>
                </a:gridCol>
                <a:gridCol w="1564716">
                  <a:extLst>
                    <a:ext uri="{9D8B030D-6E8A-4147-A177-3AD203B41FA5}">
                      <a16:colId xmlns:a16="http://schemas.microsoft.com/office/drawing/2014/main" val="423755531"/>
                    </a:ext>
                  </a:extLst>
                </a:gridCol>
                <a:gridCol w="1564716">
                  <a:extLst>
                    <a:ext uri="{9D8B030D-6E8A-4147-A177-3AD203B41FA5}">
                      <a16:colId xmlns:a16="http://schemas.microsoft.com/office/drawing/2014/main" val="1974585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Y" dirty="0"/>
                        <a:t>AAA, ptr</a:t>
                      </a:r>
                      <a:r>
                        <a:rPr lang="en-CY" baseline="-25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Y" dirty="0"/>
                        <a:t>BBB, ptr</a:t>
                      </a:r>
                      <a:r>
                        <a:rPr lang="en-CY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Y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880743"/>
                  </a:ext>
                </a:extLst>
              </a:tr>
            </a:tbl>
          </a:graphicData>
        </a:graphic>
      </p:graphicFrame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9A82C3B-6C14-4F22-1193-99E1BF81E8E9}"/>
              </a:ext>
            </a:extLst>
          </p:cNvPr>
          <p:cNvCxnSpPr>
            <a:cxnSpLocks/>
            <a:endCxn id="12" idx="0"/>
          </p:cNvCxnSpPr>
          <p:nvPr/>
        </p:nvCxnSpPr>
        <p:spPr>
          <a:xfrm flipH="1">
            <a:off x="795105" y="2456969"/>
            <a:ext cx="448068" cy="5350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8B0CD9C-D081-FEE5-62B2-572B26DF11FE}"/>
              </a:ext>
            </a:extLst>
          </p:cNvPr>
          <p:cNvCxnSpPr>
            <a:cxnSpLocks/>
            <a:endCxn id="16" idx="0"/>
          </p:cNvCxnSpPr>
          <p:nvPr/>
        </p:nvCxnSpPr>
        <p:spPr>
          <a:xfrm flipH="1">
            <a:off x="2498903" y="2456969"/>
            <a:ext cx="305942" cy="5350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E1DDD5F-5C8E-5F47-EDD8-3B45F56A15A8}"/>
              </a:ext>
            </a:extLst>
          </p:cNvPr>
          <p:cNvCxnSpPr>
            <a:cxnSpLocks/>
            <a:endCxn id="18" idx="0"/>
          </p:cNvCxnSpPr>
          <p:nvPr/>
        </p:nvCxnSpPr>
        <p:spPr>
          <a:xfrm flipH="1">
            <a:off x="4202701" y="2456969"/>
            <a:ext cx="307654" cy="5350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C7253A4-901E-FDC3-49AA-2C0F0326C294}"/>
              </a:ext>
            </a:extLst>
          </p:cNvPr>
          <p:cNvCxnSpPr>
            <a:cxnSpLocks/>
            <a:endCxn id="24" idx="0"/>
          </p:cNvCxnSpPr>
          <p:nvPr/>
        </p:nvCxnSpPr>
        <p:spPr>
          <a:xfrm flipH="1">
            <a:off x="2498903" y="1046204"/>
            <a:ext cx="2853933" cy="10399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96784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D088D-3849-0852-3F3D-455398091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13A3B84-5EAD-1443-BC17-7E2CEFF9C134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4477993-E4C0-EC5D-F221-EEF62A2F17BD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3FDF9E9-981E-2733-4C8C-D0B434C959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1429391"/>
              </p:ext>
            </p:extLst>
          </p:nvPr>
        </p:nvGraphicFramePr>
        <p:xfrm>
          <a:off x="0" y="365761"/>
          <a:ext cx="12192000" cy="8280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How to merge two</a:t>
                      </a:r>
                      <a:r>
                        <a:rPr lang="ru-RU" sz="2400" dirty="0"/>
                        <a:t> </a:t>
                      </a:r>
                      <a:r>
                        <a:rPr lang="en-US" sz="2400" dirty="0"/>
                        <a:t>B-trees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Suppose we have two sets represented as B-trees. We can construct their union in linear time.</a:t>
                      </a:r>
                      <a:endParaRPr lang="ru-RU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44230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0317620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2593056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1686349"/>
              </p:ext>
            </p:extLst>
          </p:nvPr>
        </p:nvGraphicFramePr>
        <p:xfrm>
          <a:off x="0" y="365761"/>
          <a:ext cx="12192000" cy="4572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How to merge two</a:t>
                      </a:r>
                      <a:r>
                        <a:rPr lang="ru-RU" sz="2400" dirty="0"/>
                        <a:t> </a:t>
                      </a:r>
                      <a:r>
                        <a:rPr lang="en-US" sz="2400" dirty="0"/>
                        <a:t>B-trees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riangle 2">
            <a:extLst>
              <a:ext uri="{FF2B5EF4-FFF2-40B4-BE49-F238E27FC236}">
                <a16:creationId xmlns:a16="http://schemas.microsoft.com/office/drawing/2014/main" id="{C0F4C0C6-C35E-C04C-AC99-1B1ECB555CBF}"/>
              </a:ext>
            </a:extLst>
          </p:cNvPr>
          <p:cNvSpPr/>
          <p:nvPr/>
        </p:nvSpPr>
        <p:spPr>
          <a:xfrm>
            <a:off x="234055" y="1534886"/>
            <a:ext cx="1698172" cy="1709057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7" name="Triangle 6">
            <a:extLst>
              <a:ext uri="{FF2B5EF4-FFF2-40B4-BE49-F238E27FC236}">
                <a16:creationId xmlns:a16="http://schemas.microsoft.com/office/drawing/2014/main" id="{1145872C-6E3A-BC44-BBCB-EFECA1845248}"/>
              </a:ext>
            </a:extLst>
          </p:cNvPr>
          <p:cNvSpPr/>
          <p:nvPr/>
        </p:nvSpPr>
        <p:spPr>
          <a:xfrm>
            <a:off x="2320018" y="1001485"/>
            <a:ext cx="2228176" cy="2242458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E6920D-1A6E-CA4F-89EE-B15BA485FC7D}"/>
              </a:ext>
            </a:extLst>
          </p:cNvPr>
          <p:cNvSpPr txBox="1"/>
          <p:nvPr/>
        </p:nvSpPr>
        <p:spPr>
          <a:xfrm>
            <a:off x="2090057" y="1458686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sz="3200" dirty="0"/>
              <a:t>+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99ADD7-6543-2A40-99A2-FA70D6FF173B}"/>
              </a:ext>
            </a:extLst>
          </p:cNvPr>
          <p:cNvSpPr txBox="1"/>
          <p:nvPr/>
        </p:nvSpPr>
        <p:spPr>
          <a:xfrm>
            <a:off x="4548194" y="1458686"/>
            <a:ext cx="5148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sz="3200" dirty="0"/>
              <a:t>-&gt;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F4895F23-9FE3-0E4F-8057-AA3E8E2537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2200480"/>
              </p:ext>
            </p:extLst>
          </p:nvPr>
        </p:nvGraphicFramePr>
        <p:xfrm>
          <a:off x="6404196" y="2873103"/>
          <a:ext cx="563137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78626148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7332019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74147562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67516179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95294112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7642270"/>
                    </a:ext>
                  </a:extLst>
                </a:gridCol>
                <a:gridCol w="438169">
                  <a:extLst>
                    <a:ext uri="{9D8B030D-6E8A-4147-A177-3AD203B41FA5}">
                      <a16:colId xmlns:a16="http://schemas.microsoft.com/office/drawing/2014/main" val="2858643643"/>
                    </a:ext>
                  </a:extLst>
                </a:gridCol>
                <a:gridCol w="438169">
                  <a:extLst>
                    <a:ext uri="{9D8B030D-6E8A-4147-A177-3AD203B41FA5}">
                      <a16:colId xmlns:a16="http://schemas.microsoft.com/office/drawing/2014/main" val="2810943390"/>
                    </a:ext>
                  </a:extLst>
                </a:gridCol>
                <a:gridCol w="438169">
                  <a:extLst>
                    <a:ext uri="{9D8B030D-6E8A-4147-A177-3AD203B41FA5}">
                      <a16:colId xmlns:a16="http://schemas.microsoft.com/office/drawing/2014/main" val="4127657506"/>
                    </a:ext>
                  </a:extLst>
                </a:gridCol>
                <a:gridCol w="438169">
                  <a:extLst>
                    <a:ext uri="{9D8B030D-6E8A-4147-A177-3AD203B41FA5}">
                      <a16:colId xmlns:a16="http://schemas.microsoft.com/office/drawing/2014/main" val="827145752"/>
                    </a:ext>
                  </a:extLst>
                </a:gridCol>
                <a:gridCol w="438169">
                  <a:extLst>
                    <a:ext uri="{9D8B030D-6E8A-4147-A177-3AD203B41FA5}">
                      <a16:colId xmlns:a16="http://schemas.microsoft.com/office/drawing/2014/main" val="2311834231"/>
                    </a:ext>
                  </a:extLst>
                </a:gridCol>
                <a:gridCol w="438169">
                  <a:extLst>
                    <a:ext uri="{9D8B030D-6E8A-4147-A177-3AD203B41FA5}">
                      <a16:colId xmlns:a16="http://schemas.microsoft.com/office/drawing/2014/main" val="2861270231"/>
                    </a:ext>
                  </a:extLst>
                </a:gridCol>
                <a:gridCol w="438169">
                  <a:extLst>
                    <a:ext uri="{9D8B030D-6E8A-4147-A177-3AD203B41FA5}">
                      <a16:colId xmlns:a16="http://schemas.microsoft.com/office/drawing/2014/main" val="4010117732"/>
                    </a:ext>
                  </a:extLst>
                </a:gridCol>
                <a:gridCol w="438169">
                  <a:extLst>
                    <a:ext uri="{9D8B030D-6E8A-4147-A177-3AD203B41FA5}">
                      <a16:colId xmlns:a16="http://schemas.microsoft.com/office/drawing/2014/main" val="1954329265"/>
                    </a:ext>
                  </a:extLst>
                </a:gridCol>
                <a:gridCol w="438169">
                  <a:extLst>
                    <a:ext uri="{9D8B030D-6E8A-4147-A177-3AD203B41FA5}">
                      <a16:colId xmlns:a16="http://schemas.microsoft.com/office/drawing/2014/main" val="3818398413"/>
                    </a:ext>
                  </a:extLst>
                </a:gridCol>
                <a:gridCol w="438169">
                  <a:extLst>
                    <a:ext uri="{9D8B030D-6E8A-4147-A177-3AD203B41FA5}">
                      <a16:colId xmlns:a16="http://schemas.microsoft.com/office/drawing/2014/main" val="35798015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255471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FE54AC0A-8EE3-4F15-2980-50D03647F1D4}"/>
              </a:ext>
            </a:extLst>
          </p:cNvPr>
          <p:cNvSpPr txBox="1"/>
          <p:nvPr/>
        </p:nvSpPr>
        <p:spPr>
          <a:xfrm>
            <a:off x="0" y="3754709"/>
            <a:ext cx="1219199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aseline="0" dirty="0"/>
              <a:t>Iterating over keys in leaf nodes sequentially yields them in ascending order. As we have two ascending sequences of keys, we can find their union like the merge sort does.</a:t>
            </a:r>
            <a:endParaRPr lang="ru-RU" baseline="0" dirty="0"/>
          </a:p>
          <a:p>
            <a:pPr marL="342900" indent="-342900">
              <a:buFont typeface="+mj-lt"/>
              <a:buAutoNum type="arabicPeriod"/>
            </a:pPr>
            <a:r>
              <a:rPr lang="en-US" baseline="0" dirty="0"/>
              <a:t>The output of “merge sort” can be sequentially written into pages with 2L elements each. These will be the leaf nodes of the merged tree.</a:t>
            </a:r>
            <a:endParaRPr lang="ru-RU" baseline="0" dirty="0"/>
          </a:p>
          <a:p>
            <a:pPr marL="342900" indent="-342900">
              <a:buFont typeface="+mj-lt"/>
              <a:buAutoNum type="arabicPeriod"/>
            </a:pPr>
            <a:r>
              <a:rPr lang="en-US" baseline="0" dirty="0">
                <a:solidFill>
                  <a:schemeClr val="bg1">
                    <a:lumMod val="75000"/>
                  </a:schemeClr>
                </a:solidFill>
              </a:rPr>
              <a:t>For every 2L-1 adjacent leaf nodes we make an internal node pointing to them. We write such internal nodes sequentially, too.</a:t>
            </a:r>
            <a:endParaRPr lang="ru-RU" baseline="0" dirty="0">
              <a:solidFill>
                <a:schemeClr val="bg1">
                  <a:lumMod val="75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baseline="0" dirty="0">
                <a:solidFill>
                  <a:schemeClr val="bg1">
                    <a:lumMod val="75000"/>
                  </a:schemeClr>
                </a:solidFill>
              </a:rPr>
              <a:t>We create upper levels of internal nodes in a similar way.</a:t>
            </a:r>
            <a:endParaRPr lang="ru-RU" baseline="0" dirty="0">
              <a:solidFill>
                <a:schemeClr val="bg1">
                  <a:lumMod val="75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baseline="0" dirty="0">
                <a:solidFill>
                  <a:schemeClr val="bg1">
                    <a:lumMod val="75000"/>
                  </a:schemeClr>
                </a:solidFill>
              </a:rPr>
              <a:t>Once we reach a level that has only one internal node, we call it the root of the merged tree.</a:t>
            </a:r>
          </a:p>
        </p:txBody>
      </p:sp>
    </p:spTree>
    <p:extLst>
      <p:ext uri="{BB962C8B-B14F-4D97-AF65-F5344CB8AC3E}">
        <p14:creationId xmlns:p14="http://schemas.microsoft.com/office/powerpoint/2010/main" val="19326645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0577135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0102496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5009259"/>
              </p:ext>
            </p:extLst>
          </p:nvPr>
        </p:nvGraphicFramePr>
        <p:xfrm>
          <a:off x="0" y="365761"/>
          <a:ext cx="12192000" cy="4572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How to merge two</a:t>
                      </a:r>
                      <a:r>
                        <a:rPr lang="ru-RU" sz="2400" dirty="0"/>
                        <a:t> </a:t>
                      </a:r>
                      <a:r>
                        <a:rPr lang="en-US" sz="2400" dirty="0"/>
                        <a:t>B-trees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FE6920D-1A6E-CA4F-89EE-B15BA485FC7D}"/>
              </a:ext>
            </a:extLst>
          </p:cNvPr>
          <p:cNvSpPr txBox="1"/>
          <p:nvPr/>
        </p:nvSpPr>
        <p:spPr>
          <a:xfrm>
            <a:off x="2090057" y="1458686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sz="3200" dirty="0"/>
              <a:t>+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99ADD7-6543-2A40-99A2-FA70D6FF173B}"/>
              </a:ext>
            </a:extLst>
          </p:cNvPr>
          <p:cNvSpPr txBox="1"/>
          <p:nvPr/>
        </p:nvSpPr>
        <p:spPr>
          <a:xfrm>
            <a:off x="4548194" y="1458686"/>
            <a:ext cx="5148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sz="3200" dirty="0"/>
              <a:t>-&gt;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F4895F23-9FE3-0E4F-8057-AA3E8E253772}"/>
              </a:ext>
            </a:extLst>
          </p:cNvPr>
          <p:cNvGraphicFramePr>
            <a:graphicFrameLocks noGrp="1"/>
          </p:cNvGraphicFramePr>
          <p:nvPr/>
        </p:nvGraphicFramePr>
        <p:xfrm>
          <a:off x="6404196" y="2873103"/>
          <a:ext cx="563137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78626148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7332019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74147562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67516179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95294112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7642270"/>
                    </a:ext>
                  </a:extLst>
                </a:gridCol>
                <a:gridCol w="438169">
                  <a:extLst>
                    <a:ext uri="{9D8B030D-6E8A-4147-A177-3AD203B41FA5}">
                      <a16:colId xmlns:a16="http://schemas.microsoft.com/office/drawing/2014/main" val="2858643643"/>
                    </a:ext>
                  </a:extLst>
                </a:gridCol>
                <a:gridCol w="438169">
                  <a:extLst>
                    <a:ext uri="{9D8B030D-6E8A-4147-A177-3AD203B41FA5}">
                      <a16:colId xmlns:a16="http://schemas.microsoft.com/office/drawing/2014/main" val="2810943390"/>
                    </a:ext>
                  </a:extLst>
                </a:gridCol>
                <a:gridCol w="438169">
                  <a:extLst>
                    <a:ext uri="{9D8B030D-6E8A-4147-A177-3AD203B41FA5}">
                      <a16:colId xmlns:a16="http://schemas.microsoft.com/office/drawing/2014/main" val="4127657506"/>
                    </a:ext>
                  </a:extLst>
                </a:gridCol>
                <a:gridCol w="438169">
                  <a:extLst>
                    <a:ext uri="{9D8B030D-6E8A-4147-A177-3AD203B41FA5}">
                      <a16:colId xmlns:a16="http://schemas.microsoft.com/office/drawing/2014/main" val="827145752"/>
                    </a:ext>
                  </a:extLst>
                </a:gridCol>
                <a:gridCol w="438169">
                  <a:extLst>
                    <a:ext uri="{9D8B030D-6E8A-4147-A177-3AD203B41FA5}">
                      <a16:colId xmlns:a16="http://schemas.microsoft.com/office/drawing/2014/main" val="2311834231"/>
                    </a:ext>
                  </a:extLst>
                </a:gridCol>
                <a:gridCol w="438169">
                  <a:extLst>
                    <a:ext uri="{9D8B030D-6E8A-4147-A177-3AD203B41FA5}">
                      <a16:colId xmlns:a16="http://schemas.microsoft.com/office/drawing/2014/main" val="2861270231"/>
                    </a:ext>
                  </a:extLst>
                </a:gridCol>
                <a:gridCol w="438169">
                  <a:extLst>
                    <a:ext uri="{9D8B030D-6E8A-4147-A177-3AD203B41FA5}">
                      <a16:colId xmlns:a16="http://schemas.microsoft.com/office/drawing/2014/main" val="4010117732"/>
                    </a:ext>
                  </a:extLst>
                </a:gridCol>
                <a:gridCol w="438169">
                  <a:extLst>
                    <a:ext uri="{9D8B030D-6E8A-4147-A177-3AD203B41FA5}">
                      <a16:colId xmlns:a16="http://schemas.microsoft.com/office/drawing/2014/main" val="1954329265"/>
                    </a:ext>
                  </a:extLst>
                </a:gridCol>
                <a:gridCol w="438169">
                  <a:extLst>
                    <a:ext uri="{9D8B030D-6E8A-4147-A177-3AD203B41FA5}">
                      <a16:colId xmlns:a16="http://schemas.microsoft.com/office/drawing/2014/main" val="3818398413"/>
                    </a:ext>
                  </a:extLst>
                </a:gridCol>
                <a:gridCol w="438169">
                  <a:extLst>
                    <a:ext uri="{9D8B030D-6E8A-4147-A177-3AD203B41FA5}">
                      <a16:colId xmlns:a16="http://schemas.microsoft.com/office/drawing/2014/main" val="35798015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2554715"/>
                  </a:ext>
                </a:extLst>
              </a:tr>
            </a:tbl>
          </a:graphicData>
        </a:graphic>
      </p:graphicFrame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2916F093-FE29-6047-905C-7021EC3BDFB1}"/>
              </a:ext>
            </a:extLst>
          </p:cNvPr>
          <p:cNvGraphicFramePr>
            <a:graphicFrameLocks noGrp="1"/>
          </p:cNvGraphicFramePr>
          <p:nvPr/>
        </p:nvGraphicFramePr>
        <p:xfrm>
          <a:off x="6791463" y="2230483"/>
          <a:ext cx="8394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808">
                  <a:extLst>
                    <a:ext uri="{9D8B030D-6E8A-4147-A177-3AD203B41FA5}">
                      <a16:colId xmlns:a16="http://schemas.microsoft.com/office/drawing/2014/main" val="2449433316"/>
                    </a:ext>
                  </a:extLst>
                </a:gridCol>
                <a:gridCol w="279808">
                  <a:extLst>
                    <a:ext uri="{9D8B030D-6E8A-4147-A177-3AD203B41FA5}">
                      <a16:colId xmlns:a16="http://schemas.microsoft.com/office/drawing/2014/main" val="3672236743"/>
                    </a:ext>
                  </a:extLst>
                </a:gridCol>
                <a:gridCol w="279808">
                  <a:extLst>
                    <a:ext uri="{9D8B030D-6E8A-4147-A177-3AD203B41FA5}">
                      <a16:colId xmlns:a16="http://schemas.microsoft.com/office/drawing/2014/main" val="3999969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0745626"/>
                  </a:ext>
                </a:extLst>
              </a:tr>
            </a:tbl>
          </a:graphicData>
        </a:graphic>
      </p:graphicFrame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3A68867-FF2E-8E44-9978-F1760FD1211A}"/>
              </a:ext>
            </a:extLst>
          </p:cNvPr>
          <p:cNvCxnSpPr/>
          <p:nvPr/>
        </p:nvCxnSpPr>
        <p:spPr>
          <a:xfrm flipH="1">
            <a:off x="6404196" y="2601323"/>
            <a:ext cx="387267" cy="27178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147B6E7-4A1D-9846-9E4B-D6D0400AF562}"/>
              </a:ext>
            </a:extLst>
          </p:cNvPr>
          <p:cNvCxnSpPr/>
          <p:nvPr/>
        </p:nvCxnSpPr>
        <p:spPr>
          <a:xfrm>
            <a:off x="7053943" y="2601323"/>
            <a:ext cx="0" cy="27178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9BDF27B-C9F2-4149-BF6B-7E0794CEB561}"/>
              </a:ext>
            </a:extLst>
          </p:cNvPr>
          <p:cNvCxnSpPr/>
          <p:nvPr/>
        </p:nvCxnSpPr>
        <p:spPr>
          <a:xfrm>
            <a:off x="7347857" y="2601323"/>
            <a:ext cx="283030" cy="27178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le 10">
            <a:extLst>
              <a:ext uri="{FF2B5EF4-FFF2-40B4-BE49-F238E27FC236}">
                <a16:creationId xmlns:a16="http://schemas.microsoft.com/office/drawing/2014/main" id="{C9B80236-8F2A-A249-AECD-8AAE4850FA29}"/>
              </a:ext>
            </a:extLst>
          </p:cNvPr>
          <p:cNvGraphicFramePr>
            <a:graphicFrameLocks noGrp="1"/>
          </p:cNvGraphicFramePr>
          <p:nvPr/>
        </p:nvGraphicFramePr>
        <p:xfrm>
          <a:off x="8293691" y="2230483"/>
          <a:ext cx="8394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808">
                  <a:extLst>
                    <a:ext uri="{9D8B030D-6E8A-4147-A177-3AD203B41FA5}">
                      <a16:colId xmlns:a16="http://schemas.microsoft.com/office/drawing/2014/main" val="2449433316"/>
                    </a:ext>
                  </a:extLst>
                </a:gridCol>
                <a:gridCol w="279808">
                  <a:extLst>
                    <a:ext uri="{9D8B030D-6E8A-4147-A177-3AD203B41FA5}">
                      <a16:colId xmlns:a16="http://schemas.microsoft.com/office/drawing/2014/main" val="3672236743"/>
                    </a:ext>
                  </a:extLst>
                </a:gridCol>
                <a:gridCol w="279808">
                  <a:extLst>
                    <a:ext uri="{9D8B030D-6E8A-4147-A177-3AD203B41FA5}">
                      <a16:colId xmlns:a16="http://schemas.microsoft.com/office/drawing/2014/main" val="3999969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0745626"/>
                  </a:ext>
                </a:extLst>
              </a:tr>
            </a:tbl>
          </a:graphicData>
        </a:graphic>
      </p:graphicFrame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4FEDBCA-6800-484E-ACE7-B0A9842709D5}"/>
              </a:ext>
            </a:extLst>
          </p:cNvPr>
          <p:cNvCxnSpPr/>
          <p:nvPr/>
        </p:nvCxnSpPr>
        <p:spPr>
          <a:xfrm flipH="1">
            <a:off x="8098971" y="2601323"/>
            <a:ext cx="217715" cy="27178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818F437-C96C-5F4D-B701-83ED15E4D341}"/>
              </a:ext>
            </a:extLst>
          </p:cNvPr>
          <p:cNvSpPr txBox="1"/>
          <p:nvPr/>
        </p:nvSpPr>
        <p:spPr>
          <a:xfrm>
            <a:off x="9795919" y="2180590"/>
            <a:ext cx="404199" cy="37084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RU" dirty="0"/>
              <a:t>...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5936E7-D461-1C2B-90E9-3B3CD5C031EC}"/>
              </a:ext>
            </a:extLst>
          </p:cNvPr>
          <p:cNvSpPr txBox="1"/>
          <p:nvPr/>
        </p:nvSpPr>
        <p:spPr>
          <a:xfrm>
            <a:off x="0" y="3754709"/>
            <a:ext cx="1219199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aseline="0" dirty="0">
                <a:solidFill>
                  <a:schemeClr val="bg1">
                    <a:lumMod val="75000"/>
                  </a:schemeClr>
                </a:solidFill>
              </a:rPr>
              <a:t>Iterating over keys in leaf nodes sequentially yields them in ascending order. As we have two ascending sequences of keys, we can find their union like the merge sort does.</a:t>
            </a:r>
            <a:endParaRPr lang="ru-RU" baseline="0" dirty="0">
              <a:solidFill>
                <a:schemeClr val="bg1">
                  <a:lumMod val="75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baseline="0" dirty="0">
                <a:solidFill>
                  <a:schemeClr val="bg1">
                    <a:lumMod val="75000"/>
                  </a:schemeClr>
                </a:solidFill>
              </a:rPr>
              <a:t>The output of “merge sort” can be sequentially written into pages with 2L elements each. These will be the leaf nodes of the merged tree.</a:t>
            </a:r>
            <a:endParaRPr lang="ru-RU" baseline="0" dirty="0">
              <a:solidFill>
                <a:schemeClr val="bg1">
                  <a:lumMod val="75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baseline="0" dirty="0"/>
              <a:t>For every 2L-1 adjacent leaf nodes we make an internal node pointing to them. We write such internal nodes sequentially, too.</a:t>
            </a:r>
            <a:endParaRPr lang="ru-RU" baseline="0" dirty="0"/>
          </a:p>
          <a:p>
            <a:pPr marL="342900" indent="-342900">
              <a:buFont typeface="+mj-lt"/>
              <a:buAutoNum type="arabicPeriod"/>
            </a:pPr>
            <a:r>
              <a:rPr lang="en-US" baseline="0" dirty="0">
                <a:solidFill>
                  <a:schemeClr val="bg1">
                    <a:lumMod val="75000"/>
                  </a:schemeClr>
                </a:solidFill>
              </a:rPr>
              <a:t>We create upper levels of internal nodes in a similar way.</a:t>
            </a:r>
            <a:endParaRPr lang="ru-RU" baseline="0" dirty="0">
              <a:solidFill>
                <a:schemeClr val="bg1">
                  <a:lumMod val="75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baseline="0" dirty="0">
                <a:solidFill>
                  <a:schemeClr val="bg1">
                    <a:lumMod val="75000"/>
                  </a:schemeClr>
                </a:solidFill>
              </a:rPr>
              <a:t>Once we reach a level that has only one internal node, we call it the root of the merged tree.</a:t>
            </a:r>
          </a:p>
        </p:txBody>
      </p:sp>
      <p:sp>
        <p:nvSpPr>
          <p:cNvPr id="13" name="Triangle 12">
            <a:extLst>
              <a:ext uri="{FF2B5EF4-FFF2-40B4-BE49-F238E27FC236}">
                <a16:creationId xmlns:a16="http://schemas.microsoft.com/office/drawing/2014/main" id="{213C92A0-BF27-E8D5-4E94-870E1A911B34}"/>
              </a:ext>
            </a:extLst>
          </p:cNvPr>
          <p:cNvSpPr/>
          <p:nvPr/>
        </p:nvSpPr>
        <p:spPr>
          <a:xfrm>
            <a:off x="234055" y="1534886"/>
            <a:ext cx="1698172" cy="1709057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15" name="Triangle 14">
            <a:extLst>
              <a:ext uri="{FF2B5EF4-FFF2-40B4-BE49-F238E27FC236}">
                <a16:creationId xmlns:a16="http://schemas.microsoft.com/office/drawing/2014/main" id="{D671FE74-EC2B-BFB4-231C-D699D1F7617B}"/>
              </a:ext>
            </a:extLst>
          </p:cNvPr>
          <p:cNvSpPr/>
          <p:nvPr/>
        </p:nvSpPr>
        <p:spPr>
          <a:xfrm>
            <a:off x="2320018" y="1001485"/>
            <a:ext cx="2228176" cy="2242458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4774674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1842627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8350142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5301503"/>
              </p:ext>
            </p:extLst>
          </p:nvPr>
        </p:nvGraphicFramePr>
        <p:xfrm>
          <a:off x="0" y="365761"/>
          <a:ext cx="12192000" cy="4572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How to merge two</a:t>
                      </a:r>
                      <a:r>
                        <a:rPr lang="ru-RU" sz="2400" dirty="0"/>
                        <a:t> </a:t>
                      </a:r>
                      <a:r>
                        <a:rPr lang="en-US" sz="2400" dirty="0"/>
                        <a:t>B-trees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FE6920D-1A6E-CA4F-89EE-B15BA485FC7D}"/>
              </a:ext>
            </a:extLst>
          </p:cNvPr>
          <p:cNvSpPr txBox="1"/>
          <p:nvPr/>
        </p:nvSpPr>
        <p:spPr>
          <a:xfrm>
            <a:off x="2090057" y="1458686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sz="3200" dirty="0"/>
              <a:t>+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99ADD7-6543-2A40-99A2-FA70D6FF173B}"/>
              </a:ext>
            </a:extLst>
          </p:cNvPr>
          <p:cNvSpPr txBox="1"/>
          <p:nvPr/>
        </p:nvSpPr>
        <p:spPr>
          <a:xfrm>
            <a:off x="4548194" y="1458686"/>
            <a:ext cx="5148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sz="3200" dirty="0"/>
              <a:t>-&gt;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F4895F23-9FE3-0E4F-8057-AA3E8E253772}"/>
              </a:ext>
            </a:extLst>
          </p:cNvPr>
          <p:cNvGraphicFramePr>
            <a:graphicFrameLocks noGrp="1"/>
          </p:cNvGraphicFramePr>
          <p:nvPr/>
        </p:nvGraphicFramePr>
        <p:xfrm>
          <a:off x="6404196" y="2873103"/>
          <a:ext cx="563137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78626148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7332019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74147562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67516179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95294112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7642270"/>
                    </a:ext>
                  </a:extLst>
                </a:gridCol>
                <a:gridCol w="438169">
                  <a:extLst>
                    <a:ext uri="{9D8B030D-6E8A-4147-A177-3AD203B41FA5}">
                      <a16:colId xmlns:a16="http://schemas.microsoft.com/office/drawing/2014/main" val="2858643643"/>
                    </a:ext>
                  </a:extLst>
                </a:gridCol>
                <a:gridCol w="438169">
                  <a:extLst>
                    <a:ext uri="{9D8B030D-6E8A-4147-A177-3AD203B41FA5}">
                      <a16:colId xmlns:a16="http://schemas.microsoft.com/office/drawing/2014/main" val="2810943390"/>
                    </a:ext>
                  </a:extLst>
                </a:gridCol>
                <a:gridCol w="438169">
                  <a:extLst>
                    <a:ext uri="{9D8B030D-6E8A-4147-A177-3AD203B41FA5}">
                      <a16:colId xmlns:a16="http://schemas.microsoft.com/office/drawing/2014/main" val="4127657506"/>
                    </a:ext>
                  </a:extLst>
                </a:gridCol>
                <a:gridCol w="438169">
                  <a:extLst>
                    <a:ext uri="{9D8B030D-6E8A-4147-A177-3AD203B41FA5}">
                      <a16:colId xmlns:a16="http://schemas.microsoft.com/office/drawing/2014/main" val="827145752"/>
                    </a:ext>
                  </a:extLst>
                </a:gridCol>
                <a:gridCol w="438169">
                  <a:extLst>
                    <a:ext uri="{9D8B030D-6E8A-4147-A177-3AD203B41FA5}">
                      <a16:colId xmlns:a16="http://schemas.microsoft.com/office/drawing/2014/main" val="2311834231"/>
                    </a:ext>
                  </a:extLst>
                </a:gridCol>
                <a:gridCol w="438169">
                  <a:extLst>
                    <a:ext uri="{9D8B030D-6E8A-4147-A177-3AD203B41FA5}">
                      <a16:colId xmlns:a16="http://schemas.microsoft.com/office/drawing/2014/main" val="2861270231"/>
                    </a:ext>
                  </a:extLst>
                </a:gridCol>
                <a:gridCol w="438169">
                  <a:extLst>
                    <a:ext uri="{9D8B030D-6E8A-4147-A177-3AD203B41FA5}">
                      <a16:colId xmlns:a16="http://schemas.microsoft.com/office/drawing/2014/main" val="4010117732"/>
                    </a:ext>
                  </a:extLst>
                </a:gridCol>
                <a:gridCol w="438169">
                  <a:extLst>
                    <a:ext uri="{9D8B030D-6E8A-4147-A177-3AD203B41FA5}">
                      <a16:colId xmlns:a16="http://schemas.microsoft.com/office/drawing/2014/main" val="1954329265"/>
                    </a:ext>
                  </a:extLst>
                </a:gridCol>
                <a:gridCol w="438169">
                  <a:extLst>
                    <a:ext uri="{9D8B030D-6E8A-4147-A177-3AD203B41FA5}">
                      <a16:colId xmlns:a16="http://schemas.microsoft.com/office/drawing/2014/main" val="3818398413"/>
                    </a:ext>
                  </a:extLst>
                </a:gridCol>
                <a:gridCol w="438169">
                  <a:extLst>
                    <a:ext uri="{9D8B030D-6E8A-4147-A177-3AD203B41FA5}">
                      <a16:colId xmlns:a16="http://schemas.microsoft.com/office/drawing/2014/main" val="35798015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2554715"/>
                  </a:ext>
                </a:extLst>
              </a:tr>
            </a:tbl>
          </a:graphicData>
        </a:graphic>
      </p:graphicFrame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2916F093-FE29-6047-905C-7021EC3BDFB1}"/>
              </a:ext>
            </a:extLst>
          </p:cNvPr>
          <p:cNvGraphicFramePr>
            <a:graphicFrameLocks noGrp="1"/>
          </p:cNvGraphicFramePr>
          <p:nvPr/>
        </p:nvGraphicFramePr>
        <p:xfrm>
          <a:off x="6791463" y="2230483"/>
          <a:ext cx="8394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808">
                  <a:extLst>
                    <a:ext uri="{9D8B030D-6E8A-4147-A177-3AD203B41FA5}">
                      <a16:colId xmlns:a16="http://schemas.microsoft.com/office/drawing/2014/main" val="2449433316"/>
                    </a:ext>
                  </a:extLst>
                </a:gridCol>
                <a:gridCol w="279808">
                  <a:extLst>
                    <a:ext uri="{9D8B030D-6E8A-4147-A177-3AD203B41FA5}">
                      <a16:colId xmlns:a16="http://schemas.microsoft.com/office/drawing/2014/main" val="3672236743"/>
                    </a:ext>
                  </a:extLst>
                </a:gridCol>
                <a:gridCol w="279808">
                  <a:extLst>
                    <a:ext uri="{9D8B030D-6E8A-4147-A177-3AD203B41FA5}">
                      <a16:colId xmlns:a16="http://schemas.microsoft.com/office/drawing/2014/main" val="3999969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0745626"/>
                  </a:ext>
                </a:extLst>
              </a:tr>
            </a:tbl>
          </a:graphicData>
        </a:graphic>
      </p:graphicFrame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3A68867-FF2E-8E44-9978-F1760FD1211A}"/>
              </a:ext>
            </a:extLst>
          </p:cNvPr>
          <p:cNvCxnSpPr/>
          <p:nvPr/>
        </p:nvCxnSpPr>
        <p:spPr>
          <a:xfrm flipH="1">
            <a:off x="6404196" y="2601323"/>
            <a:ext cx="387267" cy="27178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147B6E7-4A1D-9846-9E4B-D6D0400AF562}"/>
              </a:ext>
            </a:extLst>
          </p:cNvPr>
          <p:cNvCxnSpPr/>
          <p:nvPr/>
        </p:nvCxnSpPr>
        <p:spPr>
          <a:xfrm>
            <a:off x="7053943" y="2601323"/>
            <a:ext cx="0" cy="27178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9BDF27B-C9F2-4149-BF6B-7E0794CEB561}"/>
              </a:ext>
            </a:extLst>
          </p:cNvPr>
          <p:cNvCxnSpPr/>
          <p:nvPr/>
        </p:nvCxnSpPr>
        <p:spPr>
          <a:xfrm>
            <a:off x="7347857" y="2601323"/>
            <a:ext cx="283030" cy="27178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le 10">
            <a:extLst>
              <a:ext uri="{FF2B5EF4-FFF2-40B4-BE49-F238E27FC236}">
                <a16:creationId xmlns:a16="http://schemas.microsoft.com/office/drawing/2014/main" id="{C9B80236-8F2A-A249-AECD-8AAE4850FA29}"/>
              </a:ext>
            </a:extLst>
          </p:cNvPr>
          <p:cNvGraphicFramePr>
            <a:graphicFrameLocks noGrp="1"/>
          </p:cNvGraphicFramePr>
          <p:nvPr/>
        </p:nvGraphicFramePr>
        <p:xfrm>
          <a:off x="8293691" y="2230483"/>
          <a:ext cx="8394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808">
                  <a:extLst>
                    <a:ext uri="{9D8B030D-6E8A-4147-A177-3AD203B41FA5}">
                      <a16:colId xmlns:a16="http://schemas.microsoft.com/office/drawing/2014/main" val="2449433316"/>
                    </a:ext>
                  </a:extLst>
                </a:gridCol>
                <a:gridCol w="279808">
                  <a:extLst>
                    <a:ext uri="{9D8B030D-6E8A-4147-A177-3AD203B41FA5}">
                      <a16:colId xmlns:a16="http://schemas.microsoft.com/office/drawing/2014/main" val="3672236743"/>
                    </a:ext>
                  </a:extLst>
                </a:gridCol>
                <a:gridCol w="279808">
                  <a:extLst>
                    <a:ext uri="{9D8B030D-6E8A-4147-A177-3AD203B41FA5}">
                      <a16:colId xmlns:a16="http://schemas.microsoft.com/office/drawing/2014/main" val="3999969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0745626"/>
                  </a:ext>
                </a:extLst>
              </a:tr>
            </a:tbl>
          </a:graphicData>
        </a:graphic>
      </p:graphicFrame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4FEDBCA-6800-484E-ACE7-B0A9842709D5}"/>
              </a:ext>
            </a:extLst>
          </p:cNvPr>
          <p:cNvCxnSpPr/>
          <p:nvPr/>
        </p:nvCxnSpPr>
        <p:spPr>
          <a:xfrm flipH="1">
            <a:off x="8098971" y="2601323"/>
            <a:ext cx="217715" cy="27178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818F437-C96C-5F4D-B701-83ED15E4D341}"/>
              </a:ext>
            </a:extLst>
          </p:cNvPr>
          <p:cNvSpPr txBox="1"/>
          <p:nvPr/>
        </p:nvSpPr>
        <p:spPr>
          <a:xfrm>
            <a:off x="9795919" y="2180590"/>
            <a:ext cx="404199" cy="37084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RU" dirty="0"/>
              <a:t>...</a:t>
            </a:r>
          </a:p>
        </p:txBody>
      </p:sp>
      <p:graphicFrame>
        <p:nvGraphicFramePr>
          <p:cNvPr id="21" name="Table 10">
            <a:extLst>
              <a:ext uri="{FF2B5EF4-FFF2-40B4-BE49-F238E27FC236}">
                <a16:creationId xmlns:a16="http://schemas.microsoft.com/office/drawing/2014/main" id="{B34CC581-4682-B149-9739-B263FE7B3299}"/>
              </a:ext>
            </a:extLst>
          </p:cNvPr>
          <p:cNvGraphicFramePr>
            <a:graphicFrameLocks noGrp="1"/>
          </p:cNvGraphicFramePr>
          <p:nvPr/>
        </p:nvGraphicFramePr>
        <p:xfrm>
          <a:off x="7630887" y="1496514"/>
          <a:ext cx="8394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808">
                  <a:extLst>
                    <a:ext uri="{9D8B030D-6E8A-4147-A177-3AD203B41FA5}">
                      <a16:colId xmlns:a16="http://schemas.microsoft.com/office/drawing/2014/main" val="2449433316"/>
                    </a:ext>
                  </a:extLst>
                </a:gridCol>
                <a:gridCol w="279808">
                  <a:extLst>
                    <a:ext uri="{9D8B030D-6E8A-4147-A177-3AD203B41FA5}">
                      <a16:colId xmlns:a16="http://schemas.microsoft.com/office/drawing/2014/main" val="3672236743"/>
                    </a:ext>
                  </a:extLst>
                </a:gridCol>
                <a:gridCol w="279808">
                  <a:extLst>
                    <a:ext uri="{9D8B030D-6E8A-4147-A177-3AD203B41FA5}">
                      <a16:colId xmlns:a16="http://schemas.microsoft.com/office/drawing/2014/main" val="3999969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0745626"/>
                  </a:ext>
                </a:extLst>
              </a:tr>
            </a:tbl>
          </a:graphicData>
        </a:graphic>
      </p:graphicFrame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CD4F436-9D63-A942-93BC-B0AB023B2B5B}"/>
              </a:ext>
            </a:extLst>
          </p:cNvPr>
          <p:cNvCxnSpPr/>
          <p:nvPr/>
        </p:nvCxnSpPr>
        <p:spPr>
          <a:xfrm flipH="1">
            <a:off x="6791463" y="1856014"/>
            <a:ext cx="839424" cy="37446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84A02B3-F8E9-6648-A118-97E9370E90A9}"/>
              </a:ext>
            </a:extLst>
          </p:cNvPr>
          <p:cNvCxnSpPr>
            <a:cxnSpLocks/>
          </p:cNvCxnSpPr>
          <p:nvPr/>
        </p:nvCxnSpPr>
        <p:spPr>
          <a:xfrm>
            <a:off x="7855268" y="1856014"/>
            <a:ext cx="438423" cy="37265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2DC70D5-49D1-0ED8-070C-AF5F6CA0D359}"/>
              </a:ext>
            </a:extLst>
          </p:cNvPr>
          <p:cNvSpPr txBox="1"/>
          <p:nvPr/>
        </p:nvSpPr>
        <p:spPr>
          <a:xfrm>
            <a:off x="0" y="3754709"/>
            <a:ext cx="1219199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aseline="0" dirty="0">
                <a:solidFill>
                  <a:schemeClr val="bg1">
                    <a:lumMod val="75000"/>
                  </a:schemeClr>
                </a:solidFill>
              </a:rPr>
              <a:t>Iterating over keys in leaf nodes sequentially yields them in ascending order. As we have two ascending sequences of keys, we can find their union like the merge sort does.</a:t>
            </a:r>
            <a:endParaRPr lang="ru-RU" baseline="0" dirty="0">
              <a:solidFill>
                <a:schemeClr val="bg1">
                  <a:lumMod val="75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baseline="0" dirty="0">
                <a:solidFill>
                  <a:schemeClr val="bg1">
                    <a:lumMod val="75000"/>
                  </a:schemeClr>
                </a:solidFill>
              </a:rPr>
              <a:t>The output of “merge sort” can be sequentially written into pages with 2L elements each. These will be the leaf nodes of the merged tree.</a:t>
            </a:r>
            <a:endParaRPr lang="ru-RU" baseline="0" dirty="0">
              <a:solidFill>
                <a:schemeClr val="bg1">
                  <a:lumMod val="75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baseline="0" dirty="0"/>
              <a:t>For every 2L-1 adjacent leaf nodes we make an internal node pointing to them. We write such internal nodes sequentially, too.</a:t>
            </a:r>
            <a:endParaRPr lang="ru-RU" baseline="0" dirty="0"/>
          </a:p>
          <a:p>
            <a:pPr marL="342900" indent="-342900">
              <a:buFont typeface="+mj-lt"/>
              <a:buAutoNum type="arabicPeriod"/>
            </a:pPr>
            <a:r>
              <a:rPr lang="en-US" baseline="0" dirty="0"/>
              <a:t>We create upper levels of internal nodes in a similar way.</a:t>
            </a:r>
            <a:endParaRPr lang="ru-RU" baseline="0" dirty="0"/>
          </a:p>
          <a:p>
            <a:pPr marL="342900" indent="-342900">
              <a:buFont typeface="+mj-lt"/>
              <a:buAutoNum type="arabicPeriod"/>
            </a:pPr>
            <a:r>
              <a:rPr lang="en-US" baseline="0" dirty="0">
                <a:solidFill>
                  <a:schemeClr val="bg1">
                    <a:lumMod val="75000"/>
                  </a:schemeClr>
                </a:solidFill>
              </a:rPr>
              <a:t>Once we reach a level that has only one internal node, we call it the root of the merged tree.</a:t>
            </a:r>
          </a:p>
        </p:txBody>
      </p:sp>
      <p:sp>
        <p:nvSpPr>
          <p:cNvPr id="13" name="Triangle 12">
            <a:extLst>
              <a:ext uri="{FF2B5EF4-FFF2-40B4-BE49-F238E27FC236}">
                <a16:creationId xmlns:a16="http://schemas.microsoft.com/office/drawing/2014/main" id="{2962BEBA-327D-9691-50B7-DE69E0A3EFE3}"/>
              </a:ext>
            </a:extLst>
          </p:cNvPr>
          <p:cNvSpPr/>
          <p:nvPr/>
        </p:nvSpPr>
        <p:spPr>
          <a:xfrm>
            <a:off x="234055" y="1534886"/>
            <a:ext cx="1698172" cy="1709057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15" name="Triangle 14">
            <a:extLst>
              <a:ext uri="{FF2B5EF4-FFF2-40B4-BE49-F238E27FC236}">
                <a16:creationId xmlns:a16="http://schemas.microsoft.com/office/drawing/2014/main" id="{A211868B-D841-2AF3-DF5D-FAF262ABF478}"/>
              </a:ext>
            </a:extLst>
          </p:cNvPr>
          <p:cNvSpPr/>
          <p:nvPr/>
        </p:nvSpPr>
        <p:spPr>
          <a:xfrm>
            <a:off x="2320018" y="1001485"/>
            <a:ext cx="2228176" cy="2242458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7853176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365206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1329492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5060515"/>
              </p:ext>
            </p:extLst>
          </p:nvPr>
        </p:nvGraphicFramePr>
        <p:xfrm>
          <a:off x="0" y="365761"/>
          <a:ext cx="12192000" cy="4572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How to merge two</a:t>
                      </a:r>
                      <a:r>
                        <a:rPr lang="ru-RU" sz="2400" dirty="0"/>
                        <a:t> </a:t>
                      </a:r>
                      <a:r>
                        <a:rPr lang="en-US" sz="2400" dirty="0"/>
                        <a:t>B-trees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FE6920D-1A6E-CA4F-89EE-B15BA485FC7D}"/>
              </a:ext>
            </a:extLst>
          </p:cNvPr>
          <p:cNvSpPr txBox="1"/>
          <p:nvPr/>
        </p:nvSpPr>
        <p:spPr>
          <a:xfrm>
            <a:off x="2090057" y="1458686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sz="3200" dirty="0"/>
              <a:t>+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99ADD7-6543-2A40-99A2-FA70D6FF173B}"/>
              </a:ext>
            </a:extLst>
          </p:cNvPr>
          <p:cNvSpPr txBox="1"/>
          <p:nvPr/>
        </p:nvSpPr>
        <p:spPr>
          <a:xfrm>
            <a:off x="4548194" y="1458686"/>
            <a:ext cx="5148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sz="3200" dirty="0"/>
              <a:t>-&gt;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F4895F23-9FE3-0E4F-8057-AA3E8E253772}"/>
              </a:ext>
            </a:extLst>
          </p:cNvPr>
          <p:cNvGraphicFramePr>
            <a:graphicFrameLocks noGrp="1"/>
          </p:cNvGraphicFramePr>
          <p:nvPr/>
        </p:nvGraphicFramePr>
        <p:xfrm>
          <a:off x="6404196" y="2873103"/>
          <a:ext cx="563137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78626148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7332019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74147562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67516179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95294112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7642270"/>
                    </a:ext>
                  </a:extLst>
                </a:gridCol>
                <a:gridCol w="438169">
                  <a:extLst>
                    <a:ext uri="{9D8B030D-6E8A-4147-A177-3AD203B41FA5}">
                      <a16:colId xmlns:a16="http://schemas.microsoft.com/office/drawing/2014/main" val="2858643643"/>
                    </a:ext>
                  </a:extLst>
                </a:gridCol>
                <a:gridCol w="438169">
                  <a:extLst>
                    <a:ext uri="{9D8B030D-6E8A-4147-A177-3AD203B41FA5}">
                      <a16:colId xmlns:a16="http://schemas.microsoft.com/office/drawing/2014/main" val="2810943390"/>
                    </a:ext>
                  </a:extLst>
                </a:gridCol>
                <a:gridCol w="438169">
                  <a:extLst>
                    <a:ext uri="{9D8B030D-6E8A-4147-A177-3AD203B41FA5}">
                      <a16:colId xmlns:a16="http://schemas.microsoft.com/office/drawing/2014/main" val="4127657506"/>
                    </a:ext>
                  </a:extLst>
                </a:gridCol>
                <a:gridCol w="438169">
                  <a:extLst>
                    <a:ext uri="{9D8B030D-6E8A-4147-A177-3AD203B41FA5}">
                      <a16:colId xmlns:a16="http://schemas.microsoft.com/office/drawing/2014/main" val="827145752"/>
                    </a:ext>
                  </a:extLst>
                </a:gridCol>
                <a:gridCol w="438169">
                  <a:extLst>
                    <a:ext uri="{9D8B030D-6E8A-4147-A177-3AD203B41FA5}">
                      <a16:colId xmlns:a16="http://schemas.microsoft.com/office/drawing/2014/main" val="2311834231"/>
                    </a:ext>
                  </a:extLst>
                </a:gridCol>
                <a:gridCol w="438169">
                  <a:extLst>
                    <a:ext uri="{9D8B030D-6E8A-4147-A177-3AD203B41FA5}">
                      <a16:colId xmlns:a16="http://schemas.microsoft.com/office/drawing/2014/main" val="2861270231"/>
                    </a:ext>
                  </a:extLst>
                </a:gridCol>
                <a:gridCol w="438169">
                  <a:extLst>
                    <a:ext uri="{9D8B030D-6E8A-4147-A177-3AD203B41FA5}">
                      <a16:colId xmlns:a16="http://schemas.microsoft.com/office/drawing/2014/main" val="4010117732"/>
                    </a:ext>
                  </a:extLst>
                </a:gridCol>
                <a:gridCol w="438169">
                  <a:extLst>
                    <a:ext uri="{9D8B030D-6E8A-4147-A177-3AD203B41FA5}">
                      <a16:colId xmlns:a16="http://schemas.microsoft.com/office/drawing/2014/main" val="1954329265"/>
                    </a:ext>
                  </a:extLst>
                </a:gridCol>
                <a:gridCol w="438169">
                  <a:extLst>
                    <a:ext uri="{9D8B030D-6E8A-4147-A177-3AD203B41FA5}">
                      <a16:colId xmlns:a16="http://schemas.microsoft.com/office/drawing/2014/main" val="3818398413"/>
                    </a:ext>
                  </a:extLst>
                </a:gridCol>
                <a:gridCol w="438169">
                  <a:extLst>
                    <a:ext uri="{9D8B030D-6E8A-4147-A177-3AD203B41FA5}">
                      <a16:colId xmlns:a16="http://schemas.microsoft.com/office/drawing/2014/main" val="35798015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2554715"/>
                  </a:ext>
                </a:extLst>
              </a:tr>
            </a:tbl>
          </a:graphicData>
        </a:graphic>
      </p:graphicFrame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2916F093-FE29-6047-905C-7021EC3BDFB1}"/>
              </a:ext>
            </a:extLst>
          </p:cNvPr>
          <p:cNvGraphicFramePr>
            <a:graphicFrameLocks noGrp="1"/>
          </p:cNvGraphicFramePr>
          <p:nvPr/>
        </p:nvGraphicFramePr>
        <p:xfrm>
          <a:off x="6791463" y="2230483"/>
          <a:ext cx="8394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808">
                  <a:extLst>
                    <a:ext uri="{9D8B030D-6E8A-4147-A177-3AD203B41FA5}">
                      <a16:colId xmlns:a16="http://schemas.microsoft.com/office/drawing/2014/main" val="2449433316"/>
                    </a:ext>
                  </a:extLst>
                </a:gridCol>
                <a:gridCol w="279808">
                  <a:extLst>
                    <a:ext uri="{9D8B030D-6E8A-4147-A177-3AD203B41FA5}">
                      <a16:colId xmlns:a16="http://schemas.microsoft.com/office/drawing/2014/main" val="3672236743"/>
                    </a:ext>
                  </a:extLst>
                </a:gridCol>
                <a:gridCol w="279808">
                  <a:extLst>
                    <a:ext uri="{9D8B030D-6E8A-4147-A177-3AD203B41FA5}">
                      <a16:colId xmlns:a16="http://schemas.microsoft.com/office/drawing/2014/main" val="3999969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0745626"/>
                  </a:ext>
                </a:extLst>
              </a:tr>
            </a:tbl>
          </a:graphicData>
        </a:graphic>
      </p:graphicFrame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3A68867-FF2E-8E44-9978-F1760FD1211A}"/>
              </a:ext>
            </a:extLst>
          </p:cNvPr>
          <p:cNvCxnSpPr/>
          <p:nvPr/>
        </p:nvCxnSpPr>
        <p:spPr>
          <a:xfrm flipH="1">
            <a:off x="6404196" y="2601323"/>
            <a:ext cx="387267" cy="27178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147B6E7-4A1D-9846-9E4B-D6D0400AF562}"/>
              </a:ext>
            </a:extLst>
          </p:cNvPr>
          <p:cNvCxnSpPr/>
          <p:nvPr/>
        </p:nvCxnSpPr>
        <p:spPr>
          <a:xfrm>
            <a:off x="7053943" y="2601323"/>
            <a:ext cx="0" cy="27178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9BDF27B-C9F2-4149-BF6B-7E0794CEB561}"/>
              </a:ext>
            </a:extLst>
          </p:cNvPr>
          <p:cNvCxnSpPr/>
          <p:nvPr/>
        </p:nvCxnSpPr>
        <p:spPr>
          <a:xfrm>
            <a:off x="7347857" y="2601323"/>
            <a:ext cx="283030" cy="27178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le 10">
            <a:extLst>
              <a:ext uri="{FF2B5EF4-FFF2-40B4-BE49-F238E27FC236}">
                <a16:creationId xmlns:a16="http://schemas.microsoft.com/office/drawing/2014/main" id="{C9B80236-8F2A-A249-AECD-8AAE4850FA29}"/>
              </a:ext>
            </a:extLst>
          </p:cNvPr>
          <p:cNvGraphicFramePr>
            <a:graphicFrameLocks noGrp="1"/>
          </p:cNvGraphicFramePr>
          <p:nvPr/>
        </p:nvGraphicFramePr>
        <p:xfrm>
          <a:off x="8293691" y="2230483"/>
          <a:ext cx="8394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808">
                  <a:extLst>
                    <a:ext uri="{9D8B030D-6E8A-4147-A177-3AD203B41FA5}">
                      <a16:colId xmlns:a16="http://schemas.microsoft.com/office/drawing/2014/main" val="2449433316"/>
                    </a:ext>
                  </a:extLst>
                </a:gridCol>
                <a:gridCol w="279808">
                  <a:extLst>
                    <a:ext uri="{9D8B030D-6E8A-4147-A177-3AD203B41FA5}">
                      <a16:colId xmlns:a16="http://schemas.microsoft.com/office/drawing/2014/main" val="3672236743"/>
                    </a:ext>
                  </a:extLst>
                </a:gridCol>
                <a:gridCol w="279808">
                  <a:extLst>
                    <a:ext uri="{9D8B030D-6E8A-4147-A177-3AD203B41FA5}">
                      <a16:colId xmlns:a16="http://schemas.microsoft.com/office/drawing/2014/main" val="3999969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0745626"/>
                  </a:ext>
                </a:extLst>
              </a:tr>
            </a:tbl>
          </a:graphicData>
        </a:graphic>
      </p:graphicFrame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4FEDBCA-6800-484E-ACE7-B0A9842709D5}"/>
              </a:ext>
            </a:extLst>
          </p:cNvPr>
          <p:cNvCxnSpPr/>
          <p:nvPr/>
        </p:nvCxnSpPr>
        <p:spPr>
          <a:xfrm flipH="1">
            <a:off x="8098971" y="2601323"/>
            <a:ext cx="217715" cy="27178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818F437-C96C-5F4D-B701-83ED15E4D341}"/>
              </a:ext>
            </a:extLst>
          </p:cNvPr>
          <p:cNvSpPr txBox="1"/>
          <p:nvPr/>
        </p:nvSpPr>
        <p:spPr>
          <a:xfrm>
            <a:off x="9795919" y="2180590"/>
            <a:ext cx="404199" cy="37084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RU" dirty="0"/>
              <a:t>...</a:t>
            </a:r>
          </a:p>
        </p:txBody>
      </p:sp>
      <p:graphicFrame>
        <p:nvGraphicFramePr>
          <p:cNvPr id="21" name="Table 10">
            <a:extLst>
              <a:ext uri="{FF2B5EF4-FFF2-40B4-BE49-F238E27FC236}">
                <a16:creationId xmlns:a16="http://schemas.microsoft.com/office/drawing/2014/main" id="{B34CC581-4682-B149-9739-B263FE7B3299}"/>
              </a:ext>
            </a:extLst>
          </p:cNvPr>
          <p:cNvGraphicFramePr>
            <a:graphicFrameLocks noGrp="1"/>
          </p:cNvGraphicFramePr>
          <p:nvPr/>
        </p:nvGraphicFramePr>
        <p:xfrm>
          <a:off x="7630887" y="1496514"/>
          <a:ext cx="8394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808">
                  <a:extLst>
                    <a:ext uri="{9D8B030D-6E8A-4147-A177-3AD203B41FA5}">
                      <a16:colId xmlns:a16="http://schemas.microsoft.com/office/drawing/2014/main" val="2449433316"/>
                    </a:ext>
                  </a:extLst>
                </a:gridCol>
                <a:gridCol w="279808">
                  <a:extLst>
                    <a:ext uri="{9D8B030D-6E8A-4147-A177-3AD203B41FA5}">
                      <a16:colId xmlns:a16="http://schemas.microsoft.com/office/drawing/2014/main" val="3672236743"/>
                    </a:ext>
                  </a:extLst>
                </a:gridCol>
                <a:gridCol w="279808">
                  <a:extLst>
                    <a:ext uri="{9D8B030D-6E8A-4147-A177-3AD203B41FA5}">
                      <a16:colId xmlns:a16="http://schemas.microsoft.com/office/drawing/2014/main" val="3999969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0745626"/>
                  </a:ext>
                </a:extLst>
              </a:tr>
            </a:tbl>
          </a:graphicData>
        </a:graphic>
      </p:graphicFrame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CD4F436-9D63-A942-93BC-B0AB023B2B5B}"/>
              </a:ext>
            </a:extLst>
          </p:cNvPr>
          <p:cNvCxnSpPr/>
          <p:nvPr/>
        </p:nvCxnSpPr>
        <p:spPr>
          <a:xfrm flipH="1">
            <a:off x="6791463" y="1856014"/>
            <a:ext cx="839424" cy="37446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84A02B3-F8E9-6648-A118-97E9370E90A9}"/>
              </a:ext>
            </a:extLst>
          </p:cNvPr>
          <p:cNvCxnSpPr>
            <a:cxnSpLocks/>
          </p:cNvCxnSpPr>
          <p:nvPr/>
        </p:nvCxnSpPr>
        <p:spPr>
          <a:xfrm>
            <a:off x="7855268" y="1856014"/>
            <a:ext cx="438423" cy="37265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" name="Table 10">
            <a:extLst>
              <a:ext uri="{FF2B5EF4-FFF2-40B4-BE49-F238E27FC236}">
                <a16:creationId xmlns:a16="http://schemas.microsoft.com/office/drawing/2014/main" id="{A58DB26E-F020-1641-B364-7515120E683F}"/>
              </a:ext>
            </a:extLst>
          </p:cNvPr>
          <p:cNvGraphicFramePr>
            <a:graphicFrameLocks noGrp="1"/>
          </p:cNvGraphicFramePr>
          <p:nvPr/>
        </p:nvGraphicFramePr>
        <p:xfrm>
          <a:off x="9376207" y="884102"/>
          <a:ext cx="8394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9424">
                  <a:extLst>
                    <a:ext uri="{9D8B030D-6E8A-4147-A177-3AD203B41FA5}">
                      <a16:colId xmlns:a16="http://schemas.microsoft.com/office/drawing/2014/main" val="24494333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RU" dirty="0"/>
                        <a:t>root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0745626"/>
                  </a:ext>
                </a:extLst>
              </a:tr>
            </a:tbl>
          </a:graphicData>
        </a:graphic>
      </p:graphicFrame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B214858-FC47-2749-8304-EDB797AAD2AE}"/>
              </a:ext>
            </a:extLst>
          </p:cNvPr>
          <p:cNvCxnSpPr/>
          <p:nvPr/>
        </p:nvCxnSpPr>
        <p:spPr>
          <a:xfrm flipH="1">
            <a:off x="7630887" y="1254942"/>
            <a:ext cx="1745320" cy="20374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E42743B-A1D1-3462-C6F7-E50C8897DA3B}"/>
              </a:ext>
            </a:extLst>
          </p:cNvPr>
          <p:cNvSpPr txBox="1"/>
          <p:nvPr/>
        </p:nvSpPr>
        <p:spPr>
          <a:xfrm>
            <a:off x="0" y="3754709"/>
            <a:ext cx="1219199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aseline="0" dirty="0">
                <a:solidFill>
                  <a:schemeClr val="bg1">
                    <a:lumMod val="75000"/>
                  </a:schemeClr>
                </a:solidFill>
              </a:rPr>
              <a:t>Iterating over keys in leaf nodes sequentially yields them in ascending order. As we have two ascending sequences of keys, we can find their union like the merge sort does.</a:t>
            </a:r>
            <a:endParaRPr lang="ru-RU" baseline="0" dirty="0">
              <a:solidFill>
                <a:schemeClr val="bg1">
                  <a:lumMod val="75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baseline="0" dirty="0">
                <a:solidFill>
                  <a:schemeClr val="bg1">
                    <a:lumMod val="75000"/>
                  </a:schemeClr>
                </a:solidFill>
              </a:rPr>
              <a:t>The output of “merge sort” can be sequentially written into pages with 2L elements each. These will be the leaf nodes of the merged tree.</a:t>
            </a:r>
            <a:endParaRPr lang="ru-RU" baseline="0" dirty="0">
              <a:solidFill>
                <a:schemeClr val="bg1">
                  <a:lumMod val="75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baseline="0" dirty="0">
                <a:solidFill>
                  <a:schemeClr val="bg1">
                    <a:lumMod val="75000"/>
                  </a:schemeClr>
                </a:solidFill>
              </a:rPr>
              <a:t>For every 2L-1 adjacent leaf nodes we make an internal node pointing to them. We write such internal nodes sequentially, too.</a:t>
            </a:r>
            <a:endParaRPr lang="ru-RU" baseline="0" dirty="0">
              <a:solidFill>
                <a:schemeClr val="bg1">
                  <a:lumMod val="75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baseline="0" dirty="0">
                <a:solidFill>
                  <a:schemeClr val="bg1">
                    <a:lumMod val="75000"/>
                  </a:schemeClr>
                </a:solidFill>
              </a:rPr>
              <a:t>We create upper levels of internal nodes in a similar way.</a:t>
            </a:r>
            <a:endParaRPr lang="ru-RU" baseline="0" dirty="0">
              <a:solidFill>
                <a:schemeClr val="bg1">
                  <a:lumMod val="75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baseline="0" dirty="0"/>
              <a:t>Once we reach a level that has only one internal node, we call it the root of the merged tree.</a:t>
            </a:r>
          </a:p>
        </p:txBody>
      </p:sp>
      <p:sp>
        <p:nvSpPr>
          <p:cNvPr id="13" name="Triangle 12">
            <a:extLst>
              <a:ext uri="{FF2B5EF4-FFF2-40B4-BE49-F238E27FC236}">
                <a16:creationId xmlns:a16="http://schemas.microsoft.com/office/drawing/2014/main" id="{761A2C15-5AE1-AD95-A53F-B102D36DF292}"/>
              </a:ext>
            </a:extLst>
          </p:cNvPr>
          <p:cNvSpPr/>
          <p:nvPr/>
        </p:nvSpPr>
        <p:spPr>
          <a:xfrm>
            <a:off x="234055" y="1534886"/>
            <a:ext cx="1698172" cy="1709057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15" name="Triangle 14">
            <a:extLst>
              <a:ext uri="{FF2B5EF4-FFF2-40B4-BE49-F238E27FC236}">
                <a16:creationId xmlns:a16="http://schemas.microsoft.com/office/drawing/2014/main" id="{299B7978-DF4C-AE73-B66C-EBBD1F0AE4D1}"/>
              </a:ext>
            </a:extLst>
          </p:cNvPr>
          <p:cNvSpPr/>
          <p:nvPr/>
        </p:nvSpPr>
        <p:spPr>
          <a:xfrm>
            <a:off x="2320018" y="1001485"/>
            <a:ext cx="2228176" cy="2242458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8251700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95E55-23BB-4D2D-D7C7-4C054C0A8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1C1A0D2-A23C-27D4-7869-FA72E4E9FC0F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7DF6B28-B754-1F0E-8991-87E802FE2948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DE99651-C985-DADE-1E44-0C9228C8C2CE}"/>
              </a:ext>
            </a:extLst>
          </p:cNvPr>
          <p:cNvGraphicFramePr>
            <a:graphicFrameLocks noGrp="1"/>
          </p:cNvGraphicFramePr>
          <p:nvPr/>
        </p:nvGraphicFramePr>
        <p:xfrm>
          <a:off x="0" y="365761"/>
          <a:ext cx="12192000" cy="4572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How to merge two</a:t>
                      </a:r>
                      <a:r>
                        <a:rPr lang="ru-RU" sz="2400" dirty="0"/>
                        <a:t> </a:t>
                      </a:r>
                      <a:r>
                        <a:rPr lang="en-US" sz="2400" dirty="0"/>
                        <a:t>B-trees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A9D44E2-1B89-BADA-2559-D9DF637C585B}"/>
              </a:ext>
            </a:extLst>
          </p:cNvPr>
          <p:cNvSpPr txBox="1"/>
          <p:nvPr/>
        </p:nvSpPr>
        <p:spPr>
          <a:xfrm>
            <a:off x="2090057" y="1458686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sz="3200" dirty="0"/>
              <a:t>+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66AA6A-2C25-0D74-48EE-321B6DFCA5EA}"/>
              </a:ext>
            </a:extLst>
          </p:cNvPr>
          <p:cNvSpPr txBox="1"/>
          <p:nvPr/>
        </p:nvSpPr>
        <p:spPr>
          <a:xfrm>
            <a:off x="4548194" y="1458686"/>
            <a:ext cx="5148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sz="3200" dirty="0"/>
              <a:t>-&gt;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4F3D0D48-DEFE-91DF-F28B-EEAA1565CFE8}"/>
              </a:ext>
            </a:extLst>
          </p:cNvPr>
          <p:cNvGraphicFramePr>
            <a:graphicFrameLocks noGrp="1"/>
          </p:cNvGraphicFramePr>
          <p:nvPr/>
        </p:nvGraphicFramePr>
        <p:xfrm>
          <a:off x="6404196" y="2873103"/>
          <a:ext cx="563137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78626148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7332019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74147562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67516179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95294112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7642270"/>
                    </a:ext>
                  </a:extLst>
                </a:gridCol>
                <a:gridCol w="438169">
                  <a:extLst>
                    <a:ext uri="{9D8B030D-6E8A-4147-A177-3AD203B41FA5}">
                      <a16:colId xmlns:a16="http://schemas.microsoft.com/office/drawing/2014/main" val="2858643643"/>
                    </a:ext>
                  </a:extLst>
                </a:gridCol>
                <a:gridCol w="438169">
                  <a:extLst>
                    <a:ext uri="{9D8B030D-6E8A-4147-A177-3AD203B41FA5}">
                      <a16:colId xmlns:a16="http://schemas.microsoft.com/office/drawing/2014/main" val="2810943390"/>
                    </a:ext>
                  </a:extLst>
                </a:gridCol>
                <a:gridCol w="438169">
                  <a:extLst>
                    <a:ext uri="{9D8B030D-6E8A-4147-A177-3AD203B41FA5}">
                      <a16:colId xmlns:a16="http://schemas.microsoft.com/office/drawing/2014/main" val="4127657506"/>
                    </a:ext>
                  </a:extLst>
                </a:gridCol>
                <a:gridCol w="438169">
                  <a:extLst>
                    <a:ext uri="{9D8B030D-6E8A-4147-A177-3AD203B41FA5}">
                      <a16:colId xmlns:a16="http://schemas.microsoft.com/office/drawing/2014/main" val="827145752"/>
                    </a:ext>
                  </a:extLst>
                </a:gridCol>
                <a:gridCol w="438169">
                  <a:extLst>
                    <a:ext uri="{9D8B030D-6E8A-4147-A177-3AD203B41FA5}">
                      <a16:colId xmlns:a16="http://schemas.microsoft.com/office/drawing/2014/main" val="2311834231"/>
                    </a:ext>
                  </a:extLst>
                </a:gridCol>
                <a:gridCol w="438169">
                  <a:extLst>
                    <a:ext uri="{9D8B030D-6E8A-4147-A177-3AD203B41FA5}">
                      <a16:colId xmlns:a16="http://schemas.microsoft.com/office/drawing/2014/main" val="2861270231"/>
                    </a:ext>
                  </a:extLst>
                </a:gridCol>
                <a:gridCol w="438169">
                  <a:extLst>
                    <a:ext uri="{9D8B030D-6E8A-4147-A177-3AD203B41FA5}">
                      <a16:colId xmlns:a16="http://schemas.microsoft.com/office/drawing/2014/main" val="4010117732"/>
                    </a:ext>
                  </a:extLst>
                </a:gridCol>
                <a:gridCol w="438169">
                  <a:extLst>
                    <a:ext uri="{9D8B030D-6E8A-4147-A177-3AD203B41FA5}">
                      <a16:colId xmlns:a16="http://schemas.microsoft.com/office/drawing/2014/main" val="1954329265"/>
                    </a:ext>
                  </a:extLst>
                </a:gridCol>
                <a:gridCol w="438169">
                  <a:extLst>
                    <a:ext uri="{9D8B030D-6E8A-4147-A177-3AD203B41FA5}">
                      <a16:colId xmlns:a16="http://schemas.microsoft.com/office/drawing/2014/main" val="3818398413"/>
                    </a:ext>
                  </a:extLst>
                </a:gridCol>
                <a:gridCol w="438169">
                  <a:extLst>
                    <a:ext uri="{9D8B030D-6E8A-4147-A177-3AD203B41FA5}">
                      <a16:colId xmlns:a16="http://schemas.microsoft.com/office/drawing/2014/main" val="35798015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2554715"/>
                  </a:ext>
                </a:extLst>
              </a:tr>
            </a:tbl>
          </a:graphicData>
        </a:graphic>
      </p:graphicFrame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559B39B9-F46B-7EA0-89AB-380466A43D49}"/>
              </a:ext>
            </a:extLst>
          </p:cNvPr>
          <p:cNvGraphicFramePr>
            <a:graphicFrameLocks noGrp="1"/>
          </p:cNvGraphicFramePr>
          <p:nvPr/>
        </p:nvGraphicFramePr>
        <p:xfrm>
          <a:off x="6791463" y="2230483"/>
          <a:ext cx="8394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808">
                  <a:extLst>
                    <a:ext uri="{9D8B030D-6E8A-4147-A177-3AD203B41FA5}">
                      <a16:colId xmlns:a16="http://schemas.microsoft.com/office/drawing/2014/main" val="2449433316"/>
                    </a:ext>
                  </a:extLst>
                </a:gridCol>
                <a:gridCol w="279808">
                  <a:extLst>
                    <a:ext uri="{9D8B030D-6E8A-4147-A177-3AD203B41FA5}">
                      <a16:colId xmlns:a16="http://schemas.microsoft.com/office/drawing/2014/main" val="3672236743"/>
                    </a:ext>
                  </a:extLst>
                </a:gridCol>
                <a:gridCol w="279808">
                  <a:extLst>
                    <a:ext uri="{9D8B030D-6E8A-4147-A177-3AD203B41FA5}">
                      <a16:colId xmlns:a16="http://schemas.microsoft.com/office/drawing/2014/main" val="3999969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0745626"/>
                  </a:ext>
                </a:extLst>
              </a:tr>
            </a:tbl>
          </a:graphicData>
        </a:graphic>
      </p:graphicFrame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27BADA2-CC01-572E-189D-40F2A5DB68AC}"/>
              </a:ext>
            </a:extLst>
          </p:cNvPr>
          <p:cNvCxnSpPr/>
          <p:nvPr/>
        </p:nvCxnSpPr>
        <p:spPr>
          <a:xfrm flipH="1">
            <a:off x="6404196" y="2601323"/>
            <a:ext cx="387267" cy="27178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6E63A5C-A95C-729A-AECA-7A5149E3D489}"/>
              </a:ext>
            </a:extLst>
          </p:cNvPr>
          <p:cNvCxnSpPr/>
          <p:nvPr/>
        </p:nvCxnSpPr>
        <p:spPr>
          <a:xfrm>
            <a:off x="7053943" y="2601323"/>
            <a:ext cx="0" cy="27178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0F30F0D-4151-5278-A2D0-526E38030BB6}"/>
              </a:ext>
            </a:extLst>
          </p:cNvPr>
          <p:cNvCxnSpPr/>
          <p:nvPr/>
        </p:nvCxnSpPr>
        <p:spPr>
          <a:xfrm>
            <a:off x="7347857" y="2601323"/>
            <a:ext cx="283030" cy="27178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le 10">
            <a:extLst>
              <a:ext uri="{FF2B5EF4-FFF2-40B4-BE49-F238E27FC236}">
                <a16:creationId xmlns:a16="http://schemas.microsoft.com/office/drawing/2014/main" id="{5FF1EA96-E1AE-44E6-EED8-0EA997446E1C}"/>
              </a:ext>
            </a:extLst>
          </p:cNvPr>
          <p:cNvGraphicFramePr>
            <a:graphicFrameLocks noGrp="1"/>
          </p:cNvGraphicFramePr>
          <p:nvPr/>
        </p:nvGraphicFramePr>
        <p:xfrm>
          <a:off x="8293691" y="2230483"/>
          <a:ext cx="8394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808">
                  <a:extLst>
                    <a:ext uri="{9D8B030D-6E8A-4147-A177-3AD203B41FA5}">
                      <a16:colId xmlns:a16="http://schemas.microsoft.com/office/drawing/2014/main" val="2449433316"/>
                    </a:ext>
                  </a:extLst>
                </a:gridCol>
                <a:gridCol w="279808">
                  <a:extLst>
                    <a:ext uri="{9D8B030D-6E8A-4147-A177-3AD203B41FA5}">
                      <a16:colId xmlns:a16="http://schemas.microsoft.com/office/drawing/2014/main" val="3672236743"/>
                    </a:ext>
                  </a:extLst>
                </a:gridCol>
                <a:gridCol w="279808">
                  <a:extLst>
                    <a:ext uri="{9D8B030D-6E8A-4147-A177-3AD203B41FA5}">
                      <a16:colId xmlns:a16="http://schemas.microsoft.com/office/drawing/2014/main" val="3999969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0745626"/>
                  </a:ext>
                </a:extLst>
              </a:tr>
            </a:tbl>
          </a:graphicData>
        </a:graphic>
      </p:graphicFrame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F3272C8-339A-6680-254C-04AEA67FD04B}"/>
              </a:ext>
            </a:extLst>
          </p:cNvPr>
          <p:cNvCxnSpPr/>
          <p:nvPr/>
        </p:nvCxnSpPr>
        <p:spPr>
          <a:xfrm flipH="1">
            <a:off x="8098971" y="2601323"/>
            <a:ext cx="217715" cy="27178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5D781E3-E5D0-5F6B-8033-79A110DFDE22}"/>
              </a:ext>
            </a:extLst>
          </p:cNvPr>
          <p:cNvSpPr txBox="1"/>
          <p:nvPr/>
        </p:nvSpPr>
        <p:spPr>
          <a:xfrm>
            <a:off x="9795919" y="2180590"/>
            <a:ext cx="404199" cy="37084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RU" dirty="0"/>
              <a:t>...</a:t>
            </a:r>
          </a:p>
        </p:txBody>
      </p:sp>
      <p:graphicFrame>
        <p:nvGraphicFramePr>
          <p:cNvPr id="21" name="Table 10">
            <a:extLst>
              <a:ext uri="{FF2B5EF4-FFF2-40B4-BE49-F238E27FC236}">
                <a16:creationId xmlns:a16="http://schemas.microsoft.com/office/drawing/2014/main" id="{80BB71F4-5ACB-3105-DB61-69D620AF46DD}"/>
              </a:ext>
            </a:extLst>
          </p:cNvPr>
          <p:cNvGraphicFramePr>
            <a:graphicFrameLocks noGrp="1"/>
          </p:cNvGraphicFramePr>
          <p:nvPr/>
        </p:nvGraphicFramePr>
        <p:xfrm>
          <a:off x="7630887" y="1496514"/>
          <a:ext cx="8394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808">
                  <a:extLst>
                    <a:ext uri="{9D8B030D-6E8A-4147-A177-3AD203B41FA5}">
                      <a16:colId xmlns:a16="http://schemas.microsoft.com/office/drawing/2014/main" val="2449433316"/>
                    </a:ext>
                  </a:extLst>
                </a:gridCol>
                <a:gridCol w="279808">
                  <a:extLst>
                    <a:ext uri="{9D8B030D-6E8A-4147-A177-3AD203B41FA5}">
                      <a16:colId xmlns:a16="http://schemas.microsoft.com/office/drawing/2014/main" val="3672236743"/>
                    </a:ext>
                  </a:extLst>
                </a:gridCol>
                <a:gridCol w="279808">
                  <a:extLst>
                    <a:ext uri="{9D8B030D-6E8A-4147-A177-3AD203B41FA5}">
                      <a16:colId xmlns:a16="http://schemas.microsoft.com/office/drawing/2014/main" val="3999969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0745626"/>
                  </a:ext>
                </a:extLst>
              </a:tr>
            </a:tbl>
          </a:graphicData>
        </a:graphic>
      </p:graphicFrame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63527EF-4E37-F2A1-F22A-7DE5E2C0365C}"/>
              </a:ext>
            </a:extLst>
          </p:cNvPr>
          <p:cNvCxnSpPr/>
          <p:nvPr/>
        </p:nvCxnSpPr>
        <p:spPr>
          <a:xfrm flipH="1">
            <a:off x="6791463" y="1856014"/>
            <a:ext cx="839424" cy="37446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C4CCD3A-911E-6374-8A1E-AE5E1CB3AFF4}"/>
              </a:ext>
            </a:extLst>
          </p:cNvPr>
          <p:cNvCxnSpPr>
            <a:cxnSpLocks/>
          </p:cNvCxnSpPr>
          <p:nvPr/>
        </p:nvCxnSpPr>
        <p:spPr>
          <a:xfrm>
            <a:off x="7855268" y="1856014"/>
            <a:ext cx="438423" cy="37265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" name="Table 10">
            <a:extLst>
              <a:ext uri="{FF2B5EF4-FFF2-40B4-BE49-F238E27FC236}">
                <a16:creationId xmlns:a16="http://schemas.microsoft.com/office/drawing/2014/main" id="{8ED451F4-3192-7230-A3DE-63356CE69068}"/>
              </a:ext>
            </a:extLst>
          </p:cNvPr>
          <p:cNvGraphicFramePr>
            <a:graphicFrameLocks noGrp="1"/>
          </p:cNvGraphicFramePr>
          <p:nvPr/>
        </p:nvGraphicFramePr>
        <p:xfrm>
          <a:off x="9376207" y="884102"/>
          <a:ext cx="8394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9424">
                  <a:extLst>
                    <a:ext uri="{9D8B030D-6E8A-4147-A177-3AD203B41FA5}">
                      <a16:colId xmlns:a16="http://schemas.microsoft.com/office/drawing/2014/main" val="24494333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RU" dirty="0"/>
                        <a:t>root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0745626"/>
                  </a:ext>
                </a:extLst>
              </a:tr>
            </a:tbl>
          </a:graphicData>
        </a:graphic>
      </p:graphicFrame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0255703-DAD1-C445-99A5-A782A5C6417E}"/>
              </a:ext>
            </a:extLst>
          </p:cNvPr>
          <p:cNvCxnSpPr/>
          <p:nvPr/>
        </p:nvCxnSpPr>
        <p:spPr>
          <a:xfrm flipH="1">
            <a:off x="7630887" y="1254942"/>
            <a:ext cx="1745320" cy="20374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F9E09E9-5EA9-565C-283D-63DCC4BEFFA9}"/>
              </a:ext>
            </a:extLst>
          </p:cNvPr>
          <p:cNvSpPr txBox="1"/>
          <p:nvPr/>
        </p:nvSpPr>
        <p:spPr>
          <a:xfrm>
            <a:off x="0" y="3754709"/>
            <a:ext cx="121919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Font typeface="+mj-lt"/>
              <a:buNone/>
            </a:pPr>
            <a:r>
              <a:rPr lang="en-US" baseline="0" dirty="0"/>
              <a:t>Key properties</a:t>
            </a:r>
            <a:r>
              <a:rPr lang="ru-RU" baseline="0" dirty="0"/>
              <a:t>:</a:t>
            </a:r>
          </a:p>
          <a:p>
            <a:pPr marL="285750" indent="-285750">
              <a:buFont typeface="Arial" charset="0"/>
              <a:buChar char="•"/>
            </a:pPr>
            <a:r>
              <a:rPr lang="en-US" baseline="0" dirty="0"/>
              <a:t>Reading leaf nodes of input trees issues mostly sequential reads from input trees.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lang="en-US" baseline="0" dirty="0"/>
              <a:t>Nodes of the output tree are written sequentially</a:t>
            </a:r>
            <a:r>
              <a:rPr lang="ru-RU" baseline="0" dirty="0"/>
              <a:t>.</a:t>
            </a:r>
            <a:endParaRPr lang="en-US" baseline="0" dirty="0"/>
          </a:p>
          <a:p>
            <a:pPr marL="285750" indent="-285750">
              <a:buFont typeface="Arial" charset="0"/>
              <a:buChar char="•"/>
            </a:pPr>
            <a:r>
              <a:rPr lang="en-US" baseline="0" dirty="0"/>
              <a:t>If the input trees were produced by merging smaller trees, then reads from leaf nodes are purely sequential.</a:t>
            </a:r>
            <a:endParaRPr lang="ru-RU" baseline="0" dirty="0"/>
          </a:p>
        </p:txBody>
      </p:sp>
      <p:sp>
        <p:nvSpPr>
          <p:cNvPr id="13" name="Triangle 12">
            <a:extLst>
              <a:ext uri="{FF2B5EF4-FFF2-40B4-BE49-F238E27FC236}">
                <a16:creationId xmlns:a16="http://schemas.microsoft.com/office/drawing/2014/main" id="{41F94F2D-8067-DE65-1BE6-72D378635FFA}"/>
              </a:ext>
            </a:extLst>
          </p:cNvPr>
          <p:cNvSpPr/>
          <p:nvPr/>
        </p:nvSpPr>
        <p:spPr>
          <a:xfrm>
            <a:off x="234055" y="1534886"/>
            <a:ext cx="1698172" cy="1709057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15" name="Triangle 14">
            <a:extLst>
              <a:ext uri="{FF2B5EF4-FFF2-40B4-BE49-F238E27FC236}">
                <a16:creationId xmlns:a16="http://schemas.microsoft.com/office/drawing/2014/main" id="{9981405D-E89C-0FCB-5CF8-97D744D2A52B}"/>
              </a:ext>
            </a:extLst>
          </p:cNvPr>
          <p:cNvSpPr/>
          <p:nvPr/>
        </p:nvSpPr>
        <p:spPr>
          <a:xfrm>
            <a:off x="2320018" y="1001485"/>
            <a:ext cx="2228176" cy="2242458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8250696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8271016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6069006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0826678"/>
              </p:ext>
            </p:extLst>
          </p:nvPr>
        </p:nvGraphicFramePr>
        <p:xfrm>
          <a:off x="0" y="365761"/>
          <a:ext cx="12192000" cy="16459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Log-Structured Merge Tree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aseline="0" dirty="0"/>
                        <a:t>The algorithm for merging B-trees may be used to create a data structure that has very fast inserts, and avoids random IO needed to rebalance B-trees.</a:t>
                      </a:r>
                    </a:p>
                    <a:p>
                      <a:endParaRPr lang="en-US" baseline="0" dirty="0"/>
                    </a:p>
                    <a:p>
                      <a:r>
                        <a:rPr lang="en-US" baseline="0" dirty="0"/>
                        <a:t>It is friendly towards HDDs and SSDs, but it is especially well-suited to cloud object storages.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76340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E9D17-DC58-0162-89D8-E0DEAE1AC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520D01E-E20E-0211-34E2-5C0C412C8283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98ABBD6-9A8F-5701-6456-3C32BA7F9285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53FB250-6325-4BE1-C959-9380769FAC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451232"/>
              </p:ext>
            </p:extLst>
          </p:nvPr>
        </p:nvGraphicFramePr>
        <p:xfrm>
          <a:off x="0" y="365761"/>
          <a:ext cx="12192000" cy="493776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Log-Structured Merge Tree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An LSM tree</a:t>
                      </a:r>
                      <a:r>
                        <a:rPr lang="ru-RU" dirty="0"/>
                        <a:t> </a:t>
                      </a:r>
                      <a:r>
                        <a:rPr lang="en-US" dirty="0"/>
                        <a:t>is a sequence of</a:t>
                      </a:r>
                      <a:r>
                        <a:rPr lang="ru-RU" baseline="0" dirty="0"/>
                        <a:t> </a:t>
                      </a:r>
                      <a:r>
                        <a:rPr lang="en-US" baseline="0" dirty="0"/>
                        <a:t>B-trees</a:t>
                      </a:r>
                      <a:r>
                        <a:rPr lang="ru-RU" baseline="0" dirty="0"/>
                        <a:t>.</a:t>
                      </a:r>
                    </a:p>
                    <a:p>
                      <a:endParaRPr lang="ru-RU" baseline="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aseline="0" dirty="0"/>
                        <a:t>One searches for an item in a LSM tree by searching all member trees</a:t>
                      </a:r>
                      <a:r>
                        <a:rPr lang="ru-RU" baseline="0" dirty="0"/>
                        <a:t> </a:t>
                      </a:r>
                      <a:r>
                        <a:rPr lang="en-US" baseline="0" dirty="0"/>
                        <a:t>T</a:t>
                      </a:r>
                      <a:r>
                        <a:rPr lang="en-US" baseline="-25000" dirty="0"/>
                        <a:t>0</a:t>
                      </a:r>
                      <a:r>
                        <a:rPr lang="en-US" baseline="0" dirty="0"/>
                        <a:t>, T</a:t>
                      </a:r>
                      <a:r>
                        <a:rPr lang="en-US" baseline="-25000" dirty="0"/>
                        <a:t>1</a:t>
                      </a:r>
                      <a:r>
                        <a:rPr lang="en-US" baseline="0" dirty="0"/>
                        <a:t>, …,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aseline="0" dirty="0"/>
                        <a:t>Inserts go to</a:t>
                      </a:r>
                      <a:r>
                        <a:rPr lang="ru-RU" baseline="0" dirty="0"/>
                        <a:t> </a:t>
                      </a:r>
                      <a:r>
                        <a:rPr lang="en-US" baseline="0" dirty="0"/>
                        <a:t>T</a:t>
                      </a:r>
                      <a:r>
                        <a:rPr lang="en-US" baseline="-25000" dirty="0"/>
                        <a:t>0</a:t>
                      </a:r>
                      <a:r>
                        <a:rPr lang="en-US" baseline="0" dirty="0"/>
                        <a:t>,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aseline="0" dirty="0"/>
                        <a:t>T</a:t>
                      </a:r>
                      <a:r>
                        <a:rPr lang="en-US" baseline="-25000" dirty="0"/>
                        <a:t>0</a:t>
                      </a:r>
                      <a:r>
                        <a:rPr lang="en-US" baseline="0" dirty="0"/>
                        <a:t> is stored in the RAM which guarantees fast inserts</a:t>
                      </a:r>
                      <a:r>
                        <a:rPr lang="ru-RU" baseline="0" dirty="0"/>
                        <a:t>,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aseline="0" dirty="0"/>
                        <a:t>When a tree</a:t>
                      </a:r>
                      <a:r>
                        <a:rPr lang="ru-RU" baseline="0" dirty="0"/>
                        <a:t> </a:t>
                      </a:r>
                      <a:r>
                        <a:rPr lang="en-US" baseline="0" dirty="0"/>
                        <a:t>T</a:t>
                      </a:r>
                      <a:r>
                        <a:rPr lang="en-US" baseline="-25000" dirty="0"/>
                        <a:t>i</a:t>
                      </a:r>
                      <a:r>
                        <a:rPr lang="en-US" baseline="0" dirty="0"/>
                        <a:t> grows “too big”, it is merged into T</a:t>
                      </a:r>
                      <a:r>
                        <a:rPr lang="en-US" baseline="-25000" dirty="0"/>
                        <a:t>i+1</a:t>
                      </a:r>
                      <a:br>
                        <a:rPr lang="ru-RU" baseline="0" dirty="0"/>
                      </a:br>
                      <a:r>
                        <a:rPr lang="en-US" baseline="0" dirty="0"/>
                        <a:t>and the old T</a:t>
                      </a:r>
                      <a:r>
                        <a:rPr lang="en-US" baseline="-25000" dirty="0"/>
                        <a:t>i</a:t>
                      </a:r>
                      <a:r>
                        <a:rPr lang="en-US" baseline="0" dirty="0"/>
                        <a:t> is removed, </a:t>
                      </a:r>
                      <a:endParaRPr lang="ru-RU" baseline="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Deleting an item is implemented by inserting a deletion marker.*</a:t>
                      </a:r>
                      <a:r>
                        <a:rPr lang="ru-RU" dirty="0"/>
                        <a:t>.</a:t>
                      </a:r>
                      <a:br>
                        <a:rPr lang="en-US" dirty="0"/>
                      </a:br>
                      <a:r>
                        <a:rPr lang="en-US" dirty="0"/>
                        <a:t>Both an item and a deletion marker will be erased from the disk during</a:t>
                      </a:r>
                      <a:br>
                        <a:rPr lang="en-US" dirty="0"/>
                      </a:br>
                      <a:r>
                        <a:rPr lang="en-US" dirty="0"/>
                        <a:t>a subsequent merge</a:t>
                      </a:r>
                      <a:r>
                        <a:rPr lang="ru-RU" dirty="0"/>
                        <a:t>.</a:t>
                      </a:r>
                      <a:endParaRPr lang="en-US" dirty="0"/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baseline="0" dirty="0"/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b="1" baseline="0" dirty="0"/>
                        <a:t>Fact</a:t>
                      </a:r>
                      <a:r>
                        <a:rPr lang="ru-RU" b="1" baseline="0" dirty="0"/>
                        <a:t>:</a:t>
                      </a:r>
                      <a:r>
                        <a:rPr lang="ru-RU" baseline="0" dirty="0"/>
                        <a:t> </a:t>
                      </a:r>
                      <a:r>
                        <a:rPr lang="en-US" baseline="0" dirty="0"/>
                        <a:t>the overhead of merges is </a:t>
                      </a:r>
                      <a:r>
                        <a:rPr lang="en-US" baseline="0" dirty="0" err="1"/>
                        <a:t>minimised</a:t>
                      </a:r>
                      <a:r>
                        <a:rPr lang="en-US" baseline="0" dirty="0"/>
                        <a:t> if the max sizes of member trees are a geometric progression.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baseline="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baseline="0" dirty="0">
                          <a:hlinkClick r:id="rId3"/>
                        </a:rPr>
                        <a:t>https://www.cs.umb.edu/~poneil/lsmtree.pdf</a:t>
                      </a:r>
                      <a:endParaRPr lang="en-US" baseline="0" dirty="0">
                        <a:hlinkClick r:id="rId4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baseline="0" dirty="0">
                          <a:hlinkClick r:id="rId4"/>
                        </a:rPr>
                        <a:t>https://queue.acm.org/detail.cfm?id=3220266</a:t>
                      </a:r>
                      <a:endParaRPr lang="en-US" baseline="0" dirty="0"/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baseline="0" dirty="0">
                          <a:hlinkClick r:id="rId5"/>
                        </a:rPr>
                        <a:t>https://arxiv.org/pdf/1812.07527</a:t>
                      </a:r>
                      <a:endParaRPr lang="en-US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29E89F5D-E7B1-88B2-1388-18BDFCC504F2}"/>
              </a:ext>
            </a:extLst>
          </p:cNvPr>
          <p:cNvSpPr/>
          <p:nvPr/>
        </p:nvSpPr>
        <p:spPr>
          <a:xfrm>
            <a:off x="7578811" y="2076617"/>
            <a:ext cx="527222" cy="518983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A9434385-7C8E-9F8F-15C2-D552B667C05E}"/>
              </a:ext>
            </a:extLst>
          </p:cNvPr>
          <p:cNvSpPr/>
          <p:nvPr/>
        </p:nvSpPr>
        <p:spPr>
          <a:xfrm>
            <a:off x="8468497" y="1681200"/>
            <a:ext cx="1029730" cy="9144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E84ACD04-C84A-D72F-EE22-20A70FF537FF}"/>
              </a:ext>
            </a:extLst>
          </p:cNvPr>
          <p:cNvSpPr/>
          <p:nvPr/>
        </p:nvSpPr>
        <p:spPr>
          <a:xfrm>
            <a:off x="9860692" y="1121027"/>
            <a:ext cx="1721708" cy="1474573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96B9C4C0-8145-845C-FB22-80D43C72F133}"/>
              </a:ext>
            </a:extLst>
          </p:cNvPr>
          <p:cNvSpPr/>
          <p:nvPr/>
        </p:nvSpPr>
        <p:spPr>
          <a:xfrm>
            <a:off x="8106033" y="2138400"/>
            <a:ext cx="362464" cy="1977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823CA330-0E8C-2D1F-D597-0E7764512FFC}"/>
              </a:ext>
            </a:extLst>
          </p:cNvPr>
          <p:cNvSpPr/>
          <p:nvPr/>
        </p:nvSpPr>
        <p:spPr>
          <a:xfrm>
            <a:off x="9489989" y="2138400"/>
            <a:ext cx="362464" cy="1977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0CA4AE-AAA5-06B0-B941-509A76D28349}"/>
              </a:ext>
            </a:extLst>
          </p:cNvPr>
          <p:cNvSpPr txBox="1"/>
          <p:nvPr/>
        </p:nvSpPr>
        <p:spPr>
          <a:xfrm>
            <a:off x="7671656" y="2703649"/>
            <a:ext cx="45368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T0                T1                              T2                 ……</a:t>
            </a:r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714B58-0FEC-716B-2734-1F40B4AFE4C8}"/>
              </a:ext>
            </a:extLst>
          </p:cNvPr>
          <p:cNvSpPr txBox="1"/>
          <p:nvPr/>
        </p:nvSpPr>
        <p:spPr>
          <a:xfrm>
            <a:off x="0" y="6163272"/>
            <a:ext cx="4745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* Such deletion markers are called</a:t>
            </a:r>
            <a:r>
              <a:rPr lang="ru-RU" i="1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“tombstones”.</a:t>
            </a:r>
          </a:p>
        </p:txBody>
      </p:sp>
    </p:spTree>
    <p:extLst>
      <p:ext uri="{BB962C8B-B14F-4D97-AF65-F5344CB8AC3E}">
        <p14:creationId xmlns:p14="http://schemas.microsoft.com/office/powerpoint/2010/main" val="146473214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0508023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1873082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1821916"/>
              </p:ext>
            </p:extLst>
          </p:nvPr>
        </p:nvGraphicFramePr>
        <p:xfrm>
          <a:off x="0" y="365761"/>
          <a:ext cx="12192000" cy="43891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Log-Structured Merge Tree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dirty="0"/>
                        <a:t>Inserts to an LSM tree are fast because they affect only the in-RAM</a:t>
                      </a:r>
                      <a:br>
                        <a:rPr lang="en-US" dirty="0"/>
                      </a:br>
                      <a:r>
                        <a:rPr lang="en-US" dirty="0"/>
                        <a:t>component T</a:t>
                      </a:r>
                      <a:r>
                        <a:rPr lang="en-US" baseline="-25000" dirty="0"/>
                        <a:t>0</a:t>
                      </a:r>
                      <a:r>
                        <a:rPr lang="en-US" dirty="0"/>
                        <a:t>, and tree merges produce only sequential IO.</a:t>
                      </a:r>
                      <a:endParaRPr lang="en-US" baseline="0" dirty="0"/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baseline="0" dirty="0"/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baseline="0" dirty="0"/>
                        <a:t>However, the need to merge trees may introduce noticeable</a:t>
                      </a:r>
                      <a:br>
                        <a:rPr lang="en-US" baseline="0" dirty="0"/>
                      </a:br>
                      <a:r>
                        <a:rPr lang="en-US" baseline="0" dirty="0"/>
                        <a:t>delays.</a:t>
                      </a:r>
                      <a:br>
                        <a:rPr lang="ru-RU" baseline="0" dirty="0"/>
                      </a:br>
                      <a:endParaRPr lang="en-US" baseline="0" dirty="0"/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br>
                        <a:rPr lang="ru-RU" baseline="0" dirty="0"/>
                      </a:br>
                      <a:r>
                        <a:rPr lang="en-US" baseline="0" dirty="0"/>
                        <a:t>So, we have two problems to work around</a:t>
                      </a:r>
                      <a:r>
                        <a:rPr lang="ru-RU" baseline="0" dirty="0"/>
                        <a:t>: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baseline="0" dirty="0"/>
                        <a:t>Searching for an item must search many member trees.</a:t>
                      </a:r>
                      <a:endParaRPr lang="ru-RU" baseline="0" dirty="0"/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baseline="0" dirty="0"/>
                        <a:t>Write amplification and unpredictable insert latencies</a:t>
                      </a:r>
                      <a:r>
                        <a:rPr lang="ru-RU" baseline="0" dirty="0"/>
                        <a:t>:</a:t>
                      </a:r>
                      <a:br>
                        <a:rPr lang="en-US" baseline="0" dirty="0"/>
                      </a:br>
                      <a:r>
                        <a:rPr lang="en-US" baseline="0" dirty="0"/>
                        <a:t>the </a:t>
                      </a:r>
                      <a:r>
                        <a:rPr lang="en-US" baseline="0" dirty="0" err="1"/>
                        <a:t>amortised</a:t>
                      </a:r>
                      <a:r>
                        <a:rPr lang="en-US" baseline="0" dirty="0"/>
                        <a:t> time of inserts is low, but the run time of inserts</a:t>
                      </a:r>
                      <a:br>
                        <a:rPr lang="en-US" baseline="0" dirty="0"/>
                      </a:br>
                      <a:r>
                        <a:rPr lang="en-US" baseline="0" dirty="0"/>
                        <a:t>that trigger merges may be orders of magnitude longer than the</a:t>
                      </a:r>
                      <a:br>
                        <a:rPr lang="en-US" baseline="0" dirty="0"/>
                      </a:br>
                      <a:r>
                        <a:rPr lang="en-US" baseline="0" dirty="0"/>
                        <a:t>run time of inserts that modify only T0. Such inserts also create</a:t>
                      </a:r>
                      <a:br>
                        <a:rPr lang="en-US" baseline="0" dirty="0"/>
                      </a:br>
                      <a:r>
                        <a:rPr lang="en-US" baseline="0" dirty="0"/>
                        <a:t>bursts of IO.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Isosceles Triangle 2">
            <a:extLst>
              <a:ext uri="{FF2B5EF4-FFF2-40B4-BE49-F238E27FC236}">
                <a16:creationId xmlns:a16="http://schemas.microsoft.com/office/drawing/2014/main" id="{986C0558-F4D4-6F78-E416-2FEF7F455AAE}"/>
              </a:ext>
            </a:extLst>
          </p:cNvPr>
          <p:cNvSpPr/>
          <p:nvPr/>
        </p:nvSpPr>
        <p:spPr>
          <a:xfrm>
            <a:off x="7578811" y="2076617"/>
            <a:ext cx="527222" cy="518983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Isosceles Triangle 3">
            <a:extLst>
              <a:ext uri="{FF2B5EF4-FFF2-40B4-BE49-F238E27FC236}">
                <a16:creationId xmlns:a16="http://schemas.microsoft.com/office/drawing/2014/main" id="{C7FAC7F6-DA89-BCA3-CF06-8159A3248ECA}"/>
              </a:ext>
            </a:extLst>
          </p:cNvPr>
          <p:cNvSpPr/>
          <p:nvPr/>
        </p:nvSpPr>
        <p:spPr>
          <a:xfrm>
            <a:off x="8468497" y="1681200"/>
            <a:ext cx="1029730" cy="9144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Isosceles Triangle 6">
            <a:extLst>
              <a:ext uri="{FF2B5EF4-FFF2-40B4-BE49-F238E27FC236}">
                <a16:creationId xmlns:a16="http://schemas.microsoft.com/office/drawing/2014/main" id="{05CF692E-DB83-DCBF-DAD5-D5FCDEFD9713}"/>
              </a:ext>
            </a:extLst>
          </p:cNvPr>
          <p:cNvSpPr/>
          <p:nvPr/>
        </p:nvSpPr>
        <p:spPr>
          <a:xfrm>
            <a:off x="9860692" y="1121027"/>
            <a:ext cx="1721708" cy="1474573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481965FF-0DAF-E081-E65C-D715A0D8BD04}"/>
              </a:ext>
            </a:extLst>
          </p:cNvPr>
          <p:cNvSpPr/>
          <p:nvPr/>
        </p:nvSpPr>
        <p:spPr>
          <a:xfrm>
            <a:off x="8106033" y="2138400"/>
            <a:ext cx="362464" cy="1977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AB22C6C6-6A4C-C161-786F-9437E8EC4204}"/>
              </a:ext>
            </a:extLst>
          </p:cNvPr>
          <p:cNvSpPr/>
          <p:nvPr/>
        </p:nvSpPr>
        <p:spPr>
          <a:xfrm>
            <a:off x="9489989" y="2138400"/>
            <a:ext cx="362464" cy="1977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A752738-00F1-A6DD-F4BB-5D7A37838723}"/>
              </a:ext>
            </a:extLst>
          </p:cNvPr>
          <p:cNvSpPr txBox="1"/>
          <p:nvPr/>
        </p:nvSpPr>
        <p:spPr>
          <a:xfrm>
            <a:off x="7671656" y="2703649"/>
            <a:ext cx="45368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T0                T1                              T2                 ……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4712165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FC039-CAEB-CAC7-A325-7BD0EE439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30DA4FA-C239-9A1D-17DA-798463119E04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CA4C319-8C6F-80E4-BFB4-99C4C1C52DC8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8C8AE46-8502-FB3F-DAC1-72022EDAB7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8457636"/>
              </p:ext>
            </p:extLst>
          </p:nvPr>
        </p:nvGraphicFramePr>
        <p:xfrm>
          <a:off x="0" y="365761"/>
          <a:ext cx="12192000" cy="43891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67304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61591">
                  <a:extLst>
                    <a:ext uri="{9D8B030D-6E8A-4147-A177-3AD203B41FA5}">
                      <a16:colId xmlns:a16="http://schemas.microsoft.com/office/drawing/2014/main" val="2843551426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en-US" sz="2400" dirty="0"/>
                        <a:t>Log-Structured Merge Tree</a:t>
                      </a:r>
                      <a:endParaRPr lang="ru-RU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dirty="0"/>
                        <a:t>Inserts to an LSM tree are fast because they affect only the in-RAM</a:t>
                      </a:r>
                      <a:br>
                        <a:rPr lang="en-US" dirty="0"/>
                      </a:br>
                      <a:r>
                        <a:rPr lang="en-US" dirty="0"/>
                        <a:t>component T</a:t>
                      </a:r>
                      <a:r>
                        <a:rPr lang="en-US" baseline="-25000" dirty="0"/>
                        <a:t>0</a:t>
                      </a:r>
                      <a:r>
                        <a:rPr lang="en-US" dirty="0"/>
                        <a:t>, and tree merges produce only sequential IO.</a:t>
                      </a:r>
                      <a:endParaRPr lang="en-US" baseline="0" dirty="0"/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baseline="0" dirty="0"/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baseline="0" dirty="0"/>
                        <a:t>However, the need to merge trees may introduce noticeable</a:t>
                      </a:r>
                      <a:br>
                        <a:rPr lang="en-US" baseline="0" dirty="0"/>
                      </a:br>
                      <a:r>
                        <a:rPr lang="en-US" baseline="0" dirty="0"/>
                        <a:t>delays.</a:t>
                      </a:r>
                      <a:br>
                        <a:rPr lang="ru-RU" baseline="0" dirty="0"/>
                      </a:br>
                      <a:endParaRPr lang="en-US" baseline="0" dirty="0"/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br>
                        <a:rPr lang="ru-RU" baseline="0" dirty="0"/>
                      </a:br>
                      <a:r>
                        <a:rPr lang="en-US" baseline="0" dirty="0"/>
                        <a:t>So, we have two problems to work around</a:t>
                      </a:r>
                      <a:r>
                        <a:rPr lang="ru-RU" baseline="0" dirty="0"/>
                        <a:t>: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baseline="0" dirty="0"/>
                        <a:t>Searching for an item must search many member trees.</a:t>
                      </a:r>
                      <a:endParaRPr lang="ru-RU" baseline="0" dirty="0"/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baseline="0" dirty="0"/>
                        <a:t>Write amplification and unpredictable insert latencies</a:t>
                      </a:r>
                      <a:r>
                        <a:rPr lang="ru-RU" baseline="0" dirty="0"/>
                        <a:t>:</a:t>
                      </a:r>
                      <a:br>
                        <a:rPr lang="en-US" baseline="0" dirty="0"/>
                      </a:br>
                      <a:r>
                        <a:rPr lang="en-US" baseline="0" dirty="0"/>
                        <a:t>the </a:t>
                      </a:r>
                      <a:r>
                        <a:rPr lang="en-US" baseline="0" dirty="0" err="1"/>
                        <a:t>amortised</a:t>
                      </a:r>
                      <a:r>
                        <a:rPr lang="en-US" baseline="0" dirty="0"/>
                        <a:t> time of inserts is low, but the run time of inserts</a:t>
                      </a:r>
                      <a:br>
                        <a:rPr lang="en-US" baseline="0" dirty="0"/>
                      </a:br>
                      <a:r>
                        <a:rPr lang="en-US" baseline="0" dirty="0"/>
                        <a:t>that trigger merges may be orders of magnitude longer than the</a:t>
                      </a:r>
                      <a:br>
                        <a:rPr lang="en-US" baseline="0" dirty="0"/>
                      </a:br>
                      <a:r>
                        <a:rPr lang="en-US" baseline="0" dirty="0"/>
                        <a:t>run time of inserts that modify only T0. Such inserts also create</a:t>
                      </a:r>
                      <a:br>
                        <a:rPr lang="en-US" baseline="0" dirty="0"/>
                      </a:br>
                      <a:r>
                        <a:rPr lang="en-US" baseline="0" dirty="0"/>
                        <a:t>bursts of IO.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en-US" baseline="0" dirty="0"/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en-US" baseline="0" dirty="0"/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en-US" baseline="0" dirty="0"/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en-US" baseline="0" dirty="0"/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en-US" baseline="0" dirty="0"/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en-US" baseline="0" dirty="0"/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en-US" baseline="0" dirty="0"/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en-US" baseline="0" dirty="0"/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en-US" baseline="0" dirty="0"/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baseline="0" dirty="0"/>
                        <a:t>Trees may be merged in a background process.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baseline="0" dirty="0"/>
                        <a:t>Components are immutable so original trees may be</a:t>
                      </a:r>
                      <a:br>
                        <a:rPr lang="en-US" baseline="0" dirty="0"/>
                      </a:br>
                      <a:r>
                        <a:rPr lang="en-US" baseline="0" dirty="0"/>
                        <a:t>searched during a merge.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Isosceles Triangle 2">
            <a:extLst>
              <a:ext uri="{FF2B5EF4-FFF2-40B4-BE49-F238E27FC236}">
                <a16:creationId xmlns:a16="http://schemas.microsoft.com/office/drawing/2014/main" id="{52B41F88-C072-A268-AB5B-E5C675815B38}"/>
              </a:ext>
            </a:extLst>
          </p:cNvPr>
          <p:cNvSpPr/>
          <p:nvPr/>
        </p:nvSpPr>
        <p:spPr>
          <a:xfrm>
            <a:off x="7578811" y="2076617"/>
            <a:ext cx="527222" cy="518983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Isosceles Triangle 3">
            <a:extLst>
              <a:ext uri="{FF2B5EF4-FFF2-40B4-BE49-F238E27FC236}">
                <a16:creationId xmlns:a16="http://schemas.microsoft.com/office/drawing/2014/main" id="{52BDAF0F-5F55-E2FE-A9BA-38A42306023B}"/>
              </a:ext>
            </a:extLst>
          </p:cNvPr>
          <p:cNvSpPr/>
          <p:nvPr/>
        </p:nvSpPr>
        <p:spPr>
          <a:xfrm>
            <a:off x="8468497" y="1681200"/>
            <a:ext cx="1029730" cy="9144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Isosceles Triangle 6">
            <a:extLst>
              <a:ext uri="{FF2B5EF4-FFF2-40B4-BE49-F238E27FC236}">
                <a16:creationId xmlns:a16="http://schemas.microsoft.com/office/drawing/2014/main" id="{065474D2-8B8B-960A-C721-6C0012DE3430}"/>
              </a:ext>
            </a:extLst>
          </p:cNvPr>
          <p:cNvSpPr/>
          <p:nvPr/>
        </p:nvSpPr>
        <p:spPr>
          <a:xfrm>
            <a:off x="9860692" y="1121027"/>
            <a:ext cx="1721708" cy="1474573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C0879FBD-D408-87E5-3FDE-D98EB5933AC9}"/>
              </a:ext>
            </a:extLst>
          </p:cNvPr>
          <p:cNvSpPr/>
          <p:nvPr/>
        </p:nvSpPr>
        <p:spPr>
          <a:xfrm>
            <a:off x="8106033" y="2138400"/>
            <a:ext cx="362464" cy="1977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2AF15B1E-A404-04A3-1C2F-85DDCF043388}"/>
              </a:ext>
            </a:extLst>
          </p:cNvPr>
          <p:cNvSpPr/>
          <p:nvPr/>
        </p:nvSpPr>
        <p:spPr>
          <a:xfrm>
            <a:off x="9489989" y="2138400"/>
            <a:ext cx="362464" cy="1977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EC487E-D13E-1273-9716-E136AF7E59A1}"/>
              </a:ext>
            </a:extLst>
          </p:cNvPr>
          <p:cNvSpPr txBox="1"/>
          <p:nvPr/>
        </p:nvSpPr>
        <p:spPr>
          <a:xfrm>
            <a:off x="7671656" y="2703649"/>
            <a:ext cx="45368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T0                T1                              T2                 ……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9323031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83467-20D2-9194-E0F5-C81815016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7C78463-B5D2-38FC-9E94-73DCDC49A299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911B3FC-B0AA-AE71-9BF1-6D48C557E4C8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02DCA79-4232-6B17-A1F5-D2916DCA5B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4186554"/>
              </p:ext>
            </p:extLst>
          </p:nvPr>
        </p:nvGraphicFramePr>
        <p:xfrm>
          <a:off x="0" y="365761"/>
          <a:ext cx="12192000" cy="43891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67304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61591">
                  <a:extLst>
                    <a:ext uri="{9D8B030D-6E8A-4147-A177-3AD203B41FA5}">
                      <a16:colId xmlns:a16="http://schemas.microsoft.com/office/drawing/2014/main" val="2843551426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en-US" sz="2400" dirty="0"/>
                        <a:t>Log-Structured Merge Tree</a:t>
                      </a:r>
                      <a:endParaRPr lang="ru-RU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dirty="0"/>
                        <a:t>Inserts to an LSM tree are fast because they affect only the in-RAM</a:t>
                      </a:r>
                      <a:br>
                        <a:rPr lang="en-US" dirty="0"/>
                      </a:br>
                      <a:r>
                        <a:rPr lang="en-US" dirty="0"/>
                        <a:t>component T</a:t>
                      </a:r>
                      <a:r>
                        <a:rPr lang="en-US" baseline="-25000" dirty="0"/>
                        <a:t>0</a:t>
                      </a:r>
                      <a:r>
                        <a:rPr lang="en-US" dirty="0"/>
                        <a:t>, and tree merges produce only sequential IO.</a:t>
                      </a:r>
                      <a:endParaRPr lang="en-US" baseline="0" dirty="0"/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baseline="0" dirty="0"/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baseline="0" dirty="0"/>
                        <a:t>However, the need to merge trees may introduce noticeable</a:t>
                      </a:r>
                      <a:br>
                        <a:rPr lang="en-US" baseline="0" dirty="0"/>
                      </a:br>
                      <a:r>
                        <a:rPr lang="en-US" baseline="0" dirty="0"/>
                        <a:t>delays.</a:t>
                      </a:r>
                      <a:br>
                        <a:rPr lang="ru-RU" baseline="0" dirty="0"/>
                      </a:br>
                      <a:endParaRPr lang="en-US" baseline="0" dirty="0"/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br>
                        <a:rPr lang="ru-RU" baseline="0" dirty="0"/>
                      </a:br>
                      <a:r>
                        <a:rPr lang="en-US" baseline="0" dirty="0"/>
                        <a:t>So, we have two problems to work around</a:t>
                      </a:r>
                      <a:r>
                        <a:rPr lang="ru-RU" baseline="0" dirty="0"/>
                        <a:t>: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baseline="0" dirty="0"/>
                        <a:t>Searching for an item must search many member trees.</a:t>
                      </a:r>
                      <a:endParaRPr lang="ru-RU" baseline="0" dirty="0"/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baseline="0" dirty="0"/>
                        <a:t>Write amplification and unpredictable insert latencies</a:t>
                      </a:r>
                      <a:r>
                        <a:rPr lang="ru-RU" baseline="0" dirty="0"/>
                        <a:t>:</a:t>
                      </a:r>
                      <a:br>
                        <a:rPr lang="en-US" baseline="0" dirty="0"/>
                      </a:br>
                      <a:r>
                        <a:rPr lang="en-US" baseline="0" dirty="0"/>
                        <a:t>the </a:t>
                      </a:r>
                      <a:r>
                        <a:rPr lang="en-US" baseline="0" dirty="0" err="1"/>
                        <a:t>amortised</a:t>
                      </a:r>
                      <a:r>
                        <a:rPr lang="en-US" baseline="0" dirty="0"/>
                        <a:t> time of inserts is low, but the run time of inserts</a:t>
                      </a:r>
                      <a:br>
                        <a:rPr lang="en-US" baseline="0" dirty="0"/>
                      </a:br>
                      <a:r>
                        <a:rPr lang="en-US" baseline="0" dirty="0"/>
                        <a:t>that trigger merges may be orders of magnitude longer than the</a:t>
                      </a:r>
                      <a:br>
                        <a:rPr lang="en-US" baseline="0" dirty="0"/>
                      </a:br>
                      <a:r>
                        <a:rPr lang="en-US" baseline="0" dirty="0"/>
                        <a:t>run time of inserts that modify only T0. Such inserts also create</a:t>
                      </a:r>
                      <a:br>
                        <a:rPr lang="en-US" baseline="0" dirty="0"/>
                      </a:br>
                      <a:r>
                        <a:rPr lang="en-US" baseline="0" dirty="0"/>
                        <a:t>bursts of IO.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en-US" baseline="0" dirty="0"/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en-US" baseline="0" dirty="0"/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en-US" baseline="0" dirty="0"/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en-US" baseline="0" dirty="0"/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en-US" baseline="0" dirty="0"/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en-US" baseline="0" dirty="0"/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en-US" baseline="0" dirty="0"/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en-US" baseline="0" dirty="0"/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baseline="0" dirty="0"/>
                        <a:t>Bloom filters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Isosceles Triangle 2">
            <a:extLst>
              <a:ext uri="{FF2B5EF4-FFF2-40B4-BE49-F238E27FC236}">
                <a16:creationId xmlns:a16="http://schemas.microsoft.com/office/drawing/2014/main" id="{8C0A0C6E-471F-9C5F-2616-D54A1B155547}"/>
              </a:ext>
            </a:extLst>
          </p:cNvPr>
          <p:cNvSpPr/>
          <p:nvPr/>
        </p:nvSpPr>
        <p:spPr>
          <a:xfrm>
            <a:off x="7578811" y="2076617"/>
            <a:ext cx="527222" cy="518983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Isosceles Triangle 3">
            <a:extLst>
              <a:ext uri="{FF2B5EF4-FFF2-40B4-BE49-F238E27FC236}">
                <a16:creationId xmlns:a16="http://schemas.microsoft.com/office/drawing/2014/main" id="{9F90806E-997C-E54A-7FFE-52A626C67AE5}"/>
              </a:ext>
            </a:extLst>
          </p:cNvPr>
          <p:cNvSpPr/>
          <p:nvPr/>
        </p:nvSpPr>
        <p:spPr>
          <a:xfrm>
            <a:off x="8468497" y="1681200"/>
            <a:ext cx="1029730" cy="9144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Isosceles Triangle 6">
            <a:extLst>
              <a:ext uri="{FF2B5EF4-FFF2-40B4-BE49-F238E27FC236}">
                <a16:creationId xmlns:a16="http://schemas.microsoft.com/office/drawing/2014/main" id="{B1599AA2-78DB-7D5A-E281-A36B9A83A6D4}"/>
              </a:ext>
            </a:extLst>
          </p:cNvPr>
          <p:cNvSpPr/>
          <p:nvPr/>
        </p:nvSpPr>
        <p:spPr>
          <a:xfrm>
            <a:off x="9860692" y="1121027"/>
            <a:ext cx="1721708" cy="1474573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9FC091B7-EDD1-ED8D-8CD4-F4EAB9D911DD}"/>
              </a:ext>
            </a:extLst>
          </p:cNvPr>
          <p:cNvSpPr/>
          <p:nvPr/>
        </p:nvSpPr>
        <p:spPr>
          <a:xfrm>
            <a:off x="8106033" y="2138400"/>
            <a:ext cx="362464" cy="1977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0B687404-7C13-2CC1-6551-F774580ECB81}"/>
              </a:ext>
            </a:extLst>
          </p:cNvPr>
          <p:cNvSpPr/>
          <p:nvPr/>
        </p:nvSpPr>
        <p:spPr>
          <a:xfrm>
            <a:off x="9489989" y="2138400"/>
            <a:ext cx="362464" cy="1977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99BD93E-932E-4C6C-2F8E-161E22F053BB}"/>
              </a:ext>
            </a:extLst>
          </p:cNvPr>
          <p:cNvSpPr txBox="1"/>
          <p:nvPr/>
        </p:nvSpPr>
        <p:spPr>
          <a:xfrm>
            <a:off x="7671656" y="2703649"/>
            <a:ext cx="45368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T0                T1                              T2                 ……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4126997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6308551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4276192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0638819"/>
              </p:ext>
            </p:extLst>
          </p:nvPr>
        </p:nvGraphicFramePr>
        <p:xfrm>
          <a:off x="0" y="365761"/>
          <a:ext cx="12192000" cy="32918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Bloom filters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baseline="0" dirty="0"/>
                        <a:t>Searching an item in an LSM tree needs to search every component of the LSM tree</a:t>
                      </a:r>
                      <a:r>
                        <a:rPr lang="ru-RU" baseline="0" dirty="0"/>
                        <a:t>.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endParaRPr lang="ru-RU" baseline="0" dirty="0"/>
                    </a:p>
                    <a:p>
                      <a:pPr marL="0" indent="0">
                        <a:buFont typeface="Arial" charset="0"/>
                        <a:buNone/>
                      </a:pPr>
                      <a:r>
                        <a:rPr lang="en-US" baseline="0" dirty="0"/>
                        <a:t>We may often skip most components</a:t>
                      </a:r>
                      <a:r>
                        <a:rPr lang="ru-RU" baseline="0" dirty="0"/>
                        <a:t> </a:t>
                      </a:r>
                      <a:r>
                        <a:rPr lang="en-US" baseline="0" dirty="0"/>
                        <a:t>T</a:t>
                      </a:r>
                      <a:r>
                        <a:rPr lang="en-US" baseline="-25000" dirty="0"/>
                        <a:t>i</a:t>
                      </a:r>
                      <a:r>
                        <a:rPr lang="ru-RU" baseline="0" dirty="0"/>
                        <a:t> </a:t>
                      </a:r>
                      <a:r>
                        <a:rPr lang="en-US" baseline="0" dirty="0"/>
                        <a:t>if we come up with an efficient way to detect that T</a:t>
                      </a:r>
                      <a:r>
                        <a:rPr lang="en-US" baseline="-25000" dirty="0"/>
                        <a:t>i</a:t>
                      </a:r>
                      <a:r>
                        <a:rPr lang="en-US" baseline="0" dirty="0"/>
                        <a:t> does not contain a key that we are looking for. This can be achieved with a Bloom filter constructed from the keys in T</a:t>
                      </a:r>
                      <a:r>
                        <a:rPr lang="en-US" baseline="-25000" dirty="0"/>
                        <a:t>i</a:t>
                      </a:r>
                      <a:r>
                        <a:rPr lang="en-US" baseline="0" dirty="0"/>
                        <a:t>. A Bloom filter is a probabilistic data structure. Like a set, it implements methods </a:t>
                      </a:r>
                      <a:r>
                        <a:rPr lang="en-US" baseline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Add()</a:t>
                      </a:r>
                      <a:r>
                        <a:rPr lang="en-US" baseline="0" dirty="0"/>
                        <a:t> and </a:t>
                      </a:r>
                      <a:r>
                        <a:rPr lang="en-US" baseline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Contains()</a:t>
                      </a:r>
                      <a:r>
                        <a:rPr lang="en-US" baseline="0" dirty="0"/>
                        <a:t>. However, </a:t>
                      </a:r>
                      <a:r>
                        <a:rPr lang="en-US" baseline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s.Contains</a:t>
                      </a:r>
                      <a:r>
                        <a:rPr lang="en-US" baseline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(x)</a:t>
                      </a:r>
                      <a:r>
                        <a:rPr lang="en-US" baseline="0" dirty="0"/>
                        <a:t> returns the following values:</a:t>
                      </a:r>
                      <a:endParaRPr lang="ru-RU" baseline="0" dirty="0"/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baseline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</a:t>
                      </a:r>
                      <a:r>
                        <a:rPr lang="en-US" baseline="0" dirty="0"/>
                        <a:t> does not contain </a:t>
                      </a:r>
                      <a:r>
                        <a:rPr lang="en-US" baseline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  <a:r>
                        <a:rPr lang="ru-RU" baseline="0" dirty="0"/>
                        <a:t>,</a:t>
                      </a:r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baseline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</a:t>
                      </a:r>
                      <a:r>
                        <a:rPr lang="en-US" baseline="0" dirty="0"/>
                        <a:t> maybe contains </a:t>
                      </a:r>
                      <a:r>
                        <a:rPr lang="en-US" baseline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  <a:r>
                        <a:rPr lang="ru-RU" baseline="0" dirty="0"/>
                        <a:t>.</a:t>
                      </a:r>
                      <a:endParaRPr lang="en-US" baseline="0" dirty="0"/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endParaRPr lang="en-US" baseline="0" dirty="0"/>
                    </a:p>
                    <a:p>
                      <a:pPr marL="0" indent="0">
                        <a:buFont typeface="Arial" charset="0"/>
                        <a:buNone/>
                      </a:pPr>
                      <a:r>
                        <a:rPr lang="en-US" baseline="0" dirty="0"/>
                        <a:t>Allowing </a:t>
                      </a:r>
                      <a:r>
                        <a:rPr lang="en-US" baseline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Contains()</a:t>
                      </a:r>
                      <a:r>
                        <a:rPr lang="en-US" baseline="0" dirty="0"/>
                        <a:t> to produce wrong allows us to use much less RAM for a Bloom filter than for a set. The probability of wrong answers may be made arbitrarily low by tuning the parameters of a Bloom filter.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318503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6815626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2464284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2264235"/>
              </p:ext>
            </p:extLst>
          </p:nvPr>
        </p:nvGraphicFramePr>
        <p:xfrm>
          <a:off x="0" y="365761"/>
          <a:ext cx="12192000" cy="47548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Bloom filters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baseline="0" dirty="0"/>
                        <a:t>Searching an item in an LSM tree needs to search every component of the LSM tree</a:t>
                      </a:r>
                      <a:r>
                        <a:rPr lang="ru-RU" baseline="0" dirty="0"/>
                        <a:t>.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endParaRPr lang="ru-RU" baseline="0" dirty="0"/>
                    </a:p>
                    <a:p>
                      <a:pPr marL="0" indent="0">
                        <a:buFont typeface="Arial" charset="0"/>
                        <a:buNone/>
                      </a:pPr>
                      <a:r>
                        <a:rPr lang="en-US" baseline="0" dirty="0"/>
                        <a:t>We may often skip most components</a:t>
                      </a:r>
                      <a:r>
                        <a:rPr lang="ru-RU" baseline="0" dirty="0"/>
                        <a:t> </a:t>
                      </a:r>
                      <a:r>
                        <a:rPr lang="en-US" baseline="0" dirty="0"/>
                        <a:t>T</a:t>
                      </a:r>
                      <a:r>
                        <a:rPr lang="en-US" baseline="-25000" dirty="0"/>
                        <a:t>i</a:t>
                      </a:r>
                      <a:r>
                        <a:rPr lang="ru-RU" baseline="0" dirty="0"/>
                        <a:t> </a:t>
                      </a:r>
                      <a:r>
                        <a:rPr lang="en-US" baseline="0" dirty="0"/>
                        <a:t>if we come up with an efficient way to detect that T</a:t>
                      </a:r>
                      <a:r>
                        <a:rPr lang="en-US" baseline="-25000" dirty="0"/>
                        <a:t>i</a:t>
                      </a:r>
                      <a:r>
                        <a:rPr lang="en-US" baseline="0" dirty="0"/>
                        <a:t> does not contain a key that we are looking for. This can be achieved with a Bloom filter constructed from the keys in T</a:t>
                      </a:r>
                      <a:r>
                        <a:rPr lang="en-US" baseline="-25000" dirty="0"/>
                        <a:t>i</a:t>
                      </a:r>
                      <a:r>
                        <a:rPr lang="en-US" baseline="0" dirty="0"/>
                        <a:t>. A Bloom filter is a probabilistic data structure. Like a set, it implements methods </a:t>
                      </a:r>
                      <a:r>
                        <a:rPr lang="en-US" baseline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Add()</a:t>
                      </a:r>
                      <a:r>
                        <a:rPr lang="en-US" baseline="0" dirty="0"/>
                        <a:t> and </a:t>
                      </a:r>
                      <a:r>
                        <a:rPr lang="en-US" baseline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Contains()</a:t>
                      </a:r>
                      <a:r>
                        <a:rPr lang="en-US" baseline="0" dirty="0"/>
                        <a:t>. However, </a:t>
                      </a:r>
                      <a:r>
                        <a:rPr lang="en-US" baseline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s.Contains</a:t>
                      </a:r>
                      <a:r>
                        <a:rPr lang="en-US" baseline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(x)</a:t>
                      </a:r>
                      <a:r>
                        <a:rPr lang="en-US" baseline="0" dirty="0"/>
                        <a:t> returns the following values:</a:t>
                      </a:r>
                      <a:endParaRPr lang="ru-RU" baseline="0" dirty="0"/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baseline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</a:t>
                      </a:r>
                      <a:r>
                        <a:rPr lang="en-US" baseline="0" dirty="0"/>
                        <a:t> does not contain </a:t>
                      </a:r>
                      <a:r>
                        <a:rPr lang="en-US" baseline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  <a:r>
                        <a:rPr lang="ru-RU" baseline="0" dirty="0"/>
                        <a:t>,</a:t>
                      </a:r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baseline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</a:t>
                      </a:r>
                      <a:r>
                        <a:rPr lang="en-US" baseline="0" dirty="0"/>
                        <a:t> maybe contains </a:t>
                      </a:r>
                      <a:r>
                        <a:rPr lang="en-US" baseline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  <a:r>
                        <a:rPr lang="ru-RU" baseline="0" dirty="0"/>
                        <a:t>.</a:t>
                      </a:r>
                      <a:endParaRPr lang="en-US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Arial" charset="0"/>
                        <a:buNone/>
                      </a:pPr>
                      <a:r>
                        <a:rPr lang="en-US" baseline="0" dirty="0"/>
                        <a:t>The implementation</a:t>
                      </a:r>
                      <a:r>
                        <a:rPr lang="ru-RU" baseline="0" dirty="0"/>
                        <a:t>: </a:t>
                      </a:r>
                      <a:r>
                        <a:rPr lang="en-US" baseline="0" dirty="0"/>
                        <a:t>let us have a bit array with </a:t>
                      </a:r>
                      <a:r>
                        <a:rPr lang="en-US" b="1" baseline="0" dirty="0"/>
                        <a:t>m</a:t>
                      </a:r>
                      <a:r>
                        <a:rPr lang="en-US" baseline="0" dirty="0"/>
                        <a:t> entries and</a:t>
                      </a:r>
                      <a:r>
                        <a:rPr lang="ru-RU" baseline="0" dirty="0"/>
                        <a:t> </a:t>
                      </a:r>
                      <a:r>
                        <a:rPr lang="en-US" b="1" baseline="0" dirty="0"/>
                        <a:t>k</a:t>
                      </a:r>
                      <a:r>
                        <a:rPr lang="en-US" baseline="0" dirty="0"/>
                        <a:t> independent hash functions </a:t>
                      </a:r>
                      <a:r>
                        <a:rPr lang="en-US" b="1" baseline="0" dirty="0"/>
                        <a:t>f</a:t>
                      </a:r>
                      <a:r>
                        <a:rPr lang="en-US" b="1" baseline="-25000" dirty="0"/>
                        <a:t>i</a:t>
                      </a:r>
                      <a:r>
                        <a:rPr lang="ru-RU" baseline="0" dirty="0"/>
                        <a:t> </a:t>
                      </a:r>
                      <a:r>
                        <a:rPr lang="en-US" baseline="0" dirty="0"/>
                        <a:t>that produce values in the range</a:t>
                      </a:r>
                      <a:r>
                        <a:rPr lang="ru-RU" baseline="0" dirty="0"/>
                        <a:t> </a:t>
                      </a:r>
                      <a:r>
                        <a:rPr lang="en-US" baseline="0" dirty="0"/>
                        <a:t>[0, m-1).</a:t>
                      </a:r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baseline="0" dirty="0"/>
                        <a:t>To insert an item </a:t>
                      </a:r>
                      <a:r>
                        <a:rPr lang="en-US" b="1" baseline="0" dirty="0"/>
                        <a:t>x</a:t>
                      </a:r>
                      <a:r>
                        <a:rPr lang="en-US" baseline="0" dirty="0"/>
                        <a:t>, set bits in positions f</a:t>
                      </a:r>
                      <a:r>
                        <a:rPr lang="en-US" baseline="-25000" dirty="0"/>
                        <a:t>1</a:t>
                      </a:r>
                      <a:r>
                        <a:rPr lang="en-US" baseline="0" dirty="0"/>
                        <a:t>(x), f</a:t>
                      </a:r>
                      <a:r>
                        <a:rPr lang="en-US" baseline="-25000" dirty="0"/>
                        <a:t>2</a:t>
                      </a:r>
                      <a:r>
                        <a:rPr lang="en-US" baseline="0" dirty="0"/>
                        <a:t>(x), </a:t>
                      </a:r>
                      <a:r>
                        <a:rPr lang="mr-IN" baseline="0" dirty="0"/>
                        <a:t>…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f</a:t>
                      </a:r>
                      <a:r>
                        <a:rPr lang="en-US" baseline="-25000" dirty="0" err="1"/>
                        <a:t>k</a:t>
                      </a:r>
                      <a:r>
                        <a:rPr lang="en-US" baseline="0" dirty="0"/>
                        <a:t>(x) to 1,</a:t>
                      </a:r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baseline="0" dirty="0"/>
                        <a:t>To verify whether </a:t>
                      </a:r>
                      <a:r>
                        <a:rPr lang="en-US" b="1" baseline="0" dirty="0"/>
                        <a:t>y</a:t>
                      </a:r>
                      <a:r>
                        <a:rPr lang="en-US" baseline="0" dirty="0"/>
                        <a:t> belongs to the set, verify whether bits in positions f</a:t>
                      </a:r>
                      <a:r>
                        <a:rPr lang="en-US" baseline="-25000" dirty="0"/>
                        <a:t>1</a:t>
                      </a:r>
                      <a:r>
                        <a:rPr lang="en-US" baseline="0" dirty="0"/>
                        <a:t>(y), f</a:t>
                      </a:r>
                      <a:r>
                        <a:rPr lang="en-US" baseline="-25000" dirty="0"/>
                        <a:t>2</a:t>
                      </a:r>
                      <a:r>
                        <a:rPr lang="en-US" baseline="0" dirty="0"/>
                        <a:t>(y), </a:t>
                      </a:r>
                      <a:r>
                        <a:rPr lang="mr-IN" baseline="0" dirty="0"/>
                        <a:t>…</a:t>
                      </a:r>
                      <a:r>
                        <a:rPr lang="en-US" baseline="0" dirty="0"/>
                        <a:t>, </a:t>
                      </a:r>
                      <a:r>
                        <a:rPr lang="en-US" baseline="0" dirty="0" err="1"/>
                        <a:t>f</a:t>
                      </a:r>
                      <a:r>
                        <a:rPr lang="en-US" baseline="-25000" dirty="0" err="1"/>
                        <a:t>k</a:t>
                      </a:r>
                      <a:r>
                        <a:rPr lang="en-US" baseline="0" dirty="0"/>
                        <a:t>(y) are set to 1.</a:t>
                      </a:r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endParaRPr lang="en-US" baseline="0" dirty="0"/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endParaRPr lang="en-US" baseline="0" dirty="0"/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endParaRPr lang="en-US" baseline="0" dirty="0"/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endParaRPr lang="en-US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636654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85799-A2B5-287E-57F2-211A3EA92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0912085-6D34-1311-C3F6-B4C3D8784DC9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5B29284-7801-5DEE-EC68-C3FB6174C4B0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CE9F75E-32E7-A9FB-92EF-CCE9FD4EAEE6}"/>
              </a:ext>
            </a:extLst>
          </p:cNvPr>
          <p:cNvGraphicFramePr>
            <a:graphicFrameLocks noGrp="1"/>
          </p:cNvGraphicFramePr>
          <p:nvPr/>
        </p:nvGraphicFramePr>
        <p:xfrm>
          <a:off x="0" y="365761"/>
          <a:ext cx="12192000" cy="47548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Bloom filters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baseline="0" dirty="0"/>
                        <a:t>Searching an item in an LSM tree needs to search every component of the LSM tree</a:t>
                      </a:r>
                      <a:r>
                        <a:rPr lang="ru-RU" baseline="0" dirty="0"/>
                        <a:t>.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endParaRPr lang="ru-RU" baseline="0" dirty="0"/>
                    </a:p>
                    <a:p>
                      <a:pPr marL="0" indent="0">
                        <a:buFont typeface="Arial" charset="0"/>
                        <a:buNone/>
                      </a:pPr>
                      <a:r>
                        <a:rPr lang="en-US" baseline="0" dirty="0"/>
                        <a:t>We may often skip most components</a:t>
                      </a:r>
                      <a:r>
                        <a:rPr lang="ru-RU" baseline="0" dirty="0"/>
                        <a:t> </a:t>
                      </a:r>
                      <a:r>
                        <a:rPr lang="en-US" baseline="0" dirty="0"/>
                        <a:t>T</a:t>
                      </a:r>
                      <a:r>
                        <a:rPr lang="en-US" baseline="-25000" dirty="0"/>
                        <a:t>i</a:t>
                      </a:r>
                      <a:r>
                        <a:rPr lang="ru-RU" baseline="0" dirty="0"/>
                        <a:t> </a:t>
                      </a:r>
                      <a:r>
                        <a:rPr lang="en-US" baseline="0" dirty="0"/>
                        <a:t>if we come up with an efficient way to detect that T</a:t>
                      </a:r>
                      <a:r>
                        <a:rPr lang="en-US" baseline="-25000" dirty="0"/>
                        <a:t>i</a:t>
                      </a:r>
                      <a:r>
                        <a:rPr lang="en-US" baseline="0" dirty="0"/>
                        <a:t> does not contain a key that we are looking for. This can be achieved with a Bloom filter constructed from the keys in T</a:t>
                      </a:r>
                      <a:r>
                        <a:rPr lang="en-US" baseline="-25000" dirty="0"/>
                        <a:t>i</a:t>
                      </a:r>
                      <a:r>
                        <a:rPr lang="en-US" baseline="0" dirty="0"/>
                        <a:t>. A Bloom filter is a probabilistic data structure. Like a set, it implements methods </a:t>
                      </a:r>
                      <a:r>
                        <a:rPr lang="en-US" baseline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Add()</a:t>
                      </a:r>
                      <a:r>
                        <a:rPr lang="en-US" baseline="0" dirty="0"/>
                        <a:t> and </a:t>
                      </a:r>
                      <a:r>
                        <a:rPr lang="en-US" baseline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Contains()</a:t>
                      </a:r>
                      <a:r>
                        <a:rPr lang="en-US" baseline="0" dirty="0"/>
                        <a:t>. However, </a:t>
                      </a:r>
                      <a:r>
                        <a:rPr lang="en-US" baseline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s.Contains</a:t>
                      </a:r>
                      <a:r>
                        <a:rPr lang="en-US" baseline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(x)</a:t>
                      </a:r>
                      <a:r>
                        <a:rPr lang="en-US" baseline="0" dirty="0"/>
                        <a:t> returns the following values:</a:t>
                      </a:r>
                      <a:endParaRPr lang="ru-RU" baseline="0" dirty="0"/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baseline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</a:t>
                      </a:r>
                      <a:r>
                        <a:rPr lang="en-US" baseline="0" dirty="0"/>
                        <a:t> does not contain </a:t>
                      </a:r>
                      <a:r>
                        <a:rPr lang="en-US" baseline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  <a:r>
                        <a:rPr lang="ru-RU" baseline="0" dirty="0"/>
                        <a:t>,</a:t>
                      </a:r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baseline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</a:t>
                      </a:r>
                      <a:r>
                        <a:rPr lang="en-US" baseline="0" dirty="0"/>
                        <a:t> maybe contains </a:t>
                      </a:r>
                      <a:r>
                        <a:rPr lang="en-US" baseline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  <a:r>
                        <a:rPr lang="ru-RU" baseline="0" dirty="0"/>
                        <a:t>.</a:t>
                      </a:r>
                      <a:endParaRPr lang="en-US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Arial" charset="0"/>
                        <a:buNone/>
                      </a:pPr>
                      <a:r>
                        <a:rPr lang="en-US" baseline="0" dirty="0"/>
                        <a:t>The implementation</a:t>
                      </a:r>
                      <a:r>
                        <a:rPr lang="ru-RU" baseline="0" dirty="0"/>
                        <a:t>: </a:t>
                      </a:r>
                      <a:r>
                        <a:rPr lang="en-US" baseline="0" dirty="0"/>
                        <a:t>let us have a bit array with </a:t>
                      </a:r>
                      <a:r>
                        <a:rPr lang="en-US" b="1" baseline="0" dirty="0"/>
                        <a:t>m</a:t>
                      </a:r>
                      <a:r>
                        <a:rPr lang="en-US" baseline="0" dirty="0"/>
                        <a:t> entries and</a:t>
                      </a:r>
                      <a:r>
                        <a:rPr lang="ru-RU" baseline="0" dirty="0"/>
                        <a:t> </a:t>
                      </a:r>
                      <a:r>
                        <a:rPr lang="en-US" b="1" baseline="0" dirty="0"/>
                        <a:t>k</a:t>
                      </a:r>
                      <a:r>
                        <a:rPr lang="en-US" baseline="0" dirty="0"/>
                        <a:t> independent hash functions </a:t>
                      </a:r>
                      <a:r>
                        <a:rPr lang="en-US" b="1" baseline="0" dirty="0"/>
                        <a:t>f</a:t>
                      </a:r>
                      <a:r>
                        <a:rPr lang="en-US" b="1" baseline="-25000" dirty="0"/>
                        <a:t>i</a:t>
                      </a:r>
                      <a:r>
                        <a:rPr lang="ru-RU" baseline="0" dirty="0"/>
                        <a:t> </a:t>
                      </a:r>
                      <a:r>
                        <a:rPr lang="en-US" baseline="0" dirty="0"/>
                        <a:t>that produce values in the range</a:t>
                      </a:r>
                      <a:r>
                        <a:rPr lang="ru-RU" baseline="0" dirty="0"/>
                        <a:t> </a:t>
                      </a:r>
                      <a:r>
                        <a:rPr lang="en-US" baseline="0" dirty="0"/>
                        <a:t>[0, m-1).</a:t>
                      </a:r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baseline="0" dirty="0"/>
                        <a:t>To insert an item </a:t>
                      </a:r>
                      <a:r>
                        <a:rPr lang="en-US" b="1" baseline="0" dirty="0"/>
                        <a:t>x</a:t>
                      </a:r>
                      <a:r>
                        <a:rPr lang="en-US" baseline="0" dirty="0"/>
                        <a:t>, set bits in positions f</a:t>
                      </a:r>
                      <a:r>
                        <a:rPr lang="en-US" baseline="-25000" dirty="0"/>
                        <a:t>1</a:t>
                      </a:r>
                      <a:r>
                        <a:rPr lang="en-US" baseline="0" dirty="0"/>
                        <a:t>(x), f</a:t>
                      </a:r>
                      <a:r>
                        <a:rPr lang="en-US" baseline="-25000" dirty="0"/>
                        <a:t>2</a:t>
                      </a:r>
                      <a:r>
                        <a:rPr lang="en-US" baseline="0" dirty="0"/>
                        <a:t>(x), </a:t>
                      </a:r>
                      <a:r>
                        <a:rPr lang="mr-IN" baseline="0" dirty="0"/>
                        <a:t>…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f</a:t>
                      </a:r>
                      <a:r>
                        <a:rPr lang="en-US" baseline="-25000" dirty="0" err="1"/>
                        <a:t>k</a:t>
                      </a:r>
                      <a:r>
                        <a:rPr lang="en-US" baseline="0" dirty="0"/>
                        <a:t>(x) to 1,</a:t>
                      </a:r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baseline="0" dirty="0"/>
                        <a:t>To verify whether </a:t>
                      </a:r>
                      <a:r>
                        <a:rPr lang="en-US" b="1" baseline="0" dirty="0"/>
                        <a:t>y</a:t>
                      </a:r>
                      <a:r>
                        <a:rPr lang="en-US" baseline="0" dirty="0"/>
                        <a:t> belongs to the set, verify whether bits in positions f</a:t>
                      </a:r>
                      <a:r>
                        <a:rPr lang="en-US" baseline="-25000" dirty="0"/>
                        <a:t>1</a:t>
                      </a:r>
                      <a:r>
                        <a:rPr lang="en-US" baseline="0" dirty="0"/>
                        <a:t>(y), f</a:t>
                      </a:r>
                      <a:r>
                        <a:rPr lang="en-US" baseline="-25000" dirty="0"/>
                        <a:t>2</a:t>
                      </a:r>
                      <a:r>
                        <a:rPr lang="en-US" baseline="0" dirty="0"/>
                        <a:t>(y), </a:t>
                      </a:r>
                      <a:r>
                        <a:rPr lang="mr-IN" baseline="0" dirty="0"/>
                        <a:t>…</a:t>
                      </a:r>
                      <a:r>
                        <a:rPr lang="en-US" baseline="0" dirty="0"/>
                        <a:t>, </a:t>
                      </a:r>
                      <a:r>
                        <a:rPr lang="en-US" baseline="0" dirty="0" err="1"/>
                        <a:t>f</a:t>
                      </a:r>
                      <a:r>
                        <a:rPr lang="en-US" baseline="-25000" dirty="0" err="1"/>
                        <a:t>k</a:t>
                      </a:r>
                      <a:r>
                        <a:rPr lang="en-US" baseline="0" dirty="0"/>
                        <a:t>(y) are set to 1.</a:t>
                      </a:r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endParaRPr lang="en-US" baseline="0" dirty="0"/>
                    </a:p>
                    <a:p>
                      <a:pPr marL="0" indent="0">
                        <a:buFont typeface="Arial" charset="0"/>
                        <a:buNone/>
                      </a:pPr>
                      <a:r>
                        <a:rPr lang="en-US" baseline="0" dirty="0"/>
                        <a:t>If items </a:t>
                      </a:r>
                      <a:r>
                        <a:rPr lang="en-US" b="1" baseline="0" dirty="0"/>
                        <a:t>x</a:t>
                      </a:r>
                      <a:r>
                        <a:rPr lang="en-US" baseline="0" dirty="0"/>
                        <a:t> are uniformly sampled from a set that has </a:t>
                      </a:r>
                      <a:r>
                        <a:rPr lang="en-US" b="1" baseline="0" dirty="0"/>
                        <a:t>N</a:t>
                      </a:r>
                      <a:r>
                        <a:rPr lang="ru-RU" baseline="0" dirty="0"/>
                        <a:t> </a:t>
                      </a:r>
                      <a:r>
                        <a:rPr lang="en-US" baseline="0" dirty="0"/>
                        <a:t>elements and the probability of a wrong answer </a:t>
                      </a:r>
                      <a:r>
                        <a:rPr lang="ru-RU" baseline="0" dirty="0"/>
                        <a:t>«</a:t>
                      </a:r>
                      <a:r>
                        <a:rPr lang="en-US" b="1" baseline="0" dirty="0"/>
                        <a:t>y</a:t>
                      </a:r>
                      <a:r>
                        <a:rPr lang="en-US" baseline="0" dirty="0"/>
                        <a:t> is present</a:t>
                      </a:r>
                      <a:r>
                        <a:rPr lang="ru-RU" baseline="0" dirty="0"/>
                        <a:t>» </a:t>
                      </a:r>
                      <a:r>
                        <a:rPr lang="en-US" baseline="0" dirty="0"/>
                        <a:t>must be lower than </a:t>
                      </a:r>
                      <a:r>
                        <a:rPr lang="en-US" b="1" baseline="0" dirty="0"/>
                        <a:t>p</a:t>
                      </a:r>
                      <a:r>
                        <a:rPr lang="en-US" baseline="0" dirty="0"/>
                        <a:t>, then we need to use the following Bloom filter parameters:</a:t>
                      </a:r>
                    </a:p>
                    <a:p>
                      <a:pPr marL="0" indent="0" algn="ctr">
                        <a:buFont typeface="Arial" charset="0"/>
                        <a:buNone/>
                      </a:pPr>
                      <a:r>
                        <a:rPr lang="en-US" baseline="0" dirty="0"/>
                        <a:t>k &gt;= -log</a:t>
                      </a:r>
                      <a:r>
                        <a:rPr lang="en-US" baseline="-25000" dirty="0"/>
                        <a:t>2</a:t>
                      </a:r>
                      <a:r>
                        <a:rPr lang="en-US" baseline="0" dirty="0"/>
                        <a:t>(p), m &gt;= k*N / ln(2).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189882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4247665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0" y="365761"/>
          <a:ext cx="12192000" cy="8280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The power</a:t>
                      </a:r>
                      <a:r>
                        <a:rPr lang="en-US" sz="2400" baseline="0" dirty="0"/>
                        <a:t> of two choices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baseline="0" dirty="0"/>
                        <a:t>Why do Bloom filters need multiple independent hashes?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593022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FAD27-B498-8A92-811F-9CB16885F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1C496E6-6026-3723-772D-75E70D9E26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0023760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E5BFDC1-2C6B-2933-14F6-A8451179EFCE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2C73AC36-A432-A281-F16D-0BEBD47A597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0" y="365761"/>
              <a:ext cx="12192000" cy="2037144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12192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The power</a:t>
                          </a:r>
                          <a:r>
                            <a:rPr lang="en-US" sz="2400" baseline="0" dirty="0"/>
                            <a:t> of two choices</a:t>
                          </a:r>
                          <a:endParaRPr lang="ru-RU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indent="0">
                            <a:buFont typeface="+mj-lt"/>
                            <a:buNone/>
                          </a:pPr>
                          <a:r>
                            <a:rPr lang="en-US" baseline="0" dirty="0"/>
                            <a:t>Why do Bloom filters need multiple independent hashes?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indent="0">
                            <a:buFont typeface="Arial" charset="0"/>
                            <a:buNone/>
                          </a:pPr>
                          <a:r>
                            <a:rPr lang="en-US" b="1" baseline="0" dirty="0"/>
                            <a:t>Fact 1</a:t>
                          </a:r>
                          <a:r>
                            <a:rPr lang="ru-RU" b="1" baseline="0" dirty="0"/>
                            <a:t>:</a:t>
                          </a:r>
                          <a:r>
                            <a:rPr lang="ru-RU" baseline="0" dirty="0"/>
                            <a:t> </a:t>
                          </a:r>
                          <a:r>
                            <a:rPr lang="en-US" baseline="0" dirty="0"/>
                            <a:t>Suppose we have a hash table with N buckets, and let us insert N random elements into it.</a:t>
                          </a:r>
                          <a:br>
                            <a:rPr lang="en-US" baseline="0" dirty="0"/>
                          </a:br>
                          <a:r>
                            <a:rPr lang="en-US" baseline="0" dirty="0"/>
                            <a:t>With the probability</a:t>
                          </a:r>
                          <a:r>
                            <a:rPr lang="ru-RU" baseline="0" dirty="0"/>
                            <a:t> </a:t>
                          </a:r>
                          <a:r>
                            <a:rPr lang="en-US" baseline="0" dirty="0"/>
                            <a:t>&gt;= 1 </a:t>
                          </a:r>
                          <a:r>
                            <a:rPr lang="mr-IN" baseline="0" dirty="0"/>
                            <a:t>–</a:t>
                          </a:r>
                          <a:r>
                            <a:rPr lang="en-US" baseline="0" dirty="0"/>
                            <a:t> O(1/N) the cardinality of the busiest bucket will be</a:t>
                          </a:r>
                          <a:endParaRPr lang="ru-RU" baseline="0" dirty="0"/>
                        </a:p>
                        <a:p>
                          <a:pPr marL="0" indent="0" algn="ctr">
                            <a:buFont typeface="Arial" charset="0"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mr-IN" i="1" baseline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func>
                                      <m:funcPr>
                                        <m:ctrlPr>
                                          <a:rPr lang="en-US" b="0" i="1" baseline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0" baseline="0" smtClean="0">
                                            <a:latin typeface="Cambria Math" charset="0"/>
                                          </a:rPr>
                                          <m:t>log</m:t>
                                        </m:r>
                                      </m:fName>
                                      <m:e>
                                        <m:r>
                                          <a:rPr lang="en-US" b="0" i="1" baseline="0" smtClean="0">
                                            <a:latin typeface="Cambria Math" charset="0"/>
                                          </a:rPr>
                                          <m:t>𝑁</m:t>
                                        </m:r>
                                      </m:e>
                                    </m:func>
                                  </m:num>
                                  <m:den>
                                    <m:func>
                                      <m:funcPr>
                                        <m:ctrlPr>
                                          <a:rPr lang="en-US" b="0" i="1" baseline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0" baseline="0" smtClean="0">
                                            <a:latin typeface="Cambria Math" charset="0"/>
                                          </a:rPr>
                                          <m:t>log</m:t>
                                        </m:r>
                                      </m:fName>
                                      <m:e>
                                        <m:func>
                                          <m:funcPr>
                                            <m:ctrlPr>
                                              <a:rPr lang="en-US" b="0" i="1" baseline="0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b="0" i="0" baseline="0" smtClean="0">
                                                <a:latin typeface="Cambria Math" charset="0"/>
                                              </a:rPr>
                                              <m:t>log</m:t>
                                            </m:r>
                                          </m:fName>
                                          <m:e>
                                            <m:r>
                                              <a:rPr lang="en-US" b="0" i="1" baseline="0" smtClean="0">
                                                <a:latin typeface="Cambria Math" charset="0"/>
                                              </a:rPr>
                                              <m:t>𝑁</m:t>
                                            </m:r>
                                          </m:e>
                                        </m:func>
                                      </m:e>
                                    </m:func>
                                  </m:den>
                                </m:f>
                                <m:r>
                                  <a:rPr lang="en-US" b="0" i="1" baseline="0" smtClean="0">
                                    <a:latin typeface="Cambria Math" charset="0"/>
                                  </a:rPr>
                                  <m:t>+ </m:t>
                                </m:r>
                                <m:r>
                                  <a:rPr lang="en-US" b="0" i="1" baseline="0" smtClean="0">
                                    <a:latin typeface="Cambria Math" charset="0"/>
                                  </a:rPr>
                                  <m:t>𝑂</m:t>
                                </m:r>
                                <m:r>
                                  <a:rPr lang="en-US" b="0" i="1" baseline="0" smtClean="0">
                                    <a:latin typeface="Cambria Math" charset="0"/>
                                  </a:rPr>
                                  <m:t>(1)</m:t>
                                </m:r>
                              </m:oMath>
                            </m:oMathPara>
                          </a14:m>
                          <a:endParaRPr lang="ru-RU" baseline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2C73AC36-A432-A281-F16D-0BEBD47A597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0" y="365761"/>
              <a:ext cx="12192000" cy="2037144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12192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The power</a:t>
                          </a:r>
                          <a:r>
                            <a:rPr lang="en-US" sz="2400" baseline="0" dirty="0"/>
                            <a:t> of two choices</a:t>
                          </a:r>
                          <a:endParaRPr lang="ru-RU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indent="0">
                            <a:buFont typeface="+mj-lt"/>
                            <a:buNone/>
                          </a:pPr>
                          <a:r>
                            <a:rPr lang="en-US" baseline="0" dirty="0"/>
                            <a:t>Why do Bloom filters need multiple independent hashes?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209104">
                    <a:tc>
                      <a:txBody>
                        <a:bodyPr/>
                        <a:lstStyle/>
                        <a:p>
                          <a:endParaRPr lang="en-CY"/>
                        </a:p>
                      </a:txBody>
                      <a:tcPr>
                        <a:blipFill>
                          <a:blip r:embed="rId3"/>
                          <a:stretch>
                            <a:fillRect t="-72917" r="-104" b="-520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63300790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4B35E-719C-8D88-D08D-0FB6B71D6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5318F1B-419F-367D-06F0-357A3F99EA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7577628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F30C520-29F5-6FBB-B873-696A08BB7168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16D82ED6-A8D4-7A8A-94C8-DA75F5A7482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0" y="365761"/>
              <a:ext cx="12192000" cy="4709288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12192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The power</a:t>
                          </a:r>
                          <a:r>
                            <a:rPr lang="en-US" sz="2400" baseline="0" dirty="0"/>
                            <a:t> of two choices</a:t>
                          </a:r>
                          <a:endParaRPr lang="ru-RU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indent="0">
                            <a:buFont typeface="+mj-lt"/>
                            <a:buNone/>
                          </a:pPr>
                          <a:r>
                            <a:rPr lang="en-US" baseline="0" dirty="0"/>
                            <a:t>Why do Bloom filters need multiple independent hashes?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indent="0">
                            <a:buFont typeface="Arial" charset="0"/>
                            <a:buNone/>
                          </a:pPr>
                          <a:r>
                            <a:rPr lang="en-US" b="1" baseline="0" dirty="0"/>
                            <a:t>Fact 1</a:t>
                          </a:r>
                          <a:r>
                            <a:rPr lang="ru-RU" b="1" baseline="0" dirty="0"/>
                            <a:t>:</a:t>
                          </a:r>
                          <a:r>
                            <a:rPr lang="ru-RU" baseline="0" dirty="0"/>
                            <a:t> </a:t>
                          </a:r>
                          <a:r>
                            <a:rPr lang="en-US" baseline="0" dirty="0"/>
                            <a:t>Suppose we have a hash table with N buckets, and let us insert N random elements into it.</a:t>
                          </a:r>
                          <a:br>
                            <a:rPr lang="en-US" baseline="0" dirty="0"/>
                          </a:br>
                          <a:r>
                            <a:rPr lang="en-US" baseline="0" dirty="0"/>
                            <a:t>With the probability</a:t>
                          </a:r>
                          <a:r>
                            <a:rPr lang="ru-RU" baseline="0" dirty="0"/>
                            <a:t> </a:t>
                          </a:r>
                          <a:r>
                            <a:rPr lang="en-US" baseline="0" dirty="0"/>
                            <a:t>&gt;= 1 </a:t>
                          </a:r>
                          <a:r>
                            <a:rPr lang="mr-IN" baseline="0" dirty="0"/>
                            <a:t>–</a:t>
                          </a:r>
                          <a:r>
                            <a:rPr lang="en-US" baseline="0" dirty="0"/>
                            <a:t> O(1/N) the cardinality of the busiest bucket will be</a:t>
                          </a:r>
                          <a:endParaRPr lang="ru-RU" baseline="0" dirty="0"/>
                        </a:p>
                        <a:p>
                          <a:pPr marL="0" indent="0" algn="ctr">
                            <a:buFont typeface="Arial" charset="0"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mr-IN" i="1" baseline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func>
                                      <m:funcPr>
                                        <m:ctrlPr>
                                          <a:rPr lang="en-US" b="0" i="1" baseline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0" baseline="0" smtClean="0">
                                            <a:latin typeface="Cambria Math" charset="0"/>
                                          </a:rPr>
                                          <m:t>log</m:t>
                                        </m:r>
                                      </m:fName>
                                      <m:e>
                                        <m:r>
                                          <a:rPr lang="en-US" b="0" i="1" baseline="0" smtClean="0">
                                            <a:latin typeface="Cambria Math" charset="0"/>
                                          </a:rPr>
                                          <m:t>𝑁</m:t>
                                        </m:r>
                                      </m:e>
                                    </m:func>
                                  </m:num>
                                  <m:den>
                                    <m:func>
                                      <m:funcPr>
                                        <m:ctrlPr>
                                          <a:rPr lang="en-US" b="0" i="1" baseline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0" baseline="0" smtClean="0">
                                            <a:latin typeface="Cambria Math" charset="0"/>
                                          </a:rPr>
                                          <m:t>log</m:t>
                                        </m:r>
                                      </m:fName>
                                      <m:e>
                                        <m:func>
                                          <m:funcPr>
                                            <m:ctrlPr>
                                              <a:rPr lang="en-US" b="0" i="1" baseline="0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b="0" i="0" baseline="0" smtClean="0">
                                                <a:latin typeface="Cambria Math" charset="0"/>
                                              </a:rPr>
                                              <m:t>log</m:t>
                                            </m:r>
                                          </m:fName>
                                          <m:e>
                                            <m:r>
                                              <a:rPr lang="en-US" b="0" i="1" baseline="0" smtClean="0">
                                                <a:latin typeface="Cambria Math" charset="0"/>
                                              </a:rPr>
                                              <m:t>𝑁</m:t>
                                            </m:r>
                                          </m:e>
                                        </m:func>
                                      </m:e>
                                    </m:func>
                                  </m:den>
                                </m:f>
                                <m:r>
                                  <a:rPr lang="en-US" b="0" i="1" baseline="0" smtClean="0">
                                    <a:latin typeface="Cambria Math" charset="0"/>
                                  </a:rPr>
                                  <m:t>+ </m:t>
                                </m:r>
                                <m:r>
                                  <a:rPr lang="en-US" b="0" i="1" baseline="0" smtClean="0">
                                    <a:latin typeface="Cambria Math" charset="0"/>
                                  </a:rPr>
                                  <m:t>𝑂</m:t>
                                </m:r>
                                <m:r>
                                  <a:rPr lang="en-US" b="0" i="1" baseline="0" smtClean="0">
                                    <a:latin typeface="Cambria Math" charset="0"/>
                                  </a:rPr>
                                  <m:t>(1)</m:t>
                                </m:r>
                              </m:oMath>
                            </m:oMathPara>
                          </a14:m>
                          <a:endParaRPr lang="ru-RU" baseline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indent="0" algn="l">
                            <a:buFont typeface="Arial" charset="0"/>
                            <a:buNone/>
                          </a:pPr>
                          <a:r>
                            <a:rPr lang="en-US" b="1" baseline="0" dirty="0"/>
                            <a:t>Fact</a:t>
                          </a:r>
                          <a:r>
                            <a:rPr lang="ru-RU" b="1" baseline="0" dirty="0"/>
                            <a:t> 2</a:t>
                          </a:r>
                          <a:r>
                            <a:rPr lang="ru-RU" baseline="0" dirty="0"/>
                            <a:t>: </a:t>
                          </a:r>
                          <a:r>
                            <a:rPr lang="en-US" baseline="0" dirty="0"/>
                            <a:t>Suppose we have a hash table with N buckets, but inserts into the table use d independent hashes. Insert(x) computes d hashes of x to pick the candidate buckets and inserts x into the least populated bucket.</a:t>
                          </a:r>
                          <a:br>
                            <a:rPr lang="en-US" baseline="0" dirty="0"/>
                          </a:br>
                          <a:br>
                            <a:rPr lang="en-US" baseline="0" dirty="0"/>
                          </a:br>
                          <a:r>
                            <a:rPr lang="en-US" baseline="0" dirty="0"/>
                            <a:t>Let us insert</a:t>
                          </a:r>
                          <a:r>
                            <a:rPr lang="ru-RU" baseline="0" dirty="0"/>
                            <a:t> </a:t>
                          </a:r>
                          <a:r>
                            <a:rPr lang="en-US" baseline="0" dirty="0"/>
                            <a:t>N random elements into such hash table</a:t>
                          </a:r>
                          <a:r>
                            <a:rPr lang="ru-RU" baseline="0" dirty="0"/>
                            <a:t>. </a:t>
                          </a:r>
                          <a:r>
                            <a:rPr lang="en-US" baseline="0" dirty="0"/>
                            <a:t>With the probability</a:t>
                          </a:r>
                          <a:r>
                            <a:rPr lang="ru-RU" baseline="0" dirty="0"/>
                            <a:t> </a:t>
                          </a:r>
                          <a:r>
                            <a:rPr lang="en-US" baseline="0" dirty="0"/>
                            <a:t>&gt;= 1 - O(1/N) the cardinality of the busiest bucket will be</a:t>
                          </a:r>
                        </a:p>
                        <a:p>
                          <a:pPr marL="0" indent="0" algn="ctr">
                            <a:buFont typeface="Arial" charset="0"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mr-IN" b="0" i="1" baseline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func>
                                      <m:funcPr>
                                        <m:ctrlPr>
                                          <a:rPr lang="en-US" b="0" i="1" baseline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0" baseline="0" smtClean="0">
                                            <a:latin typeface="Cambria Math" charset="0"/>
                                          </a:rPr>
                                          <m:t>log</m:t>
                                        </m:r>
                                      </m:fName>
                                      <m:e>
                                        <m:func>
                                          <m:funcPr>
                                            <m:ctrlPr>
                                              <a:rPr lang="en-US" b="0" i="1" baseline="0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b="0" i="0" baseline="0" smtClean="0">
                                                <a:latin typeface="Cambria Math" charset="0"/>
                                              </a:rPr>
                                              <m:t>log</m:t>
                                            </m:r>
                                          </m:fName>
                                          <m:e>
                                            <m:r>
                                              <a:rPr lang="en-US" b="0" i="1" baseline="0" smtClean="0">
                                                <a:latin typeface="Cambria Math" charset="0"/>
                                              </a:rPr>
                                              <m:t>𝑁</m:t>
                                            </m:r>
                                          </m:e>
                                        </m:func>
                                      </m:e>
                                    </m:func>
                                  </m:num>
                                  <m:den>
                                    <m:func>
                                      <m:funcPr>
                                        <m:ctrlPr>
                                          <a:rPr lang="en-US" b="0" i="1" baseline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0" baseline="0" smtClean="0">
                                            <a:latin typeface="Cambria Math" charset="0"/>
                                          </a:rPr>
                                          <m:t>log</m:t>
                                        </m:r>
                                      </m:fName>
                                      <m:e>
                                        <m:r>
                                          <a:rPr lang="en-US" b="0" i="1" baseline="0" smtClean="0">
                                            <a:latin typeface="Cambria Math" charset="0"/>
                                          </a:rPr>
                                          <m:t>𝑑</m:t>
                                        </m:r>
                                      </m:e>
                                    </m:func>
                                  </m:den>
                                </m:f>
                                <m:r>
                                  <a:rPr lang="en-US" b="0" i="1" baseline="0" smtClean="0">
                                    <a:latin typeface="Cambria Math" charset="0"/>
                                  </a:rPr>
                                  <m:t>+ </m:t>
                                </m:r>
                                <m:r>
                                  <a:rPr lang="en-US" b="0" i="1" baseline="0" smtClean="0">
                                    <a:latin typeface="Cambria Math" charset="0"/>
                                  </a:rPr>
                                  <m:t>𝑂</m:t>
                                </m:r>
                                <m:r>
                                  <a:rPr lang="en-US" b="0" i="1" baseline="0" smtClean="0">
                                    <a:latin typeface="Cambria Math" charset="0"/>
                                  </a:rPr>
                                  <m:t>(1)</m:t>
                                </m:r>
                              </m:oMath>
                            </m:oMathPara>
                          </a14:m>
                          <a:endParaRPr lang="ru-RU" baseline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indent="0" algn="l">
                            <a:buFont typeface="Arial" charset="0"/>
                            <a:buNone/>
                          </a:pPr>
                          <a:r>
                            <a:rPr lang="en-US" baseline="0" dirty="0"/>
                            <a:t>The use of two independent hash functions instead of one improves the asymptotic of the cardinality of the busiest bucket. Adding more hashes no longer improves it.</a:t>
                          </a:r>
                          <a:endParaRPr lang="ru-RU" baseline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16D82ED6-A8D4-7A8A-94C8-DA75F5A7482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0" y="365761"/>
              <a:ext cx="12192000" cy="4709288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12192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The power</a:t>
                          </a:r>
                          <a:r>
                            <a:rPr lang="en-US" sz="2400" baseline="0" dirty="0"/>
                            <a:t> of two choices</a:t>
                          </a:r>
                          <a:endParaRPr lang="ru-RU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indent="0">
                            <a:buFont typeface="+mj-lt"/>
                            <a:buNone/>
                          </a:pPr>
                          <a:r>
                            <a:rPr lang="en-US" baseline="0" dirty="0"/>
                            <a:t>Why do Bloom filters need multiple independent hashes?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209104">
                    <a:tc>
                      <a:txBody>
                        <a:bodyPr/>
                        <a:lstStyle/>
                        <a:p>
                          <a:endParaRPr lang="en-CY"/>
                        </a:p>
                      </a:txBody>
                      <a:tcPr>
                        <a:blipFill>
                          <a:blip r:embed="rId3"/>
                          <a:stretch>
                            <a:fillRect t="-71875" r="-104" b="-2281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032064">
                    <a:tc>
                      <a:txBody>
                        <a:bodyPr/>
                        <a:lstStyle/>
                        <a:p>
                          <a:endParaRPr lang="en-CY"/>
                        </a:p>
                      </a:txBody>
                      <a:tcPr>
                        <a:blipFill>
                          <a:blip r:embed="rId3"/>
                          <a:stretch>
                            <a:fillRect t="-103125" r="-104" b="-368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indent="0" algn="l">
                            <a:buFont typeface="Arial" charset="0"/>
                            <a:buNone/>
                          </a:pPr>
                          <a:r>
                            <a:rPr lang="en-US" baseline="0" dirty="0"/>
                            <a:t>The use of two independent hash functions instead of one improves the asymptotic of the cardinality of the busiest bucket. Adding more hashes no longer improves it.</a:t>
                          </a:r>
                          <a:endParaRPr lang="ru-RU" baseline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21721876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1074973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0" y="365761"/>
          <a:ext cx="12192000" cy="16459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The power</a:t>
                      </a:r>
                      <a:r>
                        <a:rPr lang="en-US" sz="2400" baseline="0" dirty="0"/>
                        <a:t> of two choices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baseline="0" dirty="0"/>
                        <a:t>Applications:</a:t>
                      </a:r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baseline="0" dirty="0"/>
                        <a:t>Hash tables</a:t>
                      </a:r>
                      <a:r>
                        <a:rPr lang="ru-RU" baseline="0" dirty="0"/>
                        <a:t>,</a:t>
                      </a:r>
                      <a:endParaRPr lang="en-US" baseline="0" dirty="0"/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baseline="0" dirty="0"/>
                        <a:t>Bloom filters</a:t>
                      </a:r>
                      <a:r>
                        <a:rPr lang="ru-RU" baseline="0" dirty="0"/>
                        <a:t>,</a:t>
                      </a:r>
                      <a:endParaRPr lang="en-US" baseline="0" dirty="0"/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baseline="0" dirty="0"/>
                        <a:t>?</a:t>
                      </a:r>
                      <a:endParaRPr lang="ru-RU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802861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4FD39-43B9-4E35-9D68-BCD20EA0C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7C540C2-6AC3-62BF-55AE-546AB13834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6311416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F412F19-5D4F-AAAF-1946-F6ED219931D1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D9F5B71-6179-A581-601F-8E12B54F05D1}"/>
              </a:ext>
            </a:extLst>
          </p:cNvPr>
          <p:cNvGraphicFramePr>
            <a:graphicFrameLocks noGrp="1"/>
          </p:cNvGraphicFramePr>
          <p:nvPr/>
        </p:nvGraphicFramePr>
        <p:xfrm>
          <a:off x="0" y="365761"/>
          <a:ext cx="12192000" cy="19202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The power</a:t>
                      </a:r>
                      <a:r>
                        <a:rPr lang="en-US" sz="2400" baseline="0" dirty="0"/>
                        <a:t> of two choices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baseline="0" dirty="0"/>
                        <a:t>Applications:</a:t>
                      </a:r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baseline="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Hash tables</a:t>
                      </a:r>
                      <a:r>
                        <a:rPr lang="ru-RU" baseline="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,</a:t>
                      </a:r>
                      <a:endParaRPr lang="en-US" baseline="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baseline="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Bloom filters</a:t>
                      </a:r>
                      <a:r>
                        <a:rPr lang="ru-RU" baseline="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,</a:t>
                      </a:r>
                      <a:endParaRPr lang="en-US" baseline="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baseline="0" dirty="0"/>
                        <a:t>Load balancing in distributed systems,</a:t>
                      </a:r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baseline="0" dirty="0"/>
                        <a:t>Controlling tail latencies in distributed systems.</a:t>
                      </a:r>
                      <a:endParaRPr lang="ru-RU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738018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4EDE1-2073-59E6-43CF-BE921AFC0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4AE52AF-8DA5-3B3A-569C-15CAB233EF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3968460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CC38F80-1521-6696-CAB2-DD44AA49A8D8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C7E6008-D3A9-602C-67AE-F39D642D3294}"/>
              </a:ext>
            </a:extLst>
          </p:cNvPr>
          <p:cNvGraphicFramePr>
            <a:graphicFrameLocks noGrp="1"/>
          </p:cNvGraphicFramePr>
          <p:nvPr/>
        </p:nvGraphicFramePr>
        <p:xfrm>
          <a:off x="0" y="365761"/>
          <a:ext cx="12192000" cy="448056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The power</a:t>
                      </a:r>
                      <a:r>
                        <a:rPr lang="en-US" sz="2400" baseline="0" dirty="0"/>
                        <a:t> of two choices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baseline="0" dirty="0"/>
                        <a:t>Applications:</a:t>
                      </a:r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baseline="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Hash tables</a:t>
                      </a:r>
                      <a:r>
                        <a:rPr lang="ru-RU" baseline="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,</a:t>
                      </a:r>
                      <a:endParaRPr lang="en-US" baseline="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baseline="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Bloom filters</a:t>
                      </a:r>
                      <a:r>
                        <a:rPr lang="ru-RU" baseline="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,</a:t>
                      </a:r>
                      <a:endParaRPr lang="en-US" baseline="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baseline="0" dirty="0"/>
                        <a:t>Load balancing in distributed systems,</a:t>
                      </a:r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baseline="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Controlling tail latencies in distributed systems.</a:t>
                      </a:r>
                      <a:endParaRPr lang="ru-RU" baseline="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Arial" charset="0"/>
                        <a:buNone/>
                      </a:pPr>
                      <a:r>
                        <a:rPr lang="en-US" b="1" baseline="0" dirty="0"/>
                        <a:t>Naïve approach</a:t>
                      </a:r>
                      <a:r>
                        <a:rPr lang="en-US" baseline="0" dirty="0"/>
                        <a:t>: Suppose there are multiple HTTP servers that can serve the same file download. A client may choose a less loaded server this way: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baseline="0" dirty="0"/>
                        <a:t>Pick two random servers to try,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baseline="0" dirty="0"/>
                        <a:t>Send a download request to both servers,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baseline="0" dirty="0"/>
                        <a:t>Wait for the first byte from any of the servers,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baseline="0" dirty="0"/>
                        <a:t>Use the one that replied first to complete the download, and cancel the other request.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endParaRPr lang="en-US" baseline="0" dirty="0"/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US" baseline="0" dirty="0"/>
                        <a:t>No one does this because it doubles the number of requests, but there is a modification to this algorithm that makes it useful both for load balancing and controlling tail latencies.</a:t>
                      </a:r>
                      <a:endParaRPr lang="ru-RU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4649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236210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61CCB-15CC-C197-A0DF-915332B88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D9BF841-B2A1-AC86-197C-AADA31A8F7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3171763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C893570-BD61-7608-2124-4629EF0736A7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197531C-E7C1-7DE7-5B7D-4CDC475953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254282"/>
              </p:ext>
            </p:extLst>
          </p:nvPr>
        </p:nvGraphicFramePr>
        <p:xfrm>
          <a:off x="0" y="365761"/>
          <a:ext cx="12192000" cy="28346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The power</a:t>
                      </a:r>
                      <a:r>
                        <a:rPr lang="en-US" sz="2400" baseline="0" dirty="0"/>
                        <a:t> of two choices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baseline="0" dirty="0"/>
                        <a:t>Applications:</a:t>
                      </a:r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baseline="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Hash tables</a:t>
                      </a:r>
                      <a:r>
                        <a:rPr lang="ru-RU" baseline="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,</a:t>
                      </a:r>
                      <a:endParaRPr lang="en-US" baseline="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baseline="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Bloom filters</a:t>
                      </a:r>
                      <a:r>
                        <a:rPr lang="ru-RU" baseline="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,</a:t>
                      </a:r>
                      <a:endParaRPr lang="en-US" baseline="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baseline="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Load balancing in distributed systems,</a:t>
                      </a:r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baseline="0" dirty="0"/>
                        <a:t>Controlling tail latencies in distributed systems.</a:t>
                      </a:r>
                      <a:endParaRPr lang="ru-RU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Arial" charset="0"/>
                        <a:buNone/>
                      </a:pPr>
                      <a:r>
                        <a:rPr lang="en-US" b="1" baseline="0" dirty="0"/>
                        <a:t>Problem</a:t>
                      </a:r>
                      <a:r>
                        <a:rPr lang="ru-RU" b="1" baseline="0" dirty="0"/>
                        <a:t>:</a:t>
                      </a:r>
                      <a:r>
                        <a:rPr lang="en-US" b="0" baseline="0" dirty="0"/>
                        <a:t> let us have N identical servers that handle 99% requests in &lt; </a:t>
                      </a:r>
                      <a:r>
                        <a:rPr lang="ru-RU" b="0" baseline="0" dirty="0"/>
                        <a:t>10</a:t>
                      </a:r>
                      <a:r>
                        <a:rPr lang="en-US" b="0" baseline="0" dirty="0" err="1"/>
                        <a:t>ms</a:t>
                      </a:r>
                      <a:r>
                        <a:rPr lang="en-US" b="0" baseline="0" dirty="0"/>
                        <a:t>, but the remaining</a:t>
                      </a:r>
                      <a:r>
                        <a:rPr lang="ru-RU" b="0" baseline="0" dirty="0"/>
                        <a:t> 1% </a:t>
                      </a:r>
                      <a:r>
                        <a:rPr lang="en-US" b="0" baseline="0" dirty="0"/>
                        <a:t>(random) requests</a:t>
                      </a:r>
                      <a:r>
                        <a:rPr lang="ru-RU" b="0" baseline="0" dirty="0"/>
                        <a:t> </a:t>
                      </a:r>
                      <a:r>
                        <a:rPr lang="en-US" b="0" baseline="0" dirty="0"/>
                        <a:t>take</a:t>
                      </a:r>
                      <a:r>
                        <a:rPr lang="ru-RU" b="0" baseline="0" dirty="0"/>
                        <a:t> 1</a:t>
                      </a:r>
                      <a:r>
                        <a:rPr lang="en-US" b="0" baseline="0" dirty="0"/>
                        <a:t>s. Suppose it takes </a:t>
                      </a:r>
                      <a:r>
                        <a:rPr lang="ru-RU" b="0" baseline="0" dirty="0"/>
                        <a:t>10</a:t>
                      </a:r>
                      <a:r>
                        <a:rPr lang="en-US" b="0" baseline="0" dirty="0"/>
                        <a:t> parallel</a:t>
                      </a:r>
                      <a:r>
                        <a:rPr lang="ru-RU" b="0" baseline="0" dirty="0"/>
                        <a:t> </a:t>
                      </a:r>
                      <a:r>
                        <a:rPr lang="en-US" b="0" baseline="0" dirty="0"/>
                        <a:t>requests to those servers to handle a single request from a client. What is the share of client requests that are processed in ≈10ms?</a:t>
                      </a:r>
                      <a:endParaRPr lang="ru-RU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4649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116978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31CC2-FAF1-8AC2-EB70-8D67C5007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50C9B32-A3EC-BA8F-13EC-BA56579909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6079213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22CB5D2-DC94-8E31-8283-51EE3B011156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6332A52-50D0-1F28-FACE-6F26931874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4880716"/>
              </p:ext>
            </p:extLst>
          </p:nvPr>
        </p:nvGraphicFramePr>
        <p:xfrm>
          <a:off x="0" y="365761"/>
          <a:ext cx="12192000" cy="53035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The power</a:t>
                      </a:r>
                      <a:r>
                        <a:rPr lang="en-US" sz="2400" baseline="0" dirty="0"/>
                        <a:t> of two choices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baseline="0" dirty="0"/>
                        <a:t>Applications:</a:t>
                      </a:r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baseline="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Hash tables</a:t>
                      </a:r>
                      <a:r>
                        <a:rPr lang="ru-RU" baseline="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,</a:t>
                      </a:r>
                      <a:endParaRPr lang="en-US" baseline="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baseline="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Bloom filters</a:t>
                      </a:r>
                      <a:r>
                        <a:rPr lang="ru-RU" baseline="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,</a:t>
                      </a:r>
                      <a:endParaRPr lang="en-US" baseline="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baseline="0" dirty="0"/>
                        <a:t>Load balancing in distributed systems,</a:t>
                      </a:r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baseline="0" dirty="0"/>
                        <a:t>Controlling tail latencies in distributed systems.</a:t>
                      </a:r>
                      <a:endParaRPr lang="ru-RU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Arial" charset="0"/>
                        <a:buNone/>
                      </a:pPr>
                      <a:r>
                        <a:rPr lang="en-US" b="1" baseline="0" dirty="0"/>
                        <a:t>A better approach</a:t>
                      </a:r>
                      <a:r>
                        <a:rPr lang="en-US" baseline="0" dirty="0"/>
                        <a:t>: Suppose there are multiple servers that can serve the same request. A client may proceed this way: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baseline="0" dirty="0"/>
                        <a:t>Pick two random servers to try,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baseline="0" dirty="0"/>
                        <a:t>Send a request to one of them,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baseline="0" dirty="0"/>
                        <a:t>If the processing time exceeds the 95-th percentile of request durations, then re-issue the request to the second server.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endParaRPr lang="en-US" baseline="0" dirty="0"/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US" baseline="0" dirty="0"/>
                        <a:t>This addresses both problems and creates at most 5% of duplicated requests.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endParaRPr lang="en-US" baseline="0" dirty="0"/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US" baseline="0" dirty="0"/>
                        <a:t>In fact, many systems aim to have &gt;=99.9% or &gt;=99.99% requests that run fast. In that case the slow request logic needs to kick in when 99-th percentile is exceeded which means 1% duplicated requests.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endParaRPr lang="en-US" baseline="0" dirty="0"/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US" b="1" baseline="0" dirty="0"/>
                        <a:t>See also: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>
                          <a:hlinkClick r:id="rId3"/>
                        </a:rPr>
                        <a:t>https://barroso.org/publications/TheTailAtScale.pdf</a:t>
                      </a:r>
                      <a:endParaRPr lang="en-US" baseline="0" dirty="0"/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US" b="1" baseline="0" dirty="0"/>
                        <a:t>See also: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>
                          <a:hlinkClick r:id="rId4"/>
                        </a:rPr>
                        <a:t>https://ieeexplore.ieee.org/stamp/stamp.jsp?tp=&amp;arnumber=9167399</a:t>
                      </a:r>
                      <a:endParaRPr lang="en-US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4649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688089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5834084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6561606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5275526"/>
              </p:ext>
            </p:extLst>
          </p:nvPr>
        </p:nvGraphicFramePr>
        <p:xfrm>
          <a:off x="0" y="365761"/>
          <a:ext cx="12192000" cy="13716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To do at home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dirty="0"/>
                        <a:t>Implement 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std::map&lt;int64_t, int64_t&gt;</a:t>
                      </a:r>
                      <a:r>
                        <a:rPr lang="en-US" dirty="0"/>
                        <a:t> as a B-tree. Remove items by inserting tombstones.</a:t>
                      </a:r>
                      <a:endParaRPr lang="ru-RU" baseline="0" dirty="0"/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baseline="0" dirty="0"/>
                        <a:t>Write a function that merges two B-trees.</a:t>
                      </a:r>
                      <a:endParaRPr lang="ru-RU" baseline="0" dirty="0"/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baseline="0" dirty="0"/>
                        <a:t>Measure the latency distribution of insertions into your tree (make this question precise before answering it).</a:t>
                      </a:r>
                      <a:endParaRPr lang="ru-RU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934034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39923</TotalTime>
  <Words>5678</Words>
  <Application>Microsoft Macintosh PowerPoint</Application>
  <PresentationFormat>Widescreen</PresentationFormat>
  <Paragraphs>1219</Paragraphs>
  <Slides>52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52</vt:i4>
      </vt:variant>
    </vt:vector>
  </HeadingPairs>
  <TitlesOfParts>
    <vt:vector size="59" baseType="lpstr">
      <vt:lpstr>Arial</vt:lpstr>
      <vt:lpstr>Calibri</vt:lpstr>
      <vt:lpstr>Calibri Light</vt:lpstr>
      <vt:lpstr>Cambria Math</vt:lpstr>
      <vt:lpstr>Consolas</vt:lpstr>
      <vt:lpstr>Office Theme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Artem Anisimov</dc:creator>
  <cp:lastModifiedBy>QA Admin-TEST</cp:lastModifiedBy>
  <cp:revision>197</cp:revision>
  <dcterms:created xsi:type="dcterms:W3CDTF">2016-09-20T13:25:15Z</dcterms:created>
  <dcterms:modified xsi:type="dcterms:W3CDTF">2025-11-21T14:46:10Z</dcterms:modified>
</cp:coreProperties>
</file>