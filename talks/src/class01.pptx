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1.xml" ContentType="application/inkml+xml"/>
  <Override PartName="/ppt/notesSlides/notesSlide14.xml" ContentType="application/vnd.openxmlformats-officedocument.presentationml.notesSlide+xml"/>
  <Override PartName="/ppt/ink/ink2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6"/>
  </p:notesMasterIdLst>
  <p:handoutMasterIdLst>
    <p:handoutMasterId r:id="rId37"/>
  </p:handoutMasterIdLst>
  <p:sldIdLst>
    <p:sldId id="342" r:id="rId3"/>
    <p:sldId id="311" r:id="rId4"/>
    <p:sldId id="345" r:id="rId5"/>
    <p:sldId id="343" r:id="rId6"/>
    <p:sldId id="344" r:id="rId7"/>
    <p:sldId id="323" r:id="rId8"/>
    <p:sldId id="341" r:id="rId9"/>
    <p:sldId id="334" r:id="rId10"/>
    <p:sldId id="288" r:id="rId11"/>
    <p:sldId id="353" r:id="rId12"/>
    <p:sldId id="352" r:id="rId13"/>
    <p:sldId id="351" r:id="rId14"/>
    <p:sldId id="350" r:id="rId15"/>
    <p:sldId id="354" r:id="rId16"/>
    <p:sldId id="355" r:id="rId17"/>
    <p:sldId id="356" r:id="rId18"/>
    <p:sldId id="357" r:id="rId19"/>
    <p:sldId id="362" r:id="rId20"/>
    <p:sldId id="361" r:id="rId21"/>
    <p:sldId id="360" r:id="rId22"/>
    <p:sldId id="374" r:id="rId23"/>
    <p:sldId id="359" r:id="rId24"/>
    <p:sldId id="375" r:id="rId25"/>
    <p:sldId id="363" r:id="rId26"/>
    <p:sldId id="364" r:id="rId27"/>
    <p:sldId id="365" r:id="rId28"/>
    <p:sldId id="366" r:id="rId29"/>
    <p:sldId id="367" r:id="rId30"/>
    <p:sldId id="368" r:id="rId31"/>
    <p:sldId id="370" r:id="rId32"/>
    <p:sldId id="371" r:id="rId33"/>
    <p:sldId id="372" r:id="rId34"/>
    <p:sldId id="373" r:id="rId3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875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3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ru-RU"/>
              <a:t>Основы построения файловых систем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C6788E-680A-49E5-BB93-D456A9D23A29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061F6E-92FD-414D-9278-71772D358C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2730847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1T08:35:40.9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483 271 24575,'0'-8'0,"0"1"0,0-1 0,0 0 0,0 1 0,0-1 0,0 0 0,0 1 0,0-1 0,0 0 0,0 1 0,-4 3 0,3-3 0,-2 2 0,-1-2 0,3-1 0,-6 4 0,6-3 0,-2 2 0,-1 1 0,3-3 0,-6 6 0,6-6 0,-6 3 0,6-4 0,-6 4 0,6-3 0,-6 6 0,6-5 0,-6 5 0,6-6 0,-6 6 0,6-6 0,-7 6 0,4-2 0,-1-1 0,-2 4 0,6-7 0,-6 6 0,3-3 0,0 1 0,-3 2 0,3-6 0,-4 6 0,0-2 0,4-1 0,-3 3 0,3-6 0,-4 3 0,1-1 0,-1 2 0,0 3 0,4-3 0,-3 2 0,3-3 0,-4 4 0,0 0 0,1 0 0,-1 0 0,0 0 0,4-3 0,-3 2 0,3-2 0,-4 3 0,1 0 0,-1 0 0,0 0 0,1 0 0,-1 0 0,1 0 0,-1 0 0,0 0 0,1 0 0,-1 0 0,0 0 0,1 0 0,-1 0 0,1 0 0,-1 0 0,4 3 0,1 1 0,3 4 0,-4-4 0,3 2 0,-2-1 0,3 2 0,0 1 0,-4-4 0,3 3 0,-2-3 0,0 0 0,2 3 0,-6-7 0,6 7 0,-9-6 0,8 6 0,-5-3 0,7 3 0,-3-3 0,2 3 0,-6-6 0,6 6 0,-6-7 0,6 8 0,-2-4 0,-1 0 0,4 3 0,-4-3 0,4 4 0,0 0 0,-4-4 0,3 2 0,-2-1 0,3 2 0,0 1 0,0-1 0,-4 1 0,3 0 0,-2-1 0,3 1 0,0 0 0,0-1 0,0 1 0,0 0 0,0-1 0,0 1 0,0 0 0,0-1 0,0 1 0,0-1 0,0 1 0,0 0 0,0 0 0,0-1 0,0 1 0,0 0 0,0-1 0,0 1 0,0 0 0,0-1 0,0 1 0,0 0 0,0-1 0,0 1 0,4-4 0,-3 3 0,6-6 0,-3 2 0,1 0 0,1-2 0,-2 3 0,4-4 0,-4 3 0,3-2 0,-3 2 0,4-3 0,0 0 0,-4 4 0,3-3 0,-3 2 0,0 0 0,3-2 0,-3 3 0,4-4 0,0 0 0,-1 0 0,-3 3 0,3-2 0,-6 6 0,6-6 0,-7 6 0,7-6 0,-2 2 0,2-3 0,1 0 0,-1 0 0,1 0 0,-1 0 0,1 0 0,-1 0 0,1 0 0,-4 4 0,3-3 0,-3 2 0,4-3 0,-1 0 0,1 0 0,-1 0 0,1 0 0,-1 0 0,1 0 0,0 0 0,-1 0 0,1 0 0,-1 0 0,1 0 0,-4 3 0,3-2 0,-2 3 0,2-4 0,1 0 0,0 0 0,-1 0 0,1 0 0,-1 0 0,1 0 0,-1 0 0,-3-4 0,0 0 0,-4-3 0,3 2 0,-2-2 0,6 7 0,-3-4 0,3 4 0,-2-3 0,1 2 0,-5-6 0,6 6 0,-6-6 0,6 7 0,-7-7 0,4 2 0,-1 1 0,-2-3 0,3 2 0,-1 1 0,-2-3 0,2 2 0,0 1 0,-2-3 0,3 2 0,-1-3 0,-2 1 0,5 2 0,-5-2 0,3 3 0,-1-1 0,-2-5 0,2 9 0,-3-6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1T08:35:40.9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483 271 24575,'0'-8'0,"0"1"0,0-1 0,0 0 0,0 1 0,0-1 0,0 0 0,0 1 0,0-1 0,0 0 0,0 1 0,-4 3 0,3-3 0,-2 2 0,-1-2 0,3-1 0,-6 4 0,6-3 0,-2 2 0,-1 1 0,3-3 0,-6 6 0,6-6 0,-6 3 0,6-4 0,-6 4 0,6-3 0,-6 6 0,6-5 0,-6 5 0,6-6 0,-6 6 0,6-6 0,-7 6 0,4-2 0,-1-1 0,-2 4 0,6-7 0,-6 6 0,3-3 0,0 1 0,-3 2 0,3-6 0,-4 6 0,0-2 0,4-1 0,-3 3 0,3-6 0,-4 3 0,1-1 0,-1 2 0,0 3 0,4-3 0,-3 2 0,3-3 0,-4 4 0,0 0 0,1 0 0,-1 0 0,0 0 0,4-3 0,-3 2 0,3-2 0,-4 3 0,1 0 0,-1 0 0,0 0 0,1 0 0,-1 0 0,1 0 0,-1 0 0,0 0 0,1 0 0,-1 0 0,0 0 0,1 0 0,-1 0 0,1 0 0,-1 0 0,4 3 0,1 1 0,3 4 0,-4-4 0,3 2 0,-2-1 0,3 2 0,0 1 0,-4-4 0,3 3 0,-2-3 0,0 0 0,2 3 0,-6-7 0,6 7 0,-9-6 0,8 6 0,-5-3 0,7 3 0,-3-3 0,2 3 0,-6-6 0,6 6 0,-6-7 0,6 8 0,-2-4 0,-1 0 0,4 3 0,-4-3 0,4 4 0,0 0 0,-4-4 0,3 2 0,-2-1 0,3 2 0,0 1 0,0-1 0,-4 1 0,3 0 0,-2-1 0,3 1 0,0 0 0,0-1 0,0 1 0,0 0 0,0-1 0,0 1 0,0 0 0,0-1 0,0 1 0,0-1 0,0 1 0,0 0 0,0 0 0,0-1 0,0 1 0,0 0 0,0-1 0,0 1 0,0 0 0,0-1 0,0 1 0,0 0 0,0-1 0,0 1 0,4-4 0,-3 3 0,6-6 0,-3 2 0,1 0 0,1-2 0,-2 3 0,4-4 0,-4 3 0,3-2 0,-3 2 0,4-3 0,0 0 0,-4 4 0,3-3 0,-3 2 0,0 0 0,3-2 0,-3 3 0,4-4 0,0 0 0,-1 0 0,-3 3 0,3-2 0,-6 6 0,6-6 0,-7 6 0,7-6 0,-2 2 0,2-3 0,1 0 0,-1 0 0,1 0 0,-1 0 0,1 0 0,-1 0 0,1 0 0,-4 4 0,3-3 0,-3 2 0,4-3 0,-1 0 0,1 0 0,-1 0 0,1 0 0,-1 0 0,1 0 0,0 0 0,-1 0 0,1 0 0,-1 0 0,1 0 0,-4 3 0,3-2 0,-2 3 0,2-4 0,1 0 0,0 0 0,-1 0 0,1 0 0,-1 0 0,1 0 0,-1 0 0,-3-4 0,0 0 0,-4-3 0,3 2 0,-2-2 0,6 7 0,-3-4 0,3 4 0,-2-3 0,1 2 0,-5-6 0,6 6 0,-6-6 0,6 7 0,-7-7 0,4 2 0,-1 1 0,-2-3 0,3 2 0,-1 1 0,-2-3 0,2 2 0,0 1 0,-2-3 0,3 2 0,-1-3 0,-2 1 0,5 2 0,-5-2 0,3 3 0,-1-1 0,-2-5 0,2 9 0,-3-6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ru-RU"/>
              <a:t>Основы построения файловых систем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DF4945-C160-4CD5-B124-49B9BE14C0AB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33120B-582B-4354-977D-A474A534F6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4565650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3745113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40187755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3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8588537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4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41495192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5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2258157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6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7850441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7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5420469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8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3636772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9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7130306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10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2070788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11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67443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12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5531347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13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6805526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14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4105916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15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0768609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16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9994004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17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5813990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18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4572783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19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8076299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20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920553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00FFA-E287-8CE9-897B-30A89F1D2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04C0B3-5556-18A0-CEBF-23B62B2BC9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0AECBC-481B-3C8B-56DC-07C998967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10E4DC-F5D3-6BE5-15E7-DDBFEAE7F9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21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33EABC1C-BA21-6005-C5C8-1DA54A0C36C5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8773450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22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3826454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5437F-6B3B-1814-34E1-A76373C25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B55334-48CB-4C61-C566-005EFDF6F0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38BA59-2E48-B586-C366-EC6AEEDED7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C0377-777E-BD5B-2556-5988BB22C1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23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7B7C2913-5B2D-48A8-A60A-FB6E6A681350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52189906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24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5449465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25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7973415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26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66192458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27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3829380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28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62664497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29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29412712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B1278-021C-DB18-A61C-B459780A3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038120-92E0-245D-D6CE-C12D1692DB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923BB4-8BE0-C6A6-352A-794BB5C912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79FA5-8A3B-1DCF-D2CF-A9018B61F2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30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6658159C-ECF9-6237-B1C1-EBD7265E4F0A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17569895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D8AF2-E43B-05CE-FB4F-C4D167DB2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CE0A17-AE73-78A2-1140-981CC16446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25EDA1-288F-76FD-9F5A-77CD572D20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B3F104-B310-D17B-141F-95870C80D4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31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0E0092A8-7882-EA4B-B069-A0CCF0098A88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69221784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88F5B-43CC-9796-15D9-4ABA96EA3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2DA8F5-9E80-EF7E-1114-871CB51593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3D2C15-CFE0-D183-7BFE-57C702420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478427-4267-F38E-9D13-10CEED1DE6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32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DD2FB68A-FADF-F7AB-0157-9A2F79E22BF1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99722076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4C154-A7A1-7B50-0A2C-C5B1CC9F3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021763-DA37-D237-EC93-DE25564B2B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72EE23-B86A-8BFD-A091-CE96E16522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302C8-189A-684B-1216-B4AD6CCC1F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33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BD1BAD21-B314-C838-0E54-9138C4B943FA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619823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9482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8140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7981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622754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Основы построения файловых систем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7053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9022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9913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7432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3646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2430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0928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99648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55850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69723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80577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26596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25382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47844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85054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03721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88115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13520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1758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C63722-5D9F-4E99-9720-9B6A0C7BB1C9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1473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18C88-2408-4CFC-B25C-07450930B282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8141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inux.die.net/man/5/auto.master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lwn.net/Articles/679310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kernel.org/doc/Documentation/prctl/seccomp_filter.txt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lwn.net/Articles/689856/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648654" y="923419"/>
            <a:ext cx="53883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The basics of file systems</a:t>
            </a:r>
            <a:endParaRPr lang="ru-RU" sz="4000" dirty="0"/>
          </a:p>
        </p:txBody>
      </p:sp>
      <p:pic>
        <p:nvPicPr>
          <p:cNvPr id="1026" name="Picture 2" descr="Neapolis University Pafos, Cyprus Adaptive • Inspiring • Today • Education">
            <a:extLst>
              <a:ext uri="{FF2B5EF4-FFF2-40B4-BE49-F238E27FC236}">
                <a16:creationId xmlns:a16="http://schemas.microsoft.com/office/drawing/2014/main" id="{4A89C479-1691-99F0-24E5-26D57F721B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1822" y="2457450"/>
            <a:ext cx="4191000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35F9A63-3251-7EB7-FC8E-AE3ABA4B7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2638" y="1977686"/>
            <a:ext cx="2677540" cy="2902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0972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974699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POSIX file system semantics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3825720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3530414"/>
              </p:ext>
            </p:extLst>
          </p:nvPr>
        </p:nvGraphicFramePr>
        <p:xfrm>
          <a:off x="0" y="365762"/>
          <a:ext cx="12192000" cy="4267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807610182"/>
                    </a:ext>
                  </a:extLst>
                </a:gridCol>
              </a:tblGrid>
              <a:tr h="204847">
                <a:tc gridSpan="2">
                  <a:txBody>
                    <a:bodyPr/>
                    <a:lstStyle/>
                    <a:p>
                      <a:r>
                        <a:rPr lang="en-US" dirty="0"/>
                        <a:t>Mount points</a:t>
                      </a:r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847">
                <a:tc gridSpan="2">
                  <a:txBody>
                    <a:bodyPr/>
                    <a:lstStyle/>
                    <a:p>
                      <a:r>
                        <a:rPr lang="en-US" dirty="0"/>
                        <a:t>To make a FS visible, one ”mounts” it below a directory visible to a user.</a:t>
                      </a:r>
                      <a:endParaRPr lang="en-US" baseline="0" dirty="0"/>
                    </a:p>
                    <a:p>
                      <a:endParaRPr lang="ru-RU" baseline="0" dirty="0"/>
                    </a:p>
                    <a:p>
                      <a:r>
                        <a:rPr lang="en-US" dirty="0"/>
                        <a:t>For the OS kernel, a mount point is a mark that says, “when descending into this directory, jump to the root directory of a file system mounted here”</a:t>
                      </a:r>
                      <a:r>
                        <a:rPr lang="ru-RU" baseline="0" dirty="0"/>
                        <a:t>.</a:t>
                      </a:r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847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$ ls -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lh</a:t>
                      </a:r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~/testing/mount/</a:t>
                      </a:r>
                    </a:p>
                    <a:p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total 0</a:t>
                      </a:r>
                      <a:endParaRPr lang="en-US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$ mount -t ext4 ./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img</a:t>
                      </a:r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~/testing/mount/</a:t>
                      </a:r>
                    </a:p>
                    <a:p>
                      <a:endParaRPr lang="en-GB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$ ls -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lh</a:t>
                      </a:r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~/testing/mount/</a:t>
                      </a:r>
                    </a:p>
                    <a:p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total 8.0K</a:t>
                      </a:r>
                    </a:p>
                    <a:p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drwxrwxr</a:t>
                      </a:r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-x 1 1002 1002 4.0K Sep 25 16:59 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pstorage-fes</a:t>
                      </a:r>
                      <a:endParaRPr lang="en-GB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drwxr</a:t>
                      </a:r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-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xr</a:t>
                      </a:r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-x 1 1002 1002   83 Sep  6 21:11 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rpmbuild</a:t>
                      </a:r>
                      <a:endParaRPr lang="en-US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5868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POSIX file system semantics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3655829"/>
              </p:ext>
            </p:extLst>
          </p:nvPr>
        </p:nvGraphicFramePr>
        <p:xfrm>
          <a:off x="0" y="365762"/>
          <a:ext cx="12192000" cy="52730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807610182"/>
                    </a:ext>
                  </a:extLst>
                </a:gridCol>
              </a:tblGrid>
              <a:tr h="204847">
                <a:tc gridSpan="2">
                  <a:txBody>
                    <a:bodyPr/>
                    <a:lstStyle/>
                    <a:p>
                      <a:r>
                        <a:rPr lang="en-US" dirty="0"/>
                        <a:t>Mount points</a:t>
                      </a:r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847">
                <a:tc gridSpan="2">
                  <a:txBody>
                    <a:bodyPr/>
                    <a:lstStyle/>
                    <a:p>
                      <a:r>
                        <a:rPr lang="en-US" dirty="0"/>
                        <a:t>To make a FS visible, one ”mounts” it below a directory visible to a user.</a:t>
                      </a:r>
                      <a:endParaRPr lang="en-US" baseline="0" dirty="0"/>
                    </a:p>
                    <a:p>
                      <a:endParaRPr lang="ru-RU" baseline="0" dirty="0"/>
                    </a:p>
                    <a:p>
                      <a:r>
                        <a:rPr lang="en-US" dirty="0"/>
                        <a:t>For the OS kernel, a mount point is a mark that says, “when descending into this directory, jump to the root directory of a file system mounted here”</a:t>
                      </a:r>
                      <a:r>
                        <a:rPr lang="ru-RU" baseline="0" dirty="0"/>
                        <a:t>.</a:t>
                      </a:r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847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$ ls -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lh</a:t>
                      </a:r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~/testing/mount/</a:t>
                      </a:r>
                    </a:p>
                    <a:p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total 0</a:t>
                      </a:r>
                      <a:endParaRPr lang="en-US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$ mount -t ext4 ./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img</a:t>
                      </a:r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~/testing/mount/</a:t>
                      </a:r>
                    </a:p>
                    <a:p>
                      <a:endParaRPr lang="en-GB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$ ls -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lh</a:t>
                      </a:r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~/testing/mount/</a:t>
                      </a:r>
                    </a:p>
                    <a:p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total 8.0K</a:t>
                      </a:r>
                    </a:p>
                    <a:p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drwxrwxr</a:t>
                      </a:r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-x 1 1002 1002 4.0K Sep 25 16:59 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pstorage-fes</a:t>
                      </a:r>
                      <a:endParaRPr lang="en-GB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drwxr</a:t>
                      </a:r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-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xr</a:t>
                      </a:r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-x 1 1002 1002   83 Sep  6 21:11 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rpmbuild</a:t>
                      </a:r>
                      <a:endParaRPr lang="en-US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847">
                <a:tc gridSpan="2">
                  <a:txBody>
                    <a:bodyPr/>
                    <a:lstStyle/>
                    <a:p>
                      <a:r>
                        <a:rPr lang="en-US" dirty="0"/>
                        <a:t>The list of mount points can be viewed this way:</a:t>
                      </a:r>
                      <a:endParaRPr lang="ru-RU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$ cat /proc/self/mounts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847">
                <a:tc gridSpan="2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File systems can be mounted on first access: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>
                          <a:hlinkClick r:id="rId3"/>
                        </a:rPr>
                        <a:t>https://linux.die.net/man/5/auto.master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7105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POSIX file system semantics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187258"/>
              </p:ext>
            </p:extLst>
          </p:nvPr>
        </p:nvGraphicFramePr>
        <p:xfrm>
          <a:off x="0" y="365760"/>
          <a:ext cx="12192000" cy="85953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450112449"/>
                    </a:ext>
                  </a:extLst>
                </a:gridCol>
              </a:tblGrid>
              <a:tr h="364936">
                <a:tc gridSpan="2">
                  <a:txBody>
                    <a:bodyPr/>
                    <a:lstStyle/>
                    <a:p>
                      <a:r>
                        <a:rPr lang="en-US" dirty="0"/>
                        <a:t>File system objects and their names are separate things</a:t>
                      </a:r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936">
                <a:tc gridSpan="2">
                  <a:txBody>
                    <a:bodyPr/>
                    <a:lstStyle/>
                    <a:p>
                      <a:r>
                        <a:rPr lang="en-US" dirty="0"/>
                        <a:t>We’ve seen that files and their names are independent from each other:</a:t>
                      </a:r>
                      <a:r>
                        <a:rPr lang="ru-RU" dirty="0"/>
                        <a:t> 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link()</a:t>
                      </a:r>
                      <a:r>
                        <a:rPr lang="en-US" dirty="0"/>
                        <a:t> and</a:t>
                      </a:r>
                      <a:r>
                        <a:rPr lang="ru-RU" dirty="0"/>
                        <a:t> 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unlink()</a:t>
                      </a:r>
                      <a:r>
                        <a:rPr lang="en-US" dirty="0"/>
                        <a:t> can create files with multiple names and files without names.</a:t>
                      </a:r>
                    </a:p>
                    <a:p>
                      <a:endParaRPr lang="en-US" baseline="0" dirty="0"/>
                    </a:p>
                    <a:p>
                      <a:r>
                        <a:rPr lang="en-US" baseline="0" dirty="0"/>
                        <a:t>A working directory is also not tied to a path. Instead, it is a pointer “directory X in file system Y”:</a:t>
                      </a:r>
                      <a:endParaRPr lang="ru-RU" baseline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936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$ 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pwd</a:t>
                      </a:r>
                      <a:endParaRPr lang="en-GB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/home/artem/testing/students</a:t>
                      </a:r>
                    </a:p>
                    <a:p>
                      <a:endParaRPr lang="en-GB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endParaRPr lang="en-GB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endParaRPr lang="en-GB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$ ls -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lh</a:t>
                      </a:r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.</a:t>
                      </a:r>
                    </a:p>
                    <a:p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total 40K</a:t>
                      </a:r>
                    </a:p>
                    <a:p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-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rw</a:t>
                      </a:r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-r--r-- 1 artem artem  234 Sep 28 11:48 example</a:t>
                      </a:r>
                    </a:p>
                    <a:p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-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rw</a:t>
                      </a:r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-r--r-- 1 artem artem  11K Sep 27 21:49 proc</a:t>
                      </a:r>
                    </a:p>
                    <a:p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-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rw</a:t>
                      </a:r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-r--r-- 1 artem artem 1.1K Sep 27 21:49 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proc.c</a:t>
                      </a:r>
                      <a:endParaRPr lang="en-GB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-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rw</a:t>
                      </a:r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-r--r-- 1 artem artem  13K Sep 28 20:14 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ps</a:t>
                      </a:r>
                      <a:endParaRPr lang="en-GB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-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rw</a:t>
                      </a:r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-r--r-- 1 artem artem 1.6K Sep 28 20:13 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ps.c</a:t>
                      </a:r>
                      <a:endParaRPr lang="en-US" sz="1400" baseline="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ru-RU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$ 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pwd</a:t>
                      </a:r>
                      <a:endParaRPr lang="en-GB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/home/artem/testing/students</a:t>
                      </a:r>
                    </a:p>
                    <a:p>
                      <a:endParaRPr lang="en-GB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$ mount -t ext4 ~/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img</a:t>
                      </a:r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~/testing/students/</a:t>
                      </a:r>
                    </a:p>
                    <a:p>
                      <a:endParaRPr lang="en-GB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$ ls -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lh</a:t>
                      </a:r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.</a:t>
                      </a:r>
                    </a:p>
                    <a:p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total 40K</a:t>
                      </a:r>
                    </a:p>
                    <a:p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-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rw</a:t>
                      </a:r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-r--r-- 1 artem artem  234 Sep 28 11:48 example</a:t>
                      </a:r>
                    </a:p>
                    <a:p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-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rw</a:t>
                      </a:r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-r--r-- 1 artem artem  11K Sep 27 21:49 proc</a:t>
                      </a:r>
                    </a:p>
                    <a:p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-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rw</a:t>
                      </a:r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-r--r-- 1 artem artem 1.1K Sep 27 21:49 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proc.c</a:t>
                      </a:r>
                      <a:endParaRPr lang="en-GB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-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rw</a:t>
                      </a:r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-r--r-- 1 artem artem  13K Sep 28 20:14 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ps</a:t>
                      </a:r>
                      <a:endParaRPr lang="en-GB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-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rw</a:t>
                      </a:r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-r--r-- 1 artem artem 1.6K Sep 28 20:13 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ps.c</a:t>
                      </a:r>
                      <a:endParaRPr lang="en-GB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endParaRPr lang="en-GB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$ ls -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lh</a:t>
                      </a:r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~/testing/students/</a:t>
                      </a:r>
                    </a:p>
                    <a:p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total 8.0K</a:t>
                      </a:r>
                    </a:p>
                    <a:p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drwxrwxr</a:t>
                      </a:r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-x 1 1002 1002 4.0K Sep 25 16:59 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pstorage-fes</a:t>
                      </a:r>
                      <a:endParaRPr lang="en-GB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drwxr</a:t>
                      </a:r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-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xr</a:t>
                      </a:r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-x 1 1002 1002   83 Sep  6 21:11 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rpmbuild</a:t>
                      </a:r>
                      <a:endParaRPr lang="ru-RU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endParaRPr lang="ru-RU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CCBA2F5-18D9-09C0-F222-3F081BFA7C3F}"/>
              </a:ext>
            </a:extLst>
          </p:cNvPr>
          <p:cNvSpPr txBox="1"/>
          <p:nvPr/>
        </p:nvSpPr>
        <p:spPr>
          <a:xfrm>
            <a:off x="6172200" y="3273046"/>
            <a:ext cx="5685183" cy="13849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endParaRPr lang="en-CY" sz="2800" dirty="0"/>
          </a:p>
          <a:p>
            <a:pPr algn="ctr"/>
            <a:r>
              <a:rPr lang="en-CY" sz="2800" dirty="0"/>
              <a:t>???</a:t>
            </a:r>
          </a:p>
          <a:p>
            <a:pPr algn="ctr"/>
            <a:endParaRPr lang="en-CY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A07238-724C-BA4B-0C5F-CB4EE81039EB}"/>
              </a:ext>
            </a:extLst>
          </p:cNvPr>
          <p:cNvSpPr txBox="1"/>
          <p:nvPr/>
        </p:nvSpPr>
        <p:spPr>
          <a:xfrm>
            <a:off x="6172199" y="4985889"/>
            <a:ext cx="5685183" cy="13849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endParaRPr lang="en-CY" sz="2800" dirty="0"/>
          </a:p>
          <a:p>
            <a:pPr algn="ctr"/>
            <a:r>
              <a:rPr lang="en-CY" sz="2800" dirty="0"/>
              <a:t>???</a:t>
            </a:r>
          </a:p>
          <a:p>
            <a:pPr algn="ctr"/>
            <a:endParaRPr lang="en-CY" sz="2800" dirty="0"/>
          </a:p>
        </p:txBody>
      </p:sp>
    </p:spTree>
    <p:extLst>
      <p:ext uri="{BB962C8B-B14F-4D97-AF65-F5344CB8AC3E}">
        <p14:creationId xmlns:p14="http://schemas.microsoft.com/office/powerpoint/2010/main" val="2791212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POSIX file system semantics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702361"/>
              </p:ext>
            </p:extLst>
          </p:nvPr>
        </p:nvGraphicFramePr>
        <p:xfrm>
          <a:off x="0" y="365760"/>
          <a:ext cx="12192000" cy="85953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450112449"/>
                    </a:ext>
                  </a:extLst>
                </a:gridCol>
              </a:tblGrid>
              <a:tr h="364936">
                <a:tc gridSpan="2">
                  <a:txBody>
                    <a:bodyPr/>
                    <a:lstStyle/>
                    <a:p>
                      <a:r>
                        <a:rPr lang="en-US" dirty="0"/>
                        <a:t>File system objects and their names are separate things</a:t>
                      </a:r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936">
                <a:tc gridSpan="2">
                  <a:txBody>
                    <a:bodyPr/>
                    <a:lstStyle/>
                    <a:p>
                      <a:r>
                        <a:rPr lang="en-US" dirty="0"/>
                        <a:t>We’ve seen that files and their names are independent from each other:</a:t>
                      </a:r>
                      <a:r>
                        <a:rPr lang="ru-RU" dirty="0"/>
                        <a:t> 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link()</a:t>
                      </a:r>
                      <a:r>
                        <a:rPr lang="en-US" dirty="0"/>
                        <a:t> and</a:t>
                      </a:r>
                      <a:r>
                        <a:rPr lang="ru-RU" dirty="0"/>
                        <a:t> 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unlink()</a:t>
                      </a:r>
                      <a:r>
                        <a:rPr lang="en-US" dirty="0"/>
                        <a:t> can create files with multiple names and files without names.</a:t>
                      </a:r>
                    </a:p>
                    <a:p>
                      <a:endParaRPr lang="en-US" baseline="0" dirty="0"/>
                    </a:p>
                    <a:p>
                      <a:r>
                        <a:rPr lang="en-US" baseline="0" dirty="0"/>
                        <a:t>A working directory is also not tied to a path. Instead, it is a pointer “directory X in file system Y”:</a:t>
                      </a:r>
                      <a:endParaRPr lang="ru-RU" baseline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936"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$ 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pwd</a:t>
                      </a:r>
                      <a:endParaRPr lang="en-GB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/home/artem/testing/students</a:t>
                      </a:r>
                    </a:p>
                    <a:p>
                      <a:endParaRPr lang="en-GB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endParaRPr lang="en-GB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endParaRPr lang="en-GB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$ ls -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lh</a:t>
                      </a:r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.</a:t>
                      </a:r>
                    </a:p>
                    <a:p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total 40K</a:t>
                      </a:r>
                    </a:p>
                    <a:p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-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rw</a:t>
                      </a:r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-r--r-- 1 artem artem  234 Sep 28 11:48 example</a:t>
                      </a:r>
                    </a:p>
                    <a:p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-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rw</a:t>
                      </a:r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-r--r-- 1 artem artem  11K Sep 27 21:49 proc</a:t>
                      </a:r>
                    </a:p>
                    <a:p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-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rw</a:t>
                      </a:r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-r--r-- 1 artem artem 1.1K Sep 27 21:49 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proc.c</a:t>
                      </a:r>
                      <a:endParaRPr lang="en-GB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-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rw</a:t>
                      </a:r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-r--r-- 1 artem artem  13K Sep 28 20:14 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ps</a:t>
                      </a:r>
                      <a:endParaRPr lang="en-GB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-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rw</a:t>
                      </a:r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-r--r-- 1 artem artem 1.6K Sep 28 20:13 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ps.c</a:t>
                      </a:r>
                      <a:endParaRPr lang="en-US" sz="1400" baseline="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ru-RU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$ 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pwd</a:t>
                      </a:r>
                      <a:endParaRPr lang="en-GB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/home/artem/testing/students</a:t>
                      </a:r>
                    </a:p>
                    <a:p>
                      <a:endParaRPr lang="en-GB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$ mount -t ext4 ~/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img</a:t>
                      </a:r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~/testing/students/</a:t>
                      </a:r>
                    </a:p>
                    <a:p>
                      <a:endParaRPr lang="en-GB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$ ls -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lh</a:t>
                      </a:r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.</a:t>
                      </a:r>
                    </a:p>
                    <a:p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total 40K</a:t>
                      </a:r>
                    </a:p>
                    <a:p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-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rw</a:t>
                      </a:r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-r--r-- 1 artem artem  234 Sep 28 11:48 example</a:t>
                      </a:r>
                    </a:p>
                    <a:p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-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rw</a:t>
                      </a:r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-r--r-- 1 artem artem  11K Sep 27 21:49 proc</a:t>
                      </a:r>
                    </a:p>
                    <a:p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-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rw</a:t>
                      </a:r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-r--r-- 1 artem artem 1.1K Sep 27 21:49 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proc.c</a:t>
                      </a:r>
                      <a:endParaRPr lang="en-GB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-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rw</a:t>
                      </a:r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-r--r-- 1 artem artem  13K Sep 28 20:14 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ps</a:t>
                      </a:r>
                      <a:endParaRPr lang="en-GB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-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rw</a:t>
                      </a:r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-r--r-- 1 artem artem 1.6K Sep 28 20:13 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ps.c</a:t>
                      </a:r>
                      <a:endParaRPr lang="en-GB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endParaRPr lang="en-GB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$ ls -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lh</a:t>
                      </a:r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~/testing/students/</a:t>
                      </a:r>
                    </a:p>
                    <a:p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total 8.0K</a:t>
                      </a:r>
                    </a:p>
                    <a:p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drwxrwxr</a:t>
                      </a:r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-x 1 1002 1002 4.0K Sep 25 16:59 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pstorage-fes</a:t>
                      </a:r>
                      <a:endParaRPr lang="en-GB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drwxr</a:t>
                      </a:r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-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xr</a:t>
                      </a:r>
                      <a:r>
                        <a:rPr lang="en-GB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-x 1 1002 1002   83 Sep  6 21:11 </a:t>
                      </a:r>
                      <a:r>
                        <a:rPr lang="en-GB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rpmbuild</a:t>
                      </a:r>
                      <a:endParaRPr lang="ru-RU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endParaRPr lang="ru-RU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928811" y="5673687"/>
            <a:ext cx="8334375" cy="556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13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589047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POSIX file system semantics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769002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989890"/>
              </p:ext>
            </p:extLst>
          </p:nvPr>
        </p:nvGraphicFramePr>
        <p:xfrm>
          <a:off x="0" y="365760"/>
          <a:ext cx="12192000" cy="18288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0796">
                <a:tc>
                  <a:txBody>
                    <a:bodyPr/>
                    <a:lstStyle/>
                    <a:p>
                      <a:r>
                        <a:rPr lang="en-US" dirty="0"/>
                        <a:t>Virtual file systems in</a:t>
                      </a:r>
                      <a:r>
                        <a:rPr lang="ru-RU" dirty="0"/>
                        <a:t> </a:t>
                      </a:r>
                      <a:r>
                        <a:rPr lang="en-US" dirty="0"/>
                        <a:t>Linux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796">
                <a:tc>
                  <a:txBody>
                    <a:bodyPr/>
                    <a:lstStyle/>
                    <a:p>
                      <a:r>
                        <a:rPr lang="en-US" dirty="0"/>
                        <a:t>For a user of the POSIX API a file system does not need to represent data located on a physical device. Any implementation will do as long as it is possible to</a:t>
                      </a:r>
                      <a:endParaRPr lang="ru-RU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find a file or a directory by name,</a:t>
                      </a:r>
                      <a:endParaRPr lang="ru-RU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list the content of directories,</a:t>
                      </a:r>
                      <a:endParaRPr lang="ru-RU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read and write the content of files.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9892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0299762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POSIX file system semantics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705136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5266566"/>
              </p:ext>
            </p:extLst>
          </p:nvPr>
        </p:nvGraphicFramePr>
        <p:xfrm>
          <a:off x="0" y="365760"/>
          <a:ext cx="12192000" cy="60350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0796">
                <a:tc>
                  <a:txBody>
                    <a:bodyPr/>
                    <a:lstStyle/>
                    <a:p>
                      <a:r>
                        <a:rPr lang="en-US" dirty="0"/>
                        <a:t>Virtual file systems in</a:t>
                      </a:r>
                      <a:r>
                        <a:rPr lang="ru-RU" dirty="0"/>
                        <a:t> </a:t>
                      </a:r>
                      <a:r>
                        <a:rPr lang="en-US" dirty="0"/>
                        <a:t>Linux: </a:t>
                      </a:r>
                      <a:r>
                        <a:rPr lang="en-US" dirty="0" err="1"/>
                        <a:t>procfs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796">
                <a:tc>
                  <a:txBody>
                    <a:bodyPr/>
                    <a:lstStyle/>
                    <a:p>
                      <a:r>
                        <a:rPr lang="en-US" dirty="0"/>
                        <a:t>Linux has a file system where top-level directories represent processes, and files in a directory describe properties of the process.</a:t>
                      </a:r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796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dirty="0"/>
                        <a:t>To do at home:</a:t>
                      </a:r>
                      <a:endParaRPr lang="ru-RU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n-US" dirty="0"/>
                        <a:t>read 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man</a:t>
                      </a:r>
                      <a:r>
                        <a:rPr lang="en-US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5 proc</a:t>
                      </a:r>
                      <a:r>
                        <a:rPr lang="en-US" baseline="0" dirty="0"/>
                        <a:t>,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n-US" baseline="0" dirty="0"/>
                        <a:t>what does </a:t>
                      </a:r>
                      <a:r>
                        <a:rPr lang="en-US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/proc/PID/</a:t>
                      </a:r>
                      <a:r>
                        <a:rPr lang="en-US" baseline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auxv</a:t>
                      </a:r>
                      <a:r>
                        <a:rPr lang="en-US" baseline="0" dirty="0"/>
                        <a:t> contain, and how does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 err="1">
                          <a:latin typeface="Consolas" panose="020B0609020204030204" pitchFamily="49" charset="0"/>
                          <a:ea typeface="Menlo" panose="020B0609030804020204" pitchFamily="49" charset="0"/>
                          <a:cs typeface="Consolas" panose="020B0609020204030204" pitchFamily="49" charset="0"/>
                        </a:rPr>
                        <a:t>execve</a:t>
                      </a:r>
                      <a:r>
                        <a:rPr lang="en-US" baseline="0" dirty="0">
                          <a:latin typeface="Consolas" panose="020B0609020204030204" pitchFamily="49" charset="0"/>
                          <a:ea typeface="Menlo" panose="020B0609030804020204" pitchFamily="49" charset="0"/>
                          <a:cs typeface="Consolas" panose="020B0609020204030204" pitchFamily="49" charset="0"/>
                        </a:rPr>
                        <a:t>()</a:t>
                      </a:r>
                      <a:r>
                        <a:rPr lang="en-US" baseline="0" dirty="0"/>
                        <a:t> fill the stack of a new process?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n-US" baseline="0" dirty="0"/>
                        <a:t>write a program that hides its first command line argument from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/proc/PID/</a:t>
                      </a:r>
                      <a:r>
                        <a:rPr lang="en-US" baseline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cmdline</a:t>
                      </a:r>
                      <a:r>
                        <a:rPr lang="en-US" baseline="0" dirty="0"/>
                        <a:t> (a hint</a:t>
                      </a:r>
                      <a:r>
                        <a:rPr lang="ru-RU" baseline="0" dirty="0"/>
                        <a:t>: </a:t>
                      </a:r>
                      <a:r>
                        <a:rPr lang="en-US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man </a:t>
                      </a:r>
                      <a:r>
                        <a:rPr lang="en-US" baseline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prctl</a:t>
                      </a:r>
                      <a:r>
                        <a:rPr lang="en-US" baseline="0" dirty="0"/>
                        <a:t> and look for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PR_SET_MM</a:t>
                      </a:r>
                      <a:r>
                        <a:rPr lang="en-US" baseline="0" dirty="0"/>
                        <a:t>),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n-US" dirty="0"/>
                        <a:t>implement</a:t>
                      </a:r>
                      <a:endParaRPr lang="en-US" baseline="0" dirty="0"/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n-US" baseline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ps</a:t>
                      </a:r>
                      <a:endParaRPr lang="en-US" baseline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742950" marR="0" lvl="1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n-US" baseline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lsof</a:t>
                      </a:r>
                      <a:endParaRPr lang="ru-RU" baseline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959290" y="1335224"/>
            <a:ext cx="827341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Menlo" charset="0"/>
                <a:ea typeface="Menlo" charset="0"/>
                <a:cs typeface="Menlo" charset="0"/>
              </a:rPr>
              <a:t>$ ls -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lh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/proc/self/</a:t>
            </a:r>
          </a:p>
          <a:p>
            <a:r>
              <a:rPr lang="en-US" dirty="0">
                <a:latin typeface="Menlo" charset="0"/>
                <a:ea typeface="Menlo" charset="0"/>
                <a:cs typeface="Menlo" charset="0"/>
              </a:rPr>
              <a:t>total 0</a:t>
            </a:r>
          </a:p>
          <a:p>
            <a:endParaRPr lang="en-US" dirty="0">
              <a:latin typeface="Menlo" charset="0"/>
              <a:ea typeface="Menlo" charset="0"/>
              <a:cs typeface="Menlo" charset="0"/>
            </a:endParaRPr>
          </a:p>
          <a:p>
            <a:r>
              <a:rPr lang="mr-IN" dirty="0">
                <a:latin typeface="Menlo" charset="0"/>
                <a:ea typeface="Menlo" charset="0"/>
                <a:cs typeface="Menlo" charset="0"/>
              </a:rPr>
              <a:t>-</a:t>
            </a:r>
            <a:r>
              <a:rPr lang="mr-IN" dirty="0" err="1">
                <a:latin typeface="Menlo" charset="0"/>
                <a:ea typeface="Menlo" charset="0"/>
                <a:cs typeface="Menlo" charset="0"/>
              </a:rPr>
              <a:t>r</a:t>
            </a:r>
            <a:r>
              <a:rPr lang="mr-IN" dirty="0">
                <a:latin typeface="Menlo" charset="0"/>
                <a:ea typeface="Menlo" charset="0"/>
                <a:cs typeface="Menlo" charset="0"/>
              </a:rPr>
              <a:t>--</a:t>
            </a:r>
            <a:r>
              <a:rPr lang="mr-IN" dirty="0" err="1">
                <a:latin typeface="Menlo" charset="0"/>
                <a:ea typeface="Menlo" charset="0"/>
                <a:cs typeface="Menlo" charset="0"/>
              </a:rPr>
              <a:t>r</a:t>
            </a:r>
            <a:r>
              <a:rPr lang="mr-IN" dirty="0">
                <a:latin typeface="Menlo" charset="0"/>
                <a:ea typeface="Menlo" charset="0"/>
                <a:cs typeface="Menlo" charset="0"/>
              </a:rPr>
              <a:t>--</a:t>
            </a:r>
            <a:r>
              <a:rPr lang="mr-IN" dirty="0" err="1">
                <a:latin typeface="Menlo" charset="0"/>
                <a:ea typeface="Menlo" charset="0"/>
                <a:cs typeface="Menlo" charset="0"/>
              </a:rPr>
              <a:t>r</a:t>
            </a:r>
            <a:r>
              <a:rPr lang="mr-IN" dirty="0">
                <a:latin typeface="Menlo" charset="0"/>
                <a:ea typeface="Menlo" charset="0"/>
                <a:cs typeface="Menlo" charset="0"/>
              </a:rPr>
              <a:t>-- 1 </a:t>
            </a:r>
            <a:r>
              <a:rPr lang="mr-IN" dirty="0" err="1">
                <a:latin typeface="Menlo" charset="0"/>
                <a:ea typeface="Menlo" charset="0"/>
                <a:cs typeface="Menlo" charset="0"/>
              </a:rPr>
              <a:t>artem</a:t>
            </a:r>
            <a:r>
              <a:rPr lang="mr-IN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mr-IN" dirty="0" err="1">
                <a:latin typeface="Menlo" charset="0"/>
                <a:ea typeface="Menlo" charset="0"/>
                <a:cs typeface="Menlo" charset="0"/>
              </a:rPr>
              <a:t>artem</a:t>
            </a:r>
            <a:r>
              <a:rPr lang="mr-IN" dirty="0">
                <a:latin typeface="Menlo" charset="0"/>
                <a:ea typeface="Menlo" charset="0"/>
                <a:cs typeface="Menlo" charset="0"/>
              </a:rPr>
              <a:t> 0 </a:t>
            </a:r>
            <a:r>
              <a:rPr lang="mr-IN" dirty="0" err="1">
                <a:latin typeface="Menlo" charset="0"/>
                <a:ea typeface="Menlo" charset="0"/>
                <a:cs typeface="Menlo" charset="0"/>
              </a:rPr>
              <a:t>Oct</a:t>
            </a:r>
            <a:r>
              <a:rPr lang="mr-IN" dirty="0">
                <a:latin typeface="Menlo" charset="0"/>
                <a:ea typeface="Menlo" charset="0"/>
                <a:cs typeface="Menlo" charset="0"/>
              </a:rPr>
              <a:t>  2 10:08 </a:t>
            </a:r>
            <a:r>
              <a:rPr lang="mr-IN" dirty="0" err="1">
                <a:latin typeface="Menlo" charset="0"/>
                <a:ea typeface="Menlo" charset="0"/>
                <a:cs typeface="Menlo" charset="0"/>
              </a:rPr>
              <a:t>cmdline</a:t>
            </a:r>
            <a:endParaRPr lang="mr-IN" dirty="0">
              <a:latin typeface="Menlo" charset="0"/>
              <a:ea typeface="Menlo" charset="0"/>
              <a:cs typeface="Menlo" charset="0"/>
            </a:endParaRPr>
          </a:p>
          <a:p>
            <a:r>
              <a:rPr lang="en-US" dirty="0" err="1">
                <a:latin typeface="Menlo" charset="0"/>
                <a:ea typeface="Menlo" charset="0"/>
                <a:cs typeface="Menlo" charset="0"/>
              </a:rPr>
              <a:t>lrwxrwxrwx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1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artem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artem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0 Oct  2 10:08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cwd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-&gt; /home/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artem</a:t>
            </a:r>
            <a:endParaRPr lang="en-US" dirty="0">
              <a:latin typeface="Menlo" charset="0"/>
              <a:ea typeface="Menlo" charset="0"/>
              <a:cs typeface="Menlo" charset="0"/>
            </a:endParaRPr>
          </a:p>
          <a:p>
            <a:r>
              <a:rPr lang="en-US" dirty="0" err="1">
                <a:latin typeface="Menlo" charset="0"/>
                <a:ea typeface="Menlo" charset="0"/>
                <a:cs typeface="Menlo" charset="0"/>
              </a:rPr>
              <a:t>lrwxrwxrwx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1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artem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artem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0 Oct  2 10:08 exe -&gt; /bin/ls</a:t>
            </a:r>
          </a:p>
          <a:p>
            <a:r>
              <a:rPr lang="en-US" dirty="0" err="1">
                <a:latin typeface="Menlo" charset="0"/>
                <a:ea typeface="Menlo" charset="0"/>
                <a:cs typeface="Menlo" charset="0"/>
              </a:rPr>
              <a:t>dr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-x------ 2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artem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artem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0 Oct  2 10:08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fd</a:t>
            </a:r>
            <a:endParaRPr lang="en-US" dirty="0">
              <a:latin typeface="Menlo" charset="0"/>
              <a:ea typeface="Menlo" charset="0"/>
              <a:cs typeface="Menlo" charset="0"/>
            </a:endParaRPr>
          </a:p>
          <a:p>
            <a:r>
              <a:rPr lang="mr-IN" dirty="0">
                <a:latin typeface="Menlo" charset="0"/>
                <a:ea typeface="Menlo" charset="0"/>
                <a:cs typeface="Menlo" charset="0"/>
              </a:rPr>
              <a:t>-</a:t>
            </a:r>
            <a:r>
              <a:rPr lang="mr-IN" dirty="0" err="1">
                <a:latin typeface="Menlo" charset="0"/>
                <a:ea typeface="Menlo" charset="0"/>
                <a:cs typeface="Menlo" charset="0"/>
              </a:rPr>
              <a:t>r</a:t>
            </a:r>
            <a:r>
              <a:rPr lang="mr-IN" dirty="0">
                <a:latin typeface="Menlo" charset="0"/>
                <a:ea typeface="Menlo" charset="0"/>
                <a:cs typeface="Menlo" charset="0"/>
              </a:rPr>
              <a:t>--</a:t>
            </a:r>
            <a:r>
              <a:rPr lang="mr-IN" dirty="0" err="1">
                <a:latin typeface="Menlo" charset="0"/>
                <a:ea typeface="Menlo" charset="0"/>
                <a:cs typeface="Menlo" charset="0"/>
              </a:rPr>
              <a:t>r</a:t>
            </a:r>
            <a:r>
              <a:rPr lang="mr-IN" dirty="0">
                <a:latin typeface="Menlo" charset="0"/>
                <a:ea typeface="Menlo" charset="0"/>
                <a:cs typeface="Menlo" charset="0"/>
              </a:rPr>
              <a:t>--</a:t>
            </a:r>
            <a:r>
              <a:rPr lang="mr-IN" dirty="0" err="1">
                <a:latin typeface="Menlo" charset="0"/>
                <a:ea typeface="Menlo" charset="0"/>
                <a:cs typeface="Menlo" charset="0"/>
              </a:rPr>
              <a:t>r</a:t>
            </a:r>
            <a:r>
              <a:rPr lang="mr-IN" dirty="0">
                <a:latin typeface="Menlo" charset="0"/>
                <a:ea typeface="Menlo" charset="0"/>
                <a:cs typeface="Menlo" charset="0"/>
              </a:rPr>
              <a:t>-- 1 </a:t>
            </a:r>
            <a:r>
              <a:rPr lang="mr-IN" dirty="0" err="1">
                <a:latin typeface="Menlo" charset="0"/>
                <a:ea typeface="Menlo" charset="0"/>
                <a:cs typeface="Menlo" charset="0"/>
              </a:rPr>
              <a:t>artem</a:t>
            </a:r>
            <a:r>
              <a:rPr lang="mr-IN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mr-IN" dirty="0" err="1">
                <a:latin typeface="Menlo" charset="0"/>
                <a:ea typeface="Menlo" charset="0"/>
                <a:cs typeface="Menlo" charset="0"/>
              </a:rPr>
              <a:t>artem</a:t>
            </a:r>
            <a:r>
              <a:rPr lang="mr-IN" dirty="0">
                <a:latin typeface="Menlo" charset="0"/>
                <a:ea typeface="Menlo" charset="0"/>
                <a:cs typeface="Menlo" charset="0"/>
              </a:rPr>
              <a:t> 0 </a:t>
            </a:r>
            <a:r>
              <a:rPr lang="mr-IN" dirty="0" err="1">
                <a:latin typeface="Menlo" charset="0"/>
                <a:ea typeface="Menlo" charset="0"/>
                <a:cs typeface="Menlo" charset="0"/>
              </a:rPr>
              <a:t>Oct</a:t>
            </a:r>
            <a:r>
              <a:rPr lang="mr-IN" dirty="0">
                <a:latin typeface="Menlo" charset="0"/>
                <a:ea typeface="Menlo" charset="0"/>
                <a:cs typeface="Menlo" charset="0"/>
              </a:rPr>
              <a:t>  2 10:08 </a:t>
            </a:r>
            <a:r>
              <a:rPr lang="mr-IN" dirty="0" err="1">
                <a:latin typeface="Menlo" charset="0"/>
                <a:ea typeface="Menlo" charset="0"/>
                <a:cs typeface="Menlo" charset="0"/>
              </a:rPr>
              <a:t>maps</a:t>
            </a:r>
            <a:endParaRPr lang="mr-IN" dirty="0">
              <a:latin typeface="Menlo" charset="0"/>
              <a:ea typeface="Menlo" charset="0"/>
              <a:cs typeface="Menlo" charset="0"/>
            </a:endParaRPr>
          </a:p>
          <a:p>
            <a:r>
              <a:rPr lang="mr-IN" dirty="0">
                <a:latin typeface="Menlo" charset="0"/>
                <a:ea typeface="Menlo" charset="0"/>
                <a:cs typeface="Menlo" charset="0"/>
              </a:rPr>
              <a:t>-</a:t>
            </a:r>
            <a:r>
              <a:rPr lang="mr-IN" dirty="0" err="1">
                <a:latin typeface="Menlo" charset="0"/>
                <a:ea typeface="Menlo" charset="0"/>
                <a:cs typeface="Menlo" charset="0"/>
              </a:rPr>
              <a:t>r</a:t>
            </a:r>
            <a:r>
              <a:rPr lang="mr-IN" dirty="0">
                <a:latin typeface="Menlo" charset="0"/>
                <a:ea typeface="Menlo" charset="0"/>
                <a:cs typeface="Menlo" charset="0"/>
              </a:rPr>
              <a:t>--</a:t>
            </a:r>
            <a:r>
              <a:rPr lang="mr-IN" dirty="0" err="1">
                <a:latin typeface="Menlo" charset="0"/>
                <a:ea typeface="Menlo" charset="0"/>
                <a:cs typeface="Menlo" charset="0"/>
              </a:rPr>
              <a:t>r</a:t>
            </a:r>
            <a:r>
              <a:rPr lang="mr-IN" dirty="0">
                <a:latin typeface="Menlo" charset="0"/>
                <a:ea typeface="Menlo" charset="0"/>
                <a:cs typeface="Menlo" charset="0"/>
              </a:rPr>
              <a:t>--</a:t>
            </a:r>
            <a:r>
              <a:rPr lang="mr-IN" dirty="0" err="1">
                <a:latin typeface="Menlo" charset="0"/>
                <a:ea typeface="Menlo" charset="0"/>
                <a:cs typeface="Menlo" charset="0"/>
              </a:rPr>
              <a:t>r</a:t>
            </a:r>
            <a:r>
              <a:rPr lang="mr-IN" dirty="0">
                <a:latin typeface="Menlo" charset="0"/>
                <a:ea typeface="Menlo" charset="0"/>
                <a:cs typeface="Menlo" charset="0"/>
              </a:rPr>
              <a:t>-- 1 </a:t>
            </a:r>
            <a:r>
              <a:rPr lang="mr-IN" dirty="0" err="1">
                <a:latin typeface="Menlo" charset="0"/>
                <a:ea typeface="Menlo" charset="0"/>
                <a:cs typeface="Menlo" charset="0"/>
              </a:rPr>
              <a:t>artem</a:t>
            </a:r>
            <a:r>
              <a:rPr lang="mr-IN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mr-IN" dirty="0" err="1">
                <a:latin typeface="Menlo" charset="0"/>
                <a:ea typeface="Menlo" charset="0"/>
                <a:cs typeface="Menlo" charset="0"/>
              </a:rPr>
              <a:t>artem</a:t>
            </a:r>
            <a:r>
              <a:rPr lang="mr-IN" dirty="0">
                <a:latin typeface="Menlo" charset="0"/>
                <a:ea typeface="Menlo" charset="0"/>
                <a:cs typeface="Menlo" charset="0"/>
              </a:rPr>
              <a:t> 0 </a:t>
            </a:r>
            <a:r>
              <a:rPr lang="mr-IN" dirty="0" err="1">
                <a:latin typeface="Menlo" charset="0"/>
                <a:ea typeface="Menlo" charset="0"/>
                <a:cs typeface="Menlo" charset="0"/>
              </a:rPr>
              <a:t>Oct</a:t>
            </a:r>
            <a:r>
              <a:rPr lang="mr-IN" dirty="0">
                <a:latin typeface="Menlo" charset="0"/>
                <a:ea typeface="Menlo" charset="0"/>
                <a:cs typeface="Menlo" charset="0"/>
              </a:rPr>
              <a:t>  2 10:08 </a:t>
            </a:r>
            <a:r>
              <a:rPr lang="mr-IN" dirty="0" err="1">
                <a:latin typeface="Menlo" charset="0"/>
                <a:ea typeface="Menlo" charset="0"/>
                <a:cs typeface="Menlo" charset="0"/>
              </a:rPr>
              <a:t>stat</a:t>
            </a:r>
            <a:endParaRPr lang="en-US" dirty="0">
              <a:latin typeface="Menlo" charset="0"/>
              <a:ea typeface="Menlo" charset="0"/>
              <a:cs typeface="Menlo" charset="0"/>
            </a:endParaRPr>
          </a:p>
          <a:p>
            <a:r>
              <a:rPr lang="en-US" dirty="0">
                <a:latin typeface="Menlo" charset="0"/>
                <a:ea typeface="Menlo" charset="0"/>
                <a:cs typeface="Menlo" charset="0"/>
              </a:rPr>
              <a:t>......</a:t>
            </a:r>
            <a:endParaRPr lang="mr-IN" dirty="0">
              <a:latin typeface="Menlo" charset="0"/>
              <a:ea typeface="Menlo" charset="0"/>
              <a:cs typeface="Menl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8821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6496716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POSIX file system semantics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7821075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810969"/>
              </p:ext>
            </p:extLst>
          </p:nvPr>
        </p:nvGraphicFramePr>
        <p:xfrm>
          <a:off x="0" y="365760"/>
          <a:ext cx="12192000" cy="60350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0796">
                <a:tc>
                  <a:txBody>
                    <a:bodyPr/>
                    <a:lstStyle/>
                    <a:p>
                      <a:r>
                        <a:rPr lang="en-US" dirty="0"/>
                        <a:t>Virtual file systems in</a:t>
                      </a:r>
                      <a:r>
                        <a:rPr lang="ru-RU" dirty="0"/>
                        <a:t> </a:t>
                      </a:r>
                      <a:r>
                        <a:rPr lang="en-US" dirty="0"/>
                        <a:t>Linux: FUSE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796">
                <a:tc>
                  <a:txBody>
                    <a:bodyPr/>
                    <a:lstStyle/>
                    <a:p>
                      <a:r>
                        <a:rPr lang="en-US" dirty="0"/>
                        <a:t>Normally, file systems are implemented in the kernel.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FUSE </a:t>
                      </a:r>
                      <a:r>
                        <a:rPr lang="ru-RU" dirty="0"/>
                        <a:t>(</a:t>
                      </a:r>
                      <a:r>
                        <a:rPr lang="en-US" dirty="0"/>
                        <a:t>Filesystem in </a:t>
                      </a:r>
                      <a:r>
                        <a:rPr lang="en-US" dirty="0" err="1"/>
                        <a:t>USer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spacE</a:t>
                      </a:r>
                      <a:r>
                        <a:rPr lang="en-US" dirty="0"/>
                        <a:t>) is a mechanism to run file system drivers as </a:t>
                      </a:r>
                      <a:r>
                        <a:rPr lang="en-US" dirty="0" err="1"/>
                        <a:t>userspace</a:t>
                      </a:r>
                      <a:r>
                        <a:rPr lang="en-US" dirty="0"/>
                        <a:t> processes.</a:t>
                      </a:r>
                      <a:endParaRPr lang="ru-RU" dirty="0"/>
                    </a:p>
                    <a:p>
                      <a:endParaRPr lang="ru-RU" dirty="0"/>
                    </a:p>
                    <a:p>
                      <a:r>
                        <a:rPr lang="en-US" dirty="0"/>
                        <a:t>FUSE file system drivers open a pipe to the kernel-space FUSE layer. Over that pipe, they receive commands like “lookup a file in a directory”, “open a file”, “read/write data to a file”, etc.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Example:</a:t>
                      </a:r>
                      <a:r>
                        <a:rPr lang="ru-RU" dirty="0"/>
                        <a:t> </a:t>
                      </a:r>
                      <a:r>
                        <a:rPr lang="en-US" dirty="0" err="1"/>
                        <a:t>sshfs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Lustre</a:t>
                      </a:r>
                      <a:r>
                        <a:rPr lang="en-US" dirty="0"/>
                        <a:t>, CEPH.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Advantages of FUSE: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Userspace</a:t>
                      </a:r>
                      <a:r>
                        <a:rPr lang="en-US" dirty="0"/>
                        <a:t> processes may use any libraries that may not be fit to the kernel,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File system drivers can be run by non-privileged users,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FUSE enables easy experimentation with FS implementations.</a:t>
                      </a:r>
                      <a:endParaRPr lang="ru-RU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ru-RU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Disadvantages of</a:t>
                      </a:r>
                      <a:r>
                        <a:rPr lang="ru-RU" dirty="0"/>
                        <a:t> </a:t>
                      </a:r>
                      <a:r>
                        <a:rPr lang="en-US" dirty="0"/>
                        <a:t>FUSE: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(Much) lower performance due to numerous switches between the kernel and the </a:t>
                      </a:r>
                      <a:r>
                        <a:rPr lang="en-US" dirty="0" err="1"/>
                        <a:t>userspace</a:t>
                      </a:r>
                      <a:r>
                        <a:rPr lang="ru-RU" dirty="0"/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796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dirty="0"/>
                        <a:t>To do at home</a:t>
                      </a:r>
                      <a:r>
                        <a:rPr lang="ru-RU" dirty="0"/>
                        <a:t>: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Read the documentation about the FUSE high level API,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Implement a FUSE file system that has only the root directory and one file named</a:t>
                      </a:r>
                      <a:r>
                        <a:rPr lang="ru-RU" dirty="0"/>
                        <a:t> </a:t>
                      </a:r>
                      <a:r>
                        <a:rPr lang="en-US" dirty="0"/>
                        <a:t>“hello”. Reading this file must return the string “hello, world!”. Verify that 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`ls -l`</a:t>
                      </a:r>
                      <a:r>
                        <a:rPr lang="en-US" dirty="0"/>
                        <a:t> and 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`cat hello`</a:t>
                      </a:r>
                      <a:r>
                        <a:rPr lang="en-US" dirty="0"/>
                        <a:t> work with your file system.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9984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6610940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POSIX file system semantics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9066021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1305350"/>
              </p:ext>
            </p:extLst>
          </p:nvPr>
        </p:nvGraphicFramePr>
        <p:xfrm>
          <a:off x="0" y="342613"/>
          <a:ext cx="12192000" cy="86835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4175">
                <a:tc>
                  <a:txBody>
                    <a:bodyPr/>
                    <a:lstStyle/>
                    <a:p>
                      <a:r>
                        <a:rPr lang="en-US" dirty="0"/>
                        <a:t>POSIX file system API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175">
                <a:tc>
                  <a:txBody>
                    <a:bodyPr/>
                    <a:lstStyle/>
                    <a:p>
                      <a:r>
                        <a:rPr lang="en-US" dirty="0"/>
                        <a:t>UNIX is a multiuser OS and needs to isolate files of Alice from access by Bob, unless Alice allows that.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7358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POSIX file system semantics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0" y="342613"/>
          <a:ext cx="12192000" cy="205707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4175">
                <a:tc>
                  <a:txBody>
                    <a:bodyPr/>
                    <a:lstStyle/>
                    <a:p>
                      <a:r>
                        <a:rPr lang="en-US" dirty="0"/>
                        <a:t>POSIX file system API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175">
                <a:tc>
                  <a:txBody>
                    <a:bodyPr/>
                    <a:lstStyle/>
                    <a:p>
                      <a:r>
                        <a:rPr lang="en-US" dirty="0"/>
                        <a:t>UNIX is a multiuser OS and needs to isolate files of Alice from access by Bob, unless Alice allows that.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175">
                <a:tc>
                  <a:txBody>
                    <a:bodyPr/>
                    <a:lstStyle/>
                    <a:p>
                      <a:r>
                        <a:rPr lang="en-US" dirty="0"/>
                        <a:t>The classical access model</a:t>
                      </a:r>
                      <a:r>
                        <a:rPr lang="ru-RU" baseline="0" dirty="0"/>
                        <a:t>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/>
                        <a:t>the system tracks the set of users and the set of user groups</a:t>
                      </a:r>
                      <a:r>
                        <a:rPr lang="ru-RU" baseline="0" dirty="0"/>
                        <a:t>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/>
                        <a:t>files have one owner user and one owner group,</a:t>
                      </a:r>
                      <a:endParaRPr lang="ru-RU" baseline="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/>
                        <a:t>files have permission bits that tell what access is granted to the owner user, to the owner group, and to everyone else.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4471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POSIX file system semantics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0" y="342613"/>
          <a:ext cx="12192000" cy="489171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4175">
                <a:tc>
                  <a:txBody>
                    <a:bodyPr/>
                    <a:lstStyle/>
                    <a:p>
                      <a:r>
                        <a:rPr lang="en-US" dirty="0"/>
                        <a:t>POSIX file system API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175">
                <a:tc>
                  <a:txBody>
                    <a:bodyPr/>
                    <a:lstStyle/>
                    <a:p>
                      <a:r>
                        <a:rPr lang="en-US" dirty="0"/>
                        <a:t>UNIX is a multiuser OS and needs to isolate files of Alice from access by Bob, unless Alice allows that.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175">
                <a:tc>
                  <a:txBody>
                    <a:bodyPr/>
                    <a:lstStyle/>
                    <a:p>
                      <a:r>
                        <a:rPr lang="en-US" dirty="0"/>
                        <a:t>The classical access model</a:t>
                      </a:r>
                      <a:r>
                        <a:rPr lang="ru-RU" baseline="0" dirty="0"/>
                        <a:t>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/>
                        <a:t>the system tracks the set of users and the set of user groups</a:t>
                      </a:r>
                      <a:r>
                        <a:rPr lang="ru-RU" baseline="0" dirty="0"/>
                        <a:t>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/>
                        <a:t>files have one owner user and one owner group,</a:t>
                      </a:r>
                      <a:endParaRPr lang="ru-RU" baseline="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/>
                        <a:t>files have permission bits that tell what access is granted to the owner user, to the owner group, and to everyone else.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175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778945"/>
                  </a:ext>
                </a:extLst>
              </a:tr>
            </a:tbl>
          </a:graphicData>
        </a:graphic>
      </p:graphicFrame>
      <p:sp>
        <p:nvSpPr>
          <p:cNvPr id="3" name="Up Arrow 2">
            <a:extLst>
              <a:ext uri="{FF2B5EF4-FFF2-40B4-BE49-F238E27FC236}">
                <a16:creationId xmlns:a16="http://schemas.microsoft.com/office/drawing/2014/main" id="{798F2D1F-B8EF-71C7-DC33-AC76A9CD0BC5}"/>
              </a:ext>
            </a:extLst>
          </p:cNvPr>
          <p:cNvSpPr/>
          <p:nvPr/>
        </p:nvSpPr>
        <p:spPr>
          <a:xfrm>
            <a:off x="354227" y="3567884"/>
            <a:ext cx="222422" cy="1074783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Up Arrow 6">
            <a:extLst>
              <a:ext uri="{FF2B5EF4-FFF2-40B4-BE49-F238E27FC236}">
                <a16:creationId xmlns:a16="http://schemas.microsoft.com/office/drawing/2014/main" id="{DFF7028E-F31F-EC53-33EC-9D4D025369B6}"/>
              </a:ext>
            </a:extLst>
          </p:cNvPr>
          <p:cNvSpPr/>
          <p:nvPr/>
        </p:nvSpPr>
        <p:spPr>
          <a:xfrm>
            <a:off x="930876" y="3567884"/>
            <a:ext cx="222421" cy="75485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7D690C-A40F-6F36-C731-10C356BDE993}"/>
              </a:ext>
            </a:extLst>
          </p:cNvPr>
          <p:cNvSpPr txBox="1"/>
          <p:nvPr/>
        </p:nvSpPr>
        <p:spPr>
          <a:xfrm>
            <a:off x="35438" y="4642669"/>
            <a:ext cx="1790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permissions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784542-B469-968A-121A-AD9AEA08DC15}"/>
              </a:ext>
            </a:extLst>
          </p:cNvPr>
          <p:cNvSpPr txBox="1"/>
          <p:nvPr/>
        </p:nvSpPr>
        <p:spPr>
          <a:xfrm>
            <a:off x="576649" y="4322744"/>
            <a:ext cx="1945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Group permissions</a:t>
            </a:r>
            <a:endParaRPr lang="ru-RU" dirty="0"/>
          </a:p>
        </p:txBody>
      </p:sp>
      <p:sp>
        <p:nvSpPr>
          <p:cNvPr id="11" name="Up Arrow 10">
            <a:extLst>
              <a:ext uri="{FF2B5EF4-FFF2-40B4-BE49-F238E27FC236}">
                <a16:creationId xmlns:a16="http://schemas.microsoft.com/office/drawing/2014/main" id="{348A8D3D-0864-7A02-79C5-E74E2B229995}"/>
              </a:ext>
            </a:extLst>
          </p:cNvPr>
          <p:cNvSpPr/>
          <p:nvPr/>
        </p:nvSpPr>
        <p:spPr>
          <a:xfrm>
            <a:off x="1467197" y="3566020"/>
            <a:ext cx="181233" cy="34508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C7286C-6099-9554-63A4-AB1A52368371}"/>
              </a:ext>
            </a:extLst>
          </p:cNvPr>
          <p:cNvSpPr txBox="1"/>
          <p:nvPr/>
        </p:nvSpPr>
        <p:spPr>
          <a:xfrm>
            <a:off x="1153297" y="3932260"/>
            <a:ext cx="2272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Permissions for others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114B9F-523D-4337-FC8D-35D12DDC9392}"/>
              </a:ext>
            </a:extLst>
          </p:cNvPr>
          <p:cNvSpPr txBox="1"/>
          <p:nvPr/>
        </p:nvSpPr>
        <p:spPr>
          <a:xfrm>
            <a:off x="202485" y="2396467"/>
            <a:ext cx="644709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$ ls -</a:t>
            </a:r>
            <a:r>
              <a:rPr lang="en-GB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lh</a:t>
            </a:r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/</a:t>
            </a:r>
            <a:r>
              <a:rPr lang="en-GB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usr</a:t>
            </a:r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/bin</a:t>
            </a: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rwx</a:t>
            </a:r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 r-x   --x 1 root   root     31K Feb 22  2016 afm2pl</a:t>
            </a: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rwx</a:t>
            </a:r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 r-x   --x 1 root   root     38K Feb 22  2016 afm2tfm</a:t>
            </a: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rwx</a:t>
            </a:r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 r-x   --x 1 root   root    485K Feb 22  2016 aleph</a:t>
            </a:r>
            <a:endParaRPr lang="ru-RU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3781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POSIX file system semantics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6022513"/>
              </p:ext>
            </p:extLst>
          </p:nvPr>
        </p:nvGraphicFramePr>
        <p:xfrm>
          <a:off x="0" y="342613"/>
          <a:ext cx="12192000" cy="489171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4175">
                <a:tc>
                  <a:txBody>
                    <a:bodyPr/>
                    <a:lstStyle/>
                    <a:p>
                      <a:r>
                        <a:rPr lang="en-US" dirty="0"/>
                        <a:t>POSIX file system API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17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UNIX is a multiuser OS and needs to isolate files of Alice from access by Bob, unless Alice allows that.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17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The classical access model</a:t>
                      </a:r>
                      <a:r>
                        <a:rPr lang="ru-RU" baseline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the system tracks the set of users and the set of user groups</a:t>
                      </a:r>
                      <a:r>
                        <a:rPr lang="ru-RU" baseline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files have one owner user and one owner group,</a:t>
                      </a:r>
                      <a:endParaRPr lang="ru-RU" baseline="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files have permission bits that tell what access is granted to the owner user, to the owner group, and to everyone else.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175">
                <a:tc>
                  <a:txBody>
                    <a:bodyPr/>
                    <a:lstStyle/>
                    <a:p>
                      <a:r>
                        <a:rPr lang="en-US" dirty="0"/>
                        <a:t>This access model is woefully inadequate for complicated setups. It has no way to grant access to a file both to Gregory and George unless they belong to the owner group of the file.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There is a much more flexible mechanism for assigning access rights to a file, POSIX Access Control Lists. See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man 5 </a:t>
                      </a:r>
                      <a:r>
                        <a:rPr lang="en-US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acl</a:t>
                      </a:r>
                      <a:r>
                        <a:rPr lang="en-US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man 1 </a:t>
                      </a:r>
                      <a:r>
                        <a:rPr lang="en-US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getfacl</a:t>
                      </a:r>
                      <a:r>
                        <a:rPr lang="en-US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man 1 </a:t>
                      </a:r>
                      <a:r>
                        <a:rPr lang="en-US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setfacl</a:t>
                      </a:r>
                      <a:r>
                        <a:rPr lang="en-US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7789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3665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POSIX file system semantics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632525"/>
              </p:ext>
            </p:extLst>
          </p:nvPr>
        </p:nvGraphicFramePr>
        <p:xfrm>
          <a:off x="0" y="342613"/>
          <a:ext cx="12192000" cy="205707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4175">
                <a:tc>
                  <a:txBody>
                    <a:bodyPr/>
                    <a:lstStyle/>
                    <a:p>
                      <a:r>
                        <a:rPr lang="en-US" dirty="0"/>
                        <a:t>POSIX file system API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175">
                <a:tc>
                  <a:txBody>
                    <a:bodyPr/>
                    <a:lstStyle/>
                    <a:p>
                      <a:r>
                        <a:rPr lang="en-US" dirty="0"/>
                        <a:t>There are special “access rights” that modify the way the programs are exec()ed</a:t>
                      </a:r>
                      <a:r>
                        <a:rPr lang="ru-RU" baseline="0" dirty="0"/>
                        <a:t>: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175">
                <a:tc>
                  <a:txBody>
                    <a:bodyPr/>
                    <a:lstStyle/>
                    <a:p>
                      <a:br>
                        <a:rPr lang="ru-RU" dirty="0"/>
                      </a:br>
                      <a:br>
                        <a:rPr lang="ru-RU" dirty="0"/>
                      </a:br>
                      <a:br>
                        <a:rPr lang="ru-RU" dirty="0"/>
                      </a:b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15155B1-5986-5F41-A178-07791638D3E1}"/>
              </a:ext>
            </a:extLst>
          </p:cNvPr>
          <p:cNvSpPr txBox="1"/>
          <p:nvPr/>
        </p:nvSpPr>
        <p:spPr>
          <a:xfrm>
            <a:off x="104172" y="1215339"/>
            <a:ext cx="734992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$ ls -</a:t>
            </a:r>
            <a:r>
              <a:rPr lang="en-GB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lh</a:t>
            </a:r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/</a:t>
            </a:r>
            <a:r>
              <a:rPr lang="en-GB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usr</a:t>
            </a:r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/bin</a:t>
            </a: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rws</a:t>
            </a:r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 r-x   r-x 1 root   root    134K Jan  6  2016 </a:t>
            </a:r>
            <a:r>
              <a:rPr lang="en-GB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sudo</a:t>
            </a:r>
            <a:endParaRPr lang="en-GB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rwx</a:t>
            </a:r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GB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rwx</a:t>
            </a:r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GB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rwx</a:t>
            </a:r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1 root   root       4 Jan  6  2016 </a:t>
            </a:r>
            <a:r>
              <a:rPr lang="en-GB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sudoedit</a:t>
            </a:r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-&gt; </a:t>
            </a:r>
            <a:r>
              <a:rPr lang="en-GB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sudo</a:t>
            </a:r>
            <a:endParaRPr lang="en-GB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rwx</a:t>
            </a:r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 r-x   r-x 1 root   root     47K Jan  6  2016 </a:t>
            </a:r>
            <a:r>
              <a:rPr lang="en-GB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sudoreplay</a:t>
            </a:r>
            <a:endParaRPr lang="ru-RU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D55E404-181C-7249-88A3-8881B3B4A703}"/>
                  </a:ext>
                </a:extLst>
              </p14:cNvPr>
              <p14:cNvContentPartPr/>
              <p14:nvPr/>
            </p14:nvContentPartPr>
            <p14:xfrm>
              <a:off x="460294" y="1727599"/>
              <a:ext cx="181080" cy="1789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D55E404-181C-7249-88A3-8881B3B4A70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1294" y="1718599"/>
                <a:ext cx="198720" cy="19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98810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POSIX file system semantics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5205230"/>
              </p:ext>
            </p:extLst>
          </p:nvPr>
        </p:nvGraphicFramePr>
        <p:xfrm>
          <a:off x="0" y="342613"/>
          <a:ext cx="12192000" cy="269715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4175">
                <a:tc>
                  <a:txBody>
                    <a:bodyPr/>
                    <a:lstStyle/>
                    <a:p>
                      <a:r>
                        <a:rPr lang="en-US" dirty="0"/>
                        <a:t>POSIX file system API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175">
                <a:tc>
                  <a:txBody>
                    <a:bodyPr/>
                    <a:lstStyle/>
                    <a:p>
                      <a:r>
                        <a:rPr lang="en-US" dirty="0"/>
                        <a:t>There are special “access rights” that modify the way the programs are exec()ed</a:t>
                      </a:r>
                      <a:r>
                        <a:rPr lang="ru-RU" baseline="0" dirty="0"/>
                        <a:t>: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175">
                <a:tc>
                  <a:txBody>
                    <a:bodyPr/>
                    <a:lstStyle/>
                    <a:p>
                      <a:br>
                        <a:rPr lang="ru-RU" dirty="0"/>
                      </a:br>
                      <a:br>
                        <a:rPr lang="ru-RU" dirty="0"/>
                      </a:br>
                      <a:br>
                        <a:rPr lang="ru-RU" dirty="0"/>
                      </a:b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175">
                <a:tc>
                  <a:txBody>
                    <a:bodyPr/>
                    <a:lstStyle/>
                    <a:p>
                      <a:r>
                        <a:rPr lang="en-US" dirty="0"/>
                        <a:t>When a set-</a:t>
                      </a:r>
                      <a:r>
                        <a:rPr lang="en-US" dirty="0" err="1"/>
                        <a:t>uid</a:t>
                      </a:r>
                      <a:r>
                        <a:rPr lang="en-US" dirty="0"/>
                        <a:t> binary is </a:t>
                      </a:r>
                      <a:r>
                        <a:rPr lang="en-US" dirty="0" err="1">
                          <a:latin typeface="Consolas" panose="020B0609020204030204" pitchFamily="49" charset="0"/>
                          <a:ea typeface="Menlo" panose="020B0609030804020204" pitchFamily="49" charset="0"/>
                          <a:cs typeface="Consolas" panose="020B0609020204030204" pitchFamily="49" charset="0"/>
                        </a:rPr>
                        <a:t>execve</a:t>
                      </a:r>
                      <a:r>
                        <a:rPr lang="en-US" dirty="0">
                          <a:latin typeface="Consolas" panose="020B0609020204030204" pitchFamily="49" charset="0"/>
                          <a:ea typeface="Menlo" panose="020B0609030804020204" pitchFamily="49" charset="0"/>
                          <a:cs typeface="Consolas" panose="020B0609020204030204" pitchFamily="49" charset="0"/>
                        </a:rPr>
                        <a:t>()</a:t>
                      </a:r>
                      <a:r>
                        <a:rPr lang="en-US" dirty="0"/>
                        <a:t>ed, it runs with the credentials of the owner user. The similar thing happens with set-gid binaries.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15585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15155B1-5986-5F41-A178-07791638D3E1}"/>
              </a:ext>
            </a:extLst>
          </p:cNvPr>
          <p:cNvSpPr txBox="1"/>
          <p:nvPr/>
        </p:nvSpPr>
        <p:spPr>
          <a:xfrm>
            <a:off x="104172" y="1215339"/>
            <a:ext cx="734992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$ ls -</a:t>
            </a:r>
            <a:r>
              <a:rPr lang="en-GB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lh</a:t>
            </a:r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/</a:t>
            </a:r>
            <a:r>
              <a:rPr lang="en-GB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usr</a:t>
            </a:r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/bin</a:t>
            </a: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rws</a:t>
            </a:r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 r-x   r-x 1 root   root    134K Jan  6  2016 </a:t>
            </a:r>
            <a:r>
              <a:rPr lang="en-GB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sudo</a:t>
            </a:r>
            <a:endParaRPr lang="en-GB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rwx</a:t>
            </a:r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GB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rwx</a:t>
            </a:r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GB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rwx</a:t>
            </a:r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1 root   root       4 Jan  6  2016 </a:t>
            </a:r>
            <a:r>
              <a:rPr lang="en-GB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sudoedit</a:t>
            </a:r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-&gt; </a:t>
            </a:r>
            <a:r>
              <a:rPr lang="en-GB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sudo</a:t>
            </a:r>
            <a:endParaRPr lang="en-GB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rwx</a:t>
            </a:r>
            <a:r>
              <a:rPr lang="en-GB" sz="1400" dirty="0">
                <a:latin typeface="Consolas" panose="020B0609020204030204" pitchFamily="49" charset="0"/>
                <a:cs typeface="Consolas" panose="020B0609020204030204" pitchFamily="49" charset="0"/>
              </a:rPr>
              <a:t>   r-x   r-x 1 root   root     47K Jan  6  2016 </a:t>
            </a:r>
            <a:r>
              <a:rPr lang="en-GB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sudoreplay</a:t>
            </a:r>
            <a:endParaRPr lang="ru-RU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D55E404-181C-7249-88A3-8881B3B4A703}"/>
                  </a:ext>
                </a:extLst>
              </p14:cNvPr>
              <p14:cNvContentPartPr/>
              <p14:nvPr/>
            </p14:nvContentPartPr>
            <p14:xfrm>
              <a:off x="460294" y="1727599"/>
              <a:ext cx="181080" cy="1789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D55E404-181C-7249-88A3-8881B3B4A70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1294" y="1718599"/>
                <a:ext cx="198720" cy="19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576843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POSIX file system semantics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8154104"/>
              </p:ext>
            </p:extLst>
          </p:nvPr>
        </p:nvGraphicFramePr>
        <p:xfrm>
          <a:off x="0" y="342613"/>
          <a:ext cx="12192000" cy="178275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4175">
                <a:tc>
                  <a:txBody>
                    <a:bodyPr/>
                    <a:lstStyle/>
                    <a:p>
                      <a:r>
                        <a:rPr lang="en-US" dirty="0"/>
                        <a:t>POSIX file system API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175">
                <a:tc>
                  <a:txBody>
                    <a:bodyPr/>
                    <a:lstStyle/>
                    <a:p>
                      <a:r>
                        <a:rPr lang="en-US" dirty="0"/>
                        <a:t>Files and file descriptors are two separate entities. In particular, they may have unrelated access rights: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175">
                <a:tc>
                  <a:txBody>
                    <a:bodyPr/>
                    <a:lstStyle/>
                    <a:p>
                      <a:r>
                        <a:rPr lang="en-US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int </a:t>
                      </a:r>
                      <a:r>
                        <a:rPr lang="en-US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fd</a:t>
                      </a:r>
                      <a:r>
                        <a:rPr lang="en-US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= open(“/path/to/a/file”, O_RDWR | O_CREAT, S_IRUSR);</a:t>
                      </a:r>
                    </a:p>
                    <a:p>
                      <a:r>
                        <a:rPr lang="en-US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write(</a:t>
                      </a:r>
                      <a:r>
                        <a:rPr lang="en-US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fd</a:t>
                      </a:r>
                      <a:r>
                        <a:rPr lang="en-US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buffer, size);</a:t>
                      </a:r>
                    </a:p>
                    <a:p>
                      <a:r>
                        <a:rPr lang="en-US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close(</a:t>
                      </a:r>
                      <a:r>
                        <a:rPr lang="en-US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fd</a:t>
                      </a:r>
                      <a:r>
                        <a:rPr lang="en-US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);</a:t>
                      </a:r>
                      <a:endParaRPr lang="ru-RU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04273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POSIX file system semantics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6841038"/>
              </p:ext>
            </p:extLst>
          </p:nvPr>
        </p:nvGraphicFramePr>
        <p:xfrm>
          <a:off x="0" y="342613"/>
          <a:ext cx="12192000" cy="352011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4175">
                <a:tc>
                  <a:txBody>
                    <a:bodyPr/>
                    <a:lstStyle/>
                    <a:p>
                      <a:r>
                        <a:rPr lang="en-US" dirty="0"/>
                        <a:t>POSIX file system API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175">
                <a:tc>
                  <a:txBody>
                    <a:bodyPr/>
                    <a:lstStyle/>
                    <a:p>
                      <a:r>
                        <a:rPr lang="en-US" dirty="0"/>
                        <a:t>Files and file descriptors are two separate entities. In particular, they may have unrelated access rights: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175">
                <a:tc>
                  <a:txBody>
                    <a:bodyPr/>
                    <a:lstStyle/>
                    <a:p>
                      <a:r>
                        <a:rPr lang="en-US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int </a:t>
                      </a:r>
                      <a:r>
                        <a:rPr lang="en-US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fd</a:t>
                      </a:r>
                      <a:r>
                        <a:rPr lang="en-US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= open(“/path/to/a/file”, O_RDWR | O_CREAT, S_IRUSR);</a:t>
                      </a:r>
                    </a:p>
                    <a:p>
                      <a:r>
                        <a:rPr lang="en-US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write(</a:t>
                      </a:r>
                      <a:r>
                        <a:rPr lang="en-US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fd</a:t>
                      </a:r>
                      <a:r>
                        <a:rPr lang="en-US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buffer, size);</a:t>
                      </a:r>
                    </a:p>
                    <a:p>
                      <a:r>
                        <a:rPr lang="en-US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close(</a:t>
                      </a:r>
                      <a:r>
                        <a:rPr lang="en-US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fd</a:t>
                      </a:r>
                      <a:r>
                        <a:rPr lang="en-US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);</a:t>
                      </a:r>
                      <a:endParaRPr lang="ru-RU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175">
                <a:tc>
                  <a:txBody>
                    <a:bodyPr/>
                    <a:lstStyle/>
                    <a:p>
                      <a:r>
                        <a:rPr lang="en-US" dirty="0"/>
                        <a:t>Use cases</a:t>
                      </a:r>
                      <a:r>
                        <a:rPr lang="ru-RU" dirty="0"/>
                        <a:t>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Split programs into a small trusted and audited core, and into worker processes that handle complex data.</a:t>
                      </a:r>
                      <a:br>
                        <a:rPr lang="en-US" dirty="0"/>
                      </a:br>
                      <a:r>
                        <a:rPr lang="en-US" dirty="0"/>
                        <a:t>What is an example of a very frequently used software that follows this model?</a:t>
                      </a:r>
                      <a:endParaRPr lang="ru-RU" baseline="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Binfmt</a:t>
                      </a:r>
                      <a:r>
                        <a:rPr lang="en-US" dirty="0"/>
                        <a:t> handlers for files that allow only</a:t>
                      </a:r>
                      <a:r>
                        <a:rPr lang="ru-RU" dirty="0"/>
                        <a:t> </a:t>
                      </a:r>
                      <a:r>
                        <a:rPr lang="en-US" dirty="0"/>
                        <a:t>--x--x--x: </a:t>
                      </a:r>
                      <a:r>
                        <a:rPr lang="en-US" dirty="0">
                          <a:hlinkClick r:id="rId3"/>
                        </a:rPr>
                        <a:t>https://lwn.net/Articles/679310/</a:t>
                      </a: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See also:</a:t>
                      </a:r>
                      <a:r>
                        <a:rPr lang="ru-RU" dirty="0"/>
                        <a:t> </a:t>
                      </a:r>
                      <a:r>
                        <a:rPr lang="en-US" dirty="0"/>
                        <a:t>seccomp and</a:t>
                      </a:r>
                      <a:r>
                        <a:rPr lang="ru-RU" dirty="0"/>
                        <a:t> </a:t>
                      </a:r>
                      <a:r>
                        <a:rPr lang="en-US" dirty="0"/>
                        <a:t>seccomp filters: </a:t>
                      </a:r>
                      <a:r>
                        <a:rPr lang="en-US" dirty="0">
                          <a:hlinkClick r:id="rId4"/>
                        </a:rPr>
                        <a:t>https://www.kernel.org/doc/Documentation/prctl/seccomp_filter.txt</a:t>
                      </a: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See also: how does one pass file descriptors over an AF_UNIX socket?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1558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00672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POSIX file system semantics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4863497"/>
              </p:ext>
            </p:extLst>
          </p:nvPr>
        </p:nvGraphicFramePr>
        <p:xfrm>
          <a:off x="0" y="342613"/>
          <a:ext cx="12192000" cy="134857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4175">
                <a:tc>
                  <a:txBody>
                    <a:bodyPr/>
                    <a:lstStyle/>
                    <a:p>
                      <a:r>
                        <a:rPr lang="en-US" dirty="0"/>
                        <a:t>A file system is a shared resource: concurrent access and races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175">
                <a:tc>
                  <a:txBody>
                    <a:bodyPr/>
                    <a:lstStyle/>
                    <a:p>
                      <a:r>
                        <a:rPr lang="en-US" dirty="0"/>
                        <a:t>When multiple threads access the same memory region, they need to </a:t>
                      </a:r>
                      <a:r>
                        <a:rPr lang="en-US" dirty="0" err="1"/>
                        <a:t>synchronise</a:t>
                      </a:r>
                      <a:r>
                        <a:rPr lang="en-US" dirty="0"/>
                        <a:t> their access to avoid races.</a:t>
                      </a:r>
                      <a:endParaRPr lang="ru-RU" dirty="0"/>
                    </a:p>
                    <a:p>
                      <a:endParaRPr lang="ru-RU" dirty="0"/>
                    </a:p>
                    <a:p>
                      <a:r>
                        <a:rPr lang="en-US" dirty="0"/>
                        <a:t>What happens when multiple process access the same directory?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84802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80762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POSIX file system semantics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0" y="342613"/>
          <a:ext cx="12192000" cy="500617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688292786"/>
                    </a:ext>
                  </a:extLst>
                </a:gridCol>
              </a:tblGrid>
              <a:tr h="434175">
                <a:tc>
                  <a:txBody>
                    <a:bodyPr/>
                    <a:lstStyle/>
                    <a:p>
                      <a:r>
                        <a:rPr lang="en-US" dirty="0"/>
                        <a:t>A file system is a shared resource: concurrent access and races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175">
                <a:tc gridSpan="2">
                  <a:txBody>
                    <a:bodyPr/>
                    <a:lstStyle/>
                    <a:p>
                      <a:r>
                        <a:rPr lang="en-US" dirty="0"/>
                        <a:t>When multiple threads access the same memory region, they need to </a:t>
                      </a:r>
                      <a:r>
                        <a:rPr lang="en-US" dirty="0" err="1"/>
                        <a:t>synchronise</a:t>
                      </a:r>
                      <a:r>
                        <a:rPr lang="en-US" dirty="0"/>
                        <a:t> their access to avoid races.</a:t>
                      </a:r>
                      <a:endParaRPr lang="ru-RU" dirty="0"/>
                    </a:p>
                    <a:p>
                      <a:endParaRPr lang="ru-RU" dirty="0"/>
                    </a:p>
                    <a:p>
                      <a:r>
                        <a:rPr lang="en-US" dirty="0"/>
                        <a:t>What happens when multiple process access the same directory?</a:t>
                      </a:r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8480295"/>
                  </a:ext>
                </a:extLst>
              </a:tr>
              <a:tr h="434175"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Creating a temporary file</a:t>
                      </a:r>
                      <a:r>
                        <a:rPr lang="ru-RU" dirty="0"/>
                        <a:t>:</a:t>
                      </a:r>
                      <a:br>
                        <a:rPr lang="en-US" dirty="0"/>
                      </a:b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fd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open(“/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tmp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/tmp.1b42ac00de”, O_RDWR|O_CREAT, 0);</a:t>
                      </a:r>
                      <a:b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</a:b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unlink(“/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tmp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/tmp.1b42ac00de”);</a:t>
                      </a:r>
                      <a:b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</a:b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... use 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fd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to keep temp data ...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endParaRPr lang="en-US" dirty="0"/>
                    </a:p>
                    <a:p>
                      <a:pPr marL="342900" indent="-342900">
                        <a:buAutoNum type="arabicPeriod"/>
                      </a:pPr>
                      <a:endParaRPr lang="en-US" dirty="0"/>
                    </a:p>
                    <a:p>
                      <a:pPr marL="342900" indent="-342900">
                        <a:buAutoNum type="arabicPeriod"/>
                      </a:pPr>
                      <a:endParaRPr lang="en-US" dirty="0"/>
                    </a:p>
                    <a:p>
                      <a:pPr marL="342900" indent="-342900">
                        <a:buAutoNum type="arabicPeriod"/>
                      </a:pPr>
                      <a:endParaRPr lang="en-US" dirty="0"/>
                    </a:p>
                    <a:p>
                      <a:pPr marL="342900" indent="-342900">
                        <a:buAutoNum type="arabicPeriod"/>
                      </a:pPr>
                      <a:endParaRPr lang="en-US" dirty="0"/>
                    </a:p>
                    <a:p>
                      <a:pPr marL="342900" indent="-342900">
                        <a:buAutoNum type="arabicPeriod"/>
                      </a:pPr>
                      <a:endParaRPr lang="en-US" dirty="0"/>
                    </a:p>
                    <a:p>
                      <a:pPr marL="342900" indent="-342900">
                        <a:buAutoNum type="arabicPeriod"/>
                      </a:pPr>
                      <a:endParaRPr lang="en-US" dirty="0"/>
                    </a:p>
                    <a:p>
                      <a:pPr marL="342900" indent="-342900">
                        <a:buAutoNum type="arabicPeriod"/>
                      </a:pPr>
                      <a:endParaRPr lang="en-US" dirty="0"/>
                    </a:p>
                    <a:p>
                      <a:pPr marL="342900" indent="-342900">
                        <a:buAutoNum type="arabicPeriod"/>
                      </a:pPr>
                      <a:endParaRPr lang="en-US" dirty="0"/>
                    </a:p>
                    <a:p>
                      <a:pPr marL="342900" indent="-342900">
                        <a:buAutoNum type="arabicPeriod"/>
                      </a:pPr>
                      <a:endParaRPr lang="en-US" dirty="0"/>
                    </a:p>
                    <a:p>
                      <a:pPr marL="342900" indent="-342900">
                        <a:buAutoNum type="arabicPeriod"/>
                      </a:pPr>
                      <a:endParaRPr lang="en-US" dirty="0"/>
                    </a:p>
                    <a:p>
                      <a:pPr marL="342900" indent="-342900">
                        <a:buAutoNum type="arabicPeriod"/>
                      </a:pPr>
                      <a:endParaRPr lang="en-US" dirty="0"/>
                    </a:p>
                    <a:p>
                      <a:pPr marL="342900" indent="-342900">
                        <a:buAutoNum type="arabicPeriod"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18009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50152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POSIX file system semantics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0" y="342613"/>
          <a:ext cx="12192000" cy="500617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688292786"/>
                    </a:ext>
                  </a:extLst>
                </a:gridCol>
              </a:tblGrid>
              <a:tr h="434175">
                <a:tc>
                  <a:txBody>
                    <a:bodyPr/>
                    <a:lstStyle/>
                    <a:p>
                      <a:r>
                        <a:rPr lang="en-US" dirty="0"/>
                        <a:t>A file system is a shared resource: concurrent access and races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175">
                <a:tc gridSpan="2">
                  <a:txBody>
                    <a:bodyPr/>
                    <a:lstStyle/>
                    <a:p>
                      <a:r>
                        <a:rPr lang="en-US" dirty="0"/>
                        <a:t>When multiple threads access the same memory region, they need to </a:t>
                      </a:r>
                      <a:r>
                        <a:rPr lang="en-US" dirty="0" err="1"/>
                        <a:t>synchronise</a:t>
                      </a:r>
                      <a:r>
                        <a:rPr lang="en-US" dirty="0"/>
                        <a:t> their access to avoid races.</a:t>
                      </a:r>
                      <a:endParaRPr lang="ru-RU" dirty="0"/>
                    </a:p>
                    <a:p>
                      <a:endParaRPr lang="ru-RU" dirty="0"/>
                    </a:p>
                    <a:p>
                      <a:r>
                        <a:rPr lang="en-US" dirty="0"/>
                        <a:t>What happens when multiple process access the same directory?</a:t>
                      </a:r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8480295"/>
                  </a:ext>
                </a:extLst>
              </a:tr>
              <a:tr h="434175"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Creating a temporary file</a:t>
                      </a:r>
                      <a:r>
                        <a:rPr lang="ru-RU" dirty="0"/>
                        <a:t>:</a:t>
                      </a:r>
                      <a:br>
                        <a:rPr lang="en-US" dirty="0"/>
                      </a:b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fd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open(“/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tmp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/tmp.1b42ac00de”, O_RDWR|O_CREAT, 0);</a:t>
                      </a:r>
                      <a:b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</a:b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unlink(“/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tmp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/tmp.1b42ac00de”);</a:t>
                      </a:r>
                      <a:b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</a:b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... use 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fd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to keep temp data ...</a:t>
                      </a:r>
                      <a:br>
                        <a:rPr lang="en-US" sz="1600" dirty="0"/>
                      </a:br>
                      <a:endParaRPr lang="en-US" sz="1600" dirty="0"/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Reading a symbolic link:</a:t>
                      </a:r>
                      <a:br>
                        <a:rPr lang="en-US" dirty="0"/>
                      </a:b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struct stat 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</a:t>
                      </a:r>
                      <a:b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</a:b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lstat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(“/path/to/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symlink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”, &amp;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);</a:t>
                      </a:r>
                      <a:b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</a:b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char *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buf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malloc(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st.st_size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+ 1);</a:t>
                      </a:r>
                      <a:b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</a:b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readlink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(“/path/to/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symlink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”, 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buf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st.st_size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);</a:t>
                      </a:r>
                      <a:b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</a:b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buf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st.st_size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] = ‘\0’;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endParaRPr lang="en-US" dirty="0"/>
                    </a:p>
                    <a:p>
                      <a:pPr marL="342900" indent="-342900">
                        <a:buAutoNum type="arabicPeriod"/>
                      </a:pPr>
                      <a:endParaRPr lang="en-US" dirty="0"/>
                    </a:p>
                    <a:p>
                      <a:pPr marL="342900" indent="-342900">
                        <a:buAutoNum type="arabicPeriod"/>
                      </a:pPr>
                      <a:endParaRPr lang="en-US" dirty="0"/>
                    </a:p>
                    <a:p>
                      <a:pPr marL="342900" indent="-342900">
                        <a:buAutoNum type="arabicPeriod"/>
                      </a:pPr>
                      <a:endParaRPr lang="en-US" dirty="0"/>
                    </a:p>
                    <a:p>
                      <a:pPr marL="342900" indent="-342900">
                        <a:buAutoNum type="arabicPeriod"/>
                      </a:pPr>
                      <a:endParaRPr lang="en-US" dirty="0"/>
                    </a:p>
                    <a:p>
                      <a:pPr marL="342900" indent="-342900">
                        <a:buAutoNum type="arabicPeriod"/>
                      </a:pPr>
                      <a:endParaRPr lang="en-US" dirty="0"/>
                    </a:p>
                    <a:p>
                      <a:pPr marL="342900" indent="-342900">
                        <a:buAutoNum type="arabicPeriod"/>
                      </a:pPr>
                      <a:endParaRPr lang="en-US" dirty="0"/>
                    </a:p>
                    <a:p>
                      <a:pPr marL="342900" indent="-342900">
                        <a:buAutoNum type="arabicPeriod"/>
                      </a:pPr>
                      <a:endParaRPr lang="en-US" dirty="0"/>
                    </a:p>
                    <a:p>
                      <a:pPr marL="342900" indent="-342900">
                        <a:buAutoNum type="arabicPeriod"/>
                      </a:pPr>
                      <a:endParaRPr lang="en-US" dirty="0"/>
                    </a:p>
                    <a:p>
                      <a:pPr marL="342900" indent="-342900">
                        <a:buAutoNum type="arabicPeriod"/>
                      </a:pPr>
                      <a:endParaRPr lang="en-US" dirty="0"/>
                    </a:p>
                    <a:p>
                      <a:pPr marL="342900" indent="-342900">
                        <a:buAutoNum type="arabicPeriod"/>
                      </a:pPr>
                      <a:endParaRPr lang="en-US" dirty="0"/>
                    </a:p>
                    <a:p>
                      <a:pPr marL="342900" indent="-342900">
                        <a:buAutoNum type="arabicPeriod"/>
                      </a:pPr>
                      <a:endParaRPr lang="en-US" dirty="0"/>
                    </a:p>
                    <a:p>
                      <a:pPr marL="342900" indent="-342900">
                        <a:buAutoNum type="arabicPeriod"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18009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55564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POSIX file system semantics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0" y="342613"/>
          <a:ext cx="12192000" cy="500617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688292786"/>
                    </a:ext>
                  </a:extLst>
                </a:gridCol>
              </a:tblGrid>
              <a:tr h="434175">
                <a:tc>
                  <a:txBody>
                    <a:bodyPr/>
                    <a:lstStyle/>
                    <a:p>
                      <a:r>
                        <a:rPr lang="en-US" dirty="0"/>
                        <a:t>A file system is a shared resource: concurrent access and races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175">
                <a:tc gridSpan="2">
                  <a:txBody>
                    <a:bodyPr/>
                    <a:lstStyle/>
                    <a:p>
                      <a:r>
                        <a:rPr lang="en-US" dirty="0"/>
                        <a:t>When multiple threads access the same memory region, they need to </a:t>
                      </a:r>
                      <a:r>
                        <a:rPr lang="en-US" dirty="0" err="1"/>
                        <a:t>synchronise</a:t>
                      </a:r>
                      <a:r>
                        <a:rPr lang="en-US" dirty="0"/>
                        <a:t> their access to avoid races.</a:t>
                      </a:r>
                      <a:endParaRPr lang="ru-RU" dirty="0"/>
                    </a:p>
                    <a:p>
                      <a:endParaRPr lang="ru-RU" dirty="0"/>
                    </a:p>
                    <a:p>
                      <a:r>
                        <a:rPr lang="en-US" dirty="0"/>
                        <a:t>What happens when multiple process access the same directory?</a:t>
                      </a:r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8480295"/>
                  </a:ext>
                </a:extLst>
              </a:tr>
              <a:tr h="434175"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Creating a temporary file</a:t>
                      </a:r>
                      <a:r>
                        <a:rPr lang="ru-RU" dirty="0"/>
                        <a:t>:</a:t>
                      </a:r>
                      <a:br>
                        <a:rPr lang="en-US" dirty="0"/>
                      </a:b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fd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open(“/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tmp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/tmp.1b42ac00de”, O_RDWR|O_CREAT, 0);</a:t>
                      </a:r>
                      <a:b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</a:b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unlink(“/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tmp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/tmp.1b42ac00de”);</a:t>
                      </a:r>
                      <a:b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</a:b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... use 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fd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to keep temp data ...</a:t>
                      </a:r>
                      <a:br>
                        <a:rPr lang="en-US" sz="1600" dirty="0"/>
                      </a:br>
                      <a:endParaRPr lang="en-US" sz="1600" dirty="0"/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Reading a symbolic link:</a:t>
                      </a:r>
                      <a:br>
                        <a:rPr lang="en-US" dirty="0"/>
                      </a:b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struct stat 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</a:t>
                      </a:r>
                      <a:b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</a:b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lstat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(“/path/to/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symlink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”, &amp;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);</a:t>
                      </a:r>
                      <a:b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</a:b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char *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buf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malloc(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st.st_size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+ 1);</a:t>
                      </a:r>
                      <a:b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</a:b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readlink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(“/path/to/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symlink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”, 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buf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st.st_size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);</a:t>
                      </a:r>
                      <a:b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</a:b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buf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st.st_size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] = ‘\0’;</a:t>
                      </a:r>
                      <a:br>
                        <a:rPr lang="en-US" dirty="0"/>
                      </a:br>
                      <a:endParaRPr lang="en-US" dirty="0"/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Creating two files in a directory</a:t>
                      </a:r>
                      <a:r>
                        <a:rPr lang="ru-RU" dirty="0"/>
                        <a:t>:</a:t>
                      </a:r>
                      <a:br>
                        <a:rPr lang="en-US" dirty="0"/>
                      </a:b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 fd0 = open(“/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dir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/a”, O_RDWR|O_CREAT, S_IRUSR);</a:t>
                      </a:r>
                      <a:b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</a:b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 fd1 = open(“/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dir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/b”, O_RDWR|O_CREAT, S_IRUSR);</a:t>
                      </a:r>
                      <a:endParaRPr lang="ru-RU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endParaRPr lang="en-US" dirty="0"/>
                    </a:p>
                    <a:p>
                      <a:pPr marL="342900" indent="-342900">
                        <a:buAutoNum type="arabicPeriod"/>
                      </a:pPr>
                      <a:endParaRPr lang="en-US" dirty="0"/>
                    </a:p>
                    <a:p>
                      <a:pPr marL="342900" indent="-342900">
                        <a:buAutoNum type="arabicPeriod"/>
                      </a:pPr>
                      <a:endParaRPr lang="en-US" dirty="0"/>
                    </a:p>
                    <a:p>
                      <a:pPr marL="342900" indent="-342900">
                        <a:buAutoNum type="arabicPeriod"/>
                      </a:pPr>
                      <a:endParaRPr lang="en-US" dirty="0"/>
                    </a:p>
                    <a:p>
                      <a:pPr marL="342900" indent="-342900">
                        <a:buAutoNum type="arabicPeriod"/>
                      </a:pPr>
                      <a:endParaRPr lang="en-US" dirty="0"/>
                    </a:p>
                    <a:p>
                      <a:pPr marL="342900" indent="-342900">
                        <a:buAutoNum type="arabicPeriod"/>
                      </a:pPr>
                      <a:endParaRPr lang="en-US" dirty="0"/>
                    </a:p>
                    <a:p>
                      <a:pPr marL="342900" indent="-342900">
                        <a:buAutoNum type="arabicPeriod"/>
                      </a:pPr>
                      <a:endParaRPr lang="en-US" dirty="0"/>
                    </a:p>
                    <a:p>
                      <a:pPr marL="342900" indent="-342900">
                        <a:buAutoNum type="arabicPeriod"/>
                      </a:pPr>
                      <a:endParaRPr lang="en-US" dirty="0"/>
                    </a:p>
                    <a:p>
                      <a:pPr marL="342900" indent="-342900">
                        <a:buAutoNum type="arabicPeriod"/>
                      </a:pPr>
                      <a:endParaRPr lang="en-US" dirty="0"/>
                    </a:p>
                    <a:p>
                      <a:pPr marL="342900" indent="-342900">
                        <a:buAutoNum type="arabicPeriod"/>
                      </a:pPr>
                      <a:endParaRPr lang="en-US" dirty="0"/>
                    </a:p>
                    <a:p>
                      <a:pPr marL="342900" indent="-342900">
                        <a:buAutoNum type="arabicPeriod"/>
                      </a:pPr>
                      <a:endParaRPr lang="en-US" dirty="0"/>
                    </a:p>
                    <a:p>
                      <a:pPr marL="342900" indent="-342900">
                        <a:buAutoNum type="arabicPeriod"/>
                      </a:pPr>
                      <a:endParaRPr lang="en-US" dirty="0"/>
                    </a:p>
                    <a:p>
                      <a:pPr marL="342900" indent="-342900">
                        <a:buAutoNum type="arabicPeriod"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18009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05669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862AC-C1ED-D88D-F797-42635292C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1D20840-C444-CC99-2611-2B0CBAAAA627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POSIX file system semantics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2F0FA77-B88B-E63C-84A2-AEF0BEF75BE4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07098F2-7D23-4AAF-1FE9-266755136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114635"/>
              </p:ext>
            </p:extLst>
          </p:nvPr>
        </p:nvGraphicFramePr>
        <p:xfrm>
          <a:off x="0" y="342613"/>
          <a:ext cx="12192000" cy="491473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688292786"/>
                    </a:ext>
                  </a:extLst>
                </a:gridCol>
              </a:tblGrid>
              <a:tr h="434175">
                <a:tc>
                  <a:txBody>
                    <a:bodyPr/>
                    <a:lstStyle/>
                    <a:p>
                      <a:r>
                        <a:rPr lang="en-US" dirty="0"/>
                        <a:t>A file system is a shared resource: concurrent access and races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175">
                <a:tc gridSpan="2">
                  <a:txBody>
                    <a:bodyPr/>
                    <a:lstStyle/>
                    <a:p>
                      <a:r>
                        <a:rPr lang="en-US" dirty="0"/>
                        <a:t>When multiple threads access the same memory region, they need to </a:t>
                      </a:r>
                      <a:r>
                        <a:rPr lang="en-US" dirty="0" err="1"/>
                        <a:t>synchronise</a:t>
                      </a:r>
                      <a:r>
                        <a:rPr lang="en-US" dirty="0"/>
                        <a:t> their access to avoid races.</a:t>
                      </a:r>
                      <a:endParaRPr lang="ru-RU" dirty="0"/>
                    </a:p>
                    <a:p>
                      <a:endParaRPr lang="ru-RU" dirty="0"/>
                    </a:p>
                    <a:p>
                      <a:r>
                        <a:rPr lang="en-US" dirty="0"/>
                        <a:t>What happens when multiple process access the same directory?</a:t>
                      </a:r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8480295"/>
                  </a:ext>
                </a:extLst>
              </a:tr>
              <a:tr h="434175"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Creating a temporary file</a:t>
                      </a:r>
                      <a:r>
                        <a:rPr lang="ru-RU" dirty="0"/>
                        <a:t>:</a:t>
                      </a:r>
                      <a:br>
                        <a:rPr lang="en-US" dirty="0"/>
                      </a:b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fd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open(“/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tmp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/tmp.1b42ac00de”, O_RDWR|O_CREAT, 0);</a:t>
                      </a:r>
                      <a:b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</a:b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unlink(“/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tmp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/tmp.1b42ac00de”);</a:t>
                      </a:r>
                      <a:b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</a:b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... use 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fd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to keep temp data ...</a:t>
                      </a:r>
                      <a:br>
                        <a:rPr lang="en-US" sz="1600" dirty="0"/>
                      </a:br>
                      <a:endParaRPr lang="en-US" sz="1600" dirty="0"/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Reading a symbolic link:</a:t>
                      </a:r>
                      <a:br>
                        <a:rPr lang="en-US" dirty="0"/>
                      </a:b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struct stat 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</a:t>
                      </a:r>
                      <a:b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</a:b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lstat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(“/path/to/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symlink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”, &amp;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);</a:t>
                      </a:r>
                      <a:b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</a:b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char *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buf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malloc(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st.st_size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+ 1);</a:t>
                      </a:r>
                      <a:b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</a:b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readlink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(“/path/to/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symlink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”, 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buf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st.st_size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);</a:t>
                      </a:r>
                      <a:b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</a:b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buf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st.st_size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] = ‘\0’;</a:t>
                      </a:r>
                      <a:br>
                        <a:rPr lang="en-US" dirty="0"/>
                      </a:br>
                      <a:endParaRPr lang="en-US" dirty="0"/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Creating two files in a directory</a:t>
                      </a:r>
                      <a:r>
                        <a:rPr lang="ru-RU" dirty="0"/>
                        <a:t>:</a:t>
                      </a:r>
                      <a:br>
                        <a:rPr lang="en-US" dirty="0"/>
                      </a:b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 fd0 = open(“/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dir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/a”, O_RDWR|O_CREAT, S_IRUSR);</a:t>
                      </a:r>
                      <a:b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</a:b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 fd1 = open(“/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dir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/b”, O_RDWR|O_CREAT, S_IRUSR);</a:t>
                      </a:r>
                      <a:endParaRPr lang="ru-RU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There is a time frame when another process can open</a:t>
                      </a:r>
                      <a:r>
                        <a:rPr lang="ru-RU" dirty="0"/>
                        <a:t> 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tmp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/tmp.1b42ac00de</a:t>
                      </a:r>
                      <a:r>
                        <a:rPr lang="ru-RU" dirty="0"/>
                        <a:t> </a:t>
                      </a:r>
                      <a:r>
                        <a:rPr lang="en-US" dirty="0"/>
                        <a:t>by name. Such process will be able steal the data from the temp file</a:t>
                      </a:r>
                      <a:r>
                        <a:rPr lang="ru-RU" dirty="0"/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18009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54150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POSIX file system semantics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910051"/>
              </p:ext>
            </p:extLst>
          </p:nvPr>
        </p:nvGraphicFramePr>
        <p:xfrm>
          <a:off x="0" y="342613"/>
          <a:ext cx="12192000" cy="491473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688292786"/>
                    </a:ext>
                  </a:extLst>
                </a:gridCol>
              </a:tblGrid>
              <a:tr h="434175">
                <a:tc>
                  <a:txBody>
                    <a:bodyPr/>
                    <a:lstStyle/>
                    <a:p>
                      <a:r>
                        <a:rPr lang="en-US" dirty="0"/>
                        <a:t>A file system is a shared resource: concurrent access and races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175">
                <a:tc gridSpan="2">
                  <a:txBody>
                    <a:bodyPr/>
                    <a:lstStyle/>
                    <a:p>
                      <a:r>
                        <a:rPr lang="en-US" dirty="0"/>
                        <a:t>When multiple threads access the same memory region, they need to </a:t>
                      </a:r>
                      <a:r>
                        <a:rPr lang="en-US" dirty="0" err="1"/>
                        <a:t>synchronise</a:t>
                      </a:r>
                      <a:r>
                        <a:rPr lang="en-US" dirty="0"/>
                        <a:t> their access to avoid races.</a:t>
                      </a:r>
                      <a:endParaRPr lang="ru-RU" dirty="0"/>
                    </a:p>
                    <a:p>
                      <a:endParaRPr lang="ru-RU" dirty="0"/>
                    </a:p>
                    <a:p>
                      <a:r>
                        <a:rPr lang="en-US" dirty="0"/>
                        <a:t>What happens when multiple process access the same directory?</a:t>
                      </a:r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8480295"/>
                  </a:ext>
                </a:extLst>
              </a:tr>
              <a:tr h="434175"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Creating a temporary file</a:t>
                      </a:r>
                      <a:r>
                        <a:rPr lang="ru-RU" dirty="0"/>
                        <a:t>:</a:t>
                      </a:r>
                      <a:br>
                        <a:rPr lang="en-US" dirty="0"/>
                      </a:b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fd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open(“/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tmp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/tmp.1b42ac00de”, O_RDWR|O_CREAT, 0);</a:t>
                      </a:r>
                      <a:b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</a:b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unlink(“/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tmp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/tmp.1b42ac00de”);</a:t>
                      </a:r>
                      <a:b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</a:b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... use 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fd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to keep temp data ...</a:t>
                      </a:r>
                      <a:br>
                        <a:rPr lang="en-US" sz="1600" dirty="0"/>
                      </a:br>
                      <a:endParaRPr lang="en-US" sz="1600" dirty="0"/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Reading a symbolic link:</a:t>
                      </a:r>
                      <a:br>
                        <a:rPr lang="en-US" dirty="0"/>
                      </a:b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struct stat 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</a:t>
                      </a:r>
                      <a:b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</a:b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lstat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(“/path/to/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symlink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”, &amp;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);</a:t>
                      </a:r>
                      <a:b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</a:b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char *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buf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malloc(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st.st_size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+ 1);</a:t>
                      </a:r>
                      <a:b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</a:b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readlink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(“/path/to/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symlink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”, 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buf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st.st_size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);</a:t>
                      </a:r>
                      <a:b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</a:b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buf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st.st_size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] = ‘\0’;</a:t>
                      </a:r>
                      <a:br>
                        <a:rPr lang="en-US" dirty="0"/>
                      </a:br>
                      <a:endParaRPr lang="en-US" dirty="0"/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Creating two files in a directory</a:t>
                      </a:r>
                      <a:r>
                        <a:rPr lang="ru-RU" dirty="0"/>
                        <a:t>:</a:t>
                      </a:r>
                      <a:br>
                        <a:rPr lang="en-US" dirty="0"/>
                      </a:b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 fd0 = open(“/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dir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/a”, O_RDWR|O_CREAT, S_IRUSR);</a:t>
                      </a:r>
                      <a:b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</a:b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 fd1 = open(“/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dir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/b”, O_RDWR|O_CREAT, S_IRUSR);</a:t>
                      </a:r>
                      <a:endParaRPr lang="ru-RU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There is a time frame when another process can open</a:t>
                      </a:r>
                      <a:r>
                        <a:rPr lang="ru-RU" dirty="0"/>
                        <a:t> 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tmp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/tmp.1b42ac00de</a:t>
                      </a:r>
                      <a:r>
                        <a:rPr lang="ru-RU" dirty="0"/>
                        <a:t> </a:t>
                      </a:r>
                      <a:r>
                        <a:rPr lang="en-US" dirty="0"/>
                        <a:t>by name. Such process will be able steal the data from the temp file</a:t>
                      </a:r>
                      <a:r>
                        <a:rPr lang="ru-RU" dirty="0"/>
                        <a:t>.</a:t>
                      </a:r>
                      <a:endParaRPr lang="en-US" dirty="0"/>
                    </a:p>
                    <a:p>
                      <a:pPr marL="342900" indent="-342900">
                        <a:buAutoNum type="arabicPeriod"/>
                      </a:pPr>
                      <a:endParaRPr lang="en-US" dirty="0"/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Another process can change the </a:t>
                      </a:r>
                      <a:r>
                        <a:rPr lang="en-US" dirty="0" err="1"/>
                        <a:t>symlink</a:t>
                      </a:r>
                      <a:r>
                        <a:rPr lang="en-US" dirty="0"/>
                        <a:t> value between the calls to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lstat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</a:t>
                      </a:r>
                      <a:r>
                        <a:rPr lang="ru-RU" dirty="0"/>
                        <a:t> </a:t>
                      </a:r>
                      <a:r>
                        <a:rPr lang="en-US" dirty="0"/>
                        <a:t>and</a:t>
                      </a:r>
                      <a:r>
                        <a:rPr lang="ru-RU" dirty="0"/>
                        <a:t>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readlink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</a:t>
                      </a:r>
                      <a:r>
                        <a:rPr lang="en-US" dirty="0"/>
                        <a:t>. See TOCTTOU (time of check to time of use).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18009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40248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198C4-020E-35B3-C734-5E33E4B85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D274CD-FD88-3B1A-3FC6-E3487413C641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POSIX file system semantics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21A8942-F694-5475-6DB6-8A167C6215D8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B5AA5A6-6F9D-8A49-3EE5-45ED162BF202}"/>
              </a:ext>
            </a:extLst>
          </p:cNvPr>
          <p:cNvGraphicFramePr>
            <a:graphicFrameLocks noGrp="1"/>
          </p:cNvGraphicFramePr>
          <p:nvPr/>
        </p:nvGraphicFramePr>
        <p:xfrm>
          <a:off x="0" y="342613"/>
          <a:ext cx="12192000" cy="500617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688292786"/>
                    </a:ext>
                  </a:extLst>
                </a:gridCol>
              </a:tblGrid>
              <a:tr h="434175">
                <a:tc>
                  <a:txBody>
                    <a:bodyPr/>
                    <a:lstStyle/>
                    <a:p>
                      <a:r>
                        <a:rPr lang="en-US" dirty="0"/>
                        <a:t>A file system is a shared resource: concurrent access and races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175">
                <a:tc gridSpan="2">
                  <a:txBody>
                    <a:bodyPr/>
                    <a:lstStyle/>
                    <a:p>
                      <a:r>
                        <a:rPr lang="en-US" dirty="0"/>
                        <a:t>When multiple threads access the same memory region, they need to </a:t>
                      </a:r>
                      <a:r>
                        <a:rPr lang="en-US" dirty="0" err="1"/>
                        <a:t>synchronise</a:t>
                      </a:r>
                      <a:r>
                        <a:rPr lang="en-US" dirty="0"/>
                        <a:t> their access to avoid races.</a:t>
                      </a:r>
                      <a:endParaRPr lang="ru-RU" dirty="0"/>
                    </a:p>
                    <a:p>
                      <a:endParaRPr lang="ru-RU" dirty="0"/>
                    </a:p>
                    <a:p>
                      <a:r>
                        <a:rPr lang="en-US" dirty="0"/>
                        <a:t>What happens when multiple process access the same directory?</a:t>
                      </a:r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8480295"/>
                  </a:ext>
                </a:extLst>
              </a:tr>
              <a:tr h="434175"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Creating a temporary file</a:t>
                      </a:r>
                      <a:r>
                        <a:rPr lang="ru-RU" dirty="0"/>
                        <a:t>:</a:t>
                      </a:r>
                      <a:br>
                        <a:rPr lang="en-US" dirty="0"/>
                      </a:b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fd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open(“/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tmp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/tmp.1b42ac00de”, O_RDWR|O_CREAT, 0);</a:t>
                      </a:r>
                      <a:b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</a:b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unlink(“/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tmp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/tmp.1b42ac00de”);</a:t>
                      </a:r>
                      <a:b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</a:b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... use 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fd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to keep temp data ...</a:t>
                      </a:r>
                      <a:br>
                        <a:rPr lang="en-US" sz="1600" dirty="0"/>
                      </a:br>
                      <a:endParaRPr lang="en-US" sz="1600" dirty="0"/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Reading a symbolic link:</a:t>
                      </a:r>
                      <a:br>
                        <a:rPr lang="en-US" dirty="0"/>
                      </a:b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struct stat 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</a:t>
                      </a:r>
                      <a:b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</a:b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lstat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(“/path/to/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symlink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”, &amp;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);</a:t>
                      </a:r>
                      <a:b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</a:b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char *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buf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malloc(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st.st_size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+ 1);</a:t>
                      </a:r>
                      <a:b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</a:b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readlink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(“/path/to/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symlink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”, 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buf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st.st_size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);</a:t>
                      </a:r>
                      <a:b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</a:b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buf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st.st_size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] = ‘\0’;</a:t>
                      </a:r>
                      <a:br>
                        <a:rPr lang="en-US" dirty="0"/>
                      </a:br>
                      <a:endParaRPr lang="en-US" dirty="0"/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Creating two files in a directory</a:t>
                      </a:r>
                      <a:r>
                        <a:rPr lang="ru-RU" dirty="0"/>
                        <a:t>:</a:t>
                      </a:r>
                      <a:br>
                        <a:rPr lang="en-US" dirty="0"/>
                      </a:b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 fd0 = open(“/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dir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/a”, O_RDWR|O_CREAT, S_IRUSR);</a:t>
                      </a:r>
                      <a:b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</a:b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 fd1 = open(“/</a:t>
                      </a:r>
                      <a:r>
                        <a:rPr lang="en-US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dir</a:t>
                      </a:r>
                      <a:r>
                        <a:rPr lang="en-US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/b”, O_RDWR|O_CREAT, S_IRUSR);</a:t>
                      </a:r>
                      <a:endParaRPr lang="ru-RU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There is a time frame when another process can open</a:t>
                      </a:r>
                      <a:r>
                        <a:rPr lang="ru-RU" dirty="0"/>
                        <a:t> 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tmp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/tmp.1b42ac00de</a:t>
                      </a:r>
                      <a:r>
                        <a:rPr lang="ru-RU" dirty="0"/>
                        <a:t> </a:t>
                      </a:r>
                      <a:r>
                        <a:rPr lang="en-US" dirty="0"/>
                        <a:t>by name. Such process will be able steal the data from the temp file</a:t>
                      </a:r>
                      <a:r>
                        <a:rPr lang="ru-RU" dirty="0"/>
                        <a:t>.</a:t>
                      </a:r>
                      <a:endParaRPr lang="en-US" dirty="0"/>
                    </a:p>
                    <a:p>
                      <a:pPr marL="342900" indent="-342900">
                        <a:buAutoNum type="arabicPeriod"/>
                      </a:pPr>
                      <a:endParaRPr lang="en-US" dirty="0"/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Another process can change the </a:t>
                      </a:r>
                      <a:r>
                        <a:rPr lang="en-US" dirty="0" err="1"/>
                        <a:t>symlink</a:t>
                      </a:r>
                      <a:r>
                        <a:rPr lang="en-US" dirty="0"/>
                        <a:t> value between the calls to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lstat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</a:t>
                      </a:r>
                      <a:r>
                        <a:rPr lang="ru-RU" dirty="0"/>
                        <a:t> </a:t>
                      </a:r>
                      <a:r>
                        <a:rPr lang="en-US" dirty="0"/>
                        <a:t>and</a:t>
                      </a:r>
                      <a:r>
                        <a:rPr lang="ru-RU" dirty="0"/>
                        <a:t>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readlink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</a:t>
                      </a:r>
                      <a:r>
                        <a:rPr lang="en-US" dirty="0"/>
                        <a:t>. See TOCTTOU (time of check to time of use).</a:t>
                      </a:r>
                    </a:p>
                    <a:p>
                      <a:pPr marL="342900" indent="-342900">
                        <a:buAutoNum type="arabicPeriod"/>
                      </a:pPr>
                      <a:endParaRPr lang="en-US" dirty="0"/>
                    </a:p>
                    <a:p>
                      <a:pPr marL="342900" indent="-342900">
                        <a:buAutoNum type="arabicPeriod"/>
                      </a:pPr>
                      <a:endParaRPr lang="en-US" dirty="0"/>
                    </a:p>
                    <a:p>
                      <a:pPr marL="342900" indent="-342900">
                        <a:buAutoNum type="arabicPeriod"/>
                      </a:pPr>
                      <a:endParaRPr lang="en-US" dirty="0"/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In the time frame between two 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open()</a:t>
                      </a:r>
                      <a:r>
                        <a:rPr lang="en-US" dirty="0"/>
                        <a:t>s another process can rename 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dir</a:t>
                      </a:r>
                      <a:r>
                        <a:rPr lang="en-US" dirty="0"/>
                        <a:t> and then create a different directory with the same name.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18009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46258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POSIX file system semantics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556230"/>
              </p:ext>
            </p:extLst>
          </p:nvPr>
        </p:nvGraphicFramePr>
        <p:xfrm>
          <a:off x="0" y="342613"/>
          <a:ext cx="12192000" cy="189721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688292786"/>
                    </a:ext>
                  </a:extLst>
                </a:gridCol>
              </a:tblGrid>
              <a:tr h="434175">
                <a:tc>
                  <a:txBody>
                    <a:bodyPr/>
                    <a:lstStyle/>
                    <a:p>
                      <a:r>
                        <a:rPr lang="en-US" dirty="0"/>
                        <a:t>A file system is a shared resource: concurrent access and races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175">
                <a:tc gridSpan="2">
                  <a:txBody>
                    <a:bodyPr/>
                    <a:lstStyle/>
                    <a:p>
                      <a:r>
                        <a:rPr lang="en-US" dirty="0"/>
                        <a:t>One of the solutions: run applications in containers:</a:t>
                      </a:r>
                      <a:endParaRPr lang="ru-RU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If processes A and B each have their ”private” 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tmp</a:t>
                      </a:r>
                      <a:r>
                        <a:rPr lang="en-US" dirty="0"/>
                        <a:t> directory, then they cannot access files of each other by construction</a:t>
                      </a:r>
                      <a:r>
                        <a:rPr lang="ru-RU" dirty="0"/>
                        <a:t>.</a:t>
                      </a: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84802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67806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POSIX file system semantics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6959044"/>
              </p:ext>
            </p:extLst>
          </p:nvPr>
        </p:nvGraphicFramePr>
        <p:xfrm>
          <a:off x="0" y="342613"/>
          <a:ext cx="12192000" cy="189721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688292786"/>
                    </a:ext>
                  </a:extLst>
                </a:gridCol>
              </a:tblGrid>
              <a:tr h="434175">
                <a:tc>
                  <a:txBody>
                    <a:bodyPr/>
                    <a:lstStyle/>
                    <a:p>
                      <a:r>
                        <a:rPr lang="en-US" dirty="0"/>
                        <a:t>A file system is a shared resource: concurrent access and races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175">
                <a:tc gridSpan="2">
                  <a:txBody>
                    <a:bodyPr/>
                    <a:lstStyle/>
                    <a:p>
                      <a:r>
                        <a:rPr lang="en-US" dirty="0"/>
                        <a:t>One of the solutions: run applications in containers:</a:t>
                      </a:r>
                      <a:endParaRPr lang="ru-RU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If processes A and B each have their ”private” 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tmp</a:t>
                      </a:r>
                      <a:r>
                        <a:rPr lang="en-US" dirty="0"/>
                        <a:t> directory, then they cannot access files of each other by construction</a:t>
                      </a:r>
                      <a:r>
                        <a:rPr lang="ru-RU" dirty="0"/>
                        <a:t>.</a:t>
                      </a: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Linux has</a:t>
                      </a:r>
                      <a:r>
                        <a:rPr lang="ru-RU" dirty="0"/>
                        <a:t> </a:t>
                      </a:r>
                      <a:r>
                        <a:rPr lang="en-US" dirty="0"/>
                        <a:t>“</a:t>
                      </a:r>
                      <a:r>
                        <a:rPr lang="en-US" b="1" dirty="0"/>
                        <a:t>filesystem namespaces</a:t>
                      </a:r>
                      <a:r>
                        <a:rPr lang="en-US" dirty="0"/>
                        <a:t>” which are collections of mount points. Mount points of a FS namespace are visible only to processes that run in that specific FS namespace.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In two different FS namespaces the path 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tmp</a:t>
                      </a:r>
                      <a:r>
                        <a:rPr lang="en-US" dirty="0"/>
                        <a:t> may refer to two different </a:t>
                      </a:r>
                      <a:r>
                        <a:rPr lang="en-US" dirty="0" err="1"/>
                        <a:t>tmpfs</a:t>
                      </a:r>
                      <a:r>
                        <a:rPr lang="en-US" dirty="0"/>
                        <a:t> instances.</a:t>
                      </a:r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84802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78986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POSIX file system semantics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282816"/>
              </p:ext>
            </p:extLst>
          </p:nvPr>
        </p:nvGraphicFramePr>
        <p:xfrm>
          <a:off x="0" y="342613"/>
          <a:ext cx="12192000" cy="308593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688292786"/>
                    </a:ext>
                  </a:extLst>
                </a:gridCol>
              </a:tblGrid>
              <a:tr h="434175">
                <a:tc>
                  <a:txBody>
                    <a:bodyPr/>
                    <a:lstStyle/>
                    <a:p>
                      <a:r>
                        <a:rPr lang="en-US" dirty="0"/>
                        <a:t>A file system is a shared resource: concurrent access and races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175">
                <a:tc gridSpan="2">
                  <a:txBody>
                    <a:bodyPr/>
                    <a:lstStyle/>
                    <a:p>
                      <a:r>
                        <a:rPr lang="en-US" dirty="0"/>
                        <a:t>One of the solutions: run applications in containers:</a:t>
                      </a:r>
                      <a:endParaRPr lang="ru-RU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If processes A and B each have their ”private” 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tmp</a:t>
                      </a:r>
                      <a:r>
                        <a:rPr lang="en-US" dirty="0"/>
                        <a:t> directory, then they cannot access files of each other by construction</a:t>
                      </a:r>
                      <a:r>
                        <a:rPr lang="ru-RU" dirty="0"/>
                        <a:t>.</a:t>
                      </a: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Linux has</a:t>
                      </a:r>
                      <a:r>
                        <a:rPr lang="ru-RU" dirty="0"/>
                        <a:t> </a:t>
                      </a:r>
                      <a:r>
                        <a:rPr lang="en-US" dirty="0"/>
                        <a:t>“</a:t>
                      </a:r>
                      <a:r>
                        <a:rPr lang="en-US" b="1" dirty="0"/>
                        <a:t>filesystem namespaces</a:t>
                      </a:r>
                      <a:r>
                        <a:rPr lang="en-US" dirty="0"/>
                        <a:t>” which are collections of mount points. Mount points of a FS namespace are visible only to processes that run in that specific FS namespace.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In different FS namespaces the path 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tmp</a:t>
                      </a:r>
                      <a:r>
                        <a:rPr lang="en-US" dirty="0"/>
                        <a:t> may refer to different </a:t>
                      </a:r>
                      <a:r>
                        <a:rPr lang="en-US" dirty="0" err="1"/>
                        <a:t>tmpfs</a:t>
                      </a:r>
                      <a:r>
                        <a:rPr lang="en-US" dirty="0"/>
                        <a:t> instances.</a:t>
                      </a:r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8480295"/>
                  </a:ext>
                </a:extLst>
              </a:tr>
              <a:tr h="434175">
                <a:tc gridSpan="2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See also: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Pid</a:t>
                      </a:r>
                      <a:r>
                        <a:rPr lang="en-US" dirty="0"/>
                        <a:t> namespaces,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Network namespaces,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User namespaces.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8348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605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POSIX file system semantics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9052910"/>
              </p:ext>
            </p:extLst>
          </p:nvPr>
        </p:nvGraphicFramePr>
        <p:xfrm>
          <a:off x="0" y="342613"/>
          <a:ext cx="12192000" cy="445753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688292786"/>
                    </a:ext>
                  </a:extLst>
                </a:gridCol>
              </a:tblGrid>
              <a:tr h="434175">
                <a:tc>
                  <a:txBody>
                    <a:bodyPr/>
                    <a:lstStyle/>
                    <a:p>
                      <a:r>
                        <a:rPr lang="en-US" dirty="0"/>
                        <a:t>A file system is a shared resource: concurrent access and races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175">
                <a:tc gridSpan="2">
                  <a:txBody>
                    <a:bodyPr/>
                    <a:lstStyle/>
                    <a:p>
                      <a:r>
                        <a:rPr lang="en-US" dirty="0"/>
                        <a:t>One of the solutions: run applications in containers:</a:t>
                      </a:r>
                      <a:endParaRPr lang="ru-RU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If processes A and B each have their ”private” 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tmp</a:t>
                      </a:r>
                      <a:r>
                        <a:rPr lang="en-US" dirty="0"/>
                        <a:t> directory, then they cannot access files of each other by construction</a:t>
                      </a:r>
                      <a:r>
                        <a:rPr lang="ru-RU" dirty="0"/>
                        <a:t>.</a:t>
                      </a: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Linux has</a:t>
                      </a:r>
                      <a:r>
                        <a:rPr lang="ru-RU" dirty="0"/>
                        <a:t> </a:t>
                      </a:r>
                      <a:r>
                        <a:rPr lang="en-US" dirty="0"/>
                        <a:t>“</a:t>
                      </a:r>
                      <a:r>
                        <a:rPr lang="en-US" b="1" dirty="0"/>
                        <a:t>filesystem namespaces</a:t>
                      </a:r>
                      <a:r>
                        <a:rPr lang="en-US" dirty="0"/>
                        <a:t>” which are collections of mount points. Mount points of a FS namespace are visible only to processes that run in that specific FS namespace.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In different FS namespaces the path 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tmp</a:t>
                      </a:r>
                      <a:r>
                        <a:rPr lang="en-US" dirty="0"/>
                        <a:t> may refer to different </a:t>
                      </a:r>
                      <a:r>
                        <a:rPr lang="en-US" dirty="0" err="1"/>
                        <a:t>tmpfs</a:t>
                      </a:r>
                      <a:r>
                        <a:rPr lang="en-US" dirty="0"/>
                        <a:t> instances.</a:t>
                      </a:r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8480295"/>
                  </a:ext>
                </a:extLst>
              </a:tr>
              <a:tr h="434175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How to populate a FS namespace?</a:t>
                      </a:r>
                      <a:endParaRPr lang="ru-RU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One can start with an empty directory that will become the root of the FS namespace</a:t>
                      </a:r>
                      <a:r>
                        <a:rPr lang="ru-RU" dirty="0"/>
                        <a:t>,</a:t>
                      </a: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Populate that directory (e.g. with </a:t>
                      </a:r>
                      <a:r>
                        <a:rPr lang="en-US" dirty="0" err="1"/>
                        <a:t>untar</a:t>
                      </a:r>
                      <a:r>
                        <a:rPr lang="en-US" dirty="0"/>
                        <a:t>),</a:t>
                      </a:r>
                      <a:endParaRPr lang="ru-RU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Add read-only images of directories with standard binaries and libraries like 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usr</a:t>
                      </a:r>
                      <a:r>
                        <a:rPr lang="en-US" dirty="0"/>
                        <a:t> and 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/lib</a:t>
                      </a:r>
                      <a:r>
                        <a:rPr lang="en-US" dirty="0"/>
                        <a:t>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Add instances of 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tmp</a:t>
                      </a:r>
                      <a:r>
                        <a:rPr lang="en-US" dirty="0"/>
                        <a:t> and 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/proc</a:t>
                      </a:r>
                      <a:r>
                        <a:rPr lang="en-US" dirty="0"/>
                        <a:t> private to the container</a:t>
                      </a:r>
                      <a:r>
                        <a:rPr lang="ru-RU" dirty="0"/>
                        <a:t>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Add directories with the data of an application that runs in the container</a:t>
                      </a:r>
                      <a:r>
                        <a:rPr lang="ru-RU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8348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01235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POSIX file system semantics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5397405"/>
              </p:ext>
            </p:extLst>
          </p:nvPr>
        </p:nvGraphicFramePr>
        <p:xfrm>
          <a:off x="0" y="342613"/>
          <a:ext cx="12192000" cy="445753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688292786"/>
                    </a:ext>
                  </a:extLst>
                </a:gridCol>
              </a:tblGrid>
              <a:tr h="434175">
                <a:tc>
                  <a:txBody>
                    <a:bodyPr/>
                    <a:lstStyle/>
                    <a:p>
                      <a:r>
                        <a:rPr lang="en-US" dirty="0"/>
                        <a:t>A file system is a shared resource: concurrent access and races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175">
                <a:tc gridSpan="2">
                  <a:txBody>
                    <a:bodyPr/>
                    <a:lstStyle/>
                    <a:p>
                      <a:r>
                        <a:rPr lang="en-US" dirty="0"/>
                        <a:t>One of the solutions: run applications in containers:</a:t>
                      </a:r>
                      <a:endParaRPr lang="ru-RU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If processes A and B each have their ”private” 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tmp</a:t>
                      </a:r>
                      <a:r>
                        <a:rPr lang="en-US" dirty="0"/>
                        <a:t> directory, then they cannot access files of each other by construction</a:t>
                      </a:r>
                      <a:r>
                        <a:rPr lang="ru-RU" dirty="0"/>
                        <a:t>.</a:t>
                      </a: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Linux has</a:t>
                      </a:r>
                      <a:r>
                        <a:rPr lang="ru-RU" dirty="0"/>
                        <a:t> </a:t>
                      </a:r>
                      <a:r>
                        <a:rPr lang="en-US" dirty="0"/>
                        <a:t>“</a:t>
                      </a:r>
                      <a:r>
                        <a:rPr lang="en-US" b="1" dirty="0"/>
                        <a:t>filesystem namespaces</a:t>
                      </a:r>
                      <a:r>
                        <a:rPr lang="en-US" dirty="0"/>
                        <a:t>” which are collections of mount points. Mount points of a FS namespace are visible only to processes that run in that specific FS namespace.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In different FS namespaces the path 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tmp</a:t>
                      </a:r>
                      <a:r>
                        <a:rPr lang="en-US" dirty="0"/>
                        <a:t> may refer to different </a:t>
                      </a:r>
                      <a:r>
                        <a:rPr lang="en-US" dirty="0" err="1"/>
                        <a:t>tmpfs</a:t>
                      </a:r>
                      <a:r>
                        <a:rPr lang="en-US" dirty="0"/>
                        <a:t> instances.</a:t>
                      </a:r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8480295"/>
                  </a:ext>
                </a:extLst>
              </a:tr>
              <a:tr h="434175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How to populate a FS namespace?</a:t>
                      </a:r>
                      <a:endParaRPr lang="ru-RU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One can start with an empty directory that will become the root of the FS namespace</a:t>
                      </a:r>
                      <a:r>
                        <a:rPr lang="ru-RU" dirty="0"/>
                        <a:t>,</a:t>
                      </a:r>
                      <a:endParaRPr lang="en-US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Populate that directory (e.g. with </a:t>
                      </a:r>
                      <a:r>
                        <a:rPr lang="en-US" dirty="0" err="1"/>
                        <a:t>untar</a:t>
                      </a:r>
                      <a:r>
                        <a:rPr lang="en-US" dirty="0"/>
                        <a:t>),</a:t>
                      </a:r>
                      <a:endParaRPr lang="ru-RU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Add read-only images of directories with standard binaries and libraries like 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usr</a:t>
                      </a:r>
                      <a:r>
                        <a:rPr lang="en-US" dirty="0"/>
                        <a:t> and 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/lib</a:t>
                      </a:r>
                      <a:r>
                        <a:rPr lang="en-US" dirty="0"/>
                        <a:t>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Add instances of 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tmp</a:t>
                      </a:r>
                      <a:r>
                        <a:rPr lang="en-US" dirty="0"/>
                        <a:t> and 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/proc</a:t>
                      </a:r>
                      <a:r>
                        <a:rPr lang="en-US" dirty="0"/>
                        <a:t> private to the container</a:t>
                      </a:r>
                      <a:r>
                        <a:rPr lang="ru-RU" dirty="0"/>
                        <a:t>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Add directories with the data of an application that runs in the container</a:t>
                      </a:r>
                      <a:r>
                        <a:rPr lang="ru-RU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see also: bind mounts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see also: Kubernetes persistent volumes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8348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0445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POSIX file system semantics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6117088"/>
              </p:ext>
            </p:extLst>
          </p:nvPr>
        </p:nvGraphicFramePr>
        <p:xfrm>
          <a:off x="0" y="342613"/>
          <a:ext cx="12192000" cy="592057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4175">
                <a:tc>
                  <a:txBody>
                    <a:bodyPr/>
                    <a:lstStyle/>
                    <a:p>
                      <a:r>
                        <a:rPr lang="en-US" dirty="0"/>
                        <a:t>Bind mounts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1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Bind mounts are a Linux-specific extension to mount points. When a path traversal descends into a mount point M, it jumps to the root of a file system mounted at M. When descending into a bind mount point M’, a path traversal jumps into an arbitrary directory that is the destination of a bind mount.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8480295"/>
                  </a:ext>
                </a:extLst>
              </a:tr>
              <a:tr h="4341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03778"/>
                  </a:ext>
                </a:extLst>
              </a:tr>
              <a:tr h="434175">
                <a:tc>
                  <a:txBody>
                    <a:bodyPr/>
                    <a:lstStyle/>
                    <a:p>
                      <a:r>
                        <a:rPr lang="en-US" dirty="0"/>
                        <a:t>Bind mounts add a huge number of edge cases:</a:t>
                      </a:r>
                      <a:endParaRPr lang="ru-RU" baseline="0" dirty="0"/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aseline="0" dirty="0"/>
                        <a:t>one can bind-mount files,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dirty="0">
                          <a:hlinkClick r:id="rId3"/>
                        </a:rPr>
                        <a:t>http://lwn.net/Articles/689856/</a:t>
                      </a:r>
                      <a:r>
                        <a:rPr lang="en-US" dirty="0"/>
                        <a:t> 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730745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F193E90-811C-0D78-1F87-F16F218FA92D}"/>
              </a:ext>
            </a:extLst>
          </p:cNvPr>
          <p:cNvSpPr txBox="1"/>
          <p:nvPr/>
        </p:nvSpPr>
        <p:spPr>
          <a:xfrm>
            <a:off x="2835331" y="1758866"/>
            <a:ext cx="4588115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Menlo" charset="0"/>
                <a:ea typeface="Menlo" charset="0"/>
                <a:cs typeface="Menlo" charset="0"/>
              </a:rPr>
              <a:t>$ ls -</a:t>
            </a:r>
            <a:r>
              <a:rPr lang="en-US" sz="1400" dirty="0" err="1">
                <a:latin typeface="Menlo" charset="0"/>
                <a:ea typeface="Menlo" charset="0"/>
                <a:cs typeface="Menlo" charset="0"/>
              </a:rPr>
              <a:t>lh</a:t>
            </a:r>
            <a:r>
              <a:rPr lang="en-US" sz="1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1400" dirty="0" err="1">
                <a:latin typeface="Menlo" charset="0"/>
                <a:ea typeface="Menlo" charset="0"/>
                <a:cs typeface="Menlo" charset="0"/>
              </a:rPr>
              <a:t>src</a:t>
            </a:r>
            <a:r>
              <a:rPr lang="en-US" sz="1400" dirty="0">
                <a:latin typeface="Menlo" charset="0"/>
                <a:ea typeface="Menlo" charset="0"/>
                <a:cs typeface="Menlo" charset="0"/>
              </a:rPr>
              <a:t>/</a:t>
            </a:r>
          </a:p>
          <a:p>
            <a:r>
              <a:rPr lang="en-US" sz="1400" dirty="0">
                <a:latin typeface="Menlo" charset="0"/>
                <a:ea typeface="Menlo" charset="0"/>
                <a:cs typeface="Menlo" charset="0"/>
              </a:rPr>
              <a:t>total 0</a:t>
            </a:r>
          </a:p>
          <a:p>
            <a:r>
              <a:rPr lang="en-US" sz="1400" dirty="0">
                <a:latin typeface="Menlo" charset="0"/>
                <a:ea typeface="Menlo" charset="0"/>
                <a:cs typeface="Menlo" charset="0"/>
              </a:rPr>
              <a:t>-</a:t>
            </a:r>
            <a:r>
              <a:rPr lang="en-US" sz="1400" dirty="0" err="1">
                <a:latin typeface="Menlo" charset="0"/>
                <a:ea typeface="Menlo" charset="0"/>
                <a:cs typeface="Menlo" charset="0"/>
              </a:rPr>
              <a:t>rw</a:t>
            </a:r>
            <a:r>
              <a:rPr lang="en-US" sz="1400" dirty="0">
                <a:latin typeface="Menlo" charset="0"/>
                <a:ea typeface="Menlo" charset="0"/>
                <a:cs typeface="Menlo" charset="0"/>
              </a:rPr>
              <a:t>-r--r-- 1 </a:t>
            </a:r>
            <a:r>
              <a:rPr lang="en-US" sz="1400" dirty="0" err="1">
                <a:latin typeface="Menlo" charset="0"/>
                <a:ea typeface="Menlo" charset="0"/>
                <a:cs typeface="Menlo" charset="0"/>
              </a:rPr>
              <a:t>artem</a:t>
            </a:r>
            <a:r>
              <a:rPr lang="en-US" sz="1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1400" dirty="0" err="1">
                <a:latin typeface="Menlo" charset="0"/>
                <a:ea typeface="Menlo" charset="0"/>
                <a:cs typeface="Menlo" charset="0"/>
              </a:rPr>
              <a:t>artem</a:t>
            </a:r>
            <a:r>
              <a:rPr lang="en-US" sz="1400" dirty="0">
                <a:latin typeface="Menlo" charset="0"/>
                <a:ea typeface="Menlo" charset="0"/>
                <a:cs typeface="Menlo" charset="0"/>
              </a:rPr>
              <a:t> 0 Oct  2 00:29 0</a:t>
            </a:r>
          </a:p>
          <a:p>
            <a:r>
              <a:rPr lang="en-US" sz="1400" dirty="0">
                <a:latin typeface="Menlo" charset="0"/>
                <a:ea typeface="Menlo" charset="0"/>
                <a:cs typeface="Menlo" charset="0"/>
              </a:rPr>
              <a:t>-</a:t>
            </a:r>
            <a:r>
              <a:rPr lang="en-US" sz="1400" dirty="0" err="1">
                <a:latin typeface="Menlo" charset="0"/>
                <a:ea typeface="Menlo" charset="0"/>
                <a:cs typeface="Menlo" charset="0"/>
              </a:rPr>
              <a:t>rw</a:t>
            </a:r>
            <a:r>
              <a:rPr lang="en-US" sz="1400" dirty="0">
                <a:latin typeface="Menlo" charset="0"/>
                <a:ea typeface="Menlo" charset="0"/>
                <a:cs typeface="Menlo" charset="0"/>
              </a:rPr>
              <a:t>-r--r-- 1 </a:t>
            </a:r>
            <a:r>
              <a:rPr lang="en-US" sz="1400" dirty="0" err="1">
                <a:latin typeface="Menlo" charset="0"/>
                <a:ea typeface="Menlo" charset="0"/>
                <a:cs typeface="Menlo" charset="0"/>
              </a:rPr>
              <a:t>artem</a:t>
            </a:r>
            <a:r>
              <a:rPr lang="en-US" sz="1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1400" dirty="0" err="1">
                <a:latin typeface="Menlo" charset="0"/>
                <a:ea typeface="Menlo" charset="0"/>
                <a:cs typeface="Menlo" charset="0"/>
              </a:rPr>
              <a:t>artem</a:t>
            </a:r>
            <a:r>
              <a:rPr lang="en-US" sz="1400" dirty="0">
                <a:latin typeface="Menlo" charset="0"/>
                <a:ea typeface="Menlo" charset="0"/>
                <a:cs typeface="Menlo" charset="0"/>
              </a:rPr>
              <a:t> 0 Oct  2 00:29 1</a:t>
            </a:r>
          </a:p>
          <a:p>
            <a:r>
              <a:rPr lang="en-US" sz="1400" dirty="0">
                <a:latin typeface="Menlo" charset="0"/>
                <a:ea typeface="Menlo" charset="0"/>
                <a:cs typeface="Menlo" charset="0"/>
              </a:rPr>
              <a:t>-</a:t>
            </a:r>
            <a:r>
              <a:rPr lang="en-US" sz="1400" dirty="0" err="1">
                <a:latin typeface="Menlo" charset="0"/>
                <a:ea typeface="Menlo" charset="0"/>
                <a:cs typeface="Menlo" charset="0"/>
              </a:rPr>
              <a:t>rw</a:t>
            </a:r>
            <a:r>
              <a:rPr lang="en-US" sz="1400" dirty="0">
                <a:latin typeface="Menlo" charset="0"/>
                <a:ea typeface="Menlo" charset="0"/>
                <a:cs typeface="Menlo" charset="0"/>
              </a:rPr>
              <a:t>-r--r-- 1 </a:t>
            </a:r>
            <a:r>
              <a:rPr lang="en-US" sz="1400" dirty="0" err="1">
                <a:latin typeface="Menlo" charset="0"/>
                <a:ea typeface="Menlo" charset="0"/>
                <a:cs typeface="Menlo" charset="0"/>
              </a:rPr>
              <a:t>artem</a:t>
            </a:r>
            <a:r>
              <a:rPr lang="en-US" sz="1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1400" dirty="0" err="1">
                <a:latin typeface="Menlo" charset="0"/>
                <a:ea typeface="Menlo" charset="0"/>
                <a:cs typeface="Menlo" charset="0"/>
              </a:rPr>
              <a:t>artem</a:t>
            </a:r>
            <a:r>
              <a:rPr lang="en-US" sz="1400" dirty="0">
                <a:latin typeface="Menlo" charset="0"/>
                <a:ea typeface="Menlo" charset="0"/>
                <a:cs typeface="Menlo" charset="0"/>
              </a:rPr>
              <a:t> 0 Oct  2 00:29 2</a:t>
            </a:r>
          </a:p>
          <a:p>
            <a:endParaRPr lang="en-US" sz="1400" dirty="0">
              <a:latin typeface="Menlo" charset="0"/>
              <a:ea typeface="Menlo" charset="0"/>
              <a:cs typeface="Menlo" charset="0"/>
            </a:endParaRPr>
          </a:p>
          <a:p>
            <a:r>
              <a:rPr lang="en-US" sz="1400" dirty="0">
                <a:latin typeface="Menlo" charset="0"/>
                <a:ea typeface="Menlo" charset="0"/>
                <a:cs typeface="Menlo" charset="0"/>
              </a:rPr>
              <a:t>$ ls -</a:t>
            </a:r>
            <a:r>
              <a:rPr lang="en-US" sz="1400" dirty="0" err="1">
                <a:latin typeface="Menlo" charset="0"/>
                <a:ea typeface="Menlo" charset="0"/>
                <a:cs typeface="Menlo" charset="0"/>
              </a:rPr>
              <a:t>lh</a:t>
            </a:r>
            <a:r>
              <a:rPr lang="en-US" sz="1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1400" dirty="0" err="1">
                <a:latin typeface="Menlo" charset="0"/>
                <a:ea typeface="Menlo" charset="0"/>
                <a:cs typeface="Menlo" charset="0"/>
              </a:rPr>
              <a:t>dst</a:t>
            </a:r>
            <a:r>
              <a:rPr lang="en-US" sz="1400" dirty="0">
                <a:latin typeface="Menlo" charset="0"/>
                <a:ea typeface="Menlo" charset="0"/>
                <a:cs typeface="Menlo" charset="0"/>
              </a:rPr>
              <a:t>/</a:t>
            </a:r>
          </a:p>
          <a:p>
            <a:r>
              <a:rPr lang="en-US" sz="1400" dirty="0">
                <a:latin typeface="Menlo" charset="0"/>
                <a:ea typeface="Menlo" charset="0"/>
                <a:cs typeface="Menlo" charset="0"/>
              </a:rPr>
              <a:t>total 0</a:t>
            </a:r>
          </a:p>
          <a:p>
            <a:endParaRPr lang="en-US" sz="1400" dirty="0">
              <a:latin typeface="Menlo" charset="0"/>
              <a:ea typeface="Menlo" charset="0"/>
              <a:cs typeface="Menlo" charset="0"/>
            </a:endParaRPr>
          </a:p>
          <a:p>
            <a:r>
              <a:rPr lang="en-US" sz="1400" dirty="0">
                <a:latin typeface="Menlo" charset="0"/>
                <a:ea typeface="Menlo" charset="0"/>
                <a:cs typeface="Menlo" charset="0"/>
              </a:rPr>
              <a:t>$ mount --bind </a:t>
            </a:r>
            <a:r>
              <a:rPr lang="en-US" sz="1400" dirty="0" err="1">
                <a:latin typeface="Menlo" charset="0"/>
                <a:ea typeface="Menlo" charset="0"/>
                <a:cs typeface="Menlo" charset="0"/>
              </a:rPr>
              <a:t>src</a:t>
            </a:r>
            <a:r>
              <a:rPr lang="en-US" sz="1400" dirty="0">
                <a:latin typeface="Menlo" charset="0"/>
                <a:ea typeface="Menlo" charset="0"/>
                <a:cs typeface="Menlo" charset="0"/>
              </a:rPr>
              <a:t>/ </a:t>
            </a:r>
            <a:r>
              <a:rPr lang="en-US" sz="1400" dirty="0" err="1">
                <a:latin typeface="Menlo" charset="0"/>
                <a:ea typeface="Menlo" charset="0"/>
                <a:cs typeface="Menlo" charset="0"/>
              </a:rPr>
              <a:t>dst</a:t>
            </a:r>
            <a:r>
              <a:rPr lang="en-US" sz="1400" dirty="0">
                <a:latin typeface="Menlo" charset="0"/>
                <a:ea typeface="Menlo" charset="0"/>
                <a:cs typeface="Menlo" charset="0"/>
              </a:rPr>
              <a:t>/</a:t>
            </a:r>
          </a:p>
          <a:p>
            <a:endParaRPr lang="en-US" sz="1400" dirty="0">
              <a:latin typeface="Menlo" charset="0"/>
              <a:ea typeface="Menlo" charset="0"/>
              <a:cs typeface="Menlo" charset="0"/>
            </a:endParaRPr>
          </a:p>
          <a:p>
            <a:r>
              <a:rPr lang="en-US" sz="1400" dirty="0">
                <a:latin typeface="Menlo" charset="0"/>
                <a:ea typeface="Menlo" charset="0"/>
                <a:cs typeface="Menlo" charset="0"/>
              </a:rPr>
              <a:t>$ ls -</a:t>
            </a:r>
            <a:r>
              <a:rPr lang="en-US" sz="1400" dirty="0" err="1">
                <a:latin typeface="Menlo" charset="0"/>
                <a:ea typeface="Menlo" charset="0"/>
                <a:cs typeface="Menlo" charset="0"/>
              </a:rPr>
              <a:t>lh</a:t>
            </a:r>
            <a:r>
              <a:rPr lang="en-US" sz="1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1400" dirty="0" err="1">
                <a:latin typeface="Menlo" charset="0"/>
                <a:ea typeface="Menlo" charset="0"/>
                <a:cs typeface="Menlo" charset="0"/>
              </a:rPr>
              <a:t>dst</a:t>
            </a:r>
            <a:r>
              <a:rPr lang="en-US" sz="1400" dirty="0">
                <a:latin typeface="Menlo" charset="0"/>
                <a:ea typeface="Menlo" charset="0"/>
                <a:cs typeface="Menlo" charset="0"/>
              </a:rPr>
              <a:t>/</a:t>
            </a:r>
          </a:p>
          <a:p>
            <a:r>
              <a:rPr lang="en-US" sz="1400" dirty="0">
                <a:latin typeface="Menlo" charset="0"/>
                <a:ea typeface="Menlo" charset="0"/>
                <a:cs typeface="Menlo" charset="0"/>
              </a:rPr>
              <a:t>total 0</a:t>
            </a:r>
          </a:p>
          <a:p>
            <a:r>
              <a:rPr lang="en-US" sz="1400" dirty="0">
                <a:latin typeface="Menlo" charset="0"/>
                <a:ea typeface="Menlo" charset="0"/>
                <a:cs typeface="Menlo" charset="0"/>
              </a:rPr>
              <a:t>-</a:t>
            </a:r>
            <a:r>
              <a:rPr lang="en-US" sz="1400" dirty="0" err="1">
                <a:latin typeface="Menlo" charset="0"/>
                <a:ea typeface="Menlo" charset="0"/>
                <a:cs typeface="Menlo" charset="0"/>
              </a:rPr>
              <a:t>rw</a:t>
            </a:r>
            <a:r>
              <a:rPr lang="en-US" sz="1400" dirty="0">
                <a:latin typeface="Menlo" charset="0"/>
                <a:ea typeface="Menlo" charset="0"/>
                <a:cs typeface="Menlo" charset="0"/>
              </a:rPr>
              <a:t>-r--r-- 1 </a:t>
            </a:r>
            <a:r>
              <a:rPr lang="en-US" sz="1400" dirty="0" err="1">
                <a:latin typeface="Menlo" charset="0"/>
                <a:ea typeface="Menlo" charset="0"/>
                <a:cs typeface="Menlo" charset="0"/>
              </a:rPr>
              <a:t>artem</a:t>
            </a:r>
            <a:r>
              <a:rPr lang="en-US" sz="1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1400" dirty="0" err="1">
                <a:latin typeface="Menlo" charset="0"/>
                <a:ea typeface="Menlo" charset="0"/>
                <a:cs typeface="Menlo" charset="0"/>
              </a:rPr>
              <a:t>artem</a:t>
            </a:r>
            <a:r>
              <a:rPr lang="en-US" sz="1400" dirty="0">
                <a:latin typeface="Menlo" charset="0"/>
                <a:ea typeface="Menlo" charset="0"/>
                <a:cs typeface="Menlo" charset="0"/>
              </a:rPr>
              <a:t> 0 Oct  2 00:29 0</a:t>
            </a:r>
          </a:p>
          <a:p>
            <a:r>
              <a:rPr lang="en-US" sz="1400" dirty="0">
                <a:latin typeface="Menlo" charset="0"/>
                <a:ea typeface="Menlo" charset="0"/>
                <a:cs typeface="Menlo" charset="0"/>
              </a:rPr>
              <a:t>-</a:t>
            </a:r>
            <a:r>
              <a:rPr lang="en-US" sz="1400" dirty="0" err="1">
                <a:latin typeface="Menlo" charset="0"/>
                <a:ea typeface="Menlo" charset="0"/>
                <a:cs typeface="Menlo" charset="0"/>
              </a:rPr>
              <a:t>rw</a:t>
            </a:r>
            <a:r>
              <a:rPr lang="en-US" sz="1400" dirty="0">
                <a:latin typeface="Menlo" charset="0"/>
                <a:ea typeface="Menlo" charset="0"/>
                <a:cs typeface="Menlo" charset="0"/>
              </a:rPr>
              <a:t>-r--r-- 1 </a:t>
            </a:r>
            <a:r>
              <a:rPr lang="en-US" sz="1400" dirty="0" err="1">
                <a:latin typeface="Menlo" charset="0"/>
                <a:ea typeface="Menlo" charset="0"/>
                <a:cs typeface="Menlo" charset="0"/>
              </a:rPr>
              <a:t>artem</a:t>
            </a:r>
            <a:r>
              <a:rPr lang="en-US" sz="14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1400" dirty="0" err="1">
                <a:latin typeface="Menlo" charset="0"/>
                <a:ea typeface="Menlo" charset="0"/>
                <a:cs typeface="Menlo" charset="0"/>
              </a:rPr>
              <a:t>artem</a:t>
            </a:r>
            <a:r>
              <a:rPr lang="en-US" sz="1400" dirty="0">
                <a:latin typeface="Menlo" charset="0"/>
                <a:ea typeface="Menlo" charset="0"/>
                <a:cs typeface="Menlo" charset="0"/>
              </a:rPr>
              <a:t> 0 Oct  2 00:29 1</a:t>
            </a:r>
          </a:p>
          <a:p>
            <a:r>
              <a:rPr lang="en-US" sz="1400" dirty="0">
                <a:latin typeface="Menlo" charset="0"/>
                <a:ea typeface="Menlo" charset="0"/>
                <a:cs typeface="Menlo" charset="0"/>
              </a:rPr>
              <a:t>-</a:t>
            </a:r>
            <a:r>
              <a:rPr lang="en-US" sz="1400" dirty="0" err="1">
                <a:latin typeface="Menlo" charset="0"/>
                <a:ea typeface="Menlo" charset="0"/>
                <a:cs typeface="Menlo" charset="0"/>
              </a:rPr>
              <a:t>rw</a:t>
            </a:r>
            <a:r>
              <a:rPr lang="en-US" sz="1400" dirty="0">
                <a:latin typeface="Menlo" charset="0"/>
                <a:ea typeface="Menlo" charset="0"/>
                <a:cs typeface="Menlo" charset="0"/>
              </a:rPr>
              <a:t>-r--r-- 1 artem artem 0 Oct  2 00:29 2</a:t>
            </a:r>
          </a:p>
        </p:txBody>
      </p:sp>
    </p:spTree>
    <p:extLst>
      <p:ext uri="{BB962C8B-B14F-4D97-AF65-F5344CB8AC3E}">
        <p14:creationId xmlns:p14="http://schemas.microsoft.com/office/powerpoint/2010/main" val="6373003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A5B38-5BF4-E155-4DED-868536BCF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A97AFD2-B552-C6EE-6388-73E468202C7A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POSIX file system semantics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D2A3562-1743-8A0F-E76E-01878A401169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52A7E98-2E32-DBD2-D7EA-B555401A51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5839300"/>
              </p:ext>
            </p:extLst>
          </p:nvPr>
        </p:nvGraphicFramePr>
        <p:xfrm>
          <a:off x="0" y="342613"/>
          <a:ext cx="12192000" cy="370299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688292786"/>
                    </a:ext>
                  </a:extLst>
                </a:gridCol>
              </a:tblGrid>
              <a:tr h="434175">
                <a:tc>
                  <a:txBody>
                    <a:bodyPr/>
                    <a:lstStyle/>
                    <a:p>
                      <a:r>
                        <a:rPr lang="en-US" dirty="0"/>
                        <a:t>A file system is a shared resource: concurrent access and races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175">
                <a:tc gridSpan="2">
                  <a:txBody>
                    <a:bodyPr/>
                    <a:lstStyle/>
                    <a:p>
                      <a:r>
                        <a:rPr lang="en-US" dirty="0"/>
                        <a:t>A </a:t>
                      </a:r>
                      <a:r>
                        <a:rPr lang="en-US" dirty="0" err="1"/>
                        <a:t>userspace</a:t>
                      </a:r>
                      <a:r>
                        <a:rPr lang="en-US" dirty="0"/>
                        <a:t> process can race with the kernel as well.</a:t>
                      </a:r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8480295"/>
                  </a:ext>
                </a:extLst>
              </a:tr>
              <a:tr h="434175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fd</a:t>
                      </a: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= open(“/a/file”, O_RDWR | O_DIRECT);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write(</a:t>
                      </a:r>
                      <a:r>
                        <a:rPr lang="en-US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fd</a:t>
                      </a: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</a:t>
                      </a:r>
                      <a:r>
                        <a:rPr lang="en-US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buf</a:t>
                      </a: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</a:t>
                      </a:r>
                      <a:r>
                        <a:rPr lang="en-US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len</a:t>
                      </a: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);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…</a:t>
                      </a:r>
                      <a:endParaRPr lang="ru-RU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834803"/>
                  </a:ext>
                </a:extLst>
              </a:tr>
              <a:tr h="434175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fd</a:t>
                      </a: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= open(“/a/file”, O_RDWR | O_DIRECT);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write(</a:t>
                      </a:r>
                      <a:r>
                        <a:rPr lang="en-US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fd</a:t>
                      </a: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</a:t>
                      </a:r>
                      <a:r>
                        <a:rPr lang="en-US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buf</a:t>
                      </a: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</a:t>
                      </a:r>
                      <a:r>
                        <a:rPr lang="en-US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len</a:t>
                      </a: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);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…</a:t>
                      </a:r>
                      <a:endParaRPr lang="ru-RU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154831"/>
                  </a:ext>
                </a:extLst>
              </a:tr>
              <a:tr h="434175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fd</a:t>
                      </a: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= open(“/a/file”, O_RDONLY | O_DIRECT);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read(</a:t>
                      </a:r>
                      <a:r>
                        <a:rPr lang="en-US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fd</a:t>
                      </a: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</a:t>
                      </a:r>
                      <a:r>
                        <a:rPr lang="en-US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buf</a:t>
                      </a: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</a:t>
                      </a:r>
                      <a:r>
                        <a:rPr lang="en-US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len</a:t>
                      </a: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);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…</a:t>
                      </a:r>
                      <a:endParaRPr lang="ru-RU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6362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02080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09227-E66A-6661-2388-DC1184623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D10225E-0A5E-071B-570E-518400C4FC96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POSIX file system semantics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37D7709-7D7F-974E-B3E7-147118C0835C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CF7F778-1597-DB53-1585-24C062592F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6804841"/>
              </p:ext>
            </p:extLst>
          </p:nvPr>
        </p:nvGraphicFramePr>
        <p:xfrm>
          <a:off x="0" y="342613"/>
          <a:ext cx="12192000" cy="370299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688292786"/>
                    </a:ext>
                  </a:extLst>
                </a:gridCol>
              </a:tblGrid>
              <a:tr h="434175">
                <a:tc>
                  <a:txBody>
                    <a:bodyPr/>
                    <a:lstStyle/>
                    <a:p>
                      <a:r>
                        <a:rPr lang="en-US" dirty="0"/>
                        <a:t>A file system is a shared resource: concurrent access and races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175">
                <a:tc gridSpan="2">
                  <a:txBody>
                    <a:bodyPr/>
                    <a:lstStyle/>
                    <a:p>
                      <a:r>
                        <a:rPr lang="en-US" dirty="0"/>
                        <a:t>A </a:t>
                      </a:r>
                      <a:r>
                        <a:rPr lang="en-US" dirty="0" err="1"/>
                        <a:t>userspace</a:t>
                      </a:r>
                      <a:r>
                        <a:rPr lang="en-US" dirty="0"/>
                        <a:t> process can race with the kernel as well.</a:t>
                      </a:r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8480295"/>
                  </a:ext>
                </a:extLst>
              </a:tr>
              <a:tr h="434175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fd</a:t>
                      </a: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= open(“/a/file”, O_RDWR | O_DIRECT);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write(</a:t>
                      </a:r>
                      <a:r>
                        <a:rPr lang="en-US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fd</a:t>
                      </a: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</a:t>
                      </a:r>
                      <a:r>
                        <a:rPr lang="en-US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buf</a:t>
                      </a: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</a:t>
                      </a:r>
                      <a:r>
                        <a:rPr lang="en-US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len</a:t>
                      </a: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);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…</a:t>
                      </a:r>
                      <a:endParaRPr lang="ru-RU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buf</a:t>
                      </a:r>
                      <a:r>
                        <a:rPr lang="en-US" dirty="0"/>
                        <a:t> must not be modified while a write is in progress. Some devices may write a mix of the old and new data. Some devices that implement </a:t>
                      </a:r>
                      <a:r>
                        <a:rPr lang="en-US" dirty="0" err="1"/>
                        <a:t>checksumming</a:t>
                      </a:r>
                      <a:r>
                        <a:rPr lang="en-US" dirty="0"/>
                        <a:t> may detect a race.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834803"/>
                  </a:ext>
                </a:extLst>
              </a:tr>
              <a:tr h="434175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fd</a:t>
                      </a: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= open(“/a/file”, O_RDWR | O_DIRECT);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write(</a:t>
                      </a:r>
                      <a:r>
                        <a:rPr lang="en-US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fd</a:t>
                      </a: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</a:t>
                      </a:r>
                      <a:r>
                        <a:rPr lang="en-US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buf</a:t>
                      </a: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</a:t>
                      </a:r>
                      <a:r>
                        <a:rPr lang="en-US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len</a:t>
                      </a: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);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…</a:t>
                      </a:r>
                      <a:endParaRPr lang="ru-RU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154831"/>
                  </a:ext>
                </a:extLst>
              </a:tr>
              <a:tr h="434175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fd</a:t>
                      </a: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= open(“/a/file”, O_RDONLY | O_DIRECT);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read(</a:t>
                      </a:r>
                      <a:r>
                        <a:rPr lang="en-US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fd</a:t>
                      </a: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</a:t>
                      </a:r>
                      <a:r>
                        <a:rPr lang="en-US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buf</a:t>
                      </a: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</a:t>
                      </a:r>
                      <a:r>
                        <a:rPr lang="en-US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len</a:t>
                      </a: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);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…</a:t>
                      </a:r>
                      <a:endParaRPr lang="ru-RU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6362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35644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004EC-5F36-19C4-5B82-355395034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F44DD07-52F9-4930-0D94-19977CF4710A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POSIX file system semantics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CE38FDB-D48F-1237-D68B-B357DA621134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582EF5B-98C3-147A-AD1C-3D4476472D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482183"/>
              </p:ext>
            </p:extLst>
          </p:nvPr>
        </p:nvGraphicFramePr>
        <p:xfrm>
          <a:off x="0" y="342613"/>
          <a:ext cx="12192000" cy="370299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688292786"/>
                    </a:ext>
                  </a:extLst>
                </a:gridCol>
              </a:tblGrid>
              <a:tr h="434175">
                <a:tc>
                  <a:txBody>
                    <a:bodyPr/>
                    <a:lstStyle/>
                    <a:p>
                      <a:r>
                        <a:rPr lang="en-US" dirty="0"/>
                        <a:t>A file system is a shared resource: concurrent access and races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175">
                <a:tc gridSpan="2">
                  <a:txBody>
                    <a:bodyPr/>
                    <a:lstStyle/>
                    <a:p>
                      <a:r>
                        <a:rPr lang="en-US" dirty="0"/>
                        <a:t>A </a:t>
                      </a:r>
                      <a:r>
                        <a:rPr lang="en-US" dirty="0" err="1"/>
                        <a:t>userspace</a:t>
                      </a:r>
                      <a:r>
                        <a:rPr lang="en-US" dirty="0"/>
                        <a:t> process can race with the kernel as well.</a:t>
                      </a:r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8480295"/>
                  </a:ext>
                </a:extLst>
              </a:tr>
              <a:tr h="434175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fd</a:t>
                      </a: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= open(“/a/file”, O_RDWR | O_DIRECT);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write(</a:t>
                      </a:r>
                      <a:r>
                        <a:rPr lang="en-US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fd</a:t>
                      </a: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</a:t>
                      </a:r>
                      <a:r>
                        <a:rPr lang="en-US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buf</a:t>
                      </a: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</a:t>
                      </a:r>
                      <a:r>
                        <a:rPr lang="en-US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len</a:t>
                      </a: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);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…</a:t>
                      </a:r>
                      <a:endParaRPr lang="ru-RU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buf</a:t>
                      </a:r>
                      <a:r>
                        <a:rPr lang="en-US" dirty="0"/>
                        <a:t> must not be modified while a write is in progress. Some devices may write a mix of the old and new data. Some devices that implement </a:t>
                      </a:r>
                      <a:r>
                        <a:rPr lang="en-US" dirty="0" err="1"/>
                        <a:t>checksumming</a:t>
                      </a:r>
                      <a:r>
                        <a:rPr lang="en-US" dirty="0"/>
                        <a:t> may detect a race.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834803"/>
                  </a:ext>
                </a:extLst>
              </a:tr>
              <a:tr h="434175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fd</a:t>
                      </a: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= open(“/a/file”, O_RDWR | O_DIRECT);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write(</a:t>
                      </a:r>
                      <a:r>
                        <a:rPr lang="en-US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fd</a:t>
                      </a: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</a:t>
                      </a:r>
                      <a:r>
                        <a:rPr lang="en-US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buf</a:t>
                      </a: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</a:t>
                      </a:r>
                      <a:r>
                        <a:rPr lang="en-US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len</a:t>
                      </a: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);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…</a:t>
                      </a:r>
                      <a:endParaRPr lang="ru-RU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What happens if another thread </a:t>
                      </a:r>
                      <a:r>
                        <a:rPr lang="en-US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ftruncate</a:t>
                      </a:r>
                      <a:r>
                        <a:rPr lang="en-US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()</a:t>
                      </a:r>
                      <a:r>
                        <a:rPr lang="en-US" dirty="0"/>
                        <a:t>s the file so that </a:t>
                      </a:r>
                      <a:r>
                        <a:rPr lang="en-US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buf</a:t>
                      </a:r>
                      <a:r>
                        <a:rPr lang="en-US" dirty="0"/>
                        <a:t> is to be written past the new end of the file?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154831"/>
                  </a:ext>
                </a:extLst>
              </a:tr>
              <a:tr h="434175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fd</a:t>
                      </a: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= open(“/a/file”, O_RDONLY | O_DIRECT);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read(</a:t>
                      </a:r>
                      <a:r>
                        <a:rPr lang="en-US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fd</a:t>
                      </a: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</a:t>
                      </a:r>
                      <a:r>
                        <a:rPr lang="en-US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buf</a:t>
                      </a: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</a:t>
                      </a:r>
                      <a:r>
                        <a:rPr lang="en-US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len</a:t>
                      </a: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);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…</a:t>
                      </a:r>
                      <a:endParaRPr lang="ru-RU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6362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20019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E9ED1-3C4E-F8EB-DFD0-A3966A45F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8B10DA4-D59F-100B-8911-CB62283727EA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POSIX file system semantics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CD6C651-9CEB-8996-9A85-EBE64B041F3B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2285E6A-E44E-48F4-68B7-F2563D8C0C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3993525"/>
              </p:ext>
            </p:extLst>
          </p:nvPr>
        </p:nvGraphicFramePr>
        <p:xfrm>
          <a:off x="0" y="342613"/>
          <a:ext cx="12192000" cy="370299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688292786"/>
                    </a:ext>
                  </a:extLst>
                </a:gridCol>
              </a:tblGrid>
              <a:tr h="434175">
                <a:tc>
                  <a:txBody>
                    <a:bodyPr/>
                    <a:lstStyle/>
                    <a:p>
                      <a:r>
                        <a:rPr lang="en-US" dirty="0"/>
                        <a:t>A file system is a shared resource: concurrent access and races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175">
                <a:tc gridSpan="2">
                  <a:txBody>
                    <a:bodyPr/>
                    <a:lstStyle/>
                    <a:p>
                      <a:r>
                        <a:rPr lang="en-US" dirty="0"/>
                        <a:t>A </a:t>
                      </a:r>
                      <a:r>
                        <a:rPr lang="en-US" dirty="0" err="1"/>
                        <a:t>userspace</a:t>
                      </a:r>
                      <a:r>
                        <a:rPr lang="en-US" dirty="0"/>
                        <a:t> process can race with the kernel as well.</a:t>
                      </a:r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8480295"/>
                  </a:ext>
                </a:extLst>
              </a:tr>
              <a:tr h="434175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fd</a:t>
                      </a: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= open(“/a/file”, O_RDWR | O_DIRECT);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write(</a:t>
                      </a:r>
                      <a:r>
                        <a:rPr lang="en-US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fd</a:t>
                      </a: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</a:t>
                      </a:r>
                      <a:r>
                        <a:rPr lang="en-US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buf</a:t>
                      </a: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</a:t>
                      </a:r>
                      <a:r>
                        <a:rPr lang="en-US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len</a:t>
                      </a: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);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…</a:t>
                      </a:r>
                      <a:endParaRPr lang="ru-RU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buf</a:t>
                      </a:r>
                      <a:r>
                        <a:rPr lang="en-US" dirty="0"/>
                        <a:t> must not be modified while a write is in progress. Some devices may write a mix of the old and new data. Some devices that implement </a:t>
                      </a:r>
                      <a:r>
                        <a:rPr lang="en-US" dirty="0" err="1"/>
                        <a:t>checksumming</a:t>
                      </a:r>
                      <a:r>
                        <a:rPr lang="en-US" dirty="0"/>
                        <a:t> may detect a race.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834803"/>
                  </a:ext>
                </a:extLst>
              </a:tr>
              <a:tr h="434175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fd</a:t>
                      </a: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= open(“/a/file”, O_RDWR | O_DIRECT);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write(</a:t>
                      </a:r>
                      <a:r>
                        <a:rPr lang="en-US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fd</a:t>
                      </a: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</a:t>
                      </a:r>
                      <a:r>
                        <a:rPr lang="en-US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buf</a:t>
                      </a: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</a:t>
                      </a:r>
                      <a:r>
                        <a:rPr lang="en-US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len</a:t>
                      </a: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);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…</a:t>
                      </a:r>
                      <a:endParaRPr lang="ru-RU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What happens if another thread </a:t>
                      </a:r>
                      <a:r>
                        <a:rPr lang="en-US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ftruncate</a:t>
                      </a:r>
                      <a:r>
                        <a:rPr lang="en-US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()</a:t>
                      </a:r>
                      <a:r>
                        <a:rPr lang="en-US" dirty="0"/>
                        <a:t>s the file so that </a:t>
                      </a:r>
                      <a:r>
                        <a:rPr lang="en-US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buf</a:t>
                      </a:r>
                      <a:r>
                        <a:rPr lang="en-US" dirty="0"/>
                        <a:t> is to be written past the new end of the file?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154831"/>
                  </a:ext>
                </a:extLst>
              </a:tr>
              <a:tr h="434175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fd</a:t>
                      </a: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= open(“/a/file”, O_RDONLY | O_DIRECT);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read(</a:t>
                      </a:r>
                      <a:r>
                        <a:rPr lang="en-US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fd</a:t>
                      </a: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</a:t>
                      </a:r>
                      <a:r>
                        <a:rPr lang="en-US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buf</a:t>
                      </a: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</a:t>
                      </a:r>
                      <a:r>
                        <a:rPr lang="en-US" sz="14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len</a:t>
                      </a: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);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…</a:t>
                      </a:r>
                      <a:endParaRPr lang="ru-RU" sz="14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A DMA operation is configured with the physical address of pages to write to. If another thread </a:t>
                      </a:r>
                      <a:r>
                        <a:rPr lang="en-US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fork()</a:t>
                      </a:r>
                      <a:r>
                        <a:rPr lang="en-US" dirty="0"/>
                        <a:t>s while a read is in progress, then COW (copy-on-write) can move the buffer to other physical pages.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6362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0163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69514</TotalTime>
  <Words>5067</Words>
  <Application>Microsoft Macintosh PowerPoint</Application>
  <PresentationFormat>Widescreen</PresentationFormat>
  <Paragraphs>587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Calibri</vt:lpstr>
      <vt:lpstr>Calibri Light</vt:lpstr>
      <vt:lpstr>Consolas</vt:lpstr>
      <vt:lpstr>Menlo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Artem Anisimov</dc:creator>
  <cp:lastModifiedBy>Irvin Sayers</cp:lastModifiedBy>
  <cp:revision>76</cp:revision>
  <cp:lastPrinted>2018-09-24T07:50:30Z</cp:lastPrinted>
  <dcterms:created xsi:type="dcterms:W3CDTF">2016-09-20T13:25:15Z</dcterms:created>
  <dcterms:modified xsi:type="dcterms:W3CDTF">2026-10-13T11:02:55Z</dcterms:modified>
</cp:coreProperties>
</file>