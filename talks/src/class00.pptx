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handoutMasterIdLst>
    <p:handoutMasterId r:id="rId52"/>
  </p:handoutMasterIdLst>
  <p:sldIdLst>
    <p:sldId id="280" r:id="rId3"/>
    <p:sldId id="312" r:id="rId4"/>
    <p:sldId id="314" r:id="rId5"/>
    <p:sldId id="256" r:id="rId6"/>
    <p:sldId id="311" r:id="rId7"/>
    <p:sldId id="310" r:id="rId8"/>
    <p:sldId id="309" r:id="rId9"/>
    <p:sldId id="308" r:id="rId10"/>
    <p:sldId id="313" r:id="rId11"/>
    <p:sldId id="263" r:id="rId12"/>
    <p:sldId id="261" r:id="rId13"/>
    <p:sldId id="262" r:id="rId14"/>
    <p:sldId id="260" r:id="rId15"/>
    <p:sldId id="265" r:id="rId16"/>
    <p:sldId id="306" r:id="rId17"/>
    <p:sldId id="304" r:id="rId18"/>
    <p:sldId id="267" r:id="rId19"/>
    <p:sldId id="269" r:id="rId20"/>
    <p:sldId id="277" r:id="rId21"/>
    <p:sldId id="298" r:id="rId22"/>
    <p:sldId id="276" r:id="rId23"/>
    <p:sldId id="268" r:id="rId24"/>
    <p:sldId id="296" r:id="rId25"/>
    <p:sldId id="297" r:id="rId26"/>
    <p:sldId id="278" r:id="rId27"/>
    <p:sldId id="279" r:id="rId28"/>
    <p:sldId id="283" r:id="rId29"/>
    <p:sldId id="282" r:id="rId30"/>
    <p:sldId id="301" r:id="rId31"/>
    <p:sldId id="302" r:id="rId32"/>
    <p:sldId id="307" r:id="rId33"/>
    <p:sldId id="259" r:id="rId34"/>
    <p:sldId id="270" r:id="rId35"/>
    <p:sldId id="275" r:id="rId36"/>
    <p:sldId id="274" r:id="rId37"/>
    <p:sldId id="273" r:id="rId38"/>
    <p:sldId id="286" r:id="rId39"/>
    <p:sldId id="285" r:id="rId40"/>
    <p:sldId id="287" r:id="rId41"/>
    <p:sldId id="288" r:id="rId42"/>
    <p:sldId id="289" r:id="rId43"/>
    <p:sldId id="290" r:id="rId44"/>
    <p:sldId id="299" r:id="rId45"/>
    <p:sldId id="291" r:id="rId46"/>
    <p:sldId id="292" r:id="rId47"/>
    <p:sldId id="293" r:id="rId48"/>
    <p:sldId id="294" r:id="rId49"/>
    <p:sldId id="295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C4B7-E8E4-8941-F9D2-BF8E90F3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61D2C-5649-8B5F-CE0E-1230258E1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40ED1-C3DD-DD1D-2137-B568DB6CE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86315-D7F0-D540-F51E-E4F85FF7A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FA687B1-C856-5FA1-1385-CBC8A3407E1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8880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E157-F314-17BD-A268-A538FCF1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37B57-BA77-7D7A-84EE-54C5BFE3E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75DD8-26B3-74DF-1FAE-E871F73D5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82E6D-6334-0EF9-394C-4373D50CD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99AF3EE-7E7D-ECBA-15C1-BB7D9C6F83A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02429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38422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E30B-745F-F731-61AE-C857F63A5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5A1EF-5FD5-0B93-9E13-E4EC1A2A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19A5B-BDD5-EECC-E0A4-31186EB90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5AFC3-1372-7455-E08E-7B3495683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7E4177D-A075-EEA2-0886-BCE1F9DAD4D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36451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2798-EEF3-3C3F-7A92-A4A5D771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3E68C-51EB-F07D-7F63-72F1EBAF5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22053-0886-936F-F673-2D5D59C0B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065C1-2903-0893-806A-0BE31DF14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459D88E-B4A9-12CA-D053-CE91F01C267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8729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58CA-4613-AD7A-68E8-95592F6C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973A6-AE4D-8CE9-CD59-A954DCE99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BDD0F-E2AE-348E-139A-3FBAF3CA0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8979B-2A61-F532-8536-EF9E5A676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2C72631-A851-49FA-732F-B804E3F57C8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2742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A187-2BA9-C74B-2314-1BA46553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4CDCD-A270-53E5-35F3-166F35010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B3CB3-BFFC-D7BA-D0D5-48E723069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40FBD-5B2B-BCA2-CF04-B404A13B0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22D3154-60E8-EEF8-0E55-F9767AF3CB0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95274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EDF0-0DB1-81D1-F5C7-7426CF1C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05DD9-FFCD-0D3D-7FCE-4EB01B183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6FE29-BC46-C564-2046-553255D53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8489B-F494-BFC0-A378-169D1679E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9EA4BDC-4313-359E-282A-9220EDBC18F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89777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55340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37752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0907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653506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40401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A2BD-4652-271C-E97A-EBFAD364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7771B-04E2-597D-25EA-AB697A60D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D6125-229D-629F-1A48-C23FC5F3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4537C-0024-CD76-FE01-E89D17D52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2AFC38E-DF47-E61B-8B80-E61603ED043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660222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20746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37495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25738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679057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57122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58879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2326531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3437176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885195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60965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21274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74760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00318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615796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392279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E68B-3281-5D18-F504-48102E67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36BFE-47FF-643A-B716-377C33625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3111F-A494-CC5D-0CF3-2D18F5F1A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BCE1E-7C4E-0ACF-0051-DD61E7E65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C5E9130-1CE5-C0E3-8ACA-299648C9AC0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08870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71459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04589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089647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778532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979219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562520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600921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016230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030561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442477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3220411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10453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852057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864342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069155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320743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797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Naur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Naur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Naur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Naur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Naur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wn.net/Articles/720675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eople.freebsd.org/~gallatin/talks/euro2022.pdf" TargetMode="External"/><Relationship Id="rId4" Type="http://schemas.openxmlformats.org/officeDocument/2006/relationships/hyperlink" Target="https://lwn.net/Articles/931668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refspecs.linuxfoundation.org/FHS_2.3/fhs-2.3.pdf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freebsd.org/doc/handbook/dirstructure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refspecs.linuxfoundation.org/FHS_2.3/fhs-2.3.pdf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freebsd.org/doc/handbook/dirstructure.htm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18949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3386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48654" y="923419"/>
            <a:ext cx="538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file systems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55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7B86-C1AF-6054-A9E4-CC607B5E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7986F2-BBE2-678D-0B9B-49F18FAF434F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24F652-FBFA-47D5-9591-14A87DAAD03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7CC4FE-4F0D-8C53-0E88-9446D374E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791927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7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9D99-8A9A-711F-D2AA-F8DBFF3A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685758-1F7F-459B-83DA-402A7910CA9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B5BD23-ACB7-D49A-E0C6-99B0E3315B3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E0FDBA-7EFF-4CC2-231C-C917DF713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18790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EE76ED-EF30-4F98-C1B8-F74CBCE1D1D4}"/>
              </a:ext>
            </a:extLst>
          </p:cNvPr>
          <p:cNvSpPr txBox="1"/>
          <p:nvPr/>
        </p:nvSpPr>
        <p:spPr>
          <a:xfrm>
            <a:off x="0" y="94488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Read Peter Naur’s “Programming as theory building”: </a:t>
            </a:r>
            <a:r>
              <a:rPr lang="en-GB" dirty="0">
                <a:hlinkClick r:id="rId3"/>
              </a:rPr>
              <a:t>https://pages.cs.wisc.edu/~remzi/Naur.pdf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5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0433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40109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2210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042B24-C3ED-F21D-AB64-33CCF7616740}"/>
              </a:ext>
            </a:extLst>
          </p:cNvPr>
          <p:cNvSpPr txBox="1"/>
          <p:nvPr/>
        </p:nvSpPr>
        <p:spPr>
          <a:xfrm>
            <a:off x="0" y="94488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Read Peter Naur’s “Programming as theory building”: </a:t>
            </a:r>
            <a:r>
              <a:rPr lang="en-GB" dirty="0">
                <a:hlinkClick r:id="rId3"/>
              </a:rPr>
              <a:t>https://pages.cs.wisc.edu/~remzi/Naur.pdf</a:t>
            </a:r>
            <a:endParaRPr lang="en-GB" dirty="0"/>
          </a:p>
          <a:p>
            <a:endParaRPr lang="en-CY" dirty="0"/>
          </a:p>
          <a:p>
            <a:endParaRPr lang="en-CY" dirty="0"/>
          </a:p>
          <a:p>
            <a:r>
              <a:rPr lang="en-CY" dirty="0"/>
              <a:t>There is much more to programming than producing clean 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2A4A-BC56-BD56-9C74-6E31D1B7A2DF}"/>
              </a:ext>
            </a:extLst>
          </p:cNvPr>
          <p:cNvSpPr txBox="1"/>
          <p:nvPr/>
        </p:nvSpPr>
        <p:spPr>
          <a:xfrm>
            <a:off x="274320" y="2521913"/>
            <a:ext cx="410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problem that I am solving?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F43E3-C3F1-A926-E24F-A6EE13C36079}"/>
              </a:ext>
            </a:extLst>
          </p:cNvPr>
          <p:cNvSpPr txBox="1"/>
          <p:nvPr/>
        </p:nvSpPr>
        <p:spPr>
          <a:xfrm>
            <a:off x="416560" y="3105834"/>
            <a:ext cx="52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support, and 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</a:t>
            </a:r>
            <a:r>
              <a:rPr lang="en-CY" b="1" dirty="0"/>
              <a:t>not</a:t>
            </a:r>
            <a:r>
              <a:rPr lang="en-CY" dirty="0"/>
              <a:t> support, a</a:t>
            </a:r>
            <a:r>
              <a:rPr lang="en-GB" dirty="0" err="1"/>
              <a:t>nd</a:t>
            </a:r>
            <a:r>
              <a:rPr lang="en-CY" dirty="0"/>
              <a:t> why?</a:t>
            </a:r>
          </a:p>
        </p:txBody>
      </p:sp>
    </p:spTree>
    <p:extLst>
      <p:ext uri="{BB962C8B-B14F-4D97-AF65-F5344CB8AC3E}">
        <p14:creationId xmlns:p14="http://schemas.microsoft.com/office/powerpoint/2010/main" val="150461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1EC9-D975-FE73-83AD-4AD01545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72173-CE1E-5DFA-81A9-0F57AE0F3C8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0F2438-00E0-D35C-030E-9CC974C6F05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85394D-3898-467E-86BB-57BAFB0F1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38746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93C482-68E2-7137-EA23-58F3A6034D34}"/>
              </a:ext>
            </a:extLst>
          </p:cNvPr>
          <p:cNvSpPr txBox="1"/>
          <p:nvPr/>
        </p:nvSpPr>
        <p:spPr>
          <a:xfrm>
            <a:off x="0" y="94488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Read Peter Naur’s “Programming as theory building”: </a:t>
            </a:r>
            <a:r>
              <a:rPr lang="en-GB" dirty="0">
                <a:hlinkClick r:id="rId3"/>
              </a:rPr>
              <a:t>https://pages.cs.wisc.edu/~remzi/Naur.pdf</a:t>
            </a:r>
            <a:endParaRPr lang="en-GB" dirty="0"/>
          </a:p>
          <a:p>
            <a:endParaRPr lang="en-CY" dirty="0"/>
          </a:p>
          <a:p>
            <a:endParaRPr lang="en-CY" dirty="0"/>
          </a:p>
          <a:p>
            <a:r>
              <a:rPr lang="en-CY" dirty="0"/>
              <a:t>There is much more to programming than producing clean 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3BFC1-0CBD-873A-32F4-B8F1C23FAA0D}"/>
              </a:ext>
            </a:extLst>
          </p:cNvPr>
          <p:cNvSpPr txBox="1"/>
          <p:nvPr/>
        </p:nvSpPr>
        <p:spPr>
          <a:xfrm>
            <a:off x="274320" y="2521913"/>
            <a:ext cx="410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problem that I am solving?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827A2-2DF5-4958-7511-090B8A9A52CC}"/>
              </a:ext>
            </a:extLst>
          </p:cNvPr>
          <p:cNvSpPr txBox="1"/>
          <p:nvPr/>
        </p:nvSpPr>
        <p:spPr>
          <a:xfrm>
            <a:off x="416560" y="3105834"/>
            <a:ext cx="52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support, and 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</a:t>
            </a:r>
            <a:r>
              <a:rPr lang="en-CY" b="1" dirty="0"/>
              <a:t>not</a:t>
            </a:r>
            <a:r>
              <a:rPr lang="en-CY" dirty="0"/>
              <a:t> support, a</a:t>
            </a:r>
            <a:r>
              <a:rPr lang="en-GB" dirty="0" err="1"/>
              <a:t>nd</a:t>
            </a:r>
            <a:r>
              <a:rPr lang="en-CY" dirty="0"/>
              <a:t> why?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C9DBD-337C-9983-7347-F0A777403642}"/>
              </a:ext>
            </a:extLst>
          </p:cNvPr>
          <p:cNvSpPr txBox="1"/>
          <p:nvPr/>
        </p:nvSpPr>
        <p:spPr>
          <a:xfrm>
            <a:off x="0" y="4325484"/>
            <a:ext cx="5603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data model of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Their properties? Invariants?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DF1CF-2798-31E3-BEA0-18439B0FA98C}"/>
              </a:ext>
            </a:extLst>
          </p:cNvPr>
          <p:cNvSpPr txBox="1"/>
          <p:nvPr/>
        </p:nvSpPr>
        <p:spPr>
          <a:xfrm>
            <a:off x="274320" y="5186404"/>
            <a:ext cx="599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operations can I do with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are their preconditions and guarantees?</a:t>
            </a:r>
          </a:p>
        </p:txBody>
      </p:sp>
    </p:spTree>
    <p:extLst>
      <p:ext uri="{BB962C8B-B14F-4D97-AF65-F5344CB8AC3E}">
        <p14:creationId xmlns:p14="http://schemas.microsoft.com/office/powerpoint/2010/main" val="389776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6859-8066-AF5C-E8B1-9EAEEA0F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CEFBB3-D41D-C51C-E716-5FDE95CD43A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697ABA-0982-0A24-3B3F-1F9E0D10A15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9CB157-D6AB-1BEC-2703-B247D3FCD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541275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422A9F-4313-0969-AD73-9CBB300655C9}"/>
              </a:ext>
            </a:extLst>
          </p:cNvPr>
          <p:cNvSpPr txBox="1"/>
          <p:nvPr/>
        </p:nvSpPr>
        <p:spPr>
          <a:xfrm>
            <a:off x="0" y="94488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Read Peter Naur’s “Programming as theory building”: </a:t>
            </a:r>
            <a:r>
              <a:rPr lang="en-GB" dirty="0">
                <a:hlinkClick r:id="rId3"/>
              </a:rPr>
              <a:t>https://pages.cs.wisc.edu/~remzi/Naur.pdf</a:t>
            </a:r>
            <a:endParaRPr lang="en-GB" dirty="0"/>
          </a:p>
          <a:p>
            <a:endParaRPr lang="en-CY" dirty="0"/>
          </a:p>
          <a:p>
            <a:endParaRPr lang="en-CY" dirty="0"/>
          </a:p>
          <a:p>
            <a:r>
              <a:rPr lang="en-CY" dirty="0"/>
              <a:t>There is much more to programming than producing clean 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57F62-AF25-0B83-2EE4-106494FBD75A}"/>
              </a:ext>
            </a:extLst>
          </p:cNvPr>
          <p:cNvSpPr txBox="1"/>
          <p:nvPr/>
        </p:nvSpPr>
        <p:spPr>
          <a:xfrm>
            <a:off x="274320" y="2521913"/>
            <a:ext cx="410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problem that I am solving?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1589F-723C-BF99-BB02-2C727F1578EB}"/>
              </a:ext>
            </a:extLst>
          </p:cNvPr>
          <p:cNvSpPr txBox="1"/>
          <p:nvPr/>
        </p:nvSpPr>
        <p:spPr>
          <a:xfrm>
            <a:off x="416560" y="3105834"/>
            <a:ext cx="52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support, and 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</a:t>
            </a:r>
            <a:r>
              <a:rPr lang="en-CY" b="1" dirty="0"/>
              <a:t>not</a:t>
            </a:r>
            <a:r>
              <a:rPr lang="en-CY" dirty="0"/>
              <a:t> support, a</a:t>
            </a:r>
            <a:r>
              <a:rPr lang="en-GB" dirty="0" err="1"/>
              <a:t>nd</a:t>
            </a:r>
            <a:r>
              <a:rPr lang="en-CY" dirty="0"/>
              <a:t> why?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C53D2-3DC0-65CB-4339-9C166F03B94A}"/>
              </a:ext>
            </a:extLst>
          </p:cNvPr>
          <p:cNvSpPr txBox="1"/>
          <p:nvPr/>
        </p:nvSpPr>
        <p:spPr>
          <a:xfrm>
            <a:off x="0" y="4325484"/>
            <a:ext cx="5603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data model of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Their properties? Invariants?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C3564-6465-0B91-40B2-257308D47785}"/>
              </a:ext>
            </a:extLst>
          </p:cNvPr>
          <p:cNvSpPr txBox="1"/>
          <p:nvPr/>
        </p:nvSpPr>
        <p:spPr>
          <a:xfrm>
            <a:off x="274320" y="5186404"/>
            <a:ext cx="599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operations can I do with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are their preconditions and guarantees?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B07211-B0F9-C826-D3E0-C4F27A8CE305}"/>
              </a:ext>
            </a:extLst>
          </p:cNvPr>
          <p:cNvSpPr txBox="1"/>
          <p:nvPr/>
        </p:nvSpPr>
        <p:spPr>
          <a:xfrm>
            <a:off x="5977029" y="2521913"/>
            <a:ext cx="6045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model my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are my choices? Their pros and cons?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decompose the problem into manageable pieces?</a:t>
            </a:r>
          </a:p>
        </p:txBody>
      </p:sp>
    </p:spTree>
    <p:extLst>
      <p:ext uri="{BB962C8B-B14F-4D97-AF65-F5344CB8AC3E}">
        <p14:creationId xmlns:p14="http://schemas.microsoft.com/office/powerpoint/2010/main" val="145729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620-3678-9F7A-1FDE-6D61711D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E97A8A-F490-5FD6-E61C-884DAEFA0B7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B6A7A7-0465-484D-CCE6-3000981C87A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A081BA-E269-4E8D-2DC8-F5A951D24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629273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A digression on programming, learning, and the use of LLMs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40AB9B-5890-7AC3-77FA-42396FBBA630}"/>
              </a:ext>
            </a:extLst>
          </p:cNvPr>
          <p:cNvSpPr txBox="1"/>
          <p:nvPr/>
        </p:nvSpPr>
        <p:spPr>
          <a:xfrm>
            <a:off x="0" y="94488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Read Peter Naur’s “Programming as theory building”: </a:t>
            </a:r>
            <a:r>
              <a:rPr lang="en-GB" dirty="0">
                <a:hlinkClick r:id="rId3"/>
              </a:rPr>
              <a:t>https://pages.cs.wisc.edu/~remzi/Naur.pdf</a:t>
            </a:r>
            <a:endParaRPr lang="en-GB" dirty="0"/>
          </a:p>
          <a:p>
            <a:endParaRPr lang="en-CY" dirty="0"/>
          </a:p>
          <a:p>
            <a:endParaRPr lang="en-CY" dirty="0"/>
          </a:p>
          <a:p>
            <a:r>
              <a:rPr lang="en-CY" dirty="0"/>
              <a:t>There is much more to programming than producing clean 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78B69-CAEA-9DB4-3E02-BAE83A20CB90}"/>
              </a:ext>
            </a:extLst>
          </p:cNvPr>
          <p:cNvSpPr txBox="1"/>
          <p:nvPr/>
        </p:nvSpPr>
        <p:spPr>
          <a:xfrm>
            <a:off x="274320" y="2521913"/>
            <a:ext cx="410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problem that I am solving?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A87F1-B1CD-F5B6-C694-736B2F2C7868}"/>
              </a:ext>
            </a:extLst>
          </p:cNvPr>
          <p:cNvSpPr txBox="1"/>
          <p:nvPr/>
        </p:nvSpPr>
        <p:spPr>
          <a:xfrm>
            <a:off x="416560" y="3105834"/>
            <a:ext cx="52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support, and 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scenarios do I want to </a:t>
            </a:r>
            <a:r>
              <a:rPr lang="en-CY" b="1" dirty="0"/>
              <a:t>not</a:t>
            </a:r>
            <a:r>
              <a:rPr lang="en-CY" dirty="0"/>
              <a:t> support, a</a:t>
            </a:r>
            <a:r>
              <a:rPr lang="en-GB" dirty="0" err="1"/>
              <a:t>nd</a:t>
            </a:r>
            <a:r>
              <a:rPr lang="en-CY" dirty="0"/>
              <a:t> why?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99C8F-06A7-3EFA-2DA2-84B7E113E008}"/>
              </a:ext>
            </a:extLst>
          </p:cNvPr>
          <p:cNvSpPr txBox="1"/>
          <p:nvPr/>
        </p:nvSpPr>
        <p:spPr>
          <a:xfrm>
            <a:off x="0" y="4325484"/>
            <a:ext cx="5603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is the data model of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Their properties? Invariants?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C52AC-ABB9-6A9B-3BCC-7D672EC03414}"/>
              </a:ext>
            </a:extLst>
          </p:cNvPr>
          <p:cNvSpPr txBox="1"/>
          <p:nvPr/>
        </p:nvSpPr>
        <p:spPr>
          <a:xfrm>
            <a:off x="274320" y="5186404"/>
            <a:ext cx="599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operations can I do with systems that I interact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are their preconditions and guarantees?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E2C32-893F-7911-FF06-1B30E1E6CE5D}"/>
              </a:ext>
            </a:extLst>
          </p:cNvPr>
          <p:cNvSpPr txBox="1"/>
          <p:nvPr/>
        </p:nvSpPr>
        <p:spPr>
          <a:xfrm>
            <a:off x="6299200" y="3752165"/>
            <a:ext cx="5055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structure my knowledge of the system?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teach it to other people?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And how do I learn from others?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11841-FD89-8516-BC90-924E050E48EC}"/>
              </a:ext>
            </a:extLst>
          </p:cNvPr>
          <p:cNvSpPr txBox="1"/>
          <p:nvPr/>
        </p:nvSpPr>
        <p:spPr>
          <a:xfrm>
            <a:off x="5977029" y="2521913"/>
            <a:ext cx="6045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model my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What are my choices? Their pros and cons?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Y" dirty="0"/>
              <a:t>How do I decompose the problem into manageable pieces?</a:t>
            </a:r>
          </a:p>
        </p:txBody>
      </p:sp>
    </p:spTree>
    <p:extLst>
      <p:ext uri="{BB962C8B-B14F-4D97-AF65-F5344CB8AC3E}">
        <p14:creationId xmlns:p14="http://schemas.microsoft.com/office/powerpoint/2010/main" val="27231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DF39-8D4F-E128-6EA9-E2FA0C6C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E38701-104E-161B-3F98-5B19D0029FC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A9FA1F-8DB9-4D92-178F-22D3705BD35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74A886-C31D-F310-BCA4-D095AC882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318785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Back to the topic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0ED9-CD3E-A2DE-9050-41134064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C479AC-8F38-FD67-09C0-96931C541A51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4F5995-0C3F-6881-70E9-E574975070D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10059C-B23C-8394-4C2D-DB20FED9D37F}"/>
              </a:ext>
            </a:extLst>
          </p:cNvPr>
          <p:cNvGraphicFramePr>
            <a:graphicFrameLocks noGrp="1"/>
          </p:cNvGraphicFramePr>
          <p:nvPr/>
        </p:nvGraphicFramePr>
        <p:xfrm>
          <a:off x="0" y="1524000"/>
          <a:ext cx="746348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840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store our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190835-2789-914F-4768-E8A35C046ADD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What a file system must do</a:t>
                      </a:r>
                      <a:r>
                        <a:rPr lang="ru-RU" sz="32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81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0229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09730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194187"/>
              </p:ext>
            </p:extLst>
          </p:nvPr>
        </p:nvGraphicFramePr>
        <p:xfrm>
          <a:off x="0" y="1524000"/>
          <a:ext cx="746348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840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store our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91380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What a file system must do</a:t>
                      </a:r>
                      <a:r>
                        <a:rPr lang="ru-RU" sz="32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93" y="1524000"/>
            <a:ext cx="5943600" cy="723900"/>
          </a:xfrm>
          <a:prstGeom prst="rect">
            <a:avLst/>
          </a:prstGeom>
        </p:spPr>
      </p:pic>
      <p:sp>
        <p:nvSpPr>
          <p:cNvPr id="3" name="Up Arrow 2"/>
          <p:cNvSpPr/>
          <p:nvPr/>
        </p:nvSpPr>
        <p:spPr>
          <a:xfrm>
            <a:off x="7463481" y="2306595"/>
            <a:ext cx="420130" cy="6837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703694" y="3153202"/>
            <a:ext cx="3939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</a:t>
            </a:r>
            <a:r>
              <a:rPr lang="en-US" dirty="0" err="1"/>
              <a:t>organisation</a:t>
            </a:r>
            <a:r>
              <a:rPr lang="en-US" dirty="0"/>
              <a:t> becomes inconvenient</a:t>
            </a:r>
            <a:br>
              <a:rPr lang="en-US" dirty="0"/>
            </a:br>
            <a:r>
              <a:rPr lang="en-US" dirty="0"/>
              <a:t>if we have thousands of files.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683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17852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04177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732602"/>
              </p:ext>
            </p:extLst>
          </p:nvPr>
        </p:nvGraphicFramePr>
        <p:xfrm>
          <a:off x="0" y="1524000"/>
          <a:ext cx="746348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840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store our data,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err="1"/>
                        <a:t>organise</a:t>
                      </a:r>
                      <a:r>
                        <a:rPr lang="en-US" sz="3200" dirty="0"/>
                        <a:t> data into a hierarchy of files and directories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89216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What a file system must do</a:t>
                      </a:r>
                      <a:r>
                        <a:rPr lang="ru-RU" sz="32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152" y="1524000"/>
            <a:ext cx="21145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9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3857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54219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98594"/>
              </p:ext>
            </p:extLst>
          </p:nvPr>
        </p:nvGraphicFramePr>
        <p:xfrm>
          <a:off x="0" y="1524000"/>
          <a:ext cx="7463481" cy="252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840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store our data,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200" dirty="0" err="1"/>
                        <a:t>organise</a:t>
                      </a:r>
                      <a:r>
                        <a:rPr lang="en-US" sz="3200" dirty="0"/>
                        <a:t> data into a hierarchy of files and directories,</a:t>
                      </a:r>
                      <a:endParaRPr lang="ru-RU" sz="3200" dirty="0"/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provide and limit the access to stored files.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13494"/>
              </p:ext>
            </p:extLst>
          </p:nvPr>
        </p:nvGraphicFramePr>
        <p:xfrm>
          <a:off x="0" y="365761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en-US" sz="3200" dirty="0"/>
                        <a:t>What a file system must do</a:t>
                      </a:r>
                      <a:r>
                        <a:rPr lang="ru-RU" sz="32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90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9167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00911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767852"/>
              </p:ext>
            </p:extLst>
          </p:nvPr>
        </p:nvGraphicFramePr>
        <p:xfrm>
          <a:off x="255372" y="719665"/>
          <a:ext cx="10387913" cy="3003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7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3837">
                <a:tc>
                  <a:txBody>
                    <a:bodyPr/>
                    <a:lstStyle/>
                    <a:p>
                      <a:r>
                        <a:rPr lang="en-US" sz="3600" dirty="0"/>
                        <a:t>Today we will limit ourselves to file systems that store data in a single computer and provide access only to local users.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930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0782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66816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52409"/>
              </p:ext>
            </p:extLst>
          </p:nvPr>
        </p:nvGraphicFramePr>
        <p:xfrm>
          <a:off x="0" y="365760"/>
          <a:ext cx="12192000" cy="246803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desired interface to a file system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sz="2000" dirty="0"/>
                        <a:t>f = open(“./</a:t>
                      </a:r>
                      <a:r>
                        <a:rPr lang="en-US" sz="2000" dirty="0" err="1"/>
                        <a:t>pstorage-fes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src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fes.c</a:t>
                      </a:r>
                      <a:r>
                        <a:rPr lang="en-US" sz="2000" dirty="0"/>
                        <a:t>");</a:t>
                      </a:r>
                    </a:p>
                    <a:p>
                      <a:r>
                        <a:rPr lang="en-US" sz="2000" dirty="0"/>
                        <a:t>read(f, buffer, size);</a:t>
                      </a:r>
                    </a:p>
                    <a:p>
                      <a:r>
                        <a:rPr lang="en-US" sz="2000" dirty="0"/>
                        <a:t>.....</a:t>
                      </a:r>
                    </a:p>
                    <a:p>
                      <a:r>
                        <a:rPr lang="en-US" sz="2000" dirty="0"/>
                        <a:t>write(f, buffer, size);</a:t>
                      </a:r>
                    </a:p>
                    <a:p>
                      <a:r>
                        <a:rPr lang="en-US" sz="2000" dirty="0"/>
                        <a:t>.....</a:t>
                      </a:r>
                    </a:p>
                    <a:p>
                      <a:r>
                        <a:rPr lang="en-US" sz="2000" dirty="0"/>
                        <a:t>close(f);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6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76BD6-BFB4-8C69-4E82-DE073BCA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F7B71-23DD-2C4A-E782-48199FABEA1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9671DF-E1BE-B6E4-84C7-C4C3041E084E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D721A-1787-E9D0-69B1-EBA0E551299C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0"/>
          <a:ext cx="12192000" cy="255947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desired interface to a file system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interface of a storage device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sz="2000"/>
                        <a:t>f = open(“./pstorage-fes/src/fes.c");</a:t>
                      </a:r>
                    </a:p>
                    <a:p>
                      <a:r>
                        <a:rPr lang="en-US" sz="2000"/>
                        <a:t>read(f, buffer, size);</a:t>
                      </a:r>
                    </a:p>
                    <a:p>
                      <a:r>
                        <a:rPr lang="en-US" sz="2000"/>
                        <a:t>.....</a:t>
                      </a:r>
                    </a:p>
                    <a:p>
                      <a:r>
                        <a:rPr lang="en-US" sz="2000"/>
                        <a:t>write(f, buffer, size);</a:t>
                      </a:r>
                    </a:p>
                    <a:p>
                      <a:r>
                        <a:rPr lang="en-US" sz="2000"/>
                        <a:t>.....</a:t>
                      </a:r>
                    </a:p>
                    <a:p>
                      <a:r>
                        <a:rPr lang="en-US" sz="2000"/>
                        <a:t>close(f);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read a sector* nr.</a:t>
                      </a:r>
                      <a:r>
                        <a:rPr lang="ru-RU" sz="2000" dirty="0"/>
                        <a:t> </a:t>
                      </a:r>
                      <a:r>
                        <a:rPr lang="en-US" sz="2000" dirty="0"/>
                        <a:t>N</a:t>
                      </a:r>
                      <a:r>
                        <a:rPr lang="ru-RU" sz="2000" dirty="0"/>
                        <a:t>,</a:t>
                      </a:r>
                    </a:p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write a sector nr.</a:t>
                      </a:r>
                      <a:r>
                        <a:rPr lang="ru-RU" sz="2000" baseline="0" dirty="0"/>
                        <a:t> </a:t>
                      </a:r>
                      <a:r>
                        <a:rPr lang="en-US" sz="2000" baseline="0" dirty="0"/>
                        <a:t>M</a:t>
                      </a:r>
                      <a:r>
                        <a:rPr lang="ru-RU" sz="2000" dirty="0"/>
                        <a:t>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sz="16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*</a:t>
                      </a:r>
                      <a:r>
                        <a:rPr lang="ru-RU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sector is a contiguous piece of a storage device that is 512 bytes or 4096 bytes long; the start of a sector is a multiple of the sector size</a:t>
                      </a:r>
                      <a:endParaRPr lang="ru-RU" sz="16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19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365760"/>
          <a:ext cx="12192000" cy="255947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desired interface to a file system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interface of a storage device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sz="2000"/>
                        <a:t>f = open(“./pstorage-fes/src/fes.c");</a:t>
                      </a:r>
                    </a:p>
                    <a:p>
                      <a:r>
                        <a:rPr lang="en-US" sz="2000"/>
                        <a:t>read(f, buffer, size);</a:t>
                      </a:r>
                    </a:p>
                    <a:p>
                      <a:r>
                        <a:rPr lang="en-US" sz="2000"/>
                        <a:t>.....</a:t>
                      </a:r>
                    </a:p>
                    <a:p>
                      <a:r>
                        <a:rPr lang="en-US" sz="2000"/>
                        <a:t>write(f, buffer, size);</a:t>
                      </a:r>
                    </a:p>
                    <a:p>
                      <a:r>
                        <a:rPr lang="en-US" sz="2000"/>
                        <a:t>.....</a:t>
                      </a:r>
                    </a:p>
                    <a:p>
                      <a:r>
                        <a:rPr lang="en-US" sz="2000"/>
                        <a:t>close(f);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read a sector* nr.</a:t>
                      </a:r>
                      <a:r>
                        <a:rPr lang="ru-RU" sz="2000" dirty="0"/>
                        <a:t> </a:t>
                      </a:r>
                      <a:r>
                        <a:rPr lang="en-US" sz="2000" dirty="0"/>
                        <a:t>N</a:t>
                      </a:r>
                      <a:r>
                        <a:rPr lang="ru-RU" sz="2000" dirty="0"/>
                        <a:t>,</a:t>
                      </a:r>
                    </a:p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write a sector nr.</a:t>
                      </a:r>
                      <a:r>
                        <a:rPr lang="ru-RU" sz="2000" baseline="0" dirty="0"/>
                        <a:t> </a:t>
                      </a:r>
                      <a:r>
                        <a:rPr lang="en-US" sz="2000" baseline="0" dirty="0"/>
                        <a:t>M</a:t>
                      </a:r>
                      <a:r>
                        <a:rPr lang="ru-RU" sz="2000" dirty="0"/>
                        <a:t>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sz="16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*</a:t>
                      </a:r>
                      <a:r>
                        <a:rPr lang="ru-RU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sector is a contiguous piece of a storage device that is 512 bytes or 4096 bytes long; the start offset of a sector is multiple of the sector size</a:t>
                      </a:r>
                      <a:endParaRPr lang="ru-RU" sz="16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02E41D-CDF8-8F43-3F37-8D4C2EB5954A}"/>
              </a:ext>
            </a:extLst>
          </p:cNvPr>
          <p:cNvSpPr/>
          <p:nvPr/>
        </p:nvSpPr>
        <p:spPr>
          <a:xfrm>
            <a:off x="6202497" y="1035587"/>
            <a:ext cx="5816906" cy="35264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This restriction is not always true. Chips are getting denser, and nowadays a single PCI-e card can host a computer with 16 ARM cores, 32G RAM, 4x400Gbit ethernet, and dedicated accelerators for </a:t>
            </a:r>
            <a:r>
              <a:rPr lang="en-US" sz="2400" dirty="0" err="1"/>
              <a:t>NVMe-oF</a:t>
            </a:r>
            <a:r>
              <a:rPr lang="en-US" sz="2400" dirty="0"/>
              <a:t>, compression and erasure coding. For example, see Mellanox (Nvidia) </a:t>
            </a:r>
            <a:r>
              <a:rPr lang="en-US" sz="2400" dirty="0" err="1"/>
              <a:t>BlueField</a:t>
            </a:r>
            <a:r>
              <a:rPr lang="en-US" sz="2400" dirty="0"/>
              <a:t>. Such devices can provide a much more sophisticated API.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79747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2040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14706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141128"/>
              </p:ext>
            </p:extLst>
          </p:nvPr>
        </p:nvGraphicFramePr>
        <p:xfrm>
          <a:off x="0" y="365760"/>
          <a:ext cx="12192000" cy="472270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desired interface to a file system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interface of a storage device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f = open(“./</a:t>
                      </a:r>
                      <a:r>
                        <a:rPr lang="en-US" sz="2000" dirty="0" err="1"/>
                        <a:t>pstorage-fes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src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fes.c</a:t>
                      </a:r>
                      <a:r>
                        <a:rPr lang="en-US" sz="2000" dirty="0"/>
                        <a:t>");</a:t>
                      </a:r>
                    </a:p>
                    <a:p>
                      <a:r>
                        <a:rPr lang="en-US" sz="2000" dirty="0"/>
                        <a:t>read(f, buffer, size);</a:t>
                      </a:r>
                    </a:p>
                    <a:p>
                      <a:r>
                        <a:rPr lang="en-US" sz="2000" dirty="0"/>
                        <a:t>.....</a:t>
                      </a:r>
                    </a:p>
                    <a:p>
                      <a:r>
                        <a:rPr lang="en-US" sz="2000" dirty="0"/>
                        <a:t>write(f, buffer, size);</a:t>
                      </a:r>
                    </a:p>
                    <a:p>
                      <a:r>
                        <a:rPr lang="en-US" sz="2000" dirty="0"/>
                        <a:t>.....</a:t>
                      </a:r>
                    </a:p>
                    <a:p>
                      <a:r>
                        <a:rPr lang="en-US" sz="2000" dirty="0"/>
                        <a:t>close(f);</a:t>
                      </a:r>
                      <a:endParaRPr lang="ru-RU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read a sector* nr.</a:t>
                      </a:r>
                      <a:r>
                        <a:rPr lang="ru-RU" sz="2000" dirty="0"/>
                        <a:t> </a:t>
                      </a:r>
                      <a:r>
                        <a:rPr lang="en-US" sz="2000" dirty="0"/>
                        <a:t>N</a:t>
                      </a:r>
                      <a:r>
                        <a:rPr lang="ru-RU" sz="2000" dirty="0"/>
                        <a:t>,</a:t>
                      </a:r>
                    </a:p>
                    <a:p>
                      <a:r>
                        <a:rPr lang="ru-RU" sz="2000" dirty="0"/>
                        <a:t>* </a:t>
                      </a:r>
                      <a:r>
                        <a:rPr lang="en-US" sz="2000" dirty="0"/>
                        <a:t>write a sector nr.</a:t>
                      </a:r>
                      <a:r>
                        <a:rPr lang="ru-RU" sz="2000" baseline="0" dirty="0"/>
                        <a:t> </a:t>
                      </a:r>
                      <a:r>
                        <a:rPr lang="en-US" sz="2000" baseline="0" dirty="0"/>
                        <a:t>M</a:t>
                      </a:r>
                      <a:r>
                        <a:rPr lang="ru-RU" sz="2000" dirty="0"/>
                        <a:t>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sz="16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*</a:t>
                      </a:r>
                      <a:r>
                        <a:rPr lang="ru-RU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600" i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sector is a contiguous piece of a storage device that is 512 bytes or 4096 bytes long; the start of a sector is a multiple of the sector size</a:t>
                      </a:r>
                      <a:endParaRPr lang="ru-RU" sz="16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 task of a file system</a:t>
                      </a:r>
                      <a:r>
                        <a:rPr lang="ru-RU" sz="2400" dirty="0"/>
                        <a:t>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6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pPr algn="l"/>
                      <a:endParaRPr lang="ru-RU" sz="2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Atop of a block device, provide an API that enables users to</a:t>
                      </a:r>
                      <a:endParaRPr lang="ru-RU" sz="20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create files and directories</a:t>
                      </a:r>
                      <a:r>
                        <a:rPr lang="ru-RU" sz="2000" dirty="0"/>
                        <a:t>,</a:t>
                      </a:r>
                      <a:endParaRPr lang="en-US" sz="20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find files and directories by their name</a:t>
                      </a:r>
                      <a:r>
                        <a:rPr lang="ru-RU" sz="2000" dirty="0"/>
                        <a:t>,</a:t>
                      </a:r>
                      <a:endParaRPr lang="en-US" sz="20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write and read files at arbitrary offsets (not necessarily sector-aligned)</a:t>
                      </a:r>
                      <a:r>
                        <a:rPr lang="ru-RU" sz="2000" dirty="0"/>
                        <a:t>,</a:t>
                      </a:r>
                      <a:endParaRPr lang="en-US" sz="20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do these operations quickly and reliably.</a:t>
                      </a:r>
                      <a:endParaRPr lang="ru-RU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93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673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80303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66664"/>
              </p:ext>
            </p:extLst>
          </p:nvPr>
        </p:nvGraphicFramePr>
        <p:xfrm>
          <a:off x="0" y="365760"/>
          <a:ext cx="12192000" cy="42045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 problem that a file system must solve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none" baseline="0" dirty="0"/>
                        <a:t>how does one store a list of files</a:t>
                      </a:r>
                      <a:r>
                        <a:rPr lang="ru-RU" sz="2400" u="none" baseline="30000" dirty="0"/>
                        <a:t>*</a:t>
                      </a:r>
                      <a:r>
                        <a:rPr lang="ru-RU" sz="2400" u="none" baseline="0" dirty="0"/>
                        <a:t>?</a:t>
                      </a:r>
                      <a:endParaRPr lang="ru-RU" sz="2400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043" y="6163272"/>
            <a:ext cx="8521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709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6503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99820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999391"/>
              </p:ext>
            </p:extLst>
          </p:nvPr>
        </p:nvGraphicFramePr>
        <p:xfrm>
          <a:off x="0" y="365760"/>
          <a:ext cx="12192000" cy="47523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 problem that a file system must solve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none" baseline="0" dirty="0"/>
                        <a:t>how does one store a list of files</a:t>
                      </a:r>
                      <a:r>
                        <a:rPr lang="ru-RU" sz="2400" u="none" baseline="30000" dirty="0"/>
                        <a:t>*</a:t>
                      </a:r>
                      <a:r>
                        <a:rPr lang="ru-RU" sz="2400" u="none" baseline="0" dirty="0"/>
                        <a:t>?</a:t>
                      </a:r>
                      <a:endParaRPr lang="ru-RU" sz="2400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We need up to 16 string comparisons to find a file.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043" y="6163272"/>
            <a:ext cx="8850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0975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0051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53798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930676"/>
              </p:ext>
            </p:extLst>
          </p:nvPr>
        </p:nvGraphicFramePr>
        <p:xfrm>
          <a:off x="0" y="365760"/>
          <a:ext cx="12192000" cy="47523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 problem that a file system must solve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none" baseline="0" dirty="0"/>
                        <a:t>how does one store a list of files</a:t>
                      </a:r>
                      <a:r>
                        <a:rPr lang="ru-RU" sz="2400" u="none" baseline="30000" dirty="0"/>
                        <a:t>*</a:t>
                      </a:r>
                      <a:r>
                        <a:rPr lang="ru-RU" sz="2400" u="none" baseline="0" dirty="0"/>
                        <a:t>?</a:t>
                      </a:r>
                      <a:endParaRPr lang="ru-RU" sz="2400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balanced binary search tree: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We need up to 16 string comparisons to find a file.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need at most 4 comparisons to find a file.</a:t>
                      </a:r>
                      <a:r>
                        <a:rPr lang="en-US" baseline="0" dirty="0"/>
                        <a:t> Win?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043" y="6163272"/>
            <a:ext cx="8850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457767" y="2236185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359611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584443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file5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766179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file0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953043" y="382311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991011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file4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177875" y="381507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file6</a:t>
            </a:r>
            <a:endParaRPr lang="ru-RU" dirty="0"/>
          </a:p>
        </p:txBody>
      </p:sp>
      <p:cxnSp>
        <p:nvCxnSpPr>
          <p:cNvPr id="21" name="Straight Arrow Connector 20"/>
          <p:cNvCxnSpPr>
            <a:stCxn id="9" idx="2"/>
          </p:cNvCxnSpPr>
          <p:nvPr/>
        </p:nvCxnSpPr>
        <p:spPr>
          <a:xfrm flipH="1">
            <a:off x="6656327" y="2605517"/>
            <a:ext cx="109815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0"/>
          </p:cNvCxnSpPr>
          <p:nvPr/>
        </p:nvCxnSpPr>
        <p:spPr>
          <a:xfrm>
            <a:off x="7754483" y="2605517"/>
            <a:ext cx="112667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2"/>
          </p:cNvCxnSpPr>
          <p:nvPr/>
        </p:nvCxnSpPr>
        <p:spPr>
          <a:xfrm flipH="1">
            <a:off x="6062895" y="3357016"/>
            <a:ext cx="593432" cy="441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0"/>
          </p:cNvCxnSpPr>
          <p:nvPr/>
        </p:nvCxnSpPr>
        <p:spPr>
          <a:xfrm>
            <a:off x="6656327" y="3367104"/>
            <a:ext cx="593432" cy="456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2"/>
            <a:endCxn id="14" idx="0"/>
          </p:cNvCxnSpPr>
          <p:nvPr/>
        </p:nvCxnSpPr>
        <p:spPr>
          <a:xfrm flipH="1">
            <a:off x="8287727" y="3357016"/>
            <a:ext cx="593432" cy="4623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5" idx="0"/>
          </p:cNvCxnSpPr>
          <p:nvPr/>
        </p:nvCxnSpPr>
        <p:spPr>
          <a:xfrm>
            <a:off x="8881159" y="3357016"/>
            <a:ext cx="593432" cy="458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74591" y="1447691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11039151" y="2236185"/>
            <a:ext cx="710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file11</a:t>
            </a:r>
            <a:endParaRPr lang="ru-RU" dirty="0"/>
          </a:p>
        </p:txBody>
      </p:sp>
      <p:cxnSp>
        <p:nvCxnSpPr>
          <p:cNvPr id="43" name="Straight Arrow Connector 42"/>
          <p:cNvCxnSpPr>
            <a:stCxn id="40" idx="2"/>
            <a:endCxn id="9" idx="0"/>
          </p:cNvCxnSpPr>
          <p:nvPr/>
        </p:nvCxnSpPr>
        <p:spPr>
          <a:xfrm flipH="1">
            <a:off x="7754483" y="1817023"/>
            <a:ext cx="2016824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2"/>
            <a:endCxn id="41" idx="0"/>
          </p:cNvCxnSpPr>
          <p:nvPr/>
        </p:nvCxnSpPr>
        <p:spPr>
          <a:xfrm>
            <a:off x="9771307" y="1817023"/>
            <a:ext cx="1623070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2"/>
          </p:cNvCxnSpPr>
          <p:nvPr/>
        </p:nvCxnSpPr>
        <p:spPr>
          <a:xfrm flipH="1">
            <a:off x="11039151" y="2605517"/>
            <a:ext cx="355226" cy="293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1" idx="2"/>
          </p:cNvCxnSpPr>
          <p:nvPr/>
        </p:nvCxnSpPr>
        <p:spPr>
          <a:xfrm>
            <a:off x="11394377" y="2605517"/>
            <a:ext cx="355225" cy="280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594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0227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13697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253431"/>
              </p:ext>
            </p:extLst>
          </p:nvPr>
        </p:nvGraphicFramePr>
        <p:xfrm>
          <a:off x="0" y="365760"/>
          <a:ext cx="12192000" cy="47523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 problem that a file system must solve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none" baseline="0" dirty="0"/>
                        <a:t>how does one store a list of files</a:t>
                      </a:r>
                      <a:r>
                        <a:rPr lang="ru-RU" sz="2400" u="none" baseline="30000" dirty="0"/>
                        <a:t>*</a:t>
                      </a:r>
                      <a:r>
                        <a:rPr lang="ru-RU" sz="2400" u="none" baseline="0" dirty="0"/>
                        <a:t>?</a:t>
                      </a:r>
                      <a:endParaRPr lang="ru-RU" sz="2400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balanced binary search tree: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We need up to 16 string comparisons to find a file.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need at most 4 comparisons to find a file.</a:t>
                      </a:r>
                      <a:r>
                        <a:rPr lang="en-US" baseline="0" dirty="0"/>
                        <a:t> Win?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043" y="6163272"/>
            <a:ext cx="8850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457767" y="2236185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359611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584443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file5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766179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file0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953043" y="382311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991011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file4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177875" y="381507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file6</a:t>
            </a:r>
            <a:endParaRPr lang="ru-RU" dirty="0"/>
          </a:p>
        </p:txBody>
      </p:sp>
      <p:cxnSp>
        <p:nvCxnSpPr>
          <p:cNvPr id="21" name="Straight Arrow Connector 20"/>
          <p:cNvCxnSpPr>
            <a:stCxn id="9" idx="2"/>
          </p:cNvCxnSpPr>
          <p:nvPr/>
        </p:nvCxnSpPr>
        <p:spPr>
          <a:xfrm flipH="1">
            <a:off x="6656327" y="2605517"/>
            <a:ext cx="109815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0"/>
          </p:cNvCxnSpPr>
          <p:nvPr/>
        </p:nvCxnSpPr>
        <p:spPr>
          <a:xfrm>
            <a:off x="7754483" y="2605517"/>
            <a:ext cx="112667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2"/>
          </p:cNvCxnSpPr>
          <p:nvPr/>
        </p:nvCxnSpPr>
        <p:spPr>
          <a:xfrm flipH="1">
            <a:off x="6062895" y="3357016"/>
            <a:ext cx="593432" cy="441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0"/>
          </p:cNvCxnSpPr>
          <p:nvPr/>
        </p:nvCxnSpPr>
        <p:spPr>
          <a:xfrm>
            <a:off x="6656327" y="3367104"/>
            <a:ext cx="593432" cy="456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2"/>
            <a:endCxn id="14" idx="0"/>
          </p:cNvCxnSpPr>
          <p:nvPr/>
        </p:nvCxnSpPr>
        <p:spPr>
          <a:xfrm flipH="1">
            <a:off x="8287727" y="3357016"/>
            <a:ext cx="593432" cy="4623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5" idx="0"/>
          </p:cNvCxnSpPr>
          <p:nvPr/>
        </p:nvCxnSpPr>
        <p:spPr>
          <a:xfrm>
            <a:off x="8881159" y="3357016"/>
            <a:ext cx="593432" cy="458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74591" y="1447691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11039151" y="2236185"/>
            <a:ext cx="710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file11</a:t>
            </a:r>
            <a:endParaRPr lang="ru-RU" dirty="0"/>
          </a:p>
        </p:txBody>
      </p:sp>
      <p:cxnSp>
        <p:nvCxnSpPr>
          <p:cNvPr id="43" name="Straight Arrow Connector 42"/>
          <p:cNvCxnSpPr>
            <a:stCxn id="40" idx="2"/>
            <a:endCxn id="9" idx="0"/>
          </p:cNvCxnSpPr>
          <p:nvPr/>
        </p:nvCxnSpPr>
        <p:spPr>
          <a:xfrm flipH="1">
            <a:off x="7754483" y="1817023"/>
            <a:ext cx="2016824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2"/>
            <a:endCxn id="41" idx="0"/>
          </p:cNvCxnSpPr>
          <p:nvPr/>
        </p:nvCxnSpPr>
        <p:spPr>
          <a:xfrm>
            <a:off x="9771307" y="1817023"/>
            <a:ext cx="1623070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2"/>
          </p:cNvCxnSpPr>
          <p:nvPr/>
        </p:nvCxnSpPr>
        <p:spPr>
          <a:xfrm flipH="1">
            <a:off x="11039151" y="2605517"/>
            <a:ext cx="355226" cy="293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1" idx="2"/>
          </p:cNvCxnSpPr>
          <p:nvPr/>
        </p:nvCxnSpPr>
        <p:spPr>
          <a:xfrm>
            <a:off x="11394377" y="2605517"/>
            <a:ext cx="355225" cy="280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098" y="4527728"/>
            <a:ext cx="1936564" cy="163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2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38579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2101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 descr="Image result for hdd he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227303"/>
            <a:ext cx="6457950" cy="430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0272" y="560173"/>
            <a:ext cx="8686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reader head needs to be positioned very precisely. It takes much time to reposition it</a:t>
            </a:r>
            <a:br>
              <a:rPr lang="en-US" dirty="0"/>
            </a:br>
            <a:r>
              <a:rPr lang="en-US" dirty="0"/>
              <a:t>which makes random reads from HDD very slow. For reference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speed of sequential reads from an HDD is </a:t>
            </a:r>
            <a:r>
              <a:rPr lang="ru-RU" dirty="0"/>
              <a:t>≈100 </a:t>
            </a:r>
            <a:r>
              <a:rPr lang="en-US" dirty="0"/>
              <a:t>MB/sec, which is</a:t>
            </a:r>
            <a:r>
              <a:rPr lang="ru-RU" dirty="0"/>
              <a:t> 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en-US" dirty="0"/>
              <a:t> per</a:t>
            </a:r>
            <a:r>
              <a:rPr lang="ru-RU" dirty="0"/>
              <a:t> 1 </a:t>
            </a:r>
            <a:r>
              <a:rPr lang="en-US" dirty="0"/>
              <a:t>MB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to reposition the reader head is also </a:t>
            </a:r>
            <a:r>
              <a:rPr lang="ru-RU" dirty="0"/>
              <a:t>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77B5F-8723-E043-A842-41A2C8F5D6E2}"/>
              </a:ext>
            </a:extLst>
          </p:cNvPr>
          <p:cNvSpPr txBox="1"/>
          <p:nvPr/>
        </p:nvSpPr>
        <p:spPr>
          <a:xfrm>
            <a:off x="9324975" y="3978059"/>
            <a:ext cx="28670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Modern HDDs are more performant. For example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Seagate </a:t>
            </a:r>
            <a:r>
              <a:rPr lang="en-US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Exos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16T does sequential reads at the rate of up to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250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MB/sec and has a 6ms latency of random accesses.</a:t>
            </a:r>
          </a:p>
          <a:p>
            <a:endParaRPr lang="en-US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values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100 MB/sec and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10ms are much handier for estimates.</a:t>
            </a:r>
            <a:endParaRPr lang="en-RU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607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658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9521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 descr="Image result for hdd he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" y="2227303"/>
            <a:ext cx="6457950" cy="430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0272" y="560173"/>
            <a:ext cx="86000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reader head needs to be positioned very precisely. It takes much time to reposition it</a:t>
            </a:r>
            <a:br>
              <a:rPr lang="en-US" dirty="0"/>
            </a:br>
            <a:r>
              <a:rPr lang="en-US" dirty="0"/>
              <a:t>which makes random reads from HDD very slow. For reference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speed of sequential reads from an HDD is </a:t>
            </a:r>
            <a:r>
              <a:rPr lang="ru-RU" dirty="0"/>
              <a:t>≈100 </a:t>
            </a:r>
            <a:r>
              <a:rPr lang="en-US" dirty="0"/>
              <a:t>MB/sec, which is</a:t>
            </a:r>
            <a:r>
              <a:rPr lang="ru-RU" dirty="0"/>
              <a:t> 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en-US" dirty="0"/>
              <a:t> per</a:t>
            </a:r>
            <a:r>
              <a:rPr lang="ru-RU" dirty="0"/>
              <a:t> 1 </a:t>
            </a:r>
            <a:r>
              <a:rPr lang="en-US" dirty="0"/>
              <a:t>MB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to reposition the reader head is also </a:t>
            </a:r>
            <a:r>
              <a:rPr lang="ru-RU" dirty="0"/>
              <a:t>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ru-RU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2076" y="2227303"/>
            <a:ext cx="5338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change the scale and have durations that we see in the everyday life</a:t>
            </a:r>
            <a:r>
              <a:rPr lang="ru-RU" dirty="0"/>
              <a:t>:</a:t>
            </a:r>
          </a:p>
          <a:p>
            <a:r>
              <a:rPr lang="ru-RU" dirty="0"/>
              <a:t>1</a:t>
            </a:r>
            <a:r>
              <a:rPr lang="en-US" dirty="0"/>
              <a:t>ns </a:t>
            </a:r>
            <a:r>
              <a:rPr lang="en-US" dirty="0">
                <a:sym typeface="Wingdings" panose="05000000000000000000" pitchFamily="2" charset="2"/>
              </a:rPr>
              <a:t>---&gt; 1s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224390"/>
              </p:ext>
            </p:extLst>
          </p:nvPr>
        </p:nvGraphicFramePr>
        <p:xfrm>
          <a:off x="6722076" y="3382763"/>
          <a:ext cx="533812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0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L1 latency (Zen 5, 5.5Ghz)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2.5s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L3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</a:t>
                      </a:r>
                      <a:r>
                        <a:rPr lang="en-US" b="1" dirty="0"/>
                        <a:t>80s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512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59289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46520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 descr="Image result for hdd he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" y="2227303"/>
            <a:ext cx="6457950" cy="430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0272" y="560173"/>
            <a:ext cx="86000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reader head needs to be positioned very precisely. It takes much time to reposition it</a:t>
            </a:r>
            <a:br>
              <a:rPr lang="en-US" dirty="0"/>
            </a:br>
            <a:r>
              <a:rPr lang="en-US" dirty="0"/>
              <a:t>which makes random reads from HDD very slow. For reference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speed of sequential reads from an HDD is </a:t>
            </a:r>
            <a:r>
              <a:rPr lang="ru-RU" dirty="0"/>
              <a:t>≈100 </a:t>
            </a:r>
            <a:r>
              <a:rPr lang="en-US" dirty="0"/>
              <a:t>MB/sec, which is</a:t>
            </a:r>
            <a:r>
              <a:rPr lang="ru-RU" dirty="0"/>
              <a:t> 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en-US" dirty="0"/>
              <a:t> per</a:t>
            </a:r>
            <a:r>
              <a:rPr lang="ru-RU" dirty="0"/>
              <a:t> 1 </a:t>
            </a:r>
            <a:r>
              <a:rPr lang="en-US" dirty="0"/>
              <a:t>MB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to reposition the reader head is also </a:t>
            </a:r>
            <a:r>
              <a:rPr lang="ru-RU" dirty="0"/>
              <a:t>≈</a:t>
            </a:r>
            <a:r>
              <a:rPr lang="en-US" dirty="0"/>
              <a:t>10 </a:t>
            </a:r>
            <a:r>
              <a:rPr lang="en-US" dirty="0" err="1"/>
              <a:t>ms</a:t>
            </a:r>
            <a:r>
              <a:rPr lang="ru-RU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2076" y="2227303"/>
            <a:ext cx="5338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change the scale and have durations that we see in the everyday life</a:t>
            </a:r>
            <a:r>
              <a:rPr lang="ru-RU" dirty="0"/>
              <a:t>:</a:t>
            </a:r>
          </a:p>
          <a:p>
            <a:r>
              <a:rPr lang="ru-RU" dirty="0"/>
              <a:t>1</a:t>
            </a:r>
            <a:r>
              <a:rPr lang="en-US" dirty="0"/>
              <a:t>ns </a:t>
            </a:r>
            <a:r>
              <a:rPr lang="en-US" dirty="0">
                <a:sym typeface="Wingdings" panose="05000000000000000000" pitchFamily="2" charset="2"/>
              </a:rPr>
              <a:t>---&gt; 1s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026490"/>
              </p:ext>
            </p:extLst>
          </p:nvPr>
        </p:nvGraphicFramePr>
        <p:xfrm>
          <a:off x="6722076" y="3382763"/>
          <a:ext cx="5338120" cy="2397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0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L1 latency (Zen 5, 5.5Ghz)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2.5s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L3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 latency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≈</a:t>
                      </a:r>
                      <a:r>
                        <a:rPr lang="en-US" b="1" dirty="0"/>
                        <a:t>80s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read from an HDD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116 days only to position the reader head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561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81221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565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03645"/>
              </p:ext>
            </p:extLst>
          </p:nvPr>
        </p:nvGraphicFramePr>
        <p:xfrm>
          <a:off x="0" y="365760"/>
          <a:ext cx="12192000" cy="51189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9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793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A problem that a file system must solve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none" baseline="0" dirty="0"/>
                        <a:t>how does one store a list of files</a:t>
                      </a:r>
                      <a:r>
                        <a:rPr lang="ru-RU" sz="2400" u="none" baseline="30000" dirty="0"/>
                        <a:t>*</a:t>
                      </a:r>
                      <a:r>
                        <a:rPr lang="ru-RU" sz="2400" u="none" baseline="0" dirty="0"/>
                        <a:t>?</a:t>
                      </a:r>
                      <a:endParaRPr lang="ru-RU" sz="2400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 gridSpan="2"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balanced binary search tree: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Jump to the start of the list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r>
                        <a:rPr lang="en-US" dirty="0"/>
                        <a:t>Read the whole list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r>
                        <a:rPr lang="en-US" dirty="0"/>
                        <a:t>Scan the array in RAM</a:t>
                      </a:r>
                      <a:r>
                        <a:rPr lang="en-US" baseline="0" dirty="0"/>
                        <a:t>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≈</a:t>
                      </a:r>
                      <a:r>
                        <a:rPr lang="en-US" dirty="0"/>
                        <a:t>10msec</a:t>
                      </a:r>
                    </a:p>
                    <a:p>
                      <a:r>
                        <a:rPr lang="en-US" dirty="0"/>
                        <a:t>&lt;1msec (&lt;100K)</a:t>
                      </a:r>
                    </a:p>
                    <a:p>
                      <a:r>
                        <a:rPr lang="en-US" dirty="0"/>
                        <a:t>&lt;1msec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 files need 4 or 3 random accesses which translates to latencies above 30 msec.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043" y="6163272"/>
            <a:ext cx="8850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457767" y="2236185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359611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584443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file5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766179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file0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953043" y="382311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991011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file4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177875" y="381507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file6</a:t>
            </a:r>
            <a:endParaRPr lang="ru-RU" dirty="0"/>
          </a:p>
        </p:txBody>
      </p:sp>
      <p:cxnSp>
        <p:nvCxnSpPr>
          <p:cNvPr id="21" name="Straight Arrow Connector 20"/>
          <p:cNvCxnSpPr>
            <a:stCxn id="9" idx="2"/>
          </p:cNvCxnSpPr>
          <p:nvPr/>
        </p:nvCxnSpPr>
        <p:spPr>
          <a:xfrm flipH="1">
            <a:off x="6656327" y="2605517"/>
            <a:ext cx="109815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0"/>
          </p:cNvCxnSpPr>
          <p:nvPr/>
        </p:nvCxnSpPr>
        <p:spPr>
          <a:xfrm>
            <a:off x="7754483" y="2605517"/>
            <a:ext cx="112667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2"/>
          </p:cNvCxnSpPr>
          <p:nvPr/>
        </p:nvCxnSpPr>
        <p:spPr>
          <a:xfrm flipH="1">
            <a:off x="6062895" y="3357016"/>
            <a:ext cx="593432" cy="441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0"/>
          </p:cNvCxnSpPr>
          <p:nvPr/>
        </p:nvCxnSpPr>
        <p:spPr>
          <a:xfrm>
            <a:off x="6656327" y="3367104"/>
            <a:ext cx="593432" cy="456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2"/>
            <a:endCxn id="14" idx="0"/>
          </p:cNvCxnSpPr>
          <p:nvPr/>
        </p:nvCxnSpPr>
        <p:spPr>
          <a:xfrm flipH="1">
            <a:off x="8287727" y="3357016"/>
            <a:ext cx="593432" cy="4623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5" idx="0"/>
          </p:cNvCxnSpPr>
          <p:nvPr/>
        </p:nvCxnSpPr>
        <p:spPr>
          <a:xfrm>
            <a:off x="8881159" y="3357016"/>
            <a:ext cx="593432" cy="458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74591" y="1447691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11039151" y="2236185"/>
            <a:ext cx="710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file11</a:t>
            </a:r>
            <a:endParaRPr lang="ru-RU" dirty="0"/>
          </a:p>
        </p:txBody>
      </p:sp>
      <p:cxnSp>
        <p:nvCxnSpPr>
          <p:cNvPr id="43" name="Straight Arrow Connector 42"/>
          <p:cNvCxnSpPr>
            <a:stCxn id="40" idx="2"/>
            <a:endCxn id="9" idx="0"/>
          </p:cNvCxnSpPr>
          <p:nvPr/>
        </p:nvCxnSpPr>
        <p:spPr>
          <a:xfrm flipH="1">
            <a:off x="7754483" y="1817023"/>
            <a:ext cx="2016824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2"/>
            <a:endCxn id="41" idx="0"/>
          </p:cNvCxnSpPr>
          <p:nvPr/>
        </p:nvCxnSpPr>
        <p:spPr>
          <a:xfrm>
            <a:off x="9771307" y="1817023"/>
            <a:ext cx="1623070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2"/>
          </p:cNvCxnSpPr>
          <p:nvPr/>
        </p:nvCxnSpPr>
        <p:spPr>
          <a:xfrm flipH="1">
            <a:off x="11039151" y="2605517"/>
            <a:ext cx="355226" cy="293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1" idx="2"/>
          </p:cNvCxnSpPr>
          <p:nvPr/>
        </p:nvCxnSpPr>
        <p:spPr>
          <a:xfrm>
            <a:off x="11394377" y="2605517"/>
            <a:ext cx="355225" cy="280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74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944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66446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514065"/>
              </p:ext>
            </p:extLst>
          </p:nvPr>
        </p:nvGraphicFramePr>
        <p:xfrm>
          <a:off x="0" y="365760"/>
          <a:ext cx="12192000" cy="118787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r>
                        <a:rPr lang="en-US" sz="2400" dirty="0"/>
                        <a:t>Kinds of storage devices: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 (Hard Disk Drive, a.k.a.</a:t>
                      </a:r>
                      <a:r>
                        <a:rPr lang="en-US" baseline="0" dirty="0"/>
                        <a:t> Rotating drive,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a.k.a. Spinning rust)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sequential access is reasonably fast</a:t>
                      </a:r>
                      <a:r>
                        <a:rPr lang="en-US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250 MB/sec</a:t>
                      </a:r>
                      <a:r>
                        <a:rPr lang="en-US" baseline="0" dirty="0"/>
                        <a:t>)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- </a:t>
                      </a:r>
                      <a:r>
                        <a:rPr lang="en-US" baseline="0" dirty="0"/>
                        <a:t>random access is very slow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100 IOPS*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D8BDE3-57D5-89FC-BE8F-DE795D0F6EE8}"/>
              </a:ext>
            </a:extLst>
          </p:cNvPr>
          <p:cNvSpPr txBox="1"/>
          <p:nvPr/>
        </p:nvSpPr>
        <p:spPr>
          <a:xfrm>
            <a:off x="0" y="5947829"/>
            <a:ext cx="5694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IOPS stands for “Input/output Operations Per Second”.</a:t>
            </a:r>
            <a:b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As per the spec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 SSD DC S3700, </a:t>
            </a:r>
            <a:r>
              <a:rPr lang="en-GB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D7-P5600 and D7-PS1030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GB" sz="1600" i="1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41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5723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0996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12652"/>
              </p:ext>
            </p:extLst>
          </p:nvPr>
        </p:nvGraphicFramePr>
        <p:xfrm>
          <a:off x="0" y="365760"/>
          <a:ext cx="12192000" cy="26509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r>
                        <a:rPr lang="en-US" sz="2400" dirty="0"/>
                        <a:t>Kinds of storage devices: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 (Hard Disk Drive, a.k.a.</a:t>
                      </a:r>
                      <a:r>
                        <a:rPr lang="en-US" baseline="0" dirty="0"/>
                        <a:t> Rotating drive,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a.k.a. Spinning rust)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sequential access is reasonably fast</a:t>
                      </a:r>
                      <a:r>
                        <a:rPr lang="en-US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250 MB/sec</a:t>
                      </a:r>
                      <a:r>
                        <a:rPr lang="en-US" baseline="0" dirty="0"/>
                        <a:t>)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- </a:t>
                      </a:r>
                      <a:r>
                        <a:rPr lang="en-US" baseline="0" dirty="0"/>
                        <a:t>random access is very slow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100 IOPS*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Flash</a:t>
                      </a:r>
                      <a:r>
                        <a:rPr lang="en-US" baseline="0" dirty="0"/>
                        <a:t> memory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fast sequential reads</a:t>
                      </a:r>
                      <a:endParaRPr lang="ru-RU" dirty="0"/>
                    </a:p>
                    <a:p>
                      <a:r>
                        <a:rPr lang="ru-RU" dirty="0"/>
                        <a:t>+ </a:t>
                      </a:r>
                      <a:r>
                        <a:rPr lang="en-US" dirty="0"/>
                        <a:t>no mechanical reader heads to reposition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- no random writes; it is only possible to rewrite whole “rewrite blocks” that are several MB long</a:t>
                      </a:r>
                    </a:p>
                    <a:p>
                      <a:r>
                        <a:rPr lang="en-US" baseline="0" dirty="0"/>
                        <a:t>- low number of rewrite cycles due to physical degradation of memory cells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9B5A1A5-FAF0-2333-A333-E1B29F0F6F0B}"/>
              </a:ext>
            </a:extLst>
          </p:cNvPr>
          <p:cNvSpPr txBox="1"/>
          <p:nvPr/>
        </p:nvSpPr>
        <p:spPr>
          <a:xfrm>
            <a:off x="0" y="5947829"/>
            <a:ext cx="5694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IOPS stands for “Input/output Operations Per Second”.</a:t>
            </a:r>
            <a:b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As per the spec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 SSD DC S3700, </a:t>
            </a:r>
            <a:r>
              <a:rPr lang="en-GB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D7-P5600 and D7-PS1030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GB" sz="1600" i="1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69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5609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9754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57767"/>
              </p:ext>
            </p:extLst>
          </p:nvPr>
        </p:nvGraphicFramePr>
        <p:xfrm>
          <a:off x="0" y="365760"/>
          <a:ext cx="12192000" cy="35653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r>
                        <a:rPr lang="en-US" sz="2400" dirty="0"/>
                        <a:t>Kinds of storage devices: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 (Hard Disk Drive, a.k.a.</a:t>
                      </a:r>
                      <a:r>
                        <a:rPr lang="en-US" baseline="0" dirty="0"/>
                        <a:t> Rotating drive,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a.k.a. Spinning rust)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sequential access is reasonably fast</a:t>
                      </a:r>
                      <a:r>
                        <a:rPr lang="en-US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250 MB/sec</a:t>
                      </a:r>
                      <a:r>
                        <a:rPr lang="en-US" baseline="0" dirty="0"/>
                        <a:t>)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- </a:t>
                      </a:r>
                      <a:r>
                        <a:rPr lang="en-US" baseline="0" dirty="0"/>
                        <a:t>random access is very slow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100 IOPS*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Flash</a:t>
                      </a:r>
                      <a:r>
                        <a:rPr lang="en-US" baseline="0" dirty="0"/>
                        <a:t> memory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fast sequential reads</a:t>
                      </a:r>
                      <a:endParaRPr lang="ru-RU" dirty="0"/>
                    </a:p>
                    <a:p>
                      <a:r>
                        <a:rPr lang="ru-RU" dirty="0"/>
                        <a:t>+ </a:t>
                      </a:r>
                      <a:r>
                        <a:rPr lang="en-US" dirty="0"/>
                        <a:t>no mechanical reader heads to reposition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- no random writes; it is only possible to rewrite whole “rewrite blocks” that are several MB long</a:t>
                      </a:r>
                    </a:p>
                    <a:p>
                      <a:r>
                        <a:rPr lang="en-US" baseline="0" dirty="0"/>
                        <a:t>- low number of rewrite cycles due to physical degradation of memory cells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  <a:r>
                        <a:rPr lang="en-US" baseline="0" dirty="0"/>
                        <a:t> (Solid State Drive), SATA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Flash + a computer that hides the complexity of managing </a:t>
                      </a:r>
                      <a:r>
                        <a:rPr lang="en-US" baseline="0" dirty="0"/>
                        <a:t>“rewrite blocks”.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+ </a:t>
                      </a:r>
                      <a:r>
                        <a:rPr lang="en-US" baseline="0" dirty="0"/>
                        <a:t>fast sequential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ru-RU" baseline="0" dirty="0"/>
                        <a:t>500</a:t>
                      </a:r>
                      <a:r>
                        <a:rPr lang="en-US" baseline="0" dirty="0"/>
                        <a:t> MB/sec sequential read</a:t>
                      </a:r>
                      <a:r>
                        <a:rPr lang="en-US" baseline="30000" dirty="0"/>
                        <a:t>*</a:t>
                      </a:r>
                      <a:r>
                        <a:rPr lang="ru-RU" baseline="0" dirty="0"/>
                        <a:t>)</a:t>
                      </a: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+ fast random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75.000 IOPS)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45D82AB-616F-74EA-7C1C-3BECEBE7060C}"/>
              </a:ext>
            </a:extLst>
          </p:cNvPr>
          <p:cNvSpPr txBox="1"/>
          <p:nvPr/>
        </p:nvSpPr>
        <p:spPr>
          <a:xfrm>
            <a:off x="0" y="5947829"/>
            <a:ext cx="5694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IOPS stands for “Input/output Operations Per Second”.</a:t>
            </a:r>
            <a:b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As per the spec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 SSD DC S3700, </a:t>
            </a:r>
            <a:r>
              <a:rPr lang="en-GB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D7-P5600 and D7-PS1030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GB" sz="1600" i="1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535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285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3262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236680"/>
              </p:ext>
            </p:extLst>
          </p:nvPr>
        </p:nvGraphicFramePr>
        <p:xfrm>
          <a:off x="0" y="365760"/>
          <a:ext cx="12192000" cy="420539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r>
                        <a:rPr lang="en-US" sz="2400" dirty="0"/>
                        <a:t>Kinds of storage devices: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 (Hard Disk Drive, a.k.a.</a:t>
                      </a:r>
                      <a:r>
                        <a:rPr lang="en-US" baseline="0" dirty="0"/>
                        <a:t> Rotating drive,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a.k.a. Spinning rust)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sequential access is reasonably fast</a:t>
                      </a:r>
                      <a:r>
                        <a:rPr lang="en-US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250 MB/sec</a:t>
                      </a:r>
                      <a:r>
                        <a:rPr lang="en-US" baseline="0" dirty="0"/>
                        <a:t>)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- </a:t>
                      </a:r>
                      <a:r>
                        <a:rPr lang="en-US" baseline="0" dirty="0"/>
                        <a:t>random access is very slow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100 IOPS*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Flash</a:t>
                      </a:r>
                      <a:r>
                        <a:rPr lang="en-US" baseline="0" dirty="0"/>
                        <a:t> memory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fast sequential reads</a:t>
                      </a:r>
                      <a:endParaRPr lang="ru-RU" dirty="0"/>
                    </a:p>
                    <a:p>
                      <a:r>
                        <a:rPr lang="ru-RU" dirty="0"/>
                        <a:t>+ </a:t>
                      </a:r>
                      <a:r>
                        <a:rPr lang="en-US" dirty="0"/>
                        <a:t>no mechanical reader heads to reposition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- no random writes; it is only possible to rewrite whole “rewrite blocks” that are several MB long</a:t>
                      </a:r>
                    </a:p>
                    <a:p>
                      <a:r>
                        <a:rPr lang="en-US" baseline="0" dirty="0"/>
                        <a:t>- low number of rewrite cycles due to physical degradation of memory cells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  <a:r>
                        <a:rPr lang="en-US" baseline="0" dirty="0"/>
                        <a:t> (Solid State Drive), SATA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Flash + a computer that hides the complexity of managing </a:t>
                      </a:r>
                      <a:r>
                        <a:rPr lang="en-US" baseline="0" dirty="0"/>
                        <a:t>“rewrite blocks”.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+ </a:t>
                      </a:r>
                      <a:r>
                        <a:rPr lang="en-US" baseline="0" dirty="0"/>
                        <a:t>fast sequential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ru-RU" baseline="0" dirty="0"/>
                        <a:t>500</a:t>
                      </a:r>
                      <a:r>
                        <a:rPr lang="en-US" baseline="0" dirty="0"/>
                        <a:t> MB/sec sequential read</a:t>
                      </a:r>
                      <a:r>
                        <a:rPr lang="en-US" baseline="30000" dirty="0"/>
                        <a:t>*</a:t>
                      </a:r>
                      <a:r>
                        <a:rPr lang="ru-RU" baseline="0" dirty="0"/>
                        <a:t>)</a:t>
                      </a: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+ fast random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75.000 IOPS)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SSD, </a:t>
                      </a:r>
                      <a:r>
                        <a:rPr lang="en-US" dirty="0" err="1"/>
                        <a:t>NVMe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SSD with a faster interface: 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5 GB/sec sequential read, 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1M IOPS* (PCIe3-era devices). PCIe5 devices are faster yet: 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15 GB/sec sequential read, 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2.3M IOPS.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355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DB9986-E5DD-54E4-0EE1-F69B05D511B9}"/>
              </a:ext>
            </a:extLst>
          </p:cNvPr>
          <p:cNvSpPr txBox="1"/>
          <p:nvPr/>
        </p:nvSpPr>
        <p:spPr>
          <a:xfrm>
            <a:off x="0" y="5947829"/>
            <a:ext cx="5694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IOPS stands for “Input/output Operations Per Second”.</a:t>
            </a:r>
            <a:b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As per the spec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 SSD DC S3700, </a:t>
            </a:r>
            <a:r>
              <a:rPr lang="en-GB" sz="1600" i="1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D7-P5600 and D7-PS1030</a:t>
            </a:r>
            <a:r>
              <a:rPr lang="en-US" sz="1600" i="1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GB" sz="1600" i="1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7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3441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17664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538239"/>
              </p:ext>
            </p:extLst>
          </p:nvPr>
        </p:nvGraphicFramePr>
        <p:xfrm>
          <a:off x="0" y="365760"/>
          <a:ext cx="12192000" cy="53941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>
                  <a:txBody>
                    <a:bodyPr/>
                    <a:lstStyle/>
                    <a:p>
                      <a:r>
                        <a:rPr lang="en-US" sz="2400" dirty="0"/>
                        <a:t>Kinds of storage devices: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 (Hard Disk Drive, a.k.a.</a:t>
                      </a:r>
                      <a:r>
                        <a:rPr lang="en-US" baseline="0" dirty="0"/>
                        <a:t> Rotating drive,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a.k.a. Spinning rust)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sequential access is reasonably fast</a:t>
                      </a:r>
                      <a:r>
                        <a:rPr lang="en-US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250 MB/sec</a:t>
                      </a:r>
                      <a:r>
                        <a:rPr lang="en-US" baseline="0" dirty="0"/>
                        <a:t>)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- </a:t>
                      </a:r>
                      <a:r>
                        <a:rPr lang="en-US" baseline="0" dirty="0"/>
                        <a:t>random access is very slow (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100 IOPS*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Flash</a:t>
                      </a:r>
                      <a:r>
                        <a:rPr lang="en-US" baseline="0" dirty="0"/>
                        <a:t> memory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fast sequential reads</a:t>
                      </a:r>
                      <a:endParaRPr lang="ru-RU" dirty="0"/>
                    </a:p>
                    <a:p>
                      <a:r>
                        <a:rPr lang="ru-RU" dirty="0"/>
                        <a:t>+ </a:t>
                      </a:r>
                      <a:r>
                        <a:rPr lang="en-US" dirty="0"/>
                        <a:t>no mechanical reader heads to reposition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- no random writes; it is only possible to rewrite whole “rewrite blocks” that are several MB long</a:t>
                      </a:r>
                    </a:p>
                    <a:p>
                      <a:r>
                        <a:rPr lang="en-US" baseline="0" dirty="0"/>
                        <a:t>- low number of rewrite cycles due to physical degradation of memory cells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  <a:r>
                        <a:rPr lang="en-US" baseline="0" dirty="0"/>
                        <a:t> (Solid State Drive), SATA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Flash + a computer that hides the complexity of managing </a:t>
                      </a:r>
                      <a:r>
                        <a:rPr lang="en-US" baseline="0" dirty="0"/>
                        <a:t>“rewrite blocks”.</a:t>
                      </a:r>
                      <a:endParaRPr lang="ru-RU" baseline="0" dirty="0"/>
                    </a:p>
                    <a:p>
                      <a:r>
                        <a:rPr lang="ru-RU" baseline="0" dirty="0"/>
                        <a:t>+ </a:t>
                      </a:r>
                      <a:r>
                        <a:rPr lang="en-US" baseline="0" dirty="0"/>
                        <a:t>fast sequential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ru-RU" baseline="0" dirty="0"/>
                        <a:t>500</a:t>
                      </a:r>
                      <a:r>
                        <a:rPr lang="en-US" baseline="0" dirty="0"/>
                        <a:t> MB/sec sequential read</a:t>
                      </a:r>
                      <a:r>
                        <a:rPr lang="en-US" baseline="30000" dirty="0"/>
                        <a:t>*</a:t>
                      </a:r>
                      <a:r>
                        <a:rPr lang="ru-RU" baseline="0" dirty="0"/>
                        <a:t>)</a:t>
                      </a: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+ fast random access</a:t>
                      </a:r>
                      <a:r>
                        <a:rPr lang="ru-RU" baseline="0" dirty="0"/>
                        <a:t> (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75.000 IOPS)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SSD, </a:t>
                      </a:r>
                      <a:r>
                        <a:rPr lang="en-US" dirty="0" err="1"/>
                        <a:t>NVMe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SSD with a faster interface: 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5 GB/sec sequential read, </a:t>
                      </a:r>
                      <a:r>
                        <a:rPr lang="ru-RU" dirty="0"/>
                        <a:t>≈</a:t>
                      </a:r>
                      <a:r>
                        <a:rPr lang="en-US" baseline="0" dirty="0"/>
                        <a:t>1M IOPS* (PCIe3-era devices). PCIe5 devices are faster yet: 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15 GB/sec sequential read, </a:t>
                      </a:r>
                      <a:r>
                        <a:rPr lang="ru-RU" dirty="0"/>
                        <a:t>≈</a:t>
                      </a:r>
                      <a:r>
                        <a:rPr lang="en-US" dirty="0"/>
                        <a:t>2.3M IOPS.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355593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Storage-class memory (3D cross-point memory, etc.)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Byte-addressable non-volatile random-access memory that connects to PCI-e or DRAM busses. “Non-volatile” means “does not lose data when powered off”</a:t>
                      </a:r>
                      <a:r>
                        <a:rPr lang="ru-RU" baseline="0" dirty="0"/>
                        <a:t>.</a:t>
                      </a:r>
                    </a:p>
                    <a:p>
                      <a:r>
                        <a:rPr lang="ru-RU" baseline="0" dirty="0"/>
                        <a:t>+ </a:t>
                      </a:r>
                      <a:r>
                        <a:rPr lang="en-US" baseline="0" dirty="0"/>
                        <a:t>the bandwidth and latency is comparable to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DRAM,</a:t>
                      </a:r>
                    </a:p>
                    <a:p>
                      <a:r>
                        <a:rPr lang="en-US" baseline="0" dirty="0"/>
                        <a:t>+ the size is up to single-digit terabytes.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5947829"/>
            <a:ext cx="5694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IOPS stands for “Input/output Operations Per Second”.</a:t>
            </a:r>
            <a:b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As per the spec of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 SSD DC S3700, </a:t>
            </a:r>
            <a:r>
              <a:rPr lang="en-GB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D7-P5600 and D7-PS1030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GB" sz="1600" i="1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857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BE5FB-5560-8BD3-3384-70508830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924138-2AC3-4B45-A130-152304EEDC9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0598F4-870D-2360-C223-330A7A99BD5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0C7187-2F65-1A9D-5839-B6F4F27D6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13420"/>
              </p:ext>
            </p:extLst>
          </p:nvPr>
        </p:nvGraphicFramePr>
        <p:xfrm>
          <a:off x="0" y="365760"/>
          <a:ext cx="12192001" cy="28329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5925">
                  <a:extLst>
                    <a:ext uri="{9D8B030D-6E8A-4147-A177-3AD203B41FA5}">
                      <a16:colId xmlns:a16="http://schemas.microsoft.com/office/drawing/2014/main" val="538305508"/>
                    </a:ext>
                  </a:extLst>
                </a:gridCol>
              </a:tblGrid>
              <a:tr h="547793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Different storage technologies need very different algorithms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HDDs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SSDs (SATA)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SSDs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IO schedulers, prediction, etc.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Low-overhead queues management</a:t>
                      </a:r>
                    </a:p>
                    <a:p>
                      <a:endParaRPr lang="en-US" dirty="0"/>
                    </a:p>
                    <a:p>
                      <a:r>
                        <a:rPr lang="en-GB" dirty="0">
                          <a:hlinkClick r:id="rId3"/>
                        </a:rPr>
                        <a:t>https://lwn.net/Articles/720675/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offload, p2p DMA, etc.</a:t>
                      </a:r>
                    </a:p>
                    <a:p>
                      <a:endParaRPr lang="en-US" dirty="0"/>
                    </a:p>
                    <a:p>
                      <a:r>
                        <a:rPr lang="en-GB" dirty="0">
                          <a:hlinkClick r:id="rId4"/>
                        </a:rPr>
                        <a:t>https://lwn.net/Articles/931668/</a:t>
                      </a:r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>
                          <a:hlinkClick r:id="rId5"/>
                        </a:rPr>
                        <a:t>https://people.freebsd.org/~gallatin/talks/euro2022.pdf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36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809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8764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1359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50856"/>
              </p:ext>
            </p:extLst>
          </p:nvPr>
        </p:nvGraphicFramePr>
        <p:xfrm>
          <a:off x="0" y="365762"/>
          <a:ext cx="12192000" cy="57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212">
                <a:tc>
                  <a:txBody>
                    <a:bodyPr/>
                    <a:lstStyle/>
                    <a:p>
                      <a:r>
                        <a:rPr lang="en-US" sz="3200" dirty="0"/>
                        <a:t>APIs for working with file systems: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41838" y="1359128"/>
            <a:ext cx="790832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operating system must hide hardware details from applications and provide a single API that can be used with different underlying storages.</a:t>
            </a:r>
            <a:br>
              <a:rPr lang="ru-RU" sz="2400" dirty="0"/>
            </a:br>
            <a:br>
              <a:rPr lang="ru-RU" sz="2400" dirty="0"/>
            </a:b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POSIX (Portable Operating System Interface),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Windows API.</a:t>
            </a:r>
          </a:p>
        </p:txBody>
      </p:sp>
    </p:spTree>
    <p:extLst>
      <p:ext uri="{BB962C8B-B14F-4D97-AF65-F5344CB8AC3E}">
        <p14:creationId xmlns:p14="http://schemas.microsoft.com/office/powerpoint/2010/main" val="1984491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8755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70015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0363"/>
              </p:ext>
            </p:extLst>
          </p:nvPr>
        </p:nvGraphicFramePr>
        <p:xfrm>
          <a:off x="0" y="365762"/>
          <a:ext cx="6096000" cy="9284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3">
                <a:tc>
                  <a:txBody>
                    <a:bodyPr/>
                    <a:lstStyle/>
                    <a:p>
                      <a:r>
                        <a:rPr lang="en-US" dirty="0"/>
                        <a:t>A file system is a tree of directories and files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543" y="1471614"/>
            <a:ext cx="14478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16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46765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9638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15792"/>
              </p:ext>
            </p:extLst>
          </p:nvPr>
        </p:nvGraphicFramePr>
        <p:xfrm>
          <a:off x="0" y="365762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3">
                <a:tc>
                  <a:txBody>
                    <a:bodyPr/>
                    <a:lstStyle/>
                    <a:p>
                      <a:r>
                        <a:rPr lang="en-US" dirty="0"/>
                        <a:t>A file system is a tree of directories and files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Windows, a file system is a collection of trees that Windows calls “drives”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71614"/>
            <a:ext cx="3876675" cy="1628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46122"/>
            <a:ext cx="4924425" cy="1209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543" y="1471614"/>
            <a:ext cx="14478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10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96046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899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81045"/>
              </p:ext>
            </p:extLst>
          </p:nvPr>
        </p:nvGraphicFramePr>
        <p:xfrm>
          <a:off x="0" y="365762"/>
          <a:ext cx="12192000" cy="5852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3">
                <a:tc>
                  <a:txBody>
                    <a:bodyPr/>
                    <a:lstStyle/>
                    <a:p>
                      <a:r>
                        <a:rPr lang="en-US" dirty="0"/>
                        <a:t>A file system is a tree of directories and files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Windows, a file system is a collection of trees that Windows calls “drives”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Filesystem Hierarchy Standard:</a:t>
                      </a:r>
                    </a:p>
                    <a:p>
                      <a:r>
                        <a:rPr lang="en-US" dirty="0"/>
                        <a:t>Linux:</a:t>
                      </a:r>
                    </a:p>
                    <a:p>
                      <a:r>
                        <a:rPr lang="en-US" dirty="0">
                          <a:hlinkClick r:id="rId3"/>
                        </a:rPr>
                        <a:t>http://refspecs.linuxfoundation.org/FHS_2.3/fhs-2.3.pdf</a:t>
                      </a:r>
                      <a:endParaRPr lang="en-US" dirty="0"/>
                    </a:p>
                    <a:p>
                      <a:r>
                        <a:rPr lang="en-US" dirty="0"/>
                        <a:t>FreeBSD: </a:t>
                      </a:r>
                      <a:r>
                        <a:rPr lang="en-US" dirty="0">
                          <a:hlinkClick r:id="rId4"/>
                        </a:rPr>
                        <a:t>https://www.freebsd.org/doc/handbook/dirstructure.html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71614"/>
            <a:ext cx="3876675" cy="1628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246122"/>
            <a:ext cx="4924425" cy="1209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543" y="1471614"/>
            <a:ext cx="14478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89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0408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9717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042183"/>
              </p:ext>
            </p:extLst>
          </p:nvPr>
        </p:nvGraphicFramePr>
        <p:xfrm>
          <a:off x="0" y="365762"/>
          <a:ext cx="12192000" cy="5852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3">
                <a:tc>
                  <a:txBody>
                    <a:bodyPr/>
                    <a:lstStyle/>
                    <a:p>
                      <a:r>
                        <a:rPr lang="en-US" dirty="0"/>
                        <a:t>A file system is a tree of directories and files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Windows, a file system is a collection of trees that Windows calls “drives”</a:t>
                      </a:r>
                      <a:r>
                        <a:rPr lang="ru-RU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r>
                        <a:rPr lang="en-US" dirty="0"/>
                        <a:t>Filesystem Hierarchy Standard:</a:t>
                      </a:r>
                    </a:p>
                    <a:p>
                      <a:r>
                        <a:rPr lang="en-US" dirty="0"/>
                        <a:t>Linux:</a:t>
                      </a:r>
                    </a:p>
                    <a:p>
                      <a:r>
                        <a:rPr lang="en-US" dirty="0">
                          <a:hlinkClick r:id="rId3"/>
                        </a:rPr>
                        <a:t>http://refspecs.linuxfoundation.org/FHS_2.3/fhs-2.3.pdf</a:t>
                      </a:r>
                      <a:endParaRPr lang="en-US" dirty="0"/>
                    </a:p>
                    <a:p>
                      <a:r>
                        <a:rPr lang="en-US" dirty="0"/>
                        <a:t>FreeBSD: </a:t>
                      </a:r>
                      <a:r>
                        <a:rPr lang="en-US" dirty="0">
                          <a:hlinkClick r:id="rId4"/>
                        </a:rPr>
                        <a:t>https://www.freebsd.org/doc/handbook/dirstructure.html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\Global??\C:\foo\bar.txt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71614"/>
            <a:ext cx="3876675" cy="1628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246122"/>
            <a:ext cx="4924425" cy="1209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543" y="1471614"/>
            <a:ext cx="14478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4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4276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24286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20816"/>
              </p:ext>
            </p:extLst>
          </p:nvPr>
        </p:nvGraphicFramePr>
        <p:xfrm>
          <a:off x="0" y="365762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744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 ambiguity in the terminology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3">
                <a:tc>
                  <a:txBody>
                    <a:bodyPr/>
                    <a:lstStyle/>
                    <a:p>
                      <a:r>
                        <a:rPr lang="en-US" dirty="0"/>
                        <a:t>A file system is a hierarchy of directories and files presented to a user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file system is a mechanism of storing files and directories on a storage device.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543" y="1471614"/>
            <a:ext cx="1447800" cy="2914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71614"/>
            <a:ext cx="3876675" cy="1628775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6870357" y="1911178"/>
            <a:ext cx="518984" cy="272800"/>
          </a:xfrm>
          <a:custGeom>
            <a:avLst/>
            <a:gdLst>
              <a:gd name="connsiteX0" fmla="*/ 518984 w 518984"/>
              <a:gd name="connsiteY0" fmla="*/ 123568 h 272800"/>
              <a:gd name="connsiteX1" fmla="*/ 477794 w 518984"/>
              <a:gd name="connsiteY1" fmla="*/ 90617 h 272800"/>
              <a:gd name="connsiteX2" fmla="*/ 411892 w 518984"/>
              <a:gd name="connsiteY2" fmla="*/ 32952 h 272800"/>
              <a:gd name="connsiteX3" fmla="*/ 337751 w 518984"/>
              <a:gd name="connsiteY3" fmla="*/ 0 h 272800"/>
              <a:gd name="connsiteX4" fmla="*/ 222421 w 518984"/>
              <a:gd name="connsiteY4" fmla="*/ 8238 h 272800"/>
              <a:gd name="connsiteX5" fmla="*/ 181232 w 518984"/>
              <a:gd name="connsiteY5" fmla="*/ 16476 h 272800"/>
              <a:gd name="connsiteX6" fmla="*/ 74140 w 518984"/>
              <a:gd name="connsiteY6" fmla="*/ 24714 h 272800"/>
              <a:gd name="connsiteX7" fmla="*/ 16475 w 518984"/>
              <a:gd name="connsiteY7" fmla="*/ 41190 h 272800"/>
              <a:gd name="connsiteX8" fmla="*/ 0 w 518984"/>
              <a:gd name="connsiteY8" fmla="*/ 65903 h 272800"/>
              <a:gd name="connsiteX9" fmla="*/ 8238 w 518984"/>
              <a:gd name="connsiteY9" fmla="*/ 197708 h 272800"/>
              <a:gd name="connsiteX10" fmla="*/ 16475 w 518984"/>
              <a:gd name="connsiteY10" fmla="*/ 222422 h 272800"/>
              <a:gd name="connsiteX11" fmla="*/ 41189 w 518984"/>
              <a:gd name="connsiteY11" fmla="*/ 230660 h 272800"/>
              <a:gd name="connsiteX12" fmla="*/ 65902 w 518984"/>
              <a:gd name="connsiteY12" fmla="*/ 255373 h 272800"/>
              <a:gd name="connsiteX13" fmla="*/ 90616 w 518984"/>
              <a:gd name="connsiteY13" fmla="*/ 263611 h 272800"/>
              <a:gd name="connsiteX14" fmla="*/ 329513 w 518984"/>
              <a:gd name="connsiteY14" fmla="*/ 271849 h 272800"/>
              <a:gd name="connsiteX15" fmla="*/ 469557 w 518984"/>
              <a:gd name="connsiteY15" fmla="*/ 263611 h 272800"/>
              <a:gd name="connsiteX16" fmla="*/ 494270 w 518984"/>
              <a:gd name="connsiteY16" fmla="*/ 189471 h 272800"/>
              <a:gd name="connsiteX17" fmla="*/ 518984 w 518984"/>
              <a:gd name="connsiteY17" fmla="*/ 123568 h 2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8984" h="272800">
                <a:moveTo>
                  <a:pt x="518984" y="123568"/>
                </a:moveTo>
                <a:cubicBezTo>
                  <a:pt x="505254" y="112584"/>
                  <a:pt x="490227" y="103050"/>
                  <a:pt x="477794" y="90617"/>
                </a:cubicBezTo>
                <a:cubicBezTo>
                  <a:pt x="444154" y="56977"/>
                  <a:pt x="481920" y="56295"/>
                  <a:pt x="411892" y="32952"/>
                </a:cubicBezTo>
                <a:cubicBezTo>
                  <a:pt x="353072" y="13345"/>
                  <a:pt x="376915" y="26109"/>
                  <a:pt x="337751" y="0"/>
                </a:cubicBezTo>
                <a:cubicBezTo>
                  <a:pt x="299308" y="2746"/>
                  <a:pt x="260751" y="4203"/>
                  <a:pt x="222421" y="8238"/>
                </a:cubicBezTo>
                <a:cubicBezTo>
                  <a:pt x="208496" y="9704"/>
                  <a:pt x="195148" y="14930"/>
                  <a:pt x="181232" y="16476"/>
                </a:cubicBezTo>
                <a:cubicBezTo>
                  <a:pt x="145648" y="20430"/>
                  <a:pt x="109837" y="21968"/>
                  <a:pt x="74140" y="24714"/>
                </a:cubicBezTo>
                <a:cubicBezTo>
                  <a:pt x="71987" y="25252"/>
                  <a:pt x="21847" y="36893"/>
                  <a:pt x="16475" y="41190"/>
                </a:cubicBezTo>
                <a:cubicBezTo>
                  <a:pt x="8744" y="47375"/>
                  <a:pt x="5492" y="57665"/>
                  <a:pt x="0" y="65903"/>
                </a:cubicBezTo>
                <a:cubicBezTo>
                  <a:pt x="2746" y="109838"/>
                  <a:pt x="3630" y="153929"/>
                  <a:pt x="8238" y="197708"/>
                </a:cubicBezTo>
                <a:cubicBezTo>
                  <a:pt x="9147" y="206344"/>
                  <a:pt x="10335" y="216282"/>
                  <a:pt x="16475" y="222422"/>
                </a:cubicBezTo>
                <a:cubicBezTo>
                  <a:pt x="22615" y="228562"/>
                  <a:pt x="32951" y="227914"/>
                  <a:pt x="41189" y="230660"/>
                </a:cubicBezTo>
                <a:cubicBezTo>
                  <a:pt x="49427" y="238898"/>
                  <a:pt x="56209" y="248911"/>
                  <a:pt x="65902" y="255373"/>
                </a:cubicBezTo>
                <a:cubicBezTo>
                  <a:pt x="73127" y="260190"/>
                  <a:pt x="81949" y="263069"/>
                  <a:pt x="90616" y="263611"/>
                </a:cubicBezTo>
                <a:cubicBezTo>
                  <a:pt x="170140" y="268581"/>
                  <a:pt x="249881" y="269103"/>
                  <a:pt x="329513" y="271849"/>
                </a:cubicBezTo>
                <a:cubicBezTo>
                  <a:pt x="376194" y="269103"/>
                  <a:pt x="425678" y="279777"/>
                  <a:pt x="469557" y="263611"/>
                </a:cubicBezTo>
                <a:cubicBezTo>
                  <a:pt x="534001" y="239868"/>
                  <a:pt x="457928" y="213699"/>
                  <a:pt x="494270" y="189471"/>
                </a:cubicBezTo>
                <a:lnTo>
                  <a:pt x="518984" y="12356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Freeform 15"/>
          <p:cNvSpPr/>
          <p:nvPr/>
        </p:nvSpPr>
        <p:spPr>
          <a:xfrm>
            <a:off x="6853881" y="2339546"/>
            <a:ext cx="700387" cy="230659"/>
          </a:xfrm>
          <a:custGeom>
            <a:avLst/>
            <a:gdLst>
              <a:gd name="connsiteX0" fmla="*/ 700216 w 700387"/>
              <a:gd name="connsiteY0" fmla="*/ 90616 h 230659"/>
              <a:gd name="connsiteX1" fmla="*/ 675503 w 700387"/>
              <a:gd name="connsiteY1" fmla="*/ 49427 h 230659"/>
              <a:gd name="connsiteX2" fmla="*/ 593124 w 700387"/>
              <a:gd name="connsiteY2" fmla="*/ 24713 h 230659"/>
              <a:gd name="connsiteX3" fmla="*/ 502508 w 700387"/>
              <a:gd name="connsiteY3" fmla="*/ 0 h 230659"/>
              <a:gd name="connsiteX4" fmla="*/ 247135 w 700387"/>
              <a:gd name="connsiteY4" fmla="*/ 8238 h 230659"/>
              <a:gd name="connsiteX5" fmla="*/ 205946 w 700387"/>
              <a:gd name="connsiteY5" fmla="*/ 16476 h 230659"/>
              <a:gd name="connsiteX6" fmla="*/ 74141 w 700387"/>
              <a:gd name="connsiteY6" fmla="*/ 24713 h 230659"/>
              <a:gd name="connsiteX7" fmla="*/ 16476 w 700387"/>
              <a:gd name="connsiteY7" fmla="*/ 41189 h 230659"/>
              <a:gd name="connsiteX8" fmla="*/ 0 w 700387"/>
              <a:gd name="connsiteY8" fmla="*/ 65903 h 230659"/>
              <a:gd name="connsiteX9" fmla="*/ 8238 w 700387"/>
              <a:gd name="connsiteY9" fmla="*/ 181232 h 230659"/>
              <a:gd name="connsiteX10" fmla="*/ 49427 w 700387"/>
              <a:gd name="connsiteY10" fmla="*/ 214184 h 230659"/>
              <a:gd name="connsiteX11" fmla="*/ 197708 w 700387"/>
              <a:gd name="connsiteY11" fmla="*/ 222422 h 230659"/>
              <a:gd name="connsiteX12" fmla="*/ 428368 w 700387"/>
              <a:gd name="connsiteY12" fmla="*/ 230659 h 230659"/>
              <a:gd name="connsiteX13" fmla="*/ 659027 w 700387"/>
              <a:gd name="connsiteY13" fmla="*/ 222422 h 230659"/>
              <a:gd name="connsiteX14" fmla="*/ 667265 w 700387"/>
              <a:gd name="connsiteY14" fmla="*/ 197708 h 230659"/>
              <a:gd name="connsiteX15" fmla="*/ 683741 w 700387"/>
              <a:gd name="connsiteY15" fmla="*/ 172995 h 230659"/>
              <a:gd name="connsiteX16" fmla="*/ 700216 w 700387"/>
              <a:gd name="connsiteY16" fmla="*/ 90616 h 23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00387" h="230659">
                <a:moveTo>
                  <a:pt x="700216" y="90616"/>
                </a:moveTo>
                <a:cubicBezTo>
                  <a:pt x="698843" y="70021"/>
                  <a:pt x="685923" y="61584"/>
                  <a:pt x="675503" y="49427"/>
                </a:cubicBezTo>
                <a:cubicBezTo>
                  <a:pt x="653739" y="24036"/>
                  <a:pt x="623121" y="30712"/>
                  <a:pt x="593124" y="24713"/>
                </a:cubicBezTo>
                <a:cubicBezTo>
                  <a:pt x="546667" y="15422"/>
                  <a:pt x="538016" y="11836"/>
                  <a:pt x="502508" y="0"/>
                </a:cubicBezTo>
                <a:cubicBezTo>
                  <a:pt x="417384" y="2746"/>
                  <a:pt x="332172" y="3514"/>
                  <a:pt x="247135" y="8238"/>
                </a:cubicBezTo>
                <a:cubicBezTo>
                  <a:pt x="233155" y="9015"/>
                  <a:pt x="219885" y="15149"/>
                  <a:pt x="205946" y="16476"/>
                </a:cubicBezTo>
                <a:cubicBezTo>
                  <a:pt x="162124" y="20649"/>
                  <a:pt x="118076" y="21967"/>
                  <a:pt x="74141" y="24713"/>
                </a:cubicBezTo>
                <a:cubicBezTo>
                  <a:pt x="71988" y="25251"/>
                  <a:pt x="21848" y="36891"/>
                  <a:pt x="16476" y="41189"/>
                </a:cubicBezTo>
                <a:cubicBezTo>
                  <a:pt x="8745" y="47374"/>
                  <a:pt x="5492" y="57665"/>
                  <a:pt x="0" y="65903"/>
                </a:cubicBezTo>
                <a:cubicBezTo>
                  <a:pt x="2746" y="104346"/>
                  <a:pt x="1540" y="143278"/>
                  <a:pt x="8238" y="181232"/>
                </a:cubicBezTo>
                <a:cubicBezTo>
                  <a:pt x="11945" y="202237"/>
                  <a:pt x="30745" y="212405"/>
                  <a:pt x="49427" y="214184"/>
                </a:cubicBezTo>
                <a:cubicBezTo>
                  <a:pt x="98707" y="218877"/>
                  <a:pt x="148251" y="220272"/>
                  <a:pt x="197708" y="222422"/>
                </a:cubicBezTo>
                <a:lnTo>
                  <a:pt x="428368" y="230659"/>
                </a:lnTo>
                <a:cubicBezTo>
                  <a:pt x="505254" y="227913"/>
                  <a:pt x="582813" y="232934"/>
                  <a:pt x="659027" y="222422"/>
                </a:cubicBezTo>
                <a:cubicBezTo>
                  <a:pt x="667629" y="221236"/>
                  <a:pt x="663382" y="205475"/>
                  <a:pt x="667265" y="197708"/>
                </a:cubicBezTo>
                <a:cubicBezTo>
                  <a:pt x="671693" y="188853"/>
                  <a:pt x="678249" y="181233"/>
                  <a:pt x="683741" y="172995"/>
                </a:cubicBezTo>
                <a:cubicBezTo>
                  <a:pt x="694583" y="140466"/>
                  <a:pt x="701589" y="111211"/>
                  <a:pt x="700216" y="90616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40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59580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3495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6385"/>
              </p:ext>
            </p:extLst>
          </p:nvPr>
        </p:nvGraphicFramePr>
        <p:xfrm>
          <a:off x="0" y="365761"/>
          <a:ext cx="12192000" cy="828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865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7038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35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164713"/>
              </p:ext>
            </p:extLst>
          </p:nvPr>
        </p:nvGraphicFramePr>
        <p:xfrm>
          <a:off x="0" y="365761"/>
          <a:ext cx="12192000" cy="2016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O_CREAT,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O_EXCL,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O_NOATIME,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O_CLOEXEC.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365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0118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8763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857689"/>
              </p:ext>
            </p:extLst>
          </p:nvPr>
        </p:nvGraphicFramePr>
        <p:xfrm>
          <a:off x="0" y="365761"/>
          <a:ext cx="12192000" cy="119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96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60184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685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028"/>
              </p:ext>
            </p:extLst>
          </p:nvPr>
        </p:nvGraphicFramePr>
        <p:xfrm>
          <a:off x="0" y="365761"/>
          <a:ext cx="12192000" cy="1569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411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77793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13630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811"/>
              </p:ext>
            </p:extLst>
          </p:nvPr>
        </p:nvGraphicFramePr>
        <p:xfrm>
          <a:off x="0" y="365761"/>
          <a:ext cx="12192000" cy="2758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  <a:p>
                      <a:endParaRPr lang="ru-RU" dirty="0"/>
                    </a:p>
                    <a:p>
                      <a:r>
                        <a:rPr lang="en-US" baseline="0" dirty="0" err="1"/>
                        <a:t>dirfd</a:t>
                      </a:r>
                      <a:r>
                        <a:rPr lang="en-US" baseline="0" dirty="0"/>
                        <a:t> replaces the “current working directory” for </a:t>
                      </a:r>
                      <a:r>
                        <a:rPr lang="en-US" baseline="0" dirty="0" err="1"/>
                        <a:t>openat</a:t>
                      </a:r>
                      <a:r>
                        <a:rPr lang="en-US" baseline="0" dirty="0"/>
                        <a:t>()</a:t>
                      </a:r>
                      <a:r>
                        <a:rPr lang="ru-RU" baseline="0" dirty="0"/>
                        <a:t>. </a:t>
                      </a:r>
                      <a:r>
                        <a:rPr lang="en-US" baseline="0" dirty="0"/>
                        <a:t>This gives multiple improvements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351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07898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5724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030432"/>
              </p:ext>
            </p:extLst>
          </p:nvPr>
        </p:nvGraphicFramePr>
        <p:xfrm>
          <a:off x="0" y="365761"/>
          <a:ext cx="12192000" cy="3307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  <a:p>
                      <a:endParaRPr lang="ru-RU" dirty="0"/>
                    </a:p>
                    <a:p>
                      <a:r>
                        <a:rPr lang="en-US" baseline="0" dirty="0" err="1"/>
                        <a:t>dirfd</a:t>
                      </a:r>
                      <a:r>
                        <a:rPr lang="en-US" baseline="0" dirty="0"/>
                        <a:t> replaces the “current working directory” for </a:t>
                      </a:r>
                      <a:r>
                        <a:rPr lang="en-US" baseline="0" dirty="0" err="1"/>
                        <a:t>openat</a:t>
                      </a:r>
                      <a:r>
                        <a:rPr lang="en-US" baseline="0" dirty="0"/>
                        <a:t>()</a:t>
                      </a:r>
                      <a:r>
                        <a:rPr lang="ru-RU" baseline="0" dirty="0"/>
                        <a:t>. </a:t>
                      </a:r>
                      <a:r>
                        <a:rPr lang="en-US" baseline="0" dirty="0"/>
                        <a:t>This gives multiple improvements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no races with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(),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per-thread working directories instead of a process-global one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fewer steps to traverse the file system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686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5220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7202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07542"/>
              </p:ext>
            </p:extLst>
          </p:nvPr>
        </p:nvGraphicFramePr>
        <p:xfrm>
          <a:off x="0" y="365761"/>
          <a:ext cx="12192000" cy="2311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readlink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276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37530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24218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82878"/>
              </p:ext>
            </p:extLst>
          </p:nvPr>
        </p:nvGraphicFramePr>
        <p:xfrm>
          <a:off x="0" y="365761"/>
          <a:ext cx="12192000" cy="3774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readlink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link() / unlink()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In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POSIX, files and their names exist separately. The following situations are allowed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files with multiple names,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files with no names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2987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6799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14007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490545"/>
              </p:ext>
            </p:extLst>
          </p:nvPr>
        </p:nvGraphicFramePr>
        <p:xfrm>
          <a:off x="0" y="365761"/>
          <a:ext cx="12192000" cy="4323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readlink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link() / unlink()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In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POSIX, files and their names exist separately. The following situations are allowed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files with multiple names,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files with no names</a:t>
                      </a:r>
                      <a:r>
                        <a:rPr lang="ru-RU" dirty="0"/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open(O_TMPFILE)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creates a file that has no name from the outset.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582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36589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324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406356"/>
              </p:ext>
            </p:extLst>
          </p:nvPr>
        </p:nvGraphicFramePr>
        <p:xfrm>
          <a:off x="0" y="365761"/>
          <a:ext cx="12192000" cy="4419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readlink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link() / unlink()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 Special files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directory,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character</a:t>
                      </a:r>
                      <a:r>
                        <a:rPr lang="en-US" baseline="0" dirty="0"/>
                        <a:t> devices,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block devices,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pipes,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err="1"/>
                        <a:t>unix</a:t>
                      </a:r>
                      <a:r>
                        <a:rPr lang="en-US" baseline="0" dirty="0"/>
                        <a:t> domain sockets.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008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87964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46878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232133"/>
              </p:ext>
            </p:extLst>
          </p:nvPr>
        </p:nvGraphicFramePr>
        <p:xfrm>
          <a:off x="0" y="365761"/>
          <a:ext cx="12192000" cy="3423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refresher on the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POSIX Filesystem API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open(path,</a:t>
                      </a:r>
                      <a:r>
                        <a:rPr lang="en-US" baseline="0" dirty="0"/>
                        <a:t> flags, mode</a:t>
                      </a:r>
                      <a:r>
                        <a:rPr lang="en-US" dirty="0"/>
                        <a:t>) / close(</a:t>
                      </a:r>
                      <a:r>
                        <a:rPr lang="en-US" dirty="0" err="1"/>
                        <a:t>fd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mkdir</a:t>
                      </a:r>
                      <a:r>
                        <a:rPr lang="en-US" dirty="0"/>
                        <a:t>(path, flags) /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chdir</a:t>
                      </a:r>
                      <a:r>
                        <a:rPr lang="en-US" baseline="0" dirty="0"/>
                        <a:t>(path), </a:t>
                      </a:r>
                      <a:r>
                        <a:rPr lang="en-US" baseline="0" dirty="0" err="1"/>
                        <a:t>chroot</a:t>
                      </a:r>
                      <a:r>
                        <a:rPr lang="en-US" baseline="0" dirty="0"/>
                        <a:t>(path)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en-US" dirty="0" err="1"/>
                        <a:t>openat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dirfd</a:t>
                      </a:r>
                      <a:r>
                        <a:rPr lang="en-US" dirty="0"/>
                        <a:t>, path, flags) / </a:t>
                      </a:r>
                      <a:r>
                        <a:rPr lang="en-US" dirty="0" err="1"/>
                        <a:t>mkdirat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rmdirat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readlink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link() / unlink()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 Special files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8</a:t>
                      </a:r>
                      <a:r>
                        <a:rPr lang="ru-RU" dirty="0"/>
                        <a:t>.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/>
                        <a:t>mmap</a:t>
                      </a:r>
                      <a:r>
                        <a:rPr lang="en-US" baseline="0" dirty="0"/>
                        <a:t>() / </a:t>
                      </a:r>
                      <a:r>
                        <a:rPr lang="en-US" baseline="0" dirty="0" err="1"/>
                        <a:t>munmap</a:t>
                      </a:r>
                      <a:r>
                        <a:rPr lang="en-US" baseline="0" dirty="0"/>
                        <a:t>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80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68472</TotalTime>
  <Words>4524</Words>
  <Application>Microsoft Macintosh PowerPoint</Application>
  <PresentationFormat>Widescreen</PresentationFormat>
  <Paragraphs>651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Irvin Sayers</cp:lastModifiedBy>
  <cp:revision>56</cp:revision>
  <cp:lastPrinted>2019-09-04T08:05:36Z</cp:lastPrinted>
  <dcterms:created xsi:type="dcterms:W3CDTF">2016-09-20T13:25:15Z</dcterms:created>
  <dcterms:modified xsi:type="dcterms:W3CDTF">2026-10-06T11:24:40Z</dcterms:modified>
</cp:coreProperties>
</file>