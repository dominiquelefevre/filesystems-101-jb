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2"/>
  </p:notesMasterIdLst>
  <p:handoutMasterIdLst>
    <p:handoutMasterId r:id="rId53"/>
  </p:handoutMasterIdLst>
  <p:sldIdLst>
    <p:sldId id="415" r:id="rId3"/>
    <p:sldId id="347" r:id="rId4"/>
    <p:sldId id="384" r:id="rId5"/>
    <p:sldId id="416" r:id="rId6"/>
    <p:sldId id="366" r:id="rId7"/>
    <p:sldId id="417" r:id="rId8"/>
    <p:sldId id="385" r:id="rId9"/>
    <p:sldId id="386" r:id="rId10"/>
    <p:sldId id="387" r:id="rId11"/>
    <p:sldId id="388" r:id="rId12"/>
    <p:sldId id="369" r:id="rId13"/>
    <p:sldId id="340" r:id="rId14"/>
    <p:sldId id="355" r:id="rId15"/>
    <p:sldId id="391" r:id="rId16"/>
    <p:sldId id="341" r:id="rId17"/>
    <p:sldId id="361" r:id="rId18"/>
    <p:sldId id="389" r:id="rId19"/>
    <p:sldId id="380" r:id="rId20"/>
    <p:sldId id="390" r:id="rId21"/>
    <p:sldId id="392" r:id="rId22"/>
    <p:sldId id="345" r:id="rId23"/>
    <p:sldId id="349" r:id="rId24"/>
    <p:sldId id="351" r:id="rId25"/>
    <p:sldId id="363" r:id="rId26"/>
    <p:sldId id="352" r:id="rId27"/>
    <p:sldId id="344" r:id="rId28"/>
    <p:sldId id="356" r:id="rId29"/>
    <p:sldId id="367" r:id="rId30"/>
    <p:sldId id="393" r:id="rId31"/>
    <p:sldId id="407" r:id="rId32"/>
    <p:sldId id="395" r:id="rId33"/>
    <p:sldId id="397" r:id="rId34"/>
    <p:sldId id="396" r:id="rId35"/>
    <p:sldId id="398" r:id="rId36"/>
    <p:sldId id="399" r:id="rId37"/>
    <p:sldId id="400" r:id="rId38"/>
    <p:sldId id="401" r:id="rId39"/>
    <p:sldId id="402" r:id="rId40"/>
    <p:sldId id="403" r:id="rId41"/>
    <p:sldId id="404" r:id="rId42"/>
    <p:sldId id="405" r:id="rId43"/>
    <p:sldId id="406" r:id="rId44"/>
    <p:sldId id="412" r:id="rId45"/>
    <p:sldId id="408" r:id="rId46"/>
    <p:sldId id="409" r:id="rId47"/>
    <p:sldId id="414" r:id="rId48"/>
    <p:sldId id="411" r:id="rId49"/>
    <p:sldId id="410" r:id="rId50"/>
    <p:sldId id="413" r:id="rId5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56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ru-RU"/>
              <a:t>Основы построения файловых систем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6788E-680A-49E5-BB93-D456A9D23A29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061F6E-92FD-414D-9278-71772D358C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73084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ru-RU"/>
              <a:t>Основы построения файловых систем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F4945-C160-4CD5-B124-49B9BE14C0AB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3120B-582B-4354-977D-A474A534F6B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456565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374511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779486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037464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CF7B0-5900-A161-DD20-49318895E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22C11-2719-971C-3324-72124DB84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57D73-3E55-2DAF-2269-0388D502F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FE25F-7BAD-7485-B9B5-BCEC56D446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7498EFCD-6282-5DBA-2950-92A494AA5811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550823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5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425609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FCF46-1559-4346-F548-16904444C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1A9DD-7809-AD7B-7D11-0209A1F69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BBA959-379B-CD4D-E6CB-40C98F878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B3468-8FE1-693F-2DB4-DDFCDF0091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6</a:t>
            </a:fld>
            <a:endParaRPr lang="ru-RU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834827A9-DAFE-E87E-9111-74EF20F23D63}"/>
              </a:ext>
            </a:extLst>
          </p:cNvPr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867721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7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973584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8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915007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9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558491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10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036247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11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3290444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1444722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13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94134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14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7257487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15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4929030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16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6502531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17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4529539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18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8401763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19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8382169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20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1704643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21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4157908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1824616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23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8259373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24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2105513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25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2814880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26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1172494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27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483452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28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0627653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29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5013359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30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8152382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31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5761349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7369055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33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337501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34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8318994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35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7838843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36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485551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37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98635081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38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6166727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39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7727275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40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4250861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41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3480903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42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29308983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43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3316748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44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3847448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45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39577621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46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94343251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47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84221722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48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16068131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3120B-582B-4354-977D-A474A534F6B9}" type="slidenum">
              <a:rPr lang="ru-RU" smtClean="0"/>
              <a:t>49</a:t>
            </a:fld>
            <a:endParaRPr lang="ru-RU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ru-RU"/>
              <a:t>Основы построения файловых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947831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9482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8140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981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622754"/>
          </a:xfr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Основы построения файловых систем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7053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022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9913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7432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646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430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928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63722-5D9F-4E99-9720-9B6A0C7BB1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964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585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6972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0577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659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2538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784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5054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3721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8115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13520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18C88-2408-4CFC-B25C-07450930B28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75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63722-5D9F-4E99-9720-9B6A0C7BB1C9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6C827-9CFA-4E1C-AE4D-19624BF57C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473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18C88-2408-4CFC-B25C-07450930B282}" type="datetimeFigureOut">
              <a:rPr lang="ru-RU" smtClean="0"/>
              <a:t>27.11.2025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145A7-1FFA-4548-B8B9-099A1C219A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141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ckblaze.com/blog/backblaze-drive-stats-for-2023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cisig.com/pcie%C2%AE-60-specification-webinar-qa-error-detection-and-correction-fec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enix.org/system/files/conference/fast17/fast17-ganesan.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usenix.org/system/files/conference/fast18/fast18-alagappan.pd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enix.org/system/files/conference/fast17/fast17-ganesan.pdf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usenix.org/system/files/conference/fast18/fast18-alagappan.pdf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enix.org/system/files/conference/fast17/fast17-ganesan.pd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usenix.org/system/files/conference/fast18/fast18-alagappan.pd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enix.org/system/files/conference/fast17/fast17-ganesan.pd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usenix.org/system/files/conference/fast18/fast18-alagappan.pdf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enix.org/system/files/conference/fast18/fast18-vajha.pdf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endParaRPr lang="ru-RU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648654" y="923419"/>
            <a:ext cx="53883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The basics of file systems</a:t>
            </a:r>
            <a:endParaRPr lang="ru-RU" sz="4000" dirty="0"/>
          </a:p>
        </p:txBody>
      </p:sp>
      <p:pic>
        <p:nvPicPr>
          <p:cNvPr id="1026" name="Picture 2" descr="Neapolis University Pafos, Cyprus Adaptive • Inspiring • Today • Education">
            <a:extLst>
              <a:ext uri="{FF2B5EF4-FFF2-40B4-BE49-F238E27FC236}">
                <a16:creationId xmlns:a16="http://schemas.microsoft.com/office/drawing/2014/main" id="{4A89C479-1691-99F0-24E5-26D57F721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1822" y="2457450"/>
            <a:ext cx="41910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35F9A63-3251-7EB7-FC8E-AE3ABA4B7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638" y="1977686"/>
            <a:ext cx="2677540" cy="2902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972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928058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112655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175734"/>
              </p:ext>
            </p:extLst>
          </p:nvPr>
        </p:nvGraphicFramePr>
        <p:xfrm>
          <a:off x="0" y="375005"/>
          <a:ext cx="12192000" cy="6035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Backblaze</a:t>
                      </a:r>
                      <a:r>
                        <a:rPr lang="en-US" sz="2400" dirty="0"/>
                        <a:t> report on </a:t>
                      </a:r>
                      <a:r>
                        <a:rPr lang="en-US" sz="2400" baseline="0" dirty="0"/>
                        <a:t>HDD failures in 2023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Among the most often used disks there has been the following number of failures:</a:t>
                      </a: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br>
                        <a:rPr lang="en-US" dirty="0"/>
                      </a:br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>
                          <a:hlinkClick r:id="rId3"/>
                        </a:rPr>
                        <a:t>https://www.backblaze.com/blog/backblaze-drive-stats-for-2023/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083410"/>
              </p:ext>
            </p:extLst>
          </p:nvPr>
        </p:nvGraphicFramePr>
        <p:xfrm>
          <a:off x="2032000" y="1207683"/>
          <a:ext cx="8127999" cy="48209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disks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% </a:t>
                      </a:r>
                      <a:r>
                        <a:rPr lang="en-US" dirty="0"/>
                        <a:t>of failed disks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HGST HMS5C4040BLE640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10260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0.38%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511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HGST HUH721212ALE604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13144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14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HGST HUH721212ALN604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10532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3.69%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800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WDC WUH721816ALE6L4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21607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0.30%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373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Toshiba MG07ACA14TA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37913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1.12%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0450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Toshiba MGO8ACA16TA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33750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1.09%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Seagate ST4000DM000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11391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3.32%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Seagate ST8000NM0055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13914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3.85%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755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Seagate ST12000NM0008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19449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2.93%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26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Seagate ST12000NM001G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13108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1.19%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188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Seagate ST14000NM001G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10693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1.80%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102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Seagate ST16000NMO01G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27433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575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684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187625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61972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666534"/>
              </p:ext>
            </p:extLst>
          </p:nvPr>
        </p:nvGraphicFramePr>
        <p:xfrm>
          <a:off x="0" y="365761"/>
          <a:ext cx="12192000" cy="2743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/>
                        <a:t>CERN experiment to measure the reliability of disks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An application writes 1Gb to a disk this way</a:t>
                      </a:r>
                      <a:r>
                        <a:rPr lang="ru-RU" dirty="0"/>
                        <a:t>:</a:t>
                      </a:r>
                    </a:p>
                    <a:p>
                      <a:pPr marL="742950" lvl="1" indent="-285750">
                        <a:buFont typeface="Arial" charset="0"/>
                        <a:buChar char="•"/>
                      </a:pPr>
                      <a:r>
                        <a:rPr lang="en-US" dirty="0"/>
                        <a:t>Choose 1k random locations on the disk, each 1Mb long,</a:t>
                      </a:r>
                    </a:p>
                    <a:p>
                      <a:pPr marL="742950" lvl="1" indent="-285750">
                        <a:buFont typeface="Arial" charset="0"/>
                        <a:buChar char="•"/>
                      </a:pPr>
                      <a:r>
                        <a:rPr lang="en-US" dirty="0"/>
                        <a:t>Write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1Mb to the first location,</a:t>
                      </a:r>
                    </a:p>
                    <a:p>
                      <a:pPr marL="742950" lvl="1" indent="-285750">
                        <a:buFont typeface="Arial" charset="0"/>
                        <a:buChar char="•"/>
                      </a:pPr>
                      <a:r>
                        <a:rPr lang="en-US" dirty="0"/>
                        <a:t>Wait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1s,</a:t>
                      </a:r>
                    </a:p>
                    <a:p>
                      <a:pPr marL="742950" lvl="1" indent="-285750">
                        <a:buFont typeface="Arial" charset="0"/>
                        <a:buChar char="•"/>
                      </a:pPr>
                      <a:r>
                        <a:rPr lang="en-US" dirty="0"/>
                        <a:t>Repeat to fill remaining locations</a:t>
                      </a:r>
                      <a:r>
                        <a:rPr lang="ru-RU" dirty="0"/>
                        <a:t>.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dirty="0"/>
                        <a:t>The application was run on a cluster that had approx. </a:t>
                      </a:r>
                      <a:r>
                        <a:rPr lang="en-US" baseline="0" dirty="0"/>
                        <a:t>3000 hosts. Each host had a HW RAID.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baseline="0" dirty="0"/>
                        <a:t>Wait </a:t>
                      </a:r>
                      <a:r>
                        <a:rPr lang="ru-RU" baseline="0" dirty="0"/>
                        <a:t>3 </a:t>
                      </a:r>
                      <a:r>
                        <a:rPr lang="en-US" baseline="0" dirty="0"/>
                        <a:t>weeks</a:t>
                      </a:r>
                      <a:r>
                        <a:rPr lang="ru-RU" baseline="0" dirty="0"/>
                        <a:t>.</a:t>
                      </a:r>
                      <a:endParaRPr lang="en-US" baseline="0" dirty="0"/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baseline="0" dirty="0"/>
                        <a:t>Read blocks that were written at step 1.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177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86921-DC3D-082C-7FBA-A4757B4D1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8CDEA2-934E-AE54-0CEC-EC0BC8A87C66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69C584-BE6C-C43C-70EB-58C417B66072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FCCB66-B762-2A62-001A-151E48BAB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665661"/>
              </p:ext>
            </p:extLst>
          </p:nvPr>
        </p:nvGraphicFramePr>
        <p:xfrm>
          <a:off x="0" y="365761"/>
          <a:ext cx="12192000" cy="35661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/>
                        <a:t>CERN experiment to measure the reliability of disks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An application writes 1Gb to a disk this way</a:t>
                      </a:r>
                      <a:r>
                        <a:rPr lang="ru-RU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:</a:t>
                      </a:r>
                    </a:p>
                    <a:p>
                      <a:pPr marL="742950" lvl="1" indent="-285750">
                        <a:buFont typeface="Arial" charset="0"/>
                        <a:buChar char="•"/>
                      </a:pP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Choose 1k random locations on the disk, each 1Mb long,</a:t>
                      </a:r>
                    </a:p>
                    <a:p>
                      <a:pPr marL="742950" lvl="1" indent="-285750">
                        <a:buFont typeface="Arial" charset="0"/>
                        <a:buChar char="•"/>
                      </a:pP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Write</a:t>
                      </a:r>
                      <a:r>
                        <a:rPr lang="ru-RU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1Mb to the first location,</a:t>
                      </a:r>
                    </a:p>
                    <a:p>
                      <a:pPr marL="742950" lvl="1" indent="-285750">
                        <a:buFont typeface="Arial" charset="0"/>
                        <a:buChar char="•"/>
                      </a:pP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Wait</a:t>
                      </a:r>
                      <a:r>
                        <a:rPr lang="ru-RU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1s,</a:t>
                      </a:r>
                    </a:p>
                    <a:p>
                      <a:pPr marL="742950" lvl="1" indent="-285750">
                        <a:buFont typeface="Arial" charset="0"/>
                        <a:buChar char="•"/>
                      </a:pP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Repeat to fill remaining locations</a:t>
                      </a:r>
                      <a:r>
                        <a:rPr lang="ru-RU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.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The application was run on a cluster that had approx. </a:t>
                      </a:r>
                      <a:r>
                        <a:rPr lang="en-US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3000 hosts. Each host had a HW RAID.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Wait </a:t>
                      </a:r>
                      <a:r>
                        <a:rPr lang="ru-RU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3 </a:t>
                      </a:r>
                      <a:r>
                        <a:rPr lang="en-US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weeks</a:t>
                      </a:r>
                      <a:r>
                        <a:rPr lang="ru-RU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.</a:t>
                      </a:r>
                      <a:endParaRPr lang="en-US" baseline="0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baseline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Read blocks that were written at step 1.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baseline="0" dirty="0"/>
                    </a:p>
                    <a:p>
                      <a:pPr marL="0" lvl="0" indent="0">
                        <a:buFont typeface="+mj-lt"/>
                        <a:buNone/>
                      </a:pPr>
                      <a:r>
                        <a:rPr lang="en-US" baseline="0" dirty="0"/>
                        <a:t>CERN have found approx. 0.005% blocks that would read back data that differed from data originally written to them. Yet, all reads were reported as successful both by the hardware and by the 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2469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900136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8720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13962"/>
              </p:ext>
            </p:extLst>
          </p:nvPr>
        </p:nvGraphicFramePr>
        <p:xfrm>
          <a:off x="0" y="365761"/>
          <a:ext cx="12192000" cy="21945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A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/>
                        <a:t>CERN experiment to measure the reliability of disks</a:t>
                      </a:r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n-US" dirty="0"/>
                        <a:t>Conclusions</a:t>
                      </a:r>
                      <a:r>
                        <a:rPr lang="ru-RU" dirty="0"/>
                        <a:t>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dirty="0"/>
                        <a:t>Data may not be stored without redundancy</a:t>
                      </a:r>
                      <a:r>
                        <a:rPr lang="en-US" baseline="0" dirty="0"/>
                        <a:t>.</a:t>
                      </a:r>
                      <a:endParaRPr lang="ru-RU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dirty="0"/>
                        <a:t>Applications and file systems must implement </a:t>
                      </a:r>
                      <a:r>
                        <a:rPr lang="en-US" dirty="0" err="1"/>
                        <a:t>checksumming</a:t>
                      </a:r>
                      <a:r>
                        <a:rPr lang="en-US" dirty="0"/>
                        <a:t> and consistency checks</a:t>
                      </a:r>
                      <a:r>
                        <a:rPr lang="en-US" baseline="0" dirty="0"/>
                        <a:t>.</a:t>
                      </a:r>
                      <a:endParaRPr lang="ru-RU" baseline="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baseline="0" dirty="0"/>
                        <a:t>Storage systems need to run proactive background consistency checks</a:t>
                      </a:r>
                      <a:r>
                        <a:rPr lang="ru-RU" baseline="0" dirty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endParaRPr lang="ru-RU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dirty="0"/>
                        <a:t>Data replication or </a:t>
                      </a:r>
                      <a:r>
                        <a:rPr lang="en-US" baseline="0" dirty="0"/>
                        <a:t>Reed-Solomon coding.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baseline="0" dirty="0"/>
                        <a:t>ZFS and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 err="1"/>
                        <a:t>btrfs</a:t>
                      </a:r>
                      <a:r>
                        <a:rPr lang="en-US" baseline="0" dirty="0"/>
                        <a:t> store cryptographic hashes of all blocks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(ext4 has only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CRC).</a:t>
                      </a:r>
                      <a:endParaRPr lang="ru-RU" baseline="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dirty="0"/>
                        <a:t>Online scrubbing &amp; repair in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ZFS and XFS and in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HW RAID controllers.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3965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BA857-5A7C-9FE5-57F7-FDC14E95E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EC09E9-DA73-E788-951B-407260D55D28}"/>
              </a:ext>
            </a:extLst>
          </p:cNvPr>
          <p:cNvGraphicFramePr>
            <a:graphicFrameLocks noGrp="1"/>
          </p:cNvGraphicFramePr>
          <p:nvPr/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A050F3-5A46-37F2-C5DE-0F3A7CF51A38}"/>
              </a:ext>
            </a:extLst>
          </p:cNvPr>
          <p:cNvGraphicFramePr>
            <a:graphicFrameLocks noGrp="1"/>
          </p:cNvGraphicFramePr>
          <p:nvPr/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C7502D-28E8-842B-6338-C71BD7CA2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484062"/>
              </p:ext>
            </p:extLst>
          </p:nvPr>
        </p:nvGraphicFramePr>
        <p:xfrm>
          <a:off x="0" y="365761"/>
          <a:ext cx="12192000" cy="3383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A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/>
                        <a:t>CERN experiment to measure the reliability of disks</a:t>
                      </a:r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n-US" dirty="0"/>
                        <a:t>Conclusions</a:t>
                      </a:r>
                      <a:r>
                        <a:rPr lang="ru-RU" dirty="0"/>
                        <a:t>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dirty="0"/>
                        <a:t>Data may not be stored without redundancy</a:t>
                      </a:r>
                      <a:r>
                        <a:rPr lang="en-US" baseline="0" dirty="0"/>
                        <a:t>.</a:t>
                      </a:r>
                      <a:endParaRPr lang="ru-RU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dirty="0"/>
                        <a:t>Applications and file systems must implement </a:t>
                      </a:r>
                      <a:r>
                        <a:rPr lang="en-US" dirty="0" err="1"/>
                        <a:t>checksumming</a:t>
                      </a:r>
                      <a:r>
                        <a:rPr lang="en-US" dirty="0"/>
                        <a:t> and consistency checks</a:t>
                      </a:r>
                      <a:r>
                        <a:rPr lang="en-US" baseline="0" dirty="0"/>
                        <a:t>.</a:t>
                      </a:r>
                      <a:endParaRPr lang="ru-RU" baseline="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baseline="0" dirty="0"/>
                        <a:t>Storage systems need to run proactive background consistency checks</a:t>
                      </a:r>
                      <a:r>
                        <a:rPr lang="ru-RU" baseline="0" dirty="0"/>
                        <a:t>.</a:t>
                      </a:r>
                      <a:endParaRPr 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endParaRPr lang="ru-RU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dirty="0"/>
                        <a:t>Data replication or </a:t>
                      </a:r>
                      <a:r>
                        <a:rPr lang="en-US" baseline="0" dirty="0"/>
                        <a:t>Reed-Solomon coding.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baseline="0" dirty="0"/>
                        <a:t>ZFS and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 err="1"/>
                        <a:t>btrfs</a:t>
                      </a:r>
                      <a:r>
                        <a:rPr lang="en-US" baseline="0" dirty="0"/>
                        <a:t> store cryptographic hashes of all blocks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(ext4 has only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CRC).</a:t>
                      </a:r>
                      <a:endParaRPr lang="ru-RU" baseline="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r>
                        <a:rPr lang="en-US" dirty="0"/>
                        <a:t>Online scrubbing &amp; repair in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ZFS and XFS and in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HW RAID controllers.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lang="en-US" baseline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n-US" b="1" baseline="0" dirty="0"/>
                        <a:t>Note</a:t>
                      </a:r>
                      <a:r>
                        <a:rPr lang="en-US" baseline="0" dirty="0"/>
                        <a:t>: hard drives are not the only component prone to data corruption. PCI-e relies heavily on error correction: </a:t>
                      </a:r>
                      <a:r>
                        <a:rPr lang="en-US" baseline="0" dirty="0">
                          <a:hlinkClick r:id="rId3"/>
                        </a:rPr>
                        <a:t>https://pcisig.com/pcie%C2%AE-60-specification-webinar-qa-error-detection-and-correction-fec</a:t>
                      </a:r>
                      <a:r>
                        <a:rPr lang="en-US" baseline="0" dirty="0"/>
                        <a:t>.</a:t>
                      </a:r>
                      <a:br>
                        <a:rPr lang="en-US" baseline="0" dirty="0"/>
                      </a:br>
                      <a:r>
                        <a:rPr lang="en-US" baseline="0" dirty="0"/>
                        <a:t>The same is true for ethernet, for RAM, etc.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301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400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831524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337777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122019"/>
              </p:ext>
            </p:extLst>
          </p:nvPr>
        </p:nvGraphicFramePr>
        <p:xfrm>
          <a:off x="0" y="365761"/>
          <a:ext cx="12192000" cy="46634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Wrong ways to handle FS corruption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>
                        <a:buFont typeface="Arial" charset="0"/>
                        <a:buNone/>
                      </a:pPr>
                      <a:r>
                        <a:rPr lang="en-US" dirty="0"/>
                        <a:t>The paper [1] ran an experiment where the data of the following applications was located on a file system that would randomly corrupt the content of blocks</a:t>
                      </a:r>
                      <a:r>
                        <a:rPr lang="ru-RU" dirty="0"/>
                        <a:t>:</a:t>
                      </a:r>
                      <a:endParaRPr lang="en-US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Redis</a:t>
                      </a:r>
                      <a:r>
                        <a:rPr lang="en-US" dirty="0"/>
                        <a:t>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ZooKeeper</a:t>
                      </a:r>
                      <a:r>
                        <a:rPr lang="en-US" dirty="0"/>
                        <a:t>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Cassandra,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Kafka,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RethinkDB</a:t>
                      </a:r>
                      <a:r>
                        <a:rPr lang="en-US" dirty="0"/>
                        <a:t>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LogCabin</a:t>
                      </a:r>
                      <a:r>
                        <a:rPr lang="en-US" dirty="0"/>
                        <a:t>.</a:t>
                      </a:r>
                    </a:p>
                    <a:p>
                      <a:pPr marL="0" lvl="0" indent="0">
                        <a:buFont typeface="Arial" charset="0"/>
                        <a:buNone/>
                      </a:pPr>
                      <a:endParaRPr lang="en-US" dirty="0"/>
                    </a:p>
                    <a:p>
                      <a:pPr marL="0" lvl="0" indent="0">
                        <a:buFont typeface="Arial" charset="0"/>
                        <a:buNone/>
                      </a:pPr>
                      <a:endParaRPr lang="en-US" dirty="0"/>
                    </a:p>
                    <a:p>
                      <a:pPr marL="0" lvl="0" indent="0">
                        <a:buFont typeface="Arial" charset="0"/>
                        <a:buNone/>
                      </a:pPr>
                      <a:endParaRPr lang="en-US" dirty="0"/>
                    </a:p>
                    <a:p>
                      <a:pPr marL="0" lvl="0" indent="0">
                        <a:buFont typeface="Arial" charset="0"/>
                        <a:buNone/>
                      </a:pPr>
                      <a:endParaRPr lang="en-US" dirty="0"/>
                    </a:p>
                    <a:p>
                      <a:pPr marL="0" lvl="0" indent="0">
                        <a:buFont typeface="Arial" charset="0"/>
                        <a:buNone/>
                      </a:pPr>
                      <a:endParaRPr lang="en-US" dirty="0"/>
                    </a:p>
                    <a:p>
                      <a:pPr marL="0" lvl="0" indent="0">
                        <a:buFont typeface="Arial" charset="0"/>
                        <a:buNone/>
                      </a:pPr>
                      <a:r>
                        <a:rPr lang="en-US" dirty="0"/>
                        <a:t>[1] </a:t>
                      </a:r>
                      <a:r>
                        <a:rPr lang="en-US" dirty="0">
                          <a:hlinkClick r:id="rId3"/>
                        </a:rPr>
                        <a:t>https://www.usenix.org/system/files/conference/fast17/fast17-ganesan.pdf</a:t>
                      </a:r>
                      <a:endParaRPr lang="en-US" dirty="0"/>
                    </a:p>
                    <a:p>
                      <a:pPr marL="0" lvl="0" indent="0">
                        <a:buFont typeface="Arial" charset="0"/>
                        <a:buNone/>
                      </a:pPr>
                      <a:r>
                        <a:rPr lang="en-US" dirty="0"/>
                        <a:t>[2] </a:t>
                      </a:r>
                      <a:r>
                        <a:rPr lang="en-US" dirty="0">
                          <a:hlinkClick r:id="rId4"/>
                        </a:rPr>
                        <a:t>https://www.usenix.org/system/files/conference/fast18/fast18-alagappan.pdf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018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04720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294192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032250"/>
              </p:ext>
            </p:extLst>
          </p:nvPr>
        </p:nvGraphicFramePr>
        <p:xfrm>
          <a:off x="0" y="365761"/>
          <a:ext cx="12192000" cy="46634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Wrong ways to handle FS corruption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>
                        <a:buFont typeface="Arial" charset="0"/>
                        <a:buNone/>
                      </a:pPr>
                      <a:r>
                        <a:rPr lang="en-US" dirty="0"/>
                        <a:t>The paper [1] ran an experiment where the data of the following applications was located on a file system that would randomly corrupt the content of blocks</a:t>
                      </a:r>
                      <a:r>
                        <a:rPr lang="ru-RU" dirty="0"/>
                        <a:t>:</a:t>
                      </a:r>
                      <a:endParaRPr lang="en-US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Redis</a:t>
                      </a:r>
                      <a:r>
                        <a:rPr lang="en-US" dirty="0"/>
                        <a:t>,</a:t>
                      </a:r>
                      <a:endParaRPr lang="ru-RU" dirty="0"/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Does not validate checksums of user data</a:t>
                      </a:r>
                      <a:r>
                        <a:rPr lang="ru-RU" dirty="0"/>
                        <a:t>,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Replicates corrupted data across nodes of a cluster</a:t>
                      </a:r>
                      <a:r>
                        <a:rPr lang="ru-RU" dirty="0"/>
                        <a:t>,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Corruptions of a FS are “handled” with assert()s.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ZooKeeper</a:t>
                      </a: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Cassandra,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Kafka,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RethinkDB</a:t>
                      </a: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LogCabin</a:t>
                      </a: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.</a:t>
                      </a:r>
                    </a:p>
                    <a:p>
                      <a:pPr marL="0" lvl="0" indent="0">
                        <a:buFont typeface="Arial" charset="0"/>
                        <a:buNone/>
                      </a:pPr>
                      <a:endParaRPr lang="en-US" dirty="0"/>
                    </a:p>
                    <a:p>
                      <a:pPr marL="0" lvl="0" indent="0">
                        <a:buFont typeface="Arial" charset="0"/>
                        <a:buNone/>
                      </a:pPr>
                      <a:endParaRPr lang="en-US" dirty="0"/>
                    </a:p>
                    <a:p>
                      <a:pPr marL="0" lvl="0" indent="0">
                        <a:buFont typeface="Arial" charset="0"/>
                        <a:buNone/>
                      </a:pPr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[1] </a:t>
                      </a:r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https://www.usenix.org/system/files/conference/fast17/fast17-ganesan.pdf</a:t>
                      </a:r>
                      <a:endParaRPr lang="en-US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  <a:p>
                      <a:pPr marL="0" lvl="0" indent="0">
                        <a:buFont typeface="Arial" charset="0"/>
                        <a:buNone/>
                      </a:pPr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[2] </a:t>
                      </a:r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https://www.usenix.org/system/files/conference/fast18/fast18-alagappan.pdf</a:t>
                      </a:r>
                      <a:endParaRPr lang="en-US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754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64014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507201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541778"/>
              </p:ext>
            </p:extLst>
          </p:nvPr>
        </p:nvGraphicFramePr>
        <p:xfrm>
          <a:off x="0" y="365761"/>
          <a:ext cx="12192000" cy="438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Wrong ways to handle FS corruption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>
                        <a:buFont typeface="Arial" charset="0"/>
                        <a:buNone/>
                      </a:pPr>
                      <a:r>
                        <a:rPr lang="en-US" dirty="0"/>
                        <a:t>The paper [1] ran an experiment where the data of the following applications was located on a file system that would randomly corrupt the content of blocks</a:t>
                      </a:r>
                      <a:r>
                        <a:rPr lang="ru-RU" dirty="0"/>
                        <a:t>:</a:t>
                      </a:r>
                      <a:endParaRPr lang="en-US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Redis,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ZooKeeper</a:t>
                      </a:r>
                      <a:r>
                        <a:rPr lang="en-US" dirty="0"/>
                        <a:t>,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Validates checksums in all data, but does it inside assert()s,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Uses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Adler32 as the checksum,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Cassandra,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Kafka,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RethinkDB</a:t>
                      </a: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LogCabin</a:t>
                      </a: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.</a:t>
                      </a:r>
                    </a:p>
                    <a:p>
                      <a:pPr marL="0" lvl="0" indent="0">
                        <a:buFont typeface="Arial" charset="0"/>
                        <a:buNone/>
                      </a:pPr>
                      <a:endParaRPr lang="en-US" dirty="0"/>
                    </a:p>
                    <a:p>
                      <a:pPr marL="0" lvl="0" indent="0">
                        <a:buFont typeface="Arial" charset="0"/>
                        <a:buNone/>
                      </a:pPr>
                      <a:endParaRPr lang="en-US" dirty="0"/>
                    </a:p>
                    <a:p>
                      <a:pPr marL="0" lvl="0" indent="0">
                        <a:buFont typeface="Arial" charset="0"/>
                        <a:buNone/>
                      </a:pPr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[1] </a:t>
                      </a:r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https://www.usenix.org/system/files/conference/fast17/fast17-ganesan.pdf</a:t>
                      </a:r>
                      <a:endParaRPr lang="en-US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  <a:p>
                      <a:pPr marL="0" lvl="0" indent="0">
                        <a:buFont typeface="Arial" charset="0"/>
                        <a:buNone/>
                      </a:pPr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[2] </a:t>
                      </a:r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https://www.usenix.org/system/files/conference/fast18/fast18-alagappan.pdf</a:t>
                      </a:r>
                      <a:endParaRPr lang="en-US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5458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593017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181739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536403"/>
              </p:ext>
            </p:extLst>
          </p:nvPr>
        </p:nvGraphicFramePr>
        <p:xfrm>
          <a:off x="0" y="365761"/>
          <a:ext cx="12192000" cy="46634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Wrong ways to handle FS corruption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lvl="0" indent="0">
                        <a:buFont typeface="Arial" charset="0"/>
                        <a:buNone/>
                      </a:pPr>
                      <a:r>
                        <a:rPr lang="en-US" dirty="0"/>
                        <a:t>The paper [1] ran an experiment where the data of the following applications was located on a file system that would randomly corrupt the content of blocks</a:t>
                      </a:r>
                      <a:r>
                        <a:rPr lang="ru-RU" dirty="0"/>
                        <a:t>:</a:t>
                      </a:r>
                      <a:endParaRPr lang="en-US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Redis,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ZooKeeper</a:t>
                      </a: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Cassandra,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Has no checksums for uncompressed data</a:t>
                      </a:r>
                      <a:r>
                        <a:rPr lang="ru-RU" dirty="0"/>
                        <a:t>,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When the checksum does not match, Cassandra chooses the last write as “the correct one”. This way it can replicate corrupted data to other cluster nodes.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Kafka,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RethinkDB</a:t>
                      </a: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LogCabin</a:t>
                      </a: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.</a:t>
                      </a:r>
                    </a:p>
                    <a:p>
                      <a:pPr marL="0" lvl="0" indent="0">
                        <a:buFont typeface="Arial" charset="0"/>
                        <a:buNone/>
                      </a:pPr>
                      <a:endParaRPr lang="en-US" dirty="0"/>
                    </a:p>
                    <a:p>
                      <a:pPr marL="0" lvl="0" indent="0">
                        <a:buFont typeface="Arial" charset="0"/>
                        <a:buNone/>
                      </a:pPr>
                      <a:endParaRPr lang="en-US" dirty="0"/>
                    </a:p>
                    <a:p>
                      <a:pPr marL="0" lvl="0" indent="0">
                        <a:buFont typeface="Arial" charset="0"/>
                        <a:buNone/>
                      </a:pPr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[1] </a:t>
                      </a:r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https://www.usenix.org/system/files/conference/fast17/fast17-ganesan.pdf</a:t>
                      </a:r>
                      <a:endParaRPr lang="en-US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  <a:p>
                      <a:pPr marL="0" lvl="0" indent="0">
                        <a:buFont typeface="Arial" charset="0"/>
                        <a:buNone/>
                      </a:pPr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[2] </a:t>
                      </a:r>
                      <a:r>
                        <a:rPr lang="en-US" dirty="0">
                          <a:solidFill>
                            <a:schemeClr val="bg1">
                              <a:lumMod val="85000"/>
                            </a:schemeClr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https://www.usenix.org/system/files/conference/fast18/fast18-alagappan.pdf</a:t>
                      </a:r>
                      <a:endParaRPr lang="en-US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9670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9307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584120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208363"/>
              </p:ext>
            </p:extLst>
          </p:nvPr>
        </p:nvGraphicFramePr>
        <p:xfrm>
          <a:off x="0" y="365761"/>
          <a:ext cx="12192000" cy="1920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Ways to check the data integrity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charset="0"/>
                        <a:buNone/>
                      </a:pPr>
                      <a:r>
                        <a:rPr lang="en-US" dirty="0"/>
                        <a:t>So far, we’ve mentioned two mechanism of integrity checks: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dirty="0"/>
                        <a:t>Cyclic redundancy checks,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dirty="0"/>
                        <a:t>Cryptographic hash sums</a:t>
                      </a:r>
                      <a:r>
                        <a:rPr lang="ru-RU" dirty="0"/>
                        <a:t>.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endParaRPr lang="ru-RU" dirty="0"/>
                    </a:p>
                    <a:p>
                      <a:pPr marL="0" indent="0">
                        <a:buFont typeface="Arial" charset="0"/>
                        <a:buNone/>
                      </a:pPr>
                      <a:r>
                        <a:rPr lang="en-US" dirty="0"/>
                        <a:t>Let us consider them in more detail</a:t>
                      </a:r>
                      <a:r>
                        <a:rPr lang="ru-RU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102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003113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805391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2406663"/>
                  </p:ext>
                </p:extLst>
              </p:nvPr>
            </p:nvGraphicFramePr>
            <p:xfrm>
              <a:off x="0" y="365760"/>
              <a:ext cx="12192000" cy="494753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Cyclic Redundancy Check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Let us regard a message</a:t>
                          </a:r>
                          <a:r>
                            <a:rPr lang="en-US" baseline="0" dirty="0"/>
                            <a:t> as a sequence of bits</a:t>
                          </a:r>
                          <a:r>
                            <a:rPr lang="ru-RU" baseline="0" dirty="0"/>
                            <a:t> (</a:t>
                          </a:r>
                          <a:r>
                            <a:rPr lang="en-US" baseline="0" dirty="0"/>
                            <a:t>elements of</a:t>
                          </a:r>
                          <a:r>
                            <a:rPr lang="ru-RU" baseline="0" dirty="0"/>
                            <a:t> </a:t>
                          </a:r>
                          <a:r>
                            <a:rPr lang="en-US" baseline="0" dirty="0"/>
                            <a:t>GF(2)</a:t>
                          </a:r>
                          <a:r>
                            <a:rPr lang="ru-RU" baseline="0" dirty="0"/>
                            <a:t>)</a:t>
                          </a:r>
                          <a:r>
                            <a:rPr lang="en-US" baseline="0" dirty="0"/>
                            <a:t>. There is a bijection between messages and polynomials in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𝐺𝐹</m:t>
                              </m:r>
                              <m:d>
                                <m:dPr>
                                  <m:ctrlPr>
                                    <a:rPr lang="en-US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baseline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en-US" dirty="0"/>
                            <a:t>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↭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 …+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r>
                            <a:rPr lang="en-US" dirty="0"/>
                            <a:t>Take a polynomial</a:t>
                          </a:r>
                          <a:r>
                            <a:rPr lang="ru-RU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𝐺𝐹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(2)[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en-US" dirty="0"/>
                            <a:t> with</a:t>
                          </a:r>
                          <a:r>
                            <a:rPr lang="ru-RU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deg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 = 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en-US" dirty="0"/>
                            <a:t>, and</a:t>
                          </a:r>
                          <a:r>
                            <a:rPr lang="en-US" baseline="0" dirty="0"/>
                            <a:t> let</a:t>
                          </a:r>
                          <a:r>
                            <a:rPr lang="ru-RU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d>
                                <m:dPr>
                                  <m:ctrlPr>
                                    <a:rPr lang="en-US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baseline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= 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d>
                                <m:dPr>
                                  <m:ctrlPr>
                                    <a:rPr lang="en-US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baseline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p>
                                <m:sSupPr>
                                  <m:ctrlPr>
                                    <a:rPr lang="en-US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baseline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b="0" i="1" baseline="0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baseline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.</a:t>
                          </a:r>
                        </a:p>
                        <a:p>
                          <a:endParaRPr lang="en-US" dirty="0"/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is called the</a:t>
                          </a:r>
                          <a:r>
                            <a:rPr lang="ru-RU" dirty="0"/>
                            <a:t> </a:t>
                          </a:r>
                          <a:r>
                            <a:rPr lang="en-US" dirty="0"/>
                            <a:t>CRC of</a:t>
                          </a:r>
                          <a:r>
                            <a:rPr lang="ru-RU" dirty="0"/>
                            <a:t> </a:t>
                          </a:r>
                          <a:r>
                            <a:rPr lang="en-US" dirty="0"/>
                            <a:t>M.</a:t>
                          </a:r>
                        </a:p>
                        <a:p>
                          <a:endParaRPr lang="en-US" dirty="0"/>
                        </a:p>
                        <a:p>
                          <a:r>
                            <a:rPr lang="en-US" dirty="0"/>
                            <a:t>Now consider the polynomial</a:t>
                          </a:r>
                          <a:endParaRPr lang="ru-RU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  <a:p>
                          <a:r>
                            <a:rPr lang="en-US" dirty="0"/>
                            <a:t>It encodes a</a:t>
                          </a:r>
                          <a:r>
                            <a:rPr lang="en-US" baseline="0" dirty="0"/>
                            <a:t> message that is obtained from</a:t>
                          </a:r>
                          <a:r>
                            <a:rPr lang="ru-RU" baseline="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dirty="0"/>
                            <a:t> </a:t>
                          </a:r>
                          <a:r>
                            <a:rPr lang="en-US" dirty="0"/>
                            <a:t>by appending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en-US" dirty="0"/>
                            <a:t> bits that are the coefficients of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oMath>
                          </a14:m>
                          <a:r>
                            <a:rPr lang="en-US" dirty="0"/>
                            <a:t>.</a:t>
                          </a:r>
                        </a:p>
                        <a:p>
                          <a:endParaRPr lang="en-US" dirty="0"/>
                        </a:p>
                        <a:p>
                          <a:r>
                            <a:rPr lang="en-US" dirty="0"/>
                            <a:t>The CRC are very well suited to be implemented in the hardware. One only needs XORs and shifts to calculate a CRC.</a:t>
                          </a:r>
                          <a:endParaRPr lang="en-US" baseline="0" dirty="0"/>
                        </a:p>
                        <a:p>
                          <a:endParaRPr lang="en-US" baseline="0" dirty="0"/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aseline="0" dirty="0"/>
                            <a:t>A polynomial</a:t>
                          </a:r>
                          <a:r>
                            <a:rPr lang="ru-RU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i="1" baseline="0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 baseline="0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 baseline="0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baseline="0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baseline="0" dirty="0"/>
                            <a:t> is picked to detect specific kinds of bit errors.</a:t>
                          </a:r>
                          <a:endParaRPr lang="ru-RU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2406663"/>
                  </p:ext>
                </p:extLst>
              </p:nvPr>
            </p:nvGraphicFramePr>
            <p:xfrm>
              <a:off x="0" y="365760"/>
              <a:ext cx="12192000" cy="4947539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Cyclic Redundancy Check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490339">
                    <a:tc>
                      <a:txBody>
                        <a:bodyPr/>
                        <a:lstStyle/>
                        <a:p>
                          <a:endParaRPr lang="en-CY"/>
                        </a:p>
                      </a:txBody>
                      <a:tcPr>
                        <a:blipFill>
                          <a:blip r:embed="rId3"/>
                          <a:stretch>
                            <a:fillRect t="-11268" r="-104" b="-22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88719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10015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465525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6903617"/>
                  </p:ext>
                </p:extLst>
              </p:nvPr>
            </p:nvGraphicFramePr>
            <p:xfrm>
              <a:off x="0" y="365760"/>
              <a:ext cx="12192000" cy="13716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7546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/>
                            <a:t>Cyclic Redundancy Check</a:t>
                          </a:r>
                          <a:r>
                            <a:rPr lang="en-US" sz="2400" baseline="0" dirty="0"/>
                            <a:t>, exercises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5466"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dirty="0"/>
                            <a:t>If</a:t>
                          </a:r>
                          <a:r>
                            <a:rPr lang="ru-RU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/>
                            <a:t> has &gt;= 2 non-zero coefficients then it detects any 1-bit flip.</a:t>
                          </a:r>
                          <a:endParaRPr lang="ru-RU" baseline="0" dirty="0"/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baseline="0" dirty="0"/>
                            <a:t>If </a:t>
                          </a:r>
                          <a14:m>
                            <m:oMath xmlns:m="http://schemas.openxmlformats.org/officeDocument/2006/math">
                              <m:r>
                                <a:rPr lang="en-US" i="1" baseline="0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 baseline="0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 baseline="0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baseline="0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baseline="0" dirty="0"/>
                            <a:t> has an irreducible factor of degree </a:t>
                          </a:r>
                          <a14:m>
                            <m:oMath xmlns:m="http://schemas.openxmlformats.org/officeDocument/2006/math">
                              <m:r>
                                <a:rPr lang="en-US" i="1" baseline="0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baseline="0" dirty="0"/>
                            <a:t> then it detects any error that changes 2 bits that are less than </a:t>
                          </a:r>
                          <a14:m>
                            <m:oMath xmlns:m="http://schemas.openxmlformats.org/officeDocument/2006/math">
                              <m:r>
                                <a:rPr lang="en-US" i="1" baseline="0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baseline="0" dirty="0"/>
                            <a:t> places apart.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baseline="0" dirty="0"/>
                            <a:t>If</a:t>
                          </a:r>
                          <a:r>
                            <a:rPr lang="ru-RU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i="1" baseline="0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 baseline="0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 baseline="0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baseline="0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baseline="0" dirty="0"/>
                            <a:t> is divisible by</a:t>
                          </a:r>
                          <a:r>
                            <a:rPr lang="ru-RU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i="1" baseline="0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baseline="0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oMath>
                          </a14:m>
                          <a:r>
                            <a:rPr lang="en-US" baseline="0" dirty="0"/>
                            <a:t> then it detects any error that changes an odd number of bits.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6903617"/>
                  </p:ext>
                </p:extLst>
              </p:nvPr>
            </p:nvGraphicFramePr>
            <p:xfrm>
              <a:off x="0" y="365760"/>
              <a:ext cx="12192000" cy="13716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/>
                            <a:t>Cyclic Redundancy Check</a:t>
                          </a:r>
                          <a:r>
                            <a:rPr lang="en-US" sz="2400" baseline="0" dirty="0"/>
                            <a:t>, exercises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CY"/>
                        </a:p>
                      </a:txBody>
                      <a:tcPr>
                        <a:blipFill>
                          <a:blip r:embed="rId3"/>
                          <a:stretch>
                            <a:fillRect t="-54795" r="-104" b="-109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9151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88675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147571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2754030"/>
                  </p:ext>
                </p:extLst>
              </p:nvPr>
            </p:nvGraphicFramePr>
            <p:xfrm>
              <a:off x="0" y="365760"/>
              <a:ext cx="12192000" cy="420624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75466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Cyclic Redundancy Check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5466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dirty="0"/>
                            <a:t>The CRC is often used this way:</a:t>
                          </a:r>
                        </a:p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endParaRPr lang="en-US" dirty="0"/>
                        </a:p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1600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struct something</a:t>
                          </a:r>
                        </a:p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1600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{</a:t>
                          </a:r>
                        </a:p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1600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   some fields</a:t>
                          </a:r>
                        </a:p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1600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   …</a:t>
                          </a:r>
                        </a:p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n-US" sz="1600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    u32 </a:t>
                          </a:r>
                          <a:r>
                            <a:rPr lang="en-US" sz="1600" dirty="0" err="1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crc</a:t>
                          </a:r>
                          <a:r>
                            <a:rPr lang="en-US" sz="1600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;</a:t>
                          </a:r>
                          <a:br>
                            <a:rPr lang="en-US" sz="1600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</a:br>
                          <a:r>
                            <a:rPr lang="en-US" sz="1600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}</a:t>
                          </a:r>
                        </a:p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endParaRPr lang="en-US" dirty="0"/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:r>
                            <a:rPr lang="en-US" dirty="0"/>
                            <a:t>Calculate the</a:t>
                          </a:r>
                          <a:r>
                            <a:rPr lang="ru-RU" dirty="0"/>
                            <a:t> </a:t>
                          </a:r>
                          <a:r>
                            <a:rPr lang="en-US" dirty="0"/>
                            <a:t>CRC of all struct fields except</a:t>
                          </a:r>
                          <a:r>
                            <a:rPr lang="ru-RU" dirty="0"/>
                            <a:t> </a:t>
                          </a:r>
                          <a:r>
                            <a:rPr lang="en-US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-&gt;</a:t>
                          </a:r>
                          <a:r>
                            <a:rPr lang="en-US" dirty="0" err="1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crc</a:t>
                          </a:r>
                          <a:r>
                            <a:rPr lang="en-US" dirty="0"/>
                            <a:t>,</a:t>
                          </a:r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:r>
                            <a:rPr lang="en-US" dirty="0"/>
                            <a:t>Set </a:t>
                          </a:r>
                          <a:r>
                            <a:rPr lang="en-US" dirty="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-&gt;</a:t>
                          </a:r>
                          <a:r>
                            <a:rPr lang="en-US" dirty="0" err="1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crc</a:t>
                          </a:r>
                          <a:r>
                            <a:rPr lang="en-US" dirty="0"/>
                            <a:t> to a value such that the CRC of the whole struct be 0</a:t>
                          </a:r>
                          <a:r>
                            <a:rPr lang="ru-RU" dirty="0"/>
                            <a:t>.</a:t>
                          </a:r>
                          <a:endParaRPr lang="en-US" dirty="0"/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:endParaRPr lang="en-US" dirty="0"/>
                        </a:p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US" b="1" dirty="0"/>
                            <a:t>Exercise</a:t>
                          </a:r>
                          <a:r>
                            <a:rPr lang="ru-RU" b="1" dirty="0"/>
                            <a:t>:</a:t>
                          </a:r>
                          <a:r>
                            <a:rPr lang="ru-RU" dirty="0"/>
                            <a:t> </a:t>
                          </a:r>
                          <a:r>
                            <a:rPr lang="en-US" dirty="0"/>
                            <a:t>let us have a message M and a generator polynomial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ru-RU" dirty="0"/>
                            <a:t> </a:t>
                          </a:r>
                          <a:r>
                            <a:rPr lang="en-US" dirty="0"/>
                            <a:t>that has the degree</a:t>
                          </a:r>
                          <a:r>
                            <a:rPr lang="ru-RU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en-US" dirty="0"/>
                            <a:t>. Find a d-bits</a:t>
                          </a:r>
                          <a:r>
                            <a:rPr lang="ru-RU" dirty="0"/>
                            <a:t> </a:t>
                          </a:r>
                          <a:r>
                            <a:rPr lang="en-US" dirty="0"/>
                            <a:t>integer</a:t>
                          </a:r>
                          <a:r>
                            <a:rPr lang="ru-RU" dirty="0"/>
                            <a:t> </a:t>
                          </a:r>
                          <a:r>
                            <a:rPr lang="en-US" dirty="0"/>
                            <a:t>X such that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𝐶𝑅𝐶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 dirty="0" err="1">
                                  <a:latin typeface="Cambria Math" panose="02040503050406030204" pitchFamily="18" charset="0"/>
                                </a:rPr>
                                <m:t>𝑐𝑜𝑛𝑐𝑎𝑡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)) = 0</m:t>
                              </m:r>
                            </m:oMath>
                          </a14:m>
                          <a:r>
                            <a:rPr lang="en-US" dirty="0"/>
                            <a:t>.</a:t>
                          </a:r>
                          <a:endParaRPr lang="ru-R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2754030"/>
                  </p:ext>
                </p:extLst>
              </p:nvPr>
            </p:nvGraphicFramePr>
            <p:xfrm>
              <a:off x="0" y="365760"/>
              <a:ext cx="12192000" cy="420624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Cyclic Redundancy Check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49040">
                    <a:tc>
                      <a:txBody>
                        <a:bodyPr/>
                        <a:lstStyle/>
                        <a:p>
                          <a:endParaRPr lang="en-CY"/>
                        </a:p>
                      </a:txBody>
                      <a:tcPr>
                        <a:blipFill>
                          <a:blip r:embed="rId3"/>
                          <a:stretch>
                            <a:fillRect t="-13514" r="-104" b="-27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52011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174082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382322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525545"/>
              </p:ext>
            </p:extLst>
          </p:nvPr>
        </p:nvGraphicFramePr>
        <p:xfrm>
          <a:off x="-1" y="365760"/>
          <a:ext cx="12192000" cy="2286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31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7770">
                <a:tc gridSpan="3">
                  <a:txBody>
                    <a:bodyPr/>
                    <a:lstStyle/>
                    <a:p>
                      <a:r>
                        <a:rPr lang="en-US" sz="2400" dirty="0"/>
                        <a:t>Examples of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CRC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91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Applications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generator polynomial</a:t>
                      </a:r>
                      <a:r>
                        <a:rPr lang="en-US" baseline="30000" dirty="0"/>
                        <a:t>*</a:t>
                      </a:r>
                      <a:endParaRPr lang="ru-RU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91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CRC-16-CCITT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Bluetooth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0x1021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91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CRC-16-</a:t>
                      </a: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IBM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USB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0x8005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191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CRC-32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Ethernet,</a:t>
                      </a:r>
                      <a:r>
                        <a:rPr lang="en-US" baseline="0" dirty="0"/>
                        <a:t> SATA, MPEG-2, </a:t>
                      </a:r>
                      <a:r>
                        <a:rPr lang="en-US" baseline="0" dirty="0" err="1"/>
                        <a:t>gzip</a:t>
                      </a:r>
                      <a:r>
                        <a:rPr lang="en-US" baseline="0" dirty="0"/>
                        <a:t>, bzip2, PNG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0x04C11DB7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91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CRC-32C (Castagnoli)**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iSCSI, SCTP, ext4, </a:t>
                      </a:r>
                      <a:r>
                        <a:rPr lang="en-US" dirty="0" err="1"/>
                        <a:t>btrfs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Ceph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0x1EDC6F41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-1" y="5947829"/>
            <a:ext cx="68328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bg1">
                    <a:lumMod val="65000"/>
                  </a:schemeClr>
                </a:solidFill>
              </a:rPr>
              <a:t>* Bits in these numbers are used as the coefficients of the generator polynomial.</a:t>
            </a:r>
          </a:p>
          <a:p>
            <a:r>
              <a:rPr lang="en-US" sz="1600" i="1" dirty="0">
                <a:solidFill>
                  <a:schemeClr val="bg1">
                    <a:lumMod val="65000"/>
                  </a:schemeClr>
                </a:solidFill>
              </a:rPr>
              <a:t>** SSE4.2 has dedicated instructions to calculate this CRC.</a:t>
            </a:r>
            <a:endParaRPr lang="ru-RU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130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446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896030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80710"/>
              </p:ext>
            </p:extLst>
          </p:nvPr>
        </p:nvGraphicFramePr>
        <p:xfrm>
          <a:off x="0" y="365760"/>
          <a:ext cx="12192000" cy="438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158">
                <a:tc>
                  <a:txBody>
                    <a:bodyPr/>
                    <a:lstStyle/>
                    <a:p>
                      <a:r>
                        <a:rPr lang="en-US" sz="2400" dirty="0"/>
                        <a:t>Cryptographic hashes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158">
                <a:tc>
                  <a:txBody>
                    <a:bodyPr/>
                    <a:lstStyle/>
                    <a:p>
                      <a:r>
                        <a:rPr lang="en-US" dirty="0"/>
                        <a:t>CRCs are very fast to calculate and detect some most frequent corruptions</a:t>
                      </a:r>
                      <a:r>
                        <a:rPr lang="ru-RU" baseline="0" dirty="0"/>
                        <a:t>. </a:t>
                      </a:r>
                      <a:r>
                        <a:rPr lang="en-US" baseline="0" dirty="0"/>
                        <a:t>However, they are easily fooled by deliberately introduced errors.</a:t>
                      </a:r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Redis</a:t>
                      </a: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ZooKeeper</a:t>
                      </a:r>
                      <a:r>
                        <a:rPr lang="en-US" dirty="0"/>
                        <a:t>,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Validates checksums in all data, but does it inside assert()s,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Uses</a:t>
                      </a:r>
                      <a:r>
                        <a:rPr lang="ru-RU" dirty="0"/>
                        <a:t>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Adler32</a:t>
                      </a:r>
                      <a:r>
                        <a:rPr lang="en-US" dirty="0"/>
                        <a:t> as the checksum,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Cassandra,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Kafka,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RethinkDB</a:t>
                      </a: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,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LogCabin</a:t>
                      </a:r>
                      <a:r>
                        <a:rPr lang="en-US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.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Adler32 was designed to detect typical corruptions in data compressors.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It is good only for short bit strings</a:t>
                      </a:r>
                      <a:r>
                        <a:rPr lang="ru-RU" dirty="0"/>
                        <a:t>. </a:t>
                      </a:r>
                      <a:r>
                        <a:rPr lang="en-US" dirty="0"/>
                        <a:t>It cannot reliably detect corruptions in longer blocks. That is why </a:t>
                      </a:r>
                      <a:r>
                        <a:rPr lang="en-US" dirty="0" err="1"/>
                        <a:t>ZooKeeper</a:t>
                      </a:r>
                      <a:r>
                        <a:rPr lang="en-US" dirty="0"/>
                        <a:t> may believe corrupted blocks to be valid.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3045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118418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758172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262989"/>
              </p:ext>
            </p:extLst>
          </p:nvPr>
        </p:nvGraphicFramePr>
        <p:xfrm>
          <a:off x="0" y="365760"/>
          <a:ext cx="12192000" cy="438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158">
                <a:tc>
                  <a:txBody>
                    <a:bodyPr/>
                    <a:lstStyle/>
                    <a:p>
                      <a:r>
                        <a:rPr lang="en-US" sz="2400" dirty="0"/>
                        <a:t>Cryptographic hashes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158">
                <a:tc>
                  <a:txBody>
                    <a:bodyPr/>
                    <a:lstStyle/>
                    <a:p>
                      <a:r>
                        <a:rPr lang="en-US" dirty="0"/>
                        <a:t>CRCs are very fast to calculate and detect some most frequent corruptions</a:t>
                      </a:r>
                      <a:r>
                        <a:rPr lang="ru-RU" baseline="0" dirty="0"/>
                        <a:t>. </a:t>
                      </a:r>
                      <a:r>
                        <a:rPr lang="en-US" baseline="0" dirty="0"/>
                        <a:t>However, they are easily fooled by deliberately introduced errors.</a:t>
                      </a:r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r>
                        <a:rPr lang="en-US" dirty="0"/>
                        <a:t>To verify reliably that data was not tampered with or corrupted, we use cryptographic hashes</a:t>
                      </a:r>
                      <a:r>
                        <a:rPr lang="ru-RU" baseline="0" dirty="0"/>
                        <a:t>:</a:t>
                      </a:r>
                      <a:endParaRPr lang="en-US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MD5,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SHA1,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SHA-256, SHA-384, SHA-512.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aseline="0" dirty="0"/>
                        <a:t>These algorithms may be relied upon because we know no algorithm for finding hash collisions except brute-force search. However,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The search for collisions in MD5 is no longer “too computationally expensive”,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For SHA1, a collision was found and there is a way to construct more collisions using that one</a:t>
                      </a:r>
                      <a:r>
                        <a:rPr lang="ru-RU" baseline="0" dirty="0"/>
                        <a:t>,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aseline="0" dirty="0"/>
                        <a:t>SHA-256 and more modern hashes still need a full brute-force search to find a collision.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157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83850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947651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546585"/>
              </p:ext>
            </p:extLst>
          </p:nvPr>
        </p:nvGraphicFramePr>
        <p:xfrm>
          <a:off x="0" y="365761"/>
          <a:ext cx="12192000" cy="54864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An example of consistency checks</a:t>
                      </a:r>
                      <a:r>
                        <a:rPr lang="ru-RU" sz="2400" dirty="0"/>
                        <a:t>: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/>
                        <a:t>Merkle trees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endParaRPr lang="en-US" dirty="0"/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819451"/>
              </p:ext>
            </p:extLst>
          </p:nvPr>
        </p:nvGraphicFramePr>
        <p:xfrm>
          <a:off x="4830284" y="1141349"/>
          <a:ext cx="2209494" cy="640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09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Root</a:t>
                      </a:r>
                    </a:p>
                    <a:p>
                      <a:pPr algn="ctr"/>
                      <a:r>
                        <a:rPr lang="en-US" dirty="0"/>
                        <a:t>HASH(hash0 + hash1)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559560"/>
              </p:ext>
            </p:extLst>
          </p:nvPr>
        </p:nvGraphicFramePr>
        <p:xfrm>
          <a:off x="2049137" y="2372084"/>
          <a:ext cx="2648945" cy="640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648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hash0</a:t>
                      </a:r>
                    </a:p>
                    <a:p>
                      <a:pPr algn="ctr"/>
                      <a:r>
                        <a:rPr lang="en-US" dirty="0"/>
                        <a:t>HASH(hash0-0 + hash0-1)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4166"/>
              </p:ext>
            </p:extLst>
          </p:nvPr>
        </p:nvGraphicFramePr>
        <p:xfrm>
          <a:off x="7165858" y="2372084"/>
          <a:ext cx="2648945" cy="640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648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hash0</a:t>
                      </a:r>
                    </a:p>
                    <a:p>
                      <a:pPr algn="ctr"/>
                      <a:r>
                        <a:rPr lang="en-US" dirty="0"/>
                        <a:t>HASH(hash1-0 + hash1-1)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266656"/>
              </p:ext>
            </p:extLst>
          </p:nvPr>
        </p:nvGraphicFramePr>
        <p:xfrm>
          <a:off x="951734" y="3601167"/>
          <a:ext cx="2194805" cy="640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9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hash0-0</a:t>
                      </a:r>
                    </a:p>
                    <a:p>
                      <a:pPr algn="ctr"/>
                      <a:r>
                        <a:rPr lang="en-US" dirty="0"/>
                        <a:t>HASH(</a:t>
                      </a:r>
                      <a:r>
                        <a:rPr lang="en-US" dirty="0" err="1"/>
                        <a:t>user_data</a:t>
                      </a:r>
                      <a:r>
                        <a:rPr lang="en-US" dirty="0"/>
                        <a:t> 0-0)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86282"/>
              </p:ext>
            </p:extLst>
          </p:nvPr>
        </p:nvGraphicFramePr>
        <p:xfrm>
          <a:off x="3600679" y="3601167"/>
          <a:ext cx="2194805" cy="640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9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hash0-1</a:t>
                      </a:r>
                    </a:p>
                    <a:p>
                      <a:pPr algn="ctr"/>
                      <a:r>
                        <a:rPr lang="en-US" dirty="0"/>
                        <a:t>HASH(</a:t>
                      </a:r>
                      <a:r>
                        <a:rPr lang="en-US" dirty="0" err="1"/>
                        <a:t>user_data</a:t>
                      </a:r>
                      <a:r>
                        <a:rPr lang="en-US" dirty="0"/>
                        <a:t> 0-1)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" name="Straight Arrow Connector 14"/>
          <p:cNvCxnSpPr>
            <a:endCxn id="7" idx="0"/>
          </p:cNvCxnSpPr>
          <p:nvPr/>
        </p:nvCxnSpPr>
        <p:spPr>
          <a:xfrm flipH="1">
            <a:off x="3373609" y="1781429"/>
            <a:ext cx="1456675" cy="59065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9" idx="0"/>
          </p:cNvCxnSpPr>
          <p:nvPr/>
        </p:nvCxnSpPr>
        <p:spPr>
          <a:xfrm>
            <a:off x="7033656" y="1781429"/>
            <a:ext cx="1456674" cy="59065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0" idx="0"/>
          </p:cNvCxnSpPr>
          <p:nvPr/>
        </p:nvCxnSpPr>
        <p:spPr>
          <a:xfrm flipH="1">
            <a:off x="2049136" y="3012164"/>
            <a:ext cx="1" cy="58900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2" idx="0"/>
          </p:cNvCxnSpPr>
          <p:nvPr/>
        </p:nvCxnSpPr>
        <p:spPr>
          <a:xfrm flipH="1">
            <a:off x="4698081" y="3012164"/>
            <a:ext cx="1" cy="58900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722980"/>
              </p:ext>
            </p:extLst>
          </p:nvPr>
        </p:nvGraphicFramePr>
        <p:xfrm>
          <a:off x="6064173" y="3601167"/>
          <a:ext cx="2194805" cy="64032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9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03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hash0-0</a:t>
                      </a:r>
                    </a:p>
                    <a:p>
                      <a:pPr algn="ctr"/>
                      <a:r>
                        <a:rPr lang="en-US" dirty="0"/>
                        <a:t>HASH(</a:t>
                      </a:r>
                      <a:r>
                        <a:rPr lang="en-US" dirty="0" err="1"/>
                        <a:t>user_data</a:t>
                      </a:r>
                      <a:r>
                        <a:rPr lang="en-US" dirty="0"/>
                        <a:t> 0-0)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813279"/>
              </p:ext>
            </p:extLst>
          </p:nvPr>
        </p:nvGraphicFramePr>
        <p:xfrm>
          <a:off x="8713118" y="3601167"/>
          <a:ext cx="2194805" cy="640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9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hash0-1</a:t>
                      </a:r>
                    </a:p>
                    <a:p>
                      <a:pPr algn="ctr"/>
                      <a:r>
                        <a:rPr lang="en-US" dirty="0"/>
                        <a:t>HASH(</a:t>
                      </a:r>
                      <a:r>
                        <a:rPr lang="en-US" dirty="0" err="1"/>
                        <a:t>user_data</a:t>
                      </a:r>
                      <a:r>
                        <a:rPr lang="en-US" dirty="0"/>
                        <a:t> 0-1)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>
            <a:endCxn id="27" idx="0"/>
          </p:cNvCxnSpPr>
          <p:nvPr/>
        </p:nvCxnSpPr>
        <p:spPr>
          <a:xfrm flipH="1">
            <a:off x="7161575" y="3012164"/>
            <a:ext cx="4283" cy="58900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28" idx="0"/>
          </p:cNvCxnSpPr>
          <p:nvPr/>
        </p:nvCxnSpPr>
        <p:spPr>
          <a:xfrm flipH="1">
            <a:off x="9810520" y="3012164"/>
            <a:ext cx="4283" cy="58900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DA3CFDB-22E2-3580-0364-5D55EB790731}"/>
              </a:ext>
            </a:extLst>
          </p:cNvPr>
          <p:cNvSpPr txBox="1"/>
          <p:nvPr/>
        </p:nvSpPr>
        <p:spPr>
          <a:xfrm>
            <a:off x="8373031" y="790987"/>
            <a:ext cx="3818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Y" b="1" dirty="0"/>
              <a:t>Remark</a:t>
            </a:r>
            <a:r>
              <a:rPr lang="en-CY" dirty="0"/>
              <a:t>: + means string concatenation.</a:t>
            </a:r>
          </a:p>
        </p:txBody>
      </p:sp>
    </p:spTree>
    <p:extLst>
      <p:ext uri="{BB962C8B-B14F-4D97-AF65-F5344CB8AC3E}">
        <p14:creationId xmlns:p14="http://schemas.microsoft.com/office/powerpoint/2010/main" val="986203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10217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85422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694378"/>
              </p:ext>
            </p:extLst>
          </p:nvPr>
        </p:nvGraphicFramePr>
        <p:xfrm>
          <a:off x="0" y="365761"/>
          <a:ext cx="12192000" cy="5760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An example of consistency checks</a:t>
                      </a:r>
                      <a:r>
                        <a:rPr lang="ru-RU" sz="2400" dirty="0"/>
                        <a:t>:</a:t>
                      </a:r>
                      <a:r>
                        <a:rPr lang="ru-RU" sz="2400" baseline="0" dirty="0"/>
                        <a:t> </a:t>
                      </a:r>
                      <a:r>
                        <a:rPr lang="en-US" sz="2400" baseline="0" dirty="0" err="1"/>
                        <a:t>Merkle</a:t>
                      </a:r>
                      <a:r>
                        <a:rPr lang="en-US" sz="2400" baseline="0" dirty="0"/>
                        <a:t> trees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Applications</a:t>
                      </a:r>
                      <a:r>
                        <a:rPr lang="ru-RU" dirty="0"/>
                        <a:t>: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dirty="0"/>
                        <a:t>ZFS </a:t>
                      </a:r>
                      <a:r>
                        <a:rPr lang="en-US" dirty="0" err="1"/>
                        <a:t>organises</a:t>
                      </a:r>
                      <a:r>
                        <a:rPr lang="en-US" dirty="0"/>
                        <a:t> the whole FS as a Merkle tree so it can check the consistency when walking a path and when looking for file extents,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dirty="0"/>
                        <a:t>p2p networks use Merkle trees to ensure that the data is tamper-free,</a:t>
                      </a:r>
                    </a:p>
                    <a:p>
                      <a:pPr marL="285750" indent="-285750">
                        <a:buFont typeface="Arial" charset="0"/>
                        <a:buChar char="•"/>
                      </a:pPr>
                      <a:r>
                        <a:rPr lang="en-US" dirty="0"/>
                        <a:t>DynamoDB uses Merkle trees to quickly find parts of the DB that differ between cluster nodes and need to be </a:t>
                      </a:r>
                      <a:r>
                        <a:rPr lang="en-US"/>
                        <a:t>resynced.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30284" y="1141349"/>
          <a:ext cx="2209494" cy="640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209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Root</a:t>
                      </a:r>
                    </a:p>
                    <a:p>
                      <a:pPr algn="ctr"/>
                      <a:r>
                        <a:rPr lang="en-US" dirty="0"/>
                        <a:t>HASH(hash0 + hash1)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49137" y="2372084"/>
          <a:ext cx="2648945" cy="640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648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hash0</a:t>
                      </a:r>
                    </a:p>
                    <a:p>
                      <a:pPr algn="ctr"/>
                      <a:r>
                        <a:rPr lang="en-US" dirty="0"/>
                        <a:t>HASH(hash0-0 + hash0-1)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65858" y="2372084"/>
          <a:ext cx="2648945" cy="640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648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hash0</a:t>
                      </a:r>
                    </a:p>
                    <a:p>
                      <a:pPr algn="ctr"/>
                      <a:r>
                        <a:rPr lang="en-US" dirty="0"/>
                        <a:t>HASH(hash1-0 + hash1-1)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51734" y="3601167"/>
          <a:ext cx="2194805" cy="640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9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hash0-0</a:t>
                      </a:r>
                    </a:p>
                    <a:p>
                      <a:pPr algn="ctr"/>
                      <a:r>
                        <a:rPr lang="en-US" dirty="0"/>
                        <a:t>HASH(</a:t>
                      </a:r>
                      <a:r>
                        <a:rPr lang="en-US" dirty="0" err="1"/>
                        <a:t>user_data</a:t>
                      </a:r>
                      <a:r>
                        <a:rPr lang="en-US" dirty="0"/>
                        <a:t> 0-0)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679" y="3601167"/>
          <a:ext cx="2194805" cy="640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9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hash0-1</a:t>
                      </a:r>
                    </a:p>
                    <a:p>
                      <a:pPr algn="ctr"/>
                      <a:r>
                        <a:rPr lang="en-US" dirty="0"/>
                        <a:t>HASH(</a:t>
                      </a:r>
                      <a:r>
                        <a:rPr lang="en-US" dirty="0" err="1"/>
                        <a:t>user_data</a:t>
                      </a:r>
                      <a:r>
                        <a:rPr lang="en-US" dirty="0"/>
                        <a:t> 0-1)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" name="Straight Arrow Connector 14"/>
          <p:cNvCxnSpPr>
            <a:endCxn id="7" idx="0"/>
          </p:cNvCxnSpPr>
          <p:nvPr/>
        </p:nvCxnSpPr>
        <p:spPr>
          <a:xfrm flipH="1">
            <a:off x="3373609" y="1781429"/>
            <a:ext cx="1456675" cy="59065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9" idx="0"/>
          </p:cNvCxnSpPr>
          <p:nvPr/>
        </p:nvCxnSpPr>
        <p:spPr>
          <a:xfrm>
            <a:off x="7033656" y="1781429"/>
            <a:ext cx="1456674" cy="59065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0" idx="0"/>
          </p:cNvCxnSpPr>
          <p:nvPr/>
        </p:nvCxnSpPr>
        <p:spPr>
          <a:xfrm flipH="1">
            <a:off x="2049136" y="3012164"/>
            <a:ext cx="1" cy="58900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2" idx="0"/>
          </p:cNvCxnSpPr>
          <p:nvPr/>
        </p:nvCxnSpPr>
        <p:spPr>
          <a:xfrm flipH="1">
            <a:off x="4698081" y="3012164"/>
            <a:ext cx="1" cy="58900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064173" y="3601167"/>
          <a:ext cx="2194805" cy="64032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9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03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hash0-0</a:t>
                      </a:r>
                    </a:p>
                    <a:p>
                      <a:pPr algn="ctr"/>
                      <a:r>
                        <a:rPr lang="en-US" dirty="0"/>
                        <a:t>HASH(</a:t>
                      </a:r>
                      <a:r>
                        <a:rPr lang="en-US" dirty="0" err="1"/>
                        <a:t>user_data</a:t>
                      </a:r>
                      <a:r>
                        <a:rPr lang="en-US" dirty="0"/>
                        <a:t> 0-0)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713118" y="3601167"/>
          <a:ext cx="2194805" cy="6400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9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hash0-1</a:t>
                      </a:r>
                    </a:p>
                    <a:p>
                      <a:pPr algn="ctr"/>
                      <a:r>
                        <a:rPr lang="en-US" dirty="0"/>
                        <a:t>HASH(</a:t>
                      </a:r>
                      <a:r>
                        <a:rPr lang="en-US" dirty="0" err="1"/>
                        <a:t>user_data</a:t>
                      </a:r>
                      <a:r>
                        <a:rPr lang="en-US" dirty="0"/>
                        <a:t> 0-1)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>
            <a:endCxn id="27" idx="0"/>
          </p:cNvCxnSpPr>
          <p:nvPr/>
        </p:nvCxnSpPr>
        <p:spPr>
          <a:xfrm flipH="1">
            <a:off x="7161575" y="3012164"/>
            <a:ext cx="4283" cy="58900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28" idx="0"/>
          </p:cNvCxnSpPr>
          <p:nvPr/>
        </p:nvCxnSpPr>
        <p:spPr>
          <a:xfrm flipH="1">
            <a:off x="9810520" y="3012164"/>
            <a:ext cx="4283" cy="58900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096D62E-58C6-26FE-E995-F7CE11B4A1AE}"/>
              </a:ext>
            </a:extLst>
          </p:cNvPr>
          <p:cNvSpPr txBox="1"/>
          <p:nvPr/>
        </p:nvSpPr>
        <p:spPr>
          <a:xfrm>
            <a:off x="8373031" y="790987"/>
            <a:ext cx="3818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Y" b="1" dirty="0"/>
              <a:t>Remark</a:t>
            </a:r>
            <a:r>
              <a:rPr lang="en-CY" dirty="0"/>
              <a:t>: + means string concatenation.</a:t>
            </a:r>
          </a:p>
        </p:txBody>
      </p:sp>
    </p:spTree>
    <p:extLst>
      <p:ext uri="{BB962C8B-B14F-4D97-AF65-F5344CB8AC3E}">
        <p14:creationId xmlns:p14="http://schemas.microsoft.com/office/powerpoint/2010/main" val="1596615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406071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746593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91783"/>
              </p:ext>
            </p:extLst>
          </p:nvPr>
        </p:nvGraphicFramePr>
        <p:xfrm>
          <a:off x="0" y="365760"/>
          <a:ext cx="12192000" cy="1371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158">
                <a:tc>
                  <a:txBody>
                    <a:bodyPr/>
                    <a:lstStyle/>
                    <a:p>
                      <a:r>
                        <a:rPr lang="en-US" sz="2400" dirty="0"/>
                        <a:t>RAID – Redundant Array of Independent (Inexpensive) Disks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158">
                <a:tc>
                  <a:txBody>
                    <a:bodyPr/>
                    <a:lstStyle/>
                    <a:p>
                      <a:r>
                        <a:rPr lang="en-US" dirty="0"/>
                        <a:t>What can it achieve: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Be more reliable than individual disks,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Have bigger capacity than individual disks.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506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272960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59083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482119"/>
              </p:ext>
            </p:extLst>
          </p:nvPr>
        </p:nvGraphicFramePr>
        <p:xfrm>
          <a:off x="0" y="365762"/>
          <a:ext cx="12192000" cy="35661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13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8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RAID levels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RAID0 (stipe)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RAID level splits data into parts that have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N * B bytes, then splits each part into N blocks, and writes blocks to individual disks</a:t>
                      </a:r>
                      <a:r>
                        <a:rPr lang="ru-RU" baseline="0" dirty="0"/>
                        <a:t>:</a:t>
                      </a:r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058508" y="1732920"/>
          <a:ext cx="941859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........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80681" y="1732324"/>
          <a:ext cx="941859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........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58891" y="1732324"/>
          <a:ext cx="941859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........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058508" y="3388839"/>
            <a:ext cx="5097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Disk</a:t>
            </a:r>
            <a:r>
              <a:rPr lang="ru-RU" dirty="0"/>
              <a:t> 0           </a:t>
            </a:r>
            <a:r>
              <a:rPr lang="en-US" dirty="0"/>
              <a:t> </a:t>
            </a:r>
            <a:r>
              <a:rPr lang="ru-RU" dirty="0"/>
              <a:t> </a:t>
            </a:r>
            <a:r>
              <a:rPr lang="en-US" dirty="0"/>
              <a:t> </a:t>
            </a:r>
            <a:r>
              <a:rPr lang="ru-RU" dirty="0"/>
              <a:t> </a:t>
            </a:r>
            <a:r>
              <a:rPr lang="en-US" dirty="0"/>
              <a:t>Disk</a:t>
            </a:r>
            <a:r>
              <a:rPr lang="ru-RU" dirty="0"/>
              <a:t> 1        </a:t>
            </a:r>
            <a:r>
              <a:rPr lang="en-US" dirty="0"/>
              <a:t> </a:t>
            </a:r>
            <a:r>
              <a:rPr lang="ru-RU" dirty="0"/>
              <a:t>        </a:t>
            </a:r>
            <a:r>
              <a:rPr lang="en-US" dirty="0"/>
              <a:t>……</a:t>
            </a:r>
            <a:r>
              <a:rPr lang="ru-RU" dirty="0"/>
              <a:t>                 </a:t>
            </a:r>
            <a:r>
              <a:rPr lang="en-US" dirty="0"/>
              <a:t> </a:t>
            </a:r>
            <a:r>
              <a:rPr lang="ru-RU" dirty="0"/>
              <a:t> </a:t>
            </a:r>
            <a:r>
              <a:rPr lang="en-US" dirty="0"/>
              <a:t>Disk</a:t>
            </a:r>
            <a:r>
              <a:rPr lang="ru-RU" dirty="0"/>
              <a:t> </a:t>
            </a:r>
            <a:r>
              <a:rPr lang="en-US" dirty="0"/>
              <a:t>N-1</a:t>
            </a:r>
            <a:endParaRPr lang="ru-RU" dirty="0"/>
          </a:p>
        </p:txBody>
      </p:sp>
      <p:sp>
        <p:nvSpPr>
          <p:cNvPr id="9" name="Right Arrow 8"/>
          <p:cNvSpPr/>
          <p:nvPr/>
        </p:nvSpPr>
        <p:spPr>
          <a:xfrm>
            <a:off x="5049795" y="2957384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ight Arrow 9"/>
          <p:cNvSpPr/>
          <p:nvPr/>
        </p:nvSpPr>
        <p:spPr>
          <a:xfrm>
            <a:off x="6340733" y="2957383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Right Arrow 10"/>
          <p:cNvSpPr/>
          <p:nvPr/>
        </p:nvSpPr>
        <p:spPr>
          <a:xfrm>
            <a:off x="7804664" y="2957382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Right Arrow 11"/>
          <p:cNvSpPr/>
          <p:nvPr/>
        </p:nvSpPr>
        <p:spPr>
          <a:xfrm>
            <a:off x="5049795" y="2585137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Right Arrow 12"/>
          <p:cNvSpPr/>
          <p:nvPr/>
        </p:nvSpPr>
        <p:spPr>
          <a:xfrm>
            <a:off x="6332151" y="2585136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Right Arrow 13"/>
          <p:cNvSpPr/>
          <p:nvPr/>
        </p:nvSpPr>
        <p:spPr>
          <a:xfrm>
            <a:off x="7816335" y="2585408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ight Arrow 14"/>
          <p:cNvSpPr/>
          <p:nvPr/>
        </p:nvSpPr>
        <p:spPr>
          <a:xfrm>
            <a:off x="5049795" y="1823869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Right Arrow 15"/>
          <p:cNvSpPr/>
          <p:nvPr/>
        </p:nvSpPr>
        <p:spPr>
          <a:xfrm>
            <a:off x="6358310" y="1821819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Right Arrow 16"/>
          <p:cNvSpPr/>
          <p:nvPr/>
        </p:nvSpPr>
        <p:spPr>
          <a:xfrm>
            <a:off x="7792235" y="1819769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110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525963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727012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498355"/>
              </p:ext>
            </p:extLst>
          </p:nvPr>
        </p:nvGraphicFramePr>
        <p:xfrm>
          <a:off x="0" y="365762"/>
          <a:ext cx="12192000" cy="35661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13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8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RAID levels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RAID1 (mirror)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Every disk contains the same data</a:t>
                      </a:r>
                      <a:r>
                        <a:rPr lang="ru-RU" baseline="0" dirty="0"/>
                        <a:t>:</a:t>
                      </a:r>
                      <a:br>
                        <a:rPr lang="ru-RU" baseline="0" dirty="0"/>
                      </a:br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058508" y="1732920"/>
          <a:ext cx="941859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........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80681" y="1732324"/>
          <a:ext cx="941859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........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58891" y="1732324"/>
          <a:ext cx="941859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........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965183" y="283484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==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6303059" y="283484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==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7743393" y="283484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==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4959645" y="248120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==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6297521" y="246550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==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4971188" y="171656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==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6304599" y="172684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==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7743393" y="246969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==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7745027" y="172684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==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40ABE6-4070-997E-1432-ADC0D9E3BA80}"/>
              </a:ext>
            </a:extLst>
          </p:cNvPr>
          <p:cNvSpPr txBox="1"/>
          <p:nvPr/>
        </p:nvSpPr>
        <p:spPr>
          <a:xfrm>
            <a:off x="4058508" y="3388839"/>
            <a:ext cx="5097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Disk</a:t>
            </a:r>
            <a:r>
              <a:rPr lang="ru-RU" dirty="0"/>
              <a:t> 0           </a:t>
            </a:r>
            <a:r>
              <a:rPr lang="en-US" dirty="0"/>
              <a:t> </a:t>
            </a:r>
            <a:r>
              <a:rPr lang="ru-RU" dirty="0"/>
              <a:t> </a:t>
            </a:r>
            <a:r>
              <a:rPr lang="en-US" dirty="0"/>
              <a:t> </a:t>
            </a:r>
            <a:r>
              <a:rPr lang="ru-RU" dirty="0"/>
              <a:t> </a:t>
            </a:r>
            <a:r>
              <a:rPr lang="en-US" dirty="0"/>
              <a:t>Disk</a:t>
            </a:r>
            <a:r>
              <a:rPr lang="ru-RU" dirty="0"/>
              <a:t> 1        </a:t>
            </a:r>
            <a:r>
              <a:rPr lang="en-US" dirty="0"/>
              <a:t> </a:t>
            </a:r>
            <a:r>
              <a:rPr lang="ru-RU" dirty="0"/>
              <a:t>        </a:t>
            </a:r>
            <a:r>
              <a:rPr lang="en-US" dirty="0"/>
              <a:t>……</a:t>
            </a:r>
            <a:r>
              <a:rPr lang="ru-RU" dirty="0"/>
              <a:t>                 </a:t>
            </a:r>
            <a:r>
              <a:rPr lang="en-US" dirty="0"/>
              <a:t> </a:t>
            </a:r>
            <a:r>
              <a:rPr lang="ru-RU" dirty="0"/>
              <a:t> </a:t>
            </a:r>
            <a:r>
              <a:rPr lang="en-US" dirty="0"/>
              <a:t>Disk</a:t>
            </a:r>
            <a:r>
              <a:rPr lang="ru-RU" dirty="0"/>
              <a:t> </a:t>
            </a:r>
            <a:r>
              <a:rPr lang="en-US" dirty="0"/>
              <a:t>N-1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5676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914445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150470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045970"/>
              </p:ext>
            </p:extLst>
          </p:nvPr>
        </p:nvGraphicFramePr>
        <p:xfrm>
          <a:off x="0" y="365762"/>
          <a:ext cx="12192000" cy="438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13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8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RAID levels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RAID4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RAID level uses N</a:t>
                      </a:r>
                      <a:r>
                        <a:rPr lang="ru-RU" dirty="0"/>
                        <a:t>+1</a:t>
                      </a:r>
                      <a:r>
                        <a:rPr lang="en-US" dirty="0"/>
                        <a:t> disks</a:t>
                      </a:r>
                      <a:r>
                        <a:rPr lang="ru-RU" dirty="0"/>
                        <a:t>.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The first N disks are </a:t>
                      </a:r>
                      <a:r>
                        <a:rPr lang="en-US" baseline="0" dirty="0" err="1"/>
                        <a:t>organised</a:t>
                      </a:r>
                      <a:r>
                        <a:rPr lang="en-US" baseline="0" dirty="0"/>
                        <a:t> as a RAID0 array.</a:t>
                      </a:r>
                      <a:br>
                        <a:rPr lang="ru-RU" baseline="0" dirty="0"/>
                      </a:br>
                      <a:r>
                        <a:rPr lang="en-US" baseline="0" dirty="0"/>
                        <a:t>Blocks on first N disks are XORed and the result is stored to the last disk</a:t>
                      </a:r>
                      <a:r>
                        <a:rPr lang="ru-RU" baseline="0" dirty="0"/>
                        <a:t>.</a:t>
                      </a:r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This RAID array may lose any disk and still retain all data</a:t>
                      </a:r>
                      <a:r>
                        <a:rPr lang="ru-RU" baseline="0" dirty="0"/>
                        <a:t>.</a:t>
                      </a:r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058508" y="1732920"/>
          <a:ext cx="941859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........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b10</a:t>
                      </a:r>
                      <a:endParaRPr lang="ru-RU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b00</a:t>
                      </a:r>
                      <a:endParaRPr lang="ru-RU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80681" y="1732324"/>
          <a:ext cx="941859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........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b11</a:t>
                      </a:r>
                      <a:endParaRPr lang="ru-RU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b01</a:t>
                      </a:r>
                      <a:endParaRPr lang="ru-RU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58891" y="1732324"/>
          <a:ext cx="1504093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4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........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b10 + b11 + …</a:t>
                      </a:r>
                      <a:endParaRPr lang="ru-RU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b00 + b01</a:t>
                      </a:r>
                      <a:r>
                        <a:rPr lang="en-US" baseline="0" dirty="0"/>
                        <a:t> + …</a:t>
                      </a:r>
                      <a:endParaRPr lang="ru-RU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Right Arrow 17"/>
          <p:cNvSpPr/>
          <p:nvPr/>
        </p:nvSpPr>
        <p:spPr>
          <a:xfrm>
            <a:off x="5049795" y="2957384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ight Arrow 18"/>
          <p:cNvSpPr/>
          <p:nvPr/>
        </p:nvSpPr>
        <p:spPr>
          <a:xfrm>
            <a:off x="6340733" y="2957383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ight Arrow 19"/>
          <p:cNvSpPr/>
          <p:nvPr/>
        </p:nvSpPr>
        <p:spPr>
          <a:xfrm>
            <a:off x="5049795" y="2585137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ight Arrow 20"/>
          <p:cNvSpPr/>
          <p:nvPr/>
        </p:nvSpPr>
        <p:spPr>
          <a:xfrm>
            <a:off x="6332151" y="2585136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ight Arrow 21"/>
          <p:cNvSpPr/>
          <p:nvPr/>
        </p:nvSpPr>
        <p:spPr>
          <a:xfrm>
            <a:off x="5049795" y="1823869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ight Arrow 22"/>
          <p:cNvSpPr/>
          <p:nvPr/>
        </p:nvSpPr>
        <p:spPr>
          <a:xfrm>
            <a:off x="6358310" y="1821819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AD5C16-3D7B-ABE6-6A3A-6A0D5F1E0504}"/>
              </a:ext>
            </a:extLst>
          </p:cNvPr>
          <p:cNvSpPr txBox="1"/>
          <p:nvPr/>
        </p:nvSpPr>
        <p:spPr>
          <a:xfrm>
            <a:off x="4058508" y="3388839"/>
            <a:ext cx="5097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Disk</a:t>
            </a:r>
            <a:r>
              <a:rPr lang="ru-RU" dirty="0"/>
              <a:t> 0           </a:t>
            </a:r>
            <a:r>
              <a:rPr lang="en-US" dirty="0"/>
              <a:t> </a:t>
            </a:r>
            <a:r>
              <a:rPr lang="ru-RU" dirty="0"/>
              <a:t> </a:t>
            </a:r>
            <a:r>
              <a:rPr lang="en-US" dirty="0"/>
              <a:t> </a:t>
            </a:r>
            <a:r>
              <a:rPr lang="ru-RU" dirty="0"/>
              <a:t> </a:t>
            </a:r>
            <a:r>
              <a:rPr lang="en-US" dirty="0"/>
              <a:t>Disk</a:t>
            </a:r>
            <a:r>
              <a:rPr lang="ru-RU" dirty="0"/>
              <a:t> 1        </a:t>
            </a:r>
            <a:r>
              <a:rPr lang="en-US" dirty="0"/>
              <a:t> </a:t>
            </a:r>
            <a:r>
              <a:rPr lang="ru-RU" dirty="0"/>
              <a:t>        </a:t>
            </a:r>
            <a:r>
              <a:rPr lang="en-US" dirty="0"/>
              <a:t>……</a:t>
            </a:r>
            <a:r>
              <a:rPr lang="ru-RU" dirty="0"/>
              <a:t>                 </a:t>
            </a:r>
            <a:r>
              <a:rPr lang="en-US" dirty="0"/>
              <a:t> </a:t>
            </a:r>
            <a:r>
              <a:rPr lang="ru-RU" dirty="0"/>
              <a:t> </a:t>
            </a:r>
            <a:r>
              <a:rPr lang="en-US" dirty="0"/>
              <a:t>Disk</a:t>
            </a:r>
            <a:r>
              <a:rPr lang="ru-RU" dirty="0"/>
              <a:t> </a:t>
            </a:r>
            <a:r>
              <a:rPr lang="en-US" dirty="0"/>
              <a:t>N-1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8102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628868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500680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092"/>
              </p:ext>
            </p:extLst>
          </p:nvPr>
        </p:nvGraphicFramePr>
        <p:xfrm>
          <a:off x="0" y="365762"/>
          <a:ext cx="12192000" cy="4389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13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8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RAID levels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RAID4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This RAID level uses N</a:t>
                      </a:r>
                      <a:r>
                        <a:rPr lang="ru-RU" dirty="0"/>
                        <a:t>+1</a:t>
                      </a:r>
                      <a:r>
                        <a:rPr lang="en-US" dirty="0"/>
                        <a:t> disks</a:t>
                      </a:r>
                      <a:r>
                        <a:rPr lang="ru-RU" dirty="0"/>
                        <a:t>.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The first N disks are </a:t>
                      </a:r>
                      <a:r>
                        <a:rPr lang="en-US" baseline="0" dirty="0" err="1"/>
                        <a:t>organised</a:t>
                      </a:r>
                      <a:r>
                        <a:rPr lang="en-US" baseline="0" dirty="0"/>
                        <a:t> as a RAID0 array.</a:t>
                      </a:r>
                      <a:br>
                        <a:rPr lang="ru-RU" baseline="0" dirty="0"/>
                      </a:br>
                      <a:r>
                        <a:rPr lang="en-US" baseline="0" dirty="0"/>
                        <a:t>Blocks on first N disks are XORed and the result is stored to the last disk</a:t>
                      </a:r>
                      <a:r>
                        <a:rPr lang="ru-RU" baseline="0" dirty="0"/>
                        <a:t>.</a:t>
                      </a:r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This RAID array may lose any disk and still retain all data</a:t>
                      </a:r>
                      <a:r>
                        <a:rPr lang="ru-RU" baseline="0" dirty="0"/>
                        <a:t>.</a:t>
                      </a:r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r>
                        <a:rPr lang="en-US" baseline="0" dirty="0"/>
                        <a:t>Such array has a disadvantage. The parity disk needs more IOPS than other member disks.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058508" y="1732920"/>
          <a:ext cx="941859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........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b10</a:t>
                      </a:r>
                      <a:endParaRPr lang="ru-RU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b00</a:t>
                      </a:r>
                      <a:endParaRPr lang="ru-RU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80681" y="1732324"/>
          <a:ext cx="941859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1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........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b11</a:t>
                      </a:r>
                      <a:endParaRPr lang="ru-RU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b01</a:t>
                      </a:r>
                      <a:endParaRPr lang="ru-RU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58891" y="1732324"/>
          <a:ext cx="1504093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4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........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b10 + b11 + …</a:t>
                      </a:r>
                      <a:endParaRPr lang="ru-RU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b00 + b01</a:t>
                      </a:r>
                      <a:r>
                        <a:rPr lang="en-US" baseline="0" dirty="0"/>
                        <a:t> + …</a:t>
                      </a:r>
                      <a:endParaRPr lang="ru-RU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Right Arrow 17"/>
          <p:cNvSpPr/>
          <p:nvPr/>
        </p:nvSpPr>
        <p:spPr>
          <a:xfrm>
            <a:off x="5049795" y="2957384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ight Arrow 18"/>
          <p:cNvSpPr/>
          <p:nvPr/>
        </p:nvSpPr>
        <p:spPr>
          <a:xfrm>
            <a:off x="6340733" y="2957383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Right Arrow 19"/>
          <p:cNvSpPr/>
          <p:nvPr/>
        </p:nvSpPr>
        <p:spPr>
          <a:xfrm>
            <a:off x="5049795" y="2585137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ight Arrow 20"/>
          <p:cNvSpPr/>
          <p:nvPr/>
        </p:nvSpPr>
        <p:spPr>
          <a:xfrm>
            <a:off x="6332151" y="2585136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Right Arrow 21"/>
          <p:cNvSpPr/>
          <p:nvPr/>
        </p:nvSpPr>
        <p:spPr>
          <a:xfrm>
            <a:off x="5049795" y="1823869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Right Arrow 22"/>
          <p:cNvSpPr/>
          <p:nvPr/>
        </p:nvSpPr>
        <p:spPr>
          <a:xfrm>
            <a:off x="6358310" y="1821819"/>
            <a:ext cx="330886" cy="1565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76EE48-E3DE-8EE4-76CD-B24813999F4A}"/>
              </a:ext>
            </a:extLst>
          </p:cNvPr>
          <p:cNvSpPr txBox="1"/>
          <p:nvPr/>
        </p:nvSpPr>
        <p:spPr>
          <a:xfrm>
            <a:off x="4058508" y="3388839"/>
            <a:ext cx="5097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Disk</a:t>
            </a:r>
            <a:r>
              <a:rPr lang="ru-RU" dirty="0"/>
              <a:t> 0           </a:t>
            </a:r>
            <a:r>
              <a:rPr lang="en-US" dirty="0"/>
              <a:t> </a:t>
            </a:r>
            <a:r>
              <a:rPr lang="ru-RU" dirty="0"/>
              <a:t> </a:t>
            </a:r>
            <a:r>
              <a:rPr lang="en-US" dirty="0"/>
              <a:t> </a:t>
            </a:r>
            <a:r>
              <a:rPr lang="ru-RU" dirty="0"/>
              <a:t> </a:t>
            </a:r>
            <a:r>
              <a:rPr lang="en-US" dirty="0"/>
              <a:t>Disk</a:t>
            </a:r>
            <a:r>
              <a:rPr lang="ru-RU" dirty="0"/>
              <a:t> 1        </a:t>
            </a:r>
            <a:r>
              <a:rPr lang="en-US" dirty="0"/>
              <a:t> </a:t>
            </a:r>
            <a:r>
              <a:rPr lang="ru-RU" dirty="0"/>
              <a:t>        </a:t>
            </a:r>
            <a:r>
              <a:rPr lang="en-US" dirty="0"/>
              <a:t>……</a:t>
            </a:r>
            <a:r>
              <a:rPr lang="ru-RU" dirty="0"/>
              <a:t>                 </a:t>
            </a:r>
            <a:r>
              <a:rPr lang="en-US" dirty="0"/>
              <a:t> </a:t>
            </a:r>
            <a:r>
              <a:rPr lang="ru-RU" dirty="0"/>
              <a:t> </a:t>
            </a:r>
            <a:r>
              <a:rPr lang="en-US" dirty="0"/>
              <a:t>Disk</a:t>
            </a:r>
            <a:r>
              <a:rPr lang="ru-RU" dirty="0"/>
              <a:t> </a:t>
            </a:r>
            <a:r>
              <a:rPr lang="en-US" dirty="0"/>
              <a:t>N-1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584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39063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480994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35275"/>
              </p:ext>
            </p:extLst>
          </p:nvPr>
        </p:nvGraphicFramePr>
        <p:xfrm>
          <a:off x="0" y="365762"/>
          <a:ext cx="12192000" cy="3291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413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8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RAID levels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RAID5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This RAID level works like RAID4, but places parity blocks on different disks in a round-robin manner</a:t>
                      </a:r>
                      <a:r>
                        <a:rPr lang="ru-RU" baseline="0" dirty="0"/>
                        <a:t>:</a:t>
                      </a:r>
                      <a:endParaRPr lang="en-US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058508" y="1612387"/>
          <a:ext cx="1782119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2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........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b20</a:t>
                      </a:r>
                      <a:endParaRPr lang="ru-RU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b10 + b11</a:t>
                      </a:r>
                      <a:endParaRPr lang="ru-RU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b00</a:t>
                      </a:r>
                      <a:endParaRPr lang="ru-RU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96227" y="1612387"/>
          <a:ext cx="1782119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2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........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b20 + b21</a:t>
                      </a:r>
                      <a:endParaRPr lang="ru-RU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b10</a:t>
                      </a:r>
                      <a:endParaRPr lang="ru-RU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b01</a:t>
                      </a:r>
                      <a:endParaRPr lang="ru-RU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333946" y="1612387"/>
          <a:ext cx="1782119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2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........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b21</a:t>
                      </a:r>
                      <a:endParaRPr lang="ru-RU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b11</a:t>
                      </a:r>
                      <a:endParaRPr lang="ru-RU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b00 + b01</a:t>
                      </a:r>
                      <a:endParaRPr lang="ru-RU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2893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158888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73370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389816"/>
              </p:ext>
            </p:extLst>
          </p:nvPr>
        </p:nvGraphicFramePr>
        <p:xfrm>
          <a:off x="0" y="365762"/>
          <a:ext cx="12192000" cy="24688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Write holes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Writes to different blocks in the same RAID stripe will happen at different moments.</a:t>
                      </a:r>
                      <a:endParaRPr lang="ru-RU" baseline="0" dirty="0"/>
                    </a:p>
                    <a:p>
                      <a:endParaRPr lang="ru-RU" baseline="0" dirty="0"/>
                    </a:p>
                    <a:p>
                      <a:r>
                        <a:rPr lang="en-US" baseline="0" dirty="0"/>
                        <a:t>Consider the following scenario</a:t>
                      </a:r>
                      <a:r>
                        <a:rPr lang="ru-RU" baseline="0" dirty="0"/>
                        <a:t>: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baseline="0" dirty="0"/>
                        <a:t>a write to RAID1 starts,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dirty="0"/>
                        <a:t>member disk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#0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processed the write,</a:t>
                      </a:r>
                      <a:endParaRPr lang="ru-RU" baseline="0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baseline="0" dirty="0"/>
                        <a:t>the power failed</a:t>
                      </a:r>
                      <a:r>
                        <a:rPr lang="ru-RU" baseline="0" dirty="0"/>
                        <a:t>,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baseline="0" dirty="0"/>
                        <a:t>member disk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#1 has not processed the write</a:t>
                      </a:r>
                      <a:r>
                        <a:rPr lang="ru-RU" baseline="0" dirty="0"/>
                        <a:t>.</a:t>
                      </a:r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064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032834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42537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585720"/>
              </p:ext>
            </p:extLst>
          </p:nvPr>
        </p:nvGraphicFramePr>
        <p:xfrm>
          <a:off x="0" y="365762"/>
          <a:ext cx="12192000" cy="3017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Write holes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aseline="0" dirty="0"/>
                        <a:t>There is a hardware solution to write holes</a:t>
                      </a:r>
                      <a:r>
                        <a:rPr lang="ru-RU" baseline="0" dirty="0"/>
                        <a:t>:</a:t>
                      </a:r>
                      <a:endParaRPr lang="en-US" baseline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BBU (Battery Backup Unit) in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RAID controllers</a:t>
                      </a:r>
                      <a:r>
                        <a:rPr lang="ru-RU" baseline="0" dirty="0"/>
                        <a:t>.</a:t>
                      </a:r>
                      <a:endParaRPr lang="en-US" baseline="0" dirty="0"/>
                    </a:p>
                    <a:p>
                      <a:endParaRPr lang="en-US" baseline="0" dirty="0"/>
                    </a:p>
                    <a:p>
                      <a:r>
                        <a:rPr lang="en-US" baseline="0" dirty="0"/>
                        <a:t>And there are software solutions</a:t>
                      </a:r>
                      <a:r>
                        <a:rPr lang="ru-RU" baseline="0" dirty="0"/>
                        <a:t>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/>
                        <a:t>write intent bitmap (</a:t>
                      </a:r>
                      <a:r>
                        <a:rPr lang="en-US" baseline="0" dirty="0" err="1"/>
                        <a:t>linux</a:t>
                      </a:r>
                      <a:r>
                        <a:rPr lang="en-US" baseline="0" dirty="0"/>
                        <a:t> md),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aseline="0" dirty="0" err="1"/>
                        <a:t>checksumming</a:t>
                      </a:r>
                      <a:r>
                        <a:rPr lang="en-US" baseline="0" dirty="0"/>
                        <a:t> + copy-on-write (ZFS).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aseline="0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aseline="0" dirty="0"/>
                        <a:t>Write intent bitmap is useful in other ways. It both fixes write holes, and provides a way to decrease the time it takes to rebuild a RAID array</a:t>
                      </a:r>
                      <a:r>
                        <a:rPr lang="ru-RU" baseline="0" dirty="0"/>
                        <a:t>.</a:t>
                      </a:r>
                      <a:endParaRPr lang="en-US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966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404116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767482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629308"/>
              </p:ext>
            </p:extLst>
          </p:nvPr>
        </p:nvGraphicFramePr>
        <p:xfrm>
          <a:off x="0" y="365760"/>
          <a:ext cx="12192000" cy="1920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0180">
                <a:tc>
                  <a:txBody>
                    <a:bodyPr/>
                    <a:lstStyle/>
                    <a:p>
                      <a:r>
                        <a:rPr lang="en-US" sz="2400" dirty="0"/>
                        <a:t>One more fatal flaw of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RAID5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180">
                <a:tc>
                  <a:txBody>
                    <a:bodyPr/>
                    <a:lstStyle/>
                    <a:p>
                      <a:r>
                        <a:rPr lang="en-US" dirty="0"/>
                        <a:t>Rebuilding a RAID5 array after a disk failure takes a long time</a:t>
                      </a:r>
                      <a:r>
                        <a:rPr lang="en-US" baseline="0" dirty="0"/>
                        <a:t>*.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Moreover, during that period the remaining disks are put under unusually large load.</a:t>
                      </a:r>
                      <a:r>
                        <a:rPr lang="ru-RU" baseline="0" dirty="0"/>
                        <a:t> </a:t>
                      </a:r>
                      <a:r>
                        <a:rPr lang="en-US" baseline="0" dirty="0"/>
                        <a:t>This increases the probability of a second disk failing during a rebuild.</a:t>
                      </a:r>
                    </a:p>
                    <a:p>
                      <a:endParaRPr lang="en-US" baseline="0" dirty="0"/>
                    </a:p>
                    <a:p>
                      <a:r>
                        <a:rPr lang="en-US" baseline="0" dirty="0"/>
                        <a:t>As disks grew larger, this scenario went from theoretical to frequent. That is why we no longer use RAID5 and prefer RAID6 instead. RAID6 protects against failure of any 2 disks in an array.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6163272"/>
            <a:ext cx="6285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* It takes approx. 1.5 day to overwrite a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10Tb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disk at 100Mb/sec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</a:rPr>
              <a:t>.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6072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965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936631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126220"/>
              </p:ext>
            </p:extLst>
          </p:nvPr>
        </p:nvGraphicFramePr>
        <p:xfrm>
          <a:off x="0" y="365760"/>
          <a:ext cx="12192000" cy="457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0180">
                <a:tc>
                  <a:txBody>
                    <a:bodyPr/>
                    <a:lstStyle/>
                    <a:p>
                      <a:r>
                        <a:rPr lang="en-US" sz="2400" dirty="0"/>
                        <a:t>RAID6 and Reed-Solomon codes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09472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475308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203790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3854721"/>
                  </p:ext>
                </p:extLst>
              </p:nvPr>
            </p:nvGraphicFramePr>
            <p:xfrm>
              <a:off x="0" y="365760"/>
              <a:ext cx="12192000" cy="82296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20018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01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A message that has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 bytes may be regarded as a vector in the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-dimensional vector space over</a:t>
                          </a:r>
                          <a:r>
                            <a:rPr lang="en-US" sz="1800" baseline="0" dirty="0"/>
                            <a:t> the field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𝐺𝐹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(256)</m:t>
                              </m:r>
                            </m:oMath>
                          </a14:m>
                          <a:r>
                            <a:rPr lang="en-US" sz="1800" dirty="0"/>
                            <a:t>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74692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3854721"/>
                  </p:ext>
                </p:extLst>
              </p:nvPr>
            </p:nvGraphicFramePr>
            <p:xfrm>
              <a:off x="0" y="365760"/>
              <a:ext cx="12192000" cy="82296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CY"/>
                        </a:p>
                      </a:txBody>
                      <a:tcPr>
                        <a:blipFill>
                          <a:blip r:embed="rId3"/>
                          <a:stretch>
                            <a:fillRect t="-141379" r="-104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74692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376857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677908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352142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5270645"/>
                  </p:ext>
                </p:extLst>
              </p:nvPr>
            </p:nvGraphicFramePr>
            <p:xfrm>
              <a:off x="0" y="365760"/>
              <a:ext cx="12192000" cy="82296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20018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01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A message that has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 bytes may be regarded as a vector in the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-dimensional vector space over</a:t>
                          </a:r>
                          <a:r>
                            <a:rPr lang="en-US" sz="1800" baseline="0" dirty="0"/>
                            <a:t> the field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𝐺𝐹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(256)</m:t>
                              </m:r>
                            </m:oMath>
                          </a14:m>
                          <a:r>
                            <a:rPr lang="en-US" sz="1800" dirty="0"/>
                            <a:t>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60446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5270645"/>
                  </p:ext>
                </p:extLst>
              </p:nvPr>
            </p:nvGraphicFramePr>
            <p:xfrm>
              <a:off x="0" y="365760"/>
              <a:ext cx="12192000" cy="82296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CY"/>
                        </a:p>
                      </a:txBody>
                      <a:tcPr>
                        <a:blipFill>
                          <a:blip r:embed="rId3"/>
                          <a:stretch>
                            <a:fillRect t="-141379" r="-104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604463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Graphic 3">
            <a:extLst>
              <a:ext uri="{FF2B5EF4-FFF2-40B4-BE49-F238E27FC236}">
                <a16:creationId xmlns:a16="http://schemas.microsoft.com/office/drawing/2014/main" id="{E146B17E-CE32-DA4E-AAF0-0B4542FF3B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05" y="820420"/>
            <a:ext cx="6048595" cy="454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848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718548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72785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2454466"/>
                  </p:ext>
                </p:extLst>
              </p:nvPr>
            </p:nvGraphicFramePr>
            <p:xfrm>
              <a:off x="0" y="365760"/>
              <a:ext cx="12192000" cy="13716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20018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01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A message that has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 bytes may be regarded as a vector in the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-dimensional vector space over</a:t>
                          </a:r>
                          <a:r>
                            <a:rPr lang="en-US" sz="1800" baseline="0" dirty="0"/>
                            <a:t> the field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𝐺𝐹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(256)</m:t>
                              </m:r>
                            </m:oMath>
                          </a14:m>
                          <a:r>
                            <a:rPr lang="en-US" sz="1800" dirty="0"/>
                            <a:t>.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Losing a disk that stores the ”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oMath>
                          </a14:m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-coordinate of the image” may be modeled as projecting the vector to the place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{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=0}</m:t>
                              </m:r>
                            </m:oMath>
                          </a14:m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6549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2454466"/>
                  </p:ext>
                </p:extLst>
              </p:nvPr>
            </p:nvGraphicFramePr>
            <p:xfrm>
              <a:off x="0" y="365760"/>
              <a:ext cx="12192000" cy="13716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CY"/>
                        </a:p>
                      </a:txBody>
                      <a:tcPr>
                        <a:blipFill>
                          <a:blip r:embed="rId3"/>
                          <a:stretch>
                            <a:fillRect t="-54795" r="-104" b="-109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0365495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Graphic 3">
            <a:extLst>
              <a:ext uri="{FF2B5EF4-FFF2-40B4-BE49-F238E27FC236}">
                <a16:creationId xmlns:a16="http://schemas.microsoft.com/office/drawing/2014/main" id="{E146B17E-CE32-DA4E-AAF0-0B4542FF3B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05" y="820420"/>
            <a:ext cx="6048595" cy="454115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0062B3A-738A-2247-94FD-BB4C75A1E0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3405" y="820420"/>
            <a:ext cx="6048595" cy="454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477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275898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270781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6497980"/>
                  </p:ext>
                </p:extLst>
              </p:nvPr>
            </p:nvGraphicFramePr>
            <p:xfrm>
              <a:off x="0" y="365760"/>
              <a:ext cx="12192000" cy="13716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20018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01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A message that has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 bytes may be regarded as a vector in the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-dimensional vector space over</a:t>
                          </a:r>
                          <a:r>
                            <a:rPr lang="en-US" sz="1800" baseline="0" dirty="0"/>
                            <a:t> the field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𝐺𝐹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(256)</m:t>
                              </m:r>
                            </m:oMath>
                          </a14:m>
                          <a:r>
                            <a:rPr lang="en-US" sz="1800" dirty="0"/>
                            <a:t>.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Losing a disk that stores the ”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oMath>
                          </a14:m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-coordinate of the image” may be modeled as projecting the vector to the place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{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=0}</m:t>
                              </m:r>
                            </m:oMath>
                          </a14:m>
                          <a: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2399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6497980"/>
                  </p:ext>
                </p:extLst>
              </p:nvPr>
            </p:nvGraphicFramePr>
            <p:xfrm>
              <a:off x="0" y="365760"/>
              <a:ext cx="12192000" cy="13716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CY"/>
                        </a:p>
                      </a:txBody>
                      <a:tcPr>
                        <a:blipFill>
                          <a:blip r:embed="rId3"/>
                          <a:stretch>
                            <a:fillRect t="-54795" r="-104" b="-109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23996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Graphic 3">
            <a:extLst>
              <a:ext uri="{FF2B5EF4-FFF2-40B4-BE49-F238E27FC236}">
                <a16:creationId xmlns:a16="http://schemas.microsoft.com/office/drawing/2014/main" id="{E146B17E-CE32-DA4E-AAF0-0B4542FF3B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05" y="820420"/>
            <a:ext cx="6048595" cy="454115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73B3843-65B6-CA48-A4C0-DB8FBA858B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35599" y="817467"/>
            <a:ext cx="6060262" cy="454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555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410046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697135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3317732"/>
                  </p:ext>
                </p:extLst>
              </p:nvPr>
            </p:nvGraphicFramePr>
            <p:xfrm>
              <a:off x="0" y="365760"/>
              <a:ext cx="12192000" cy="82296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20018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01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A message that has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 bytes may be regarded as a vector in the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-dimensional vector space over</a:t>
                          </a:r>
                          <a:r>
                            <a:rPr lang="en-US" sz="1800" baseline="0" dirty="0"/>
                            <a:t> the field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𝐺𝐹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(256)</m:t>
                              </m:r>
                            </m:oMath>
                          </a14:m>
                          <a:r>
                            <a:rPr lang="en-US" sz="1800" dirty="0"/>
                            <a:t>.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894914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3317732"/>
                  </p:ext>
                </p:extLst>
              </p:nvPr>
            </p:nvGraphicFramePr>
            <p:xfrm>
              <a:off x="0" y="365760"/>
              <a:ext cx="12192000" cy="82296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CY"/>
                        </a:p>
                      </a:txBody>
                      <a:tcPr>
                        <a:blipFill>
                          <a:blip r:embed="rId3"/>
                          <a:stretch>
                            <a:fillRect t="-141379" r="-104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949147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Graphic 3">
            <a:extLst>
              <a:ext uri="{FF2B5EF4-FFF2-40B4-BE49-F238E27FC236}">
                <a16:creationId xmlns:a16="http://schemas.microsoft.com/office/drawing/2014/main" id="{E146B17E-CE32-DA4E-AAF0-0B4542FF3B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05" y="820420"/>
            <a:ext cx="6048595" cy="4541157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EB48CB5C-6219-A14D-9D17-8A767E57710B}"/>
              </a:ext>
            </a:extLst>
          </p:cNvPr>
          <p:cNvSpPr/>
          <p:nvPr/>
        </p:nvSpPr>
        <p:spPr>
          <a:xfrm>
            <a:off x="5584370" y="3298371"/>
            <a:ext cx="1034143" cy="2830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E1EFF3C-AB4A-A740-A01E-0B0389C7A5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7266" y="820419"/>
            <a:ext cx="6048595" cy="454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041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055071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019838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9229088"/>
                  </p:ext>
                </p:extLst>
              </p:nvPr>
            </p:nvGraphicFramePr>
            <p:xfrm>
              <a:off x="0" y="365760"/>
              <a:ext cx="12192000" cy="82296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20018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01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A message that has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 bytes may be regarded as a vector in the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-dimensional vector space over</a:t>
                          </a:r>
                          <a:r>
                            <a:rPr lang="en-US" sz="1800" baseline="0" dirty="0"/>
                            <a:t> the field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𝐺𝐹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(256)</m:t>
                              </m:r>
                            </m:oMath>
                          </a14:m>
                          <a:r>
                            <a:rPr lang="en-US" sz="1800" dirty="0"/>
                            <a:t>.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406763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9229088"/>
                  </p:ext>
                </p:extLst>
              </p:nvPr>
            </p:nvGraphicFramePr>
            <p:xfrm>
              <a:off x="0" y="365760"/>
              <a:ext cx="12192000" cy="82296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CY"/>
                        </a:p>
                      </a:txBody>
                      <a:tcPr>
                        <a:blipFill>
                          <a:blip r:embed="rId3"/>
                          <a:stretch>
                            <a:fillRect t="-141379" r="-104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067631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Graphic 10">
            <a:extLst>
              <a:ext uri="{FF2B5EF4-FFF2-40B4-BE49-F238E27FC236}">
                <a16:creationId xmlns:a16="http://schemas.microsoft.com/office/drawing/2014/main" id="{2E1EFF3C-AB4A-A740-A01E-0B0389C7A5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7266" y="820419"/>
            <a:ext cx="6048595" cy="454115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199AB6-E434-4641-BDBC-8E3D51BA6D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04" y="815337"/>
            <a:ext cx="6048596" cy="454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3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9020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990117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0626420"/>
                  </p:ext>
                </p:extLst>
              </p:nvPr>
            </p:nvGraphicFramePr>
            <p:xfrm>
              <a:off x="0" y="365760"/>
              <a:ext cx="12192000" cy="82296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20018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01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A message that has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 bytes may be regarded as a vector in the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-dimensional vector space over</a:t>
                          </a:r>
                          <a:r>
                            <a:rPr lang="en-US" sz="1800" baseline="0" dirty="0"/>
                            <a:t> the field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𝐺𝐹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(256)</m:t>
                              </m:r>
                            </m:oMath>
                          </a14:m>
                          <a:r>
                            <a:rPr lang="en-US" sz="1800" dirty="0"/>
                            <a:t>.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85664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0626420"/>
                  </p:ext>
                </p:extLst>
              </p:nvPr>
            </p:nvGraphicFramePr>
            <p:xfrm>
              <a:off x="0" y="365760"/>
              <a:ext cx="12192000" cy="82296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CY"/>
                        </a:p>
                      </a:txBody>
                      <a:tcPr>
                        <a:blipFill>
                          <a:blip r:embed="rId3"/>
                          <a:stretch>
                            <a:fillRect t="-141379" r="-104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56644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Graphic 10">
            <a:extLst>
              <a:ext uri="{FF2B5EF4-FFF2-40B4-BE49-F238E27FC236}">
                <a16:creationId xmlns:a16="http://schemas.microsoft.com/office/drawing/2014/main" id="{2E1EFF3C-AB4A-A740-A01E-0B0389C7A5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7266" y="820419"/>
            <a:ext cx="6048595" cy="454115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201CC0D-DF76-3648-88CA-7190531453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69" y="815337"/>
            <a:ext cx="6048595" cy="454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45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797947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705934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1802097"/>
                  </p:ext>
                </p:extLst>
              </p:nvPr>
            </p:nvGraphicFramePr>
            <p:xfrm>
              <a:off x="0" y="365760"/>
              <a:ext cx="12192000" cy="82296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20018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01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/>
                            <a:t>A message that has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 bytes may be regarded as a vector in the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-dimensional vector space over</a:t>
                          </a:r>
                          <a:r>
                            <a:rPr lang="en-US" sz="1800" baseline="0" dirty="0"/>
                            <a:t> the field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𝐺𝐹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(256)</m:t>
                              </m:r>
                            </m:oMath>
                          </a14:m>
                          <a:r>
                            <a:rPr lang="en-US" sz="1800" dirty="0"/>
                            <a:t>.</a:t>
                          </a:r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51934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1802097"/>
                  </p:ext>
                </p:extLst>
              </p:nvPr>
            </p:nvGraphicFramePr>
            <p:xfrm>
              <a:off x="0" y="365760"/>
              <a:ext cx="12192000" cy="82296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CY"/>
                        </a:p>
                      </a:txBody>
                      <a:tcPr>
                        <a:blipFill>
                          <a:blip r:embed="rId3"/>
                          <a:stretch>
                            <a:fillRect t="-141379" r="-104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1934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Graphic 10">
            <a:extLst>
              <a:ext uri="{FF2B5EF4-FFF2-40B4-BE49-F238E27FC236}">
                <a16:creationId xmlns:a16="http://schemas.microsoft.com/office/drawing/2014/main" id="{2E1EFF3C-AB4A-A740-A01E-0B0389C7A5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7266" y="820419"/>
            <a:ext cx="6048595" cy="454115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2C75942-5D43-3544-84B9-FCB799ACD8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336" y="820418"/>
            <a:ext cx="6048595" cy="454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2594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487632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394037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0671534"/>
                  </p:ext>
                </p:extLst>
              </p:nvPr>
            </p:nvGraphicFramePr>
            <p:xfrm>
              <a:off x="0" y="365760"/>
              <a:ext cx="12192000" cy="27432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20018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0180"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A message that has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 bytes may be regarded as a vector in the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-dimensional vector space over</a:t>
                          </a:r>
                          <a:r>
                            <a:rPr lang="en-US" sz="1800" baseline="0" dirty="0"/>
                            <a:t> the field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𝐺𝐹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(256)</m:t>
                              </m:r>
                            </m:oMath>
                          </a14:m>
                          <a:r>
                            <a:rPr lang="en-US" sz="1800" dirty="0"/>
                            <a:t>.</a:t>
                          </a:r>
                        </a:p>
                        <a:p>
                          <a:endParaRPr lang="en-US" sz="1800" dirty="0"/>
                        </a:p>
                        <a:p>
                          <a:endParaRPr lang="en-US" sz="1800" baseline="0" dirty="0"/>
                        </a:p>
                        <a:p>
                          <a:endParaRPr lang="en-US" sz="1800" baseline="0" dirty="0"/>
                        </a:p>
                        <a:p>
                          <a:endParaRPr lang="en-US" sz="1800" baseline="0" dirty="0"/>
                        </a:p>
                        <a:p>
                          <a:endParaRPr lang="en-US" sz="1800" baseline="0" dirty="0"/>
                        </a:p>
                        <a:p>
                          <a:endParaRPr lang="en-US" sz="1800" baseline="0" dirty="0"/>
                        </a:p>
                        <a:p>
                          <a:endParaRPr lang="en-US" sz="18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72640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0671534"/>
                  </p:ext>
                </p:extLst>
              </p:nvPr>
            </p:nvGraphicFramePr>
            <p:xfrm>
              <a:off x="0" y="365760"/>
              <a:ext cx="12192000" cy="27432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endParaRPr lang="en-CY"/>
                        </a:p>
                      </a:txBody>
                      <a:tcPr>
                        <a:blipFill>
                          <a:blip r:embed="rId3"/>
                          <a:stretch>
                            <a:fillRect t="-22099" r="-104" b="-5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72640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908905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333216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923285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8249512"/>
                  </p:ext>
                </p:extLst>
              </p:nvPr>
            </p:nvGraphicFramePr>
            <p:xfrm>
              <a:off x="0" y="365760"/>
              <a:ext cx="12192000" cy="27432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20018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0180"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A message that has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 bytes may be regarded as a vector in the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-dimensional vector space over</a:t>
                          </a:r>
                          <a:r>
                            <a:rPr lang="en-US" sz="1800" baseline="0" dirty="0"/>
                            <a:t> the field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𝐺𝐹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(256)</m:t>
                              </m:r>
                            </m:oMath>
                          </a14:m>
                          <a:r>
                            <a:rPr lang="en-US" sz="1800" dirty="0"/>
                            <a:t>.</a:t>
                          </a:r>
                        </a:p>
                        <a:p>
                          <a:endParaRPr lang="en-US" sz="1800" dirty="0"/>
                        </a:p>
                        <a:p>
                          <a:r>
                            <a:rPr lang="en-US" sz="1800" dirty="0"/>
                            <a:t>Let us choose an embedding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: 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↪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dirty="0"/>
                            <a:t> such that its</a:t>
                          </a:r>
                          <a:r>
                            <a:rPr lang="en-US" sz="1800" baseline="0" dirty="0"/>
                            <a:t> image is transversal to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baseline="0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1800" baseline="0" dirty="0"/>
                            <a:t>-dimensional</a:t>
                          </a:r>
                          <a:r>
                            <a:rPr lang="ru-RU" sz="1800" baseline="0" dirty="0"/>
                            <a:t> </a:t>
                          </a:r>
                          <a:r>
                            <a:rPr lang="en-US" sz="1800" baseline="0" dirty="0"/>
                            <a:t>coordinate plane</a:t>
                          </a:r>
                          <a:r>
                            <a:rPr lang="ru-RU" sz="1800" baseline="0" dirty="0"/>
                            <a:t>.</a:t>
                          </a:r>
                        </a:p>
                        <a:p>
                          <a:endParaRPr lang="ru-RU" sz="1800" baseline="0" dirty="0"/>
                        </a:p>
                        <a:p>
                          <a:r>
                            <a:rPr lang="en-US" sz="1800" baseline="0" dirty="0"/>
                            <a:t>Replacing a message</a:t>
                          </a:r>
                          <a:r>
                            <a:rPr lang="ru-RU" sz="18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baseline="0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1800" baseline="0" dirty="0"/>
                            <a:t> that has</a:t>
                          </a:r>
                          <a:r>
                            <a:rPr lang="ru-RU" sz="18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baseline="0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baseline="0" dirty="0"/>
                            <a:t> bytes with</a:t>
                          </a:r>
                          <a:r>
                            <a:rPr lang="ru-RU" sz="18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800" dirty="0"/>
                            <a:t> gives a message that has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1800" dirty="0"/>
                            <a:t> bytes and</a:t>
                          </a:r>
                          <a:r>
                            <a:rPr lang="en-US" sz="1800" baseline="0" dirty="0"/>
                            <a:t> has the following additional property:</a:t>
                          </a:r>
                          <a:r>
                            <a:rPr lang="ru-RU" sz="18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baseline="0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1800" baseline="0" dirty="0"/>
                            <a:t> can be uniquely reconstructed from any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baseline="0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baseline="0" dirty="0"/>
                            <a:t> coordinates of</a:t>
                          </a:r>
                          <a:r>
                            <a:rPr lang="ru-RU" sz="18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800" baseline="0" dirty="0"/>
                            <a:t>.</a:t>
                          </a:r>
                        </a:p>
                        <a:p>
                          <a:endParaRPr lang="en-US" sz="1800" baseline="0" dirty="0"/>
                        </a:p>
                        <a:p>
                          <a:endParaRPr lang="en-US" sz="1800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72640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8249512"/>
                  </p:ext>
                </p:extLst>
              </p:nvPr>
            </p:nvGraphicFramePr>
            <p:xfrm>
              <a:off x="0" y="365760"/>
              <a:ext cx="12192000" cy="27432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endParaRPr lang="en-CY"/>
                        </a:p>
                      </a:txBody>
                      <a:tcPr>
                        <a:blipFill>
                          <a:blip r:embed="rId3"/>
                          <a:stretch>
                            <a:fillRect t="-22099" r="-104" b="-5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72640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584672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356947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772053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1148526"/>
                  </p:ext>
                </p:extLst>
              </p:nvPr>
            </p:nvGraphicFramePr>
            <p:xfrm>
              <a:off x="0" y="365760"/>
              <a:ext cx="12192000" cy="27432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20018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0180">
                    <a:tc>
                      <a:txBody>
                        <a:bodyPr/>
                        <a:lstStyle/>
                        <a:p>
                          <a:r>
                            <a:rPr lang="en-US" sz="1800" dirty="0"/>
                            <a:t>A message that has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 bytes may be regarded as a vector in the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-dimensional vector space over</a:t>
                          </a:r>
                          <a:r>
                            <a:rPr lang="en-US" sz="1800" baseline="0" dirty="0"/>
                            <a:t> the field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𝐺𝐹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(256)</m:t>
                              </m:r>
                            </m:oMath>
                          </a14:m>
                          <a:r>
                            <a:rPr lang="en-US" sz="1800" dirty="0"/>
                            <a:t>.</a:t>
                          </a:r>
                        </a:p>
                        <a:p>
                          <a:endParaRPr lang="en-US" sz="1800" dirty="0"/>
                        </a:p>
                        <a:p>
                          <a:r>
                            <a:rPr lang="en-US" sz="1800" dirty="0"/>
                            <a:t>Let us choose an embedding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: 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↪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dirty="0"/>
                            <a:t> such that its</a:t>
                          </a:r>
                          <a:r>
                            <a:rPr lang="en-US" sz="1800" baseline="0" dirty="0"/>
                            <a:t> image is transversal to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baseline="0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1800" baseline="0" dirty="0"/>
                            <a:t>-dimensional</a:t>
                          </a:r>
                          <a:r>
                            <a:rPr lang="ru-RU" sz="1800" baseline="0" dirty="0"/>
                            <a:t> </a:t>
                          </a:r>
                          <a:r>
                            <a:rPr lang="en-US" sz="1800" baseline="0" dirty="0"/>
                            <a:t>coordinate plane</a:t>
                          </a:r>
                          <a:r>
                            <a:rPr lang="ru-RU" sz="1800" baseline="0" dirty="0"/>
                            <a:t>.</a:t>
                          </a:r>
                        </a:p>
                        <a:p>
                          <a:endParaRPr lang="ru-RU" sz="1800" baseline="0" dirty="0"/>
                        </a:p>
                        <a:p>
                          <a:r>
                            <a:rPr lang="en-US" sz="1800" baseline="0" dirty="0"/>
                            <a:t>Replacing a message</a:t>
                          </a:r>
                          <a:r>
                            <a:rPr lang="ru-RU" sz="18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baseline="0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1800" baseline="0" dirty="0"/>
                            <a:t> that has</a:t>
                          </a:r>
                          <a:r>
                            <a:rPr lang="ru-RU" sz="18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baseline="0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baseline="0" dirty="0"/>
                            <a:t> bytes with</a:t>
                          </a:r>
                          <a:r>
                            <a:rPr lang="ru-RU" sz="18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800" dirty="0"/>
                            <a:t> gives a message that has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1800" dirty="0"/>
                            <a:t> bytes and</a:t>
                          </a:r>
                          <a:r>
                            <a:rPr lang="en-US" sz="1800" baseline="0" dirty="0"/>
                            <a:t> has the following additional property:</a:t>
                          </a:r>
                          <a:r>
                            <a:rPr lang="ru-RU" sz="18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baseline="0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1800" baseline="0" dirty="0"/>
                            <a:t> can be uniquely reconstructed from any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baseline="0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baseline="0" dirty="0"/>
                            <a:t> coordinates of</a:t>
                          </a:r>
                          <a:r>
                            <a:rPr lang="ru-RU" sz="18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800" baseline="0" dirty="0"/>
                            <a:t>.</a:t>
                          </a:r>
                        </a:p>
                        <a:p>
                          <a:endParaRPr lang="en-US" sz="1800" baseline="0" dirty="0"/>
                        </a:p>
                        <a:p>
                          <a:r>
                            <a:rPr lang="en-US" sz="1800" dirty="0"/>
                            <a:t>Applications choose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1800" dirty="0"/>
                            <a:t> in such a way that</a:t>
                          </a:r>
                          <a:r>
                            <a:rPr lang="en-US" sz="1800" baseline="0" dirty="0"/>
                            <a:t> the first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baseline="0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baseline="0" dirty="0"/>
                            <a:t> coordinates of</a:t>
                          </a:r>
                          <a:r>
                            <a:rPr lang="ru-RU" sz="18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800" dirty="0"/>
                            <a:t> coincide with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1800" dirty="0"/>
                            <a:t>.</a:t>
                          </a:r>
                          <a:endParaRPr lang="ru-R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72640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1148526"/>
                  </p:ext>
                </p:extLst>
              </p:nvPr>
            </p:nvGraphicFramePr>
            <p:xfrm>
              <a:off x="0" y="365760"/>
              <a:ext cx="12192000" cy="274320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endParaRPr lang="en-CY"/>
                        </a:p>
                      </a:txBody>
                      <a:tcPr>
                        <a:blipFill>
                          <a:blip r:embed="rId3"/>
                          <a:stretch>
                            <a:fillRect t="-22099" r="-104" b="-44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72640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796225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839421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417667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3081015"/>
                  </p:ext>
                </p:extLst>
              </p:nvPr>
            </p:nvGraphicFramePr>
            <p:xfrm>
              <a:off x="0" y="365760"/>
              <a:ext cx="12192000" cy="4985195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20018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0180"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Let us choose an embedding</a:t>
                          </a:r>
                          <a:r>
                            <a:rPr lang="ru-RU" sz="180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1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: 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↪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b="0" i="1" smtClean="0">
                                      <a:solidFill>
                                        <a:schemeClr val="bg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 such that its</a:t>
                          </a:r>
                          <a:r>
                            <a:rPr lang="en-US" sz="1800" baseline="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 image is transversal to every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baseline="0" dirty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-dimensional</a:t>
                          </a:r>
                          <a:r>
                            <a:rPr lang="ru-RU" sz="1800" baseline="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 </a:t>
                          </a:r>
                          <a:r>
                            <a:rPr lang="en-US" sz="1800" baseline="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coordinate plane</a:t>
                          </a:r>
                          <a:r>
                            <a:rPr lang="ru-RU" sz="1800" baseline="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.</a:t>
                          </a:r>
                        </a:p>
                        <a:p>
                          <a:endParaRPr lang="ru-RU" sz="1800" baseline="0" dirty="0">
                            <a:solidFill>
                              <a:schemeClr val="bg1">
                                <a:lumMod val="75000"/>
                              </a:schemeClr>
                            </a:solidFill>
                          </a:endParaRPr>
                        </a:p>
                        <a:p>
                          <a:r>
                            <a:rPr lang="en-US" sz="1800" baseline="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Replacing a message</a:t>
                          </a:r>
                          <a:r>
                            <a:rPr lang="ru-RU" sz="1800" baseline="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baseline="0" dirty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 that has</a:t>
                          </a:r>
                          <a:r>
                            <a:rPr lang="ru-RU" sz="1800" baseline="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baseline="0" dirty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 bytes with</a:t>
                          </a:r>
                          <a:r>
                            <a:rPr lang="ru-RU" sz="1800" baseline="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baseline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1800" b="0" i="1" baseline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0" i="1" baseline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 b="0" i="1" baseline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80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 gives a message that has</a:t>
                          </a:r>
                          <a:r>
                            <a:rPr lang="ru-RU" sz="180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i="1" dirty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i="1" dirty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180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 bytes and</a:t>
                          </a:r>
                          <a:r>
                            <a:rPr lang="en-US" sz="1800" baseline="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 has the following additional property:</a:t>
                          </a:r>
                          <a:r>
                            <a:rPr lang="ru-RU" sz="1800" baseline="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baseline="0" dirty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 can be uniquely reconstructed from any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baseline="0" dirty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 coordinates of</a:t>
                          </a:r>
                          <a:r>
                            <a:rPr lang="ru-RU" sz="1800" baseline="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baseline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1800" b="0" i="1" baseline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b="0" i="1" baseline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800" b="0" i="1" baseline="0" smtClean="0">
                                  <a:solidFill>
                                    <a:schemeClr val="bg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800" baseline="0" dirty="0">
                              <a:solidFill>
                                <a:schemeClr val="bg1">
                                  <a:lumMod val="75000"/>
                                </a:schemeClr>
                              </a:solidFill>
                            </a:rPr>
                            <a:t>.</a:t>
                          </a:r>
                        </a:p>
                        <a:p>
                          <a:endParaRPr lang="en-US" sz="1800" dirty="0"/>
                        </a:p>
                        <a:p>
                          <a:r>
                            <a:rPr lang="en-US" sz="1800" dirty="0"/>
                            <a:t>How do we prove that such embeddings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: 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↪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dirty="0"/>
                            <a:t> exist?</a:t>
                          </a:r>
                        </a:p>
                        <a:p>
                          <a:endParaRPr lang="en-US" sz="1800" dirty="0"/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:r>
                            <a:rPr lang="en-US" sz="1800" dirty="0"/>
                            <a:t>Let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sz="1800" dirty="0"/>
                            <a:t> be the field with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sz="1800" dirty="0"/>
                            <a:t> elements</a:t>
                          </a:r>
                          <a:r>
                            <a:rPr lang="ru-RU" sz="1800" dirty="0"/>
                            <a:t>. </a:t>
                          </a:r>
                          <a:r>
                            <a:rPr lang="en-US" sz="1800" dirty="0"/>
                            <a:t>Show that the number of collections of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 linearly independent vectors in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dirty="0"/>
                            <a:t> is</a:t>
                          </a:r>
                          <a:br>
                            <a:rPr lang="en-US" sz="1800" dirty="0"/>
                          </a:b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 −1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⋅…⋅(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 −1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800" dirty="0"/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:r>
                            <a:rPr lang="en-US" sz="1800" dirty="0"/>
                            <a:t>Let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func>
                                <m:func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0" smtClean="0">
                                          <a:latin typeface="Cambria Math" panose="02040503050406030204" pitchFamily="18" charset="0"/>
                                        </a:rPr>
                                        <m:t>GL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0" smtClean="0">
                                          <a:latin typeface="Cambria Math" panose="02040503050406030204" pitchFamily="18" charset="0"/>
                                        </a:rPr>
                                        <m:t>k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oMath>
                          </a14:m>
                          <a:r>
                            <a:rPr lang="en-US" sz="1800" dirty="0"/>
                            <a:t> be the group of invertible</a:t>
                          </a:r>
                          <a:r>
                            <a:rPr lang="en-US" sz="18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 matrices with coefficients in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ru-RU" sz="1800" dirty="0"/>
                            <a:t>. </a:t>
                          </a:r>
                          <a:r>
                            <a:rPr lang="en-US" sz="1800" dirty="0"/>
                            <a:t>Show that the number of elements in </a:t>
                          </a:r>
                          <a14:m>
                            <m:oMath xmlns:m="http://schemas.openxmlformats.org/officeDocument/2006/math">
                              <m:func>
                                <m:func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0" smtClean="0">
                                          <a:latin typeface="Cambria Math" panose="02040503050406030204" pitchFamily="18" charset="0"/>
                                        </a:rPr>
                                        <m:t>GL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0" smtClean="0">
                                          <a:latin typeface="Cambria Math" panose="02040503050406030204" pitchFamily="18" charset="0"/>
                                        </a:rPr>
                                        <m:t>k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oMath>
                          </a14:m>
                          <a:r>
                            <a:rPr lang="en-US" sz="1800" baseline="0" dirty="0"/>
                            <a:t> is</a:t>
                          </a:r>
                          <a:br>
                            <a:rPr lang="en-US" sz="1800" baseline="0" dirty="0"/>
                          </a:b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ru-RU" sz="18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800" b="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baseline="0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sz="1800" b="0" i="1" baseline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US" sz="1800" b="0" i="1" baseline="0" smtClean="0">
                                      <a:latin typeface="Cambria Math" panose="02040503050406030204" pitchFamily="18" charset="0"/>
                                    </a:rPr>
                                    <m:t> −1</m:t>
                                  </m:r>
                                </m:e>
                              </m:d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US" sz="18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800" b="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baseline="0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sz="1800" b="0" i="1" baseline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US" sz="1800" b="0" i="1" baseline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800" b="0" i="1" baseline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sz="1800" b="0" i="1" baseline="0" smtClean="0">
                                  <a:latin typeface="Cambria Math" panose="02040503050406030204" pitchFamily="18" charset="0"/>
                                </a:rPr>
                                <m:t>⋅…⋅</m:t>
                              </m:r>
                              <m:d>
                                <m:dPr>
                                  <m:ctrlPr>
                                    <a:rPr lang="en-US" sz="18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800" b="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baseline="0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sz="1800" b="0" i="1" baseline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r>
                                    <a:rPr lang="en-US" sz="1800" b="0" i="1" baseline="0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sSup>
                                    <m:sSupPr>
                                      <m:ctrlPr>
                                        <a:rPr lang="en-US" sz="1800" b="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baseline="0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sz="1800" b="0" i="1" baseline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1800" b="0" i="1" baseline="0" smtClean="0">
                                          <a:latin typeface="Cambria Math" panose="02040503050406030204" pitchFamily="18" charset="0"/>
                                        </a:rPr>
                                        <m:t> −1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endParaRPr lang="en-US" sz="1800" b="0" baseline="0" dirty="0"/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:r>
                            <a:rPr lang="en-US" sz="1800" dirty="0"/>
                            <a:t>Show that the number of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-dimensional</a:t>
                          </a:r>
                          <a:r>
                            <a:rPr lang="ru-RU" sz="1800" dirty="0"/>
                            <a:t> </a:t>
                          </a:r>
                          <a:r>
                            <a:rPr lang="en-US" sz="1800" dirty="0"/>
                            <a:t>subspaces in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dirty="0"/>
                            <a:t> is</a:t>
                          </a:r>
                          <a:br>
                            <a:rPr lang="en-US" sz="1800" dirty="0"/>
                          </a:b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  <m: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</m:d>
                              <m: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en-US" sz="1800" dirty="0" smtClean="0"/>
                                    <m:t> 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 −1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p>
                                      </m:s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⋅…⋅(</m:t>
                                  </m:r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 −1</m:t>
                                      </m:r>
                                    </m:sup>
                                  </m:s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d>
                                    <m:dPr>
                                      <m:ctrlPr>
                                        <a:rPr lang="ru-RU" sz="1800" b="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baseline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baseline="0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baseline="0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  <m:r>
                                        <a:rPr lang="en-US" sz="1800" b="0" i="1" baseline="0" smtClean="0">
                                          <a:latin typeface="Cambria Math" panose="02040503050406030204" pitchFamily="18" charset="0"/>
                                        </a:rPr>
                                        <m:t> −1</m:t>
                                      </m:r>
                                    </m:e>
                                  </m:d>
                                  <m:r>
                                    <a:rPr lang="en-US" sz="1800" b="0" i="1" baseline="0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d>
                                    <m:dPr>
                                      <m:ctrlPr>
                                        <a:rPr lang="en-US" sz="1800" b="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baseline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baseline="0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baseline="0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  <m:r>
                                        <a:rPr lang="en-US" sz="1800" b="0" i="1" baseline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800" b="0" i="1" baseline="0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</m:d>
                                  <m:r>
                                    <a:rPr lang="en-US" sz="1800" b="0" i="1" baseline="0" smtClean="0">
                                      <a:latin typeface="Cambria Math" panose="02040503050406030204" pitchFamily="18" charset="0"/>
                                    </a:rPr>
                                    <m:t>⋅…⋅</m:t>
                                  </m:r>
                                  <m:d>
                                    <m:dPr>
                                      <m:ctrlPr>
                                        <a:rPr lang="en-US" sz="1800" b="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1800" b="0" i="1" baseline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baseline="0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baseline="0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  <m:r>
                                        <a:rPr lang="en-US" sz="1800" b="0" i="1" baseline="0" smtClean="0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sSup>
                                        <m:sSupPr>
                                          <m:ctrlPr>
                                            <a:rPr lang="en-US" sz="1800" b="0" i="1" baseline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800" b="0" i="1" baseline="0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sz="1800" b="0" i="1" baseline="0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1800" b="0" i="1" baseline="0" smtClean="0">
                                              <a:latin typeface="Cambria Math" panose="02040503050406030204" pitchFamily="18" charset="0"/>
                                            </a:rPr>
                                            <m:t> −1</m:t>
                                          </m:r>
                                        </m:sup>
                                      </m:sSup>
                                    </m:e>
                                  </m:d>
                                </m:den>
                              </m:f>
                            </m:oMath>
                          </a14:m>
                          <a:endParaRPr lang="en-US" sz="1800" dirty="0"/>
                        </a:p>
                        <a:p>
                          <a:pPr marL="342900" indent="-342900">
                            <a:buFont typeface="+mj-lt"/>
                            <a:buAutoNum type="arabicPeriod"/>
                          </a:pPr>
                          <a:r>
                            <a:rPr lang="en-US" sz="1800" dirty="0"/>
                            <a:t>Show that the number of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/>
                            <a:t>-dimensional subspaces in</a:t>
                          </a:r>
                          <a:r>
                            <a:rPr lang="ru-RU" sz="1800" dirty="0"/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800" dirty="0"/>
                            <a:t> that contain at least one coordinate axis is much smaller than</a:t>
                          </a:r>
                          <a:r>
                            <a:rPr lang="ru-RU" sz="1800" baseline="0" dirty="0"/>
                            <a:t> </a:t>
                          </a:r>
                          <a14:m>
                            <m:oMath xmlns:m="http://schemas.openxmlformats.org/officeDocument/2006/math">
                              <m:func>
                                <m:funcPr>
                                  <m:ctrlPr>
                                    <a:rPr lang="en-GB" sz="180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 b="0" i="0" baseline="0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fName>
                                <m:e>
                                  <m:r>
                                    <a:rPr lang="en-US" sz="1800" b="0" i="1" baseline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800" b="0" i="1" baseline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800" b="0" i="1" baseline="0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sz="1800" b="0" i="1" baseline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800" b="0" i="1" baseline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b="0" i="1" baseline="0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1800" b="0" i="1" baseline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oMath>
                          </a14:m>
                          <a:r>
                            <a:rPr lang="en-US" sz="1800" dirty="0"/>
                            <a:t>.</a:t>
                          </a:r>
                          <a:endParaRPr lang="ru-RU" sz="1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72640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33081015"/>
                  </p:ext>
                </p:extLst>
              </p:nvPr>
            </p:nvGraphicFramePr>
            <p:xfrm>
              <a:off x="0" y="365760"/>
              <a:ext cx="12192000" cy="4985195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219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RAID6 and Reed-Solomon codes</a:t>
                          </a:r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27995">
                    <a:tc>
                      <a:txBody>
                        <a:bodyPr/>
                        <a:lstStyle/>
                        <a:p>
                          <a:endParaRPr lang="en-CY"/>
                        </a:p>
                      </a:txBody>
                      <a:tcPr>
                        <a:blipFill>
                          <a:blip r:embed="rId3"/>
                          <a:stretch>
                            <a:fillRect t="-11173" r="-104" b="-22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726408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404158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185967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990148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836504"/>
              </p:ext>
            </p:extLst>
          </p:nvPr>
        </p:nvGraphicFramePr>
        <p:xfrm>
          <a:off x="0" y="365760"/>
          <a:ext cx="12192000" cy="49377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732576690"/>
                    </a:ext>
                  </a:extLst>
                </a:gridCol>
              </a:tblGrid>
              <a:tr h="20018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Problems of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RAID6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18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800" dirty="0"/>
                        <a:t>Let us use Reed-Solomon coding with parameters</a:t>
                      </a:r>
                      <a:r>
                        <a:rPr lang="ru-RU" sz="1800" dirty="0"/>
                        <a:t> </a:t>
                      </a:r>
                      <a:r>
                        <a:rPr lang="en-US" sz="1800" dirty="0"/>
                        <a:t>(n, n + m). This means that we store m redundant pages for every n pages of user data.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ru-RU" sz="1800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ru-RU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264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5368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739334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055839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889139"/>
              </p:ext>
            </p:extLst>
          </p:nvPr>
        </p:nvGraphicFramePr>
        <p:xfrm>
          <a:off x="0" y="365760"/>
          <a:ext cx="12192000" cy="49377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732576690"/>
                    </a:ext>
                  </a:extLst>
                </a:gridCol>
              </a:tblGrid>
              <a:tr h="20018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Problems of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RAID6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18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800" dirty="0"/>
                        <a:t>Let us use Reed-Solomon coding with parameters</a:t>
                      </a:r>
                      <a:r>
                        <a:rPr lang="ru-RU" sz="1800" dirty="0"/>
                        <a:t> </a:t>
                      </a:r>
                      <a:r>
                        <a:rPr lang="en-US" sz="1800" dirty="0"/>
                        <a:t>(n, n + m). This means that we store m redundant pages for every n pages of user data.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ru-RU" sz="1800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dirty="0"/>
                        <a:t>Tail latency: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In order to read n</a:t>
                      </a:r>
                      <a:r>
                        <a:rPr lang="ru-RU" sz="1800" dirty="0"/>
                        <a:t> </a:t>
                      </a:r>
                      <a:r>
                        <a:rPr lang="en-US" sz="1800" dirty="0"/>
                        <a:t>consecutive data pages, we need to make requests to n disks or n cluster nodes</a:t>
                      </a:r>
                      <a:r>
                        <a:rPr lang="ru-RU" sz="1800" dirty="0"/>
                        <a:t>.</a:t>
                      </a: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264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7495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02845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566345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749913"/>
              </p:ext>
            </p:extLst>
          </p:nvPr>
        </p:nvGraphicFramePr>
        <p:xfrm>
          <a:off x="0" y="365760"/>
          <a:ext cx="12192000" cy="49377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732576690"/>
                    </a:ext>
                  </a:extLst>
                </a:gridCol>
              </a:tblGrid>
              <a:tr h="20018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Problems of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RAID6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18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800" dirty="0"/>
                        <a:t>Let us use Reed-Solomon coding with parameters</a:t>
                      </a:r>
                      <a:r>
                        <a:rPr lang="ru-RU" sz="1800" dirty="0"/>
                        <a:t> </a:t>
                      </a:r>
                      <a:r>
                        <a:rPr lang="en-US" sz="1800" dirty="0"/>
                        <a:t>(n, n + m). This means that we store m redundant pages for every n pages of user data.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ru-RU" sz="1800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dirty="0"/>
                        <a:t>Tail latency: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In order to read n</a:t>
                      </a:r>
                      <a:r>
                        <a:rPr lang="ru-RU" sz="1800" dirty="0"/>
                        <a:t> </a:t>
                      </a:r>
                      <a:r>
                        <a:rPr lang="en-US" sz="1800" dirty="0"/>
                        <a:t>consecutive data pages, we need to make requests to n disks or n cluster nodes</a:t>
                      </a:r>
                      <a:r>
                        <a:rPr lang="ru-RU" sz="1800" dirty="0"/>
                        <a:t>.</a:t>
                      </a: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We can use longer pages. This way a bigger share of requests may be satisfied by reading only one disk.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We can read redundant disks as well and treat slow disks as if they failed.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264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0099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033965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152819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574262"/>
              </p:ext>
            </p:extLst>
          </p:nvPr>
        </p:nvGraphicFramePr>
        <p:xfrm>
          <a:off x="0" y="365760"/>
          <a:ext cx="12192000" cy="49377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732576690"/>
                    </a:ext>
                  </a:extLst>
                </a:gridCol>
              </a:tblGrid>
              <a:tr h="20018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Problems of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RAID6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18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800" dirty="0"/>
                        <a:t>Let us use Reed-Solomon coding with parameters</a:t>
                      </a:r>
                      <a:r>
                        <a:rPr lang="ru-RU" sz="1800" dirty="0"/>
                        <a:t> </a:t>
                      </a:r>
                      <a:r>
                        <a:rPr lang="en-US" sz="1800" dirty="0"/>
                        <a:t>(n, n + m). This means that we store m redundant pages for every n pages of user data.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ru-RU" sz="1800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dirty="0"/>
                        <a:t>Tail latency: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In order to read n</a:t>
                      </a:r>
                      <a:r>
                        <a:rPr lang="ru-RU" sz="1800" dirty="0"/>
                        <a:t> </a:t>
                      </a:r>
                      <a:r>
                        <a:rPr lang="en-US" sz="1800" dirty="0"/>
                        <a:t>consecutive data pages, we need to make requests to n disks or n cluster nodes</a:t>
                      </a:r>
                      <a:r>
                        <a:rPr lang="ru-RU" sz="1800" dirty="0"/>
                        <a:t>.</a:t>
                      </a: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A single write to an array requires writes to n + m disks</a:t>
                      </a:r>
                      <a:r>
                        <a:rPr lang="ru-RU" sz="1800" dirty="0"/>
                        <a:t>.</a:t>
                      </a: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264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24193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59606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47159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689635"/>
              </p:ext>
            </p:extLst>
          </p:nvPr>
        </p:nvGraphicFramePr>
        <p:xfrm>
          <a:off x="0" y="365760"/>
          <a:ext cx="12192000" cy="49377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732576690"/>
                    </a:ext>
                  </a:extLst>
                </a:gridCol>
              </a:tblGrid>
              <a:tr h="20018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Problems of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RAID6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18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800" dirty="0"/>
                        <a:t>Let us use Reed-Solomon coding with parameters</a:t>
                      </a:r>
                      <a:r>
                        <a:rPr lang="ru-RU" sz="1800" dirty="0"/>
                        <a:t> </a:t>
                      </a:r>
                      <a:r>
                        <a:rPr lang="en-US" sz="1800" dirty="0"/>
                        <a:t>(n, n + m). This means that we store m redundant pages for every n pages of user data.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ru-RU" sz="1800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dirty="0"/>
                        <a:t>Tail latency: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In order to read n</a:t>
                      </a:r>
                      <a:r>
                        <a:rPr lang="ru-RU" sz="1800" dirty="0"/>
                        <a:t> </a:t>
                      </a:r>
                      <a:r>
                        <a:rPr lang="en-US" sz="1800" dirty="0"/>
                        <a:t>consecutive data pages, we need to make requests to n disks or n cluster nodes</a:t>
                      </a:r>
                      <a:r>
                        <a:rPr lang="ru-RU" sz="1800" dirty="0"/>
                        <a:t>.</a:t>
                      </a: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A single write to an array requires writes to n + m disks</a:t>
                      </a:r>
                      <a:r>
                        <a:rPr lang="ru-RU" sz="1800" dirty="0"/>
                        <a:t>.</a:t>
                      </a: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We can use Reed-Solomon with parameters (n, n + m + k) and wait only for n + m disks to confirm writes. Remaining disks may be assumed failed.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264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88323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158289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4434065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437430"/>
              </p:ext>
            </p:extLst>
          </p:nvPr>
        </p:nvGraphicFramePr>
        <p:xfrm>
          <a:off x="0" y="365760"/>
          <a:ext cx="12192000" cy="49377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732576690"/>
                    </a:ext>
                  </a:extLst>
                </a:gridCol>
              </a:tblGrid>
              <a:tr h="20018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Problems of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RAID6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18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800" dirty="0"/>
                        <a:t>Let us use Reed-Solomon coding with parameters</a:t>
                      </a:r>
                      <a:r>
                        <a:rPr lang="ru-RU" sz="1800" dirty="0"/>
                        <a:t> </a:t>
                      </a:r>
                      <a:r>
                        <a:rPr lang="en-US" sz="1800" dirty="0"/>
                        <a:t>(n, n + m). This means that we store m redundant pages for every n pages of user data.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ru-RU" sz="1800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dirty="0"/>
                        <a:t>Tail latency: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In order to read n</a:t>
                      </a:r>
                      <a:r>
                        <a:rPr lang="ru-RU" sz="1800" dirty="0"/>
                        <a:t> </a:t>
                      </a:r>
                      <a:r>
                        <a:rPr lang="en-US" sz="1800" dirty="0"/>
                        <a:t>consecutive data pages, we need to make requests to n disks or n cluster nodes</a:t>
                      </a:r>
                      <a:r>
                        <a:rPr lang="ru-RU" sz="1800" dirty="0"/>
                        <a:t>.</a:t>
                      </a: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A single write to an array requires writes to n + m disks</a:t>
                      </a:r>
                      <a:r>
                        <a:rPr lang="ru-RU" sz="1800" dirty="0"/>
                        <a:t>.</a:t>
                      </a:r>
                      <a:endParaRPr lang="en-US" sz="1800" dirty="0"/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sz="1800" dirty="0"/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sz="1800" dirty="0"/>
                        <a:t>Read amplification during a rebuild:</a:t>
                      </a:r>
                      <a:endParaRPr lang="ru-RU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In order to rebuild 1 page, we must read</a:t>
                      </a:r>
                      <a:r>
                        <a:rPr lang="ru-RU" sz="1800" dirty="0"/>
                        <a:t> </a:t>
                      </a:r>
                      <a:r>
                        <a:rPr lang="en-US" sz="1800" dirty="0"/>
                        <a:t>n pages</a:t>
                      </a:r>
                      <a:r>
                        <a:rPr lang="ru-RU" sz="1800" dirty="0"/>
                        <a:t>.</a:t>
                      </a: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264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8497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733136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299537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097190"/>
              </p:ext>
            </p:extLst>
          </p:nvPr>
        </p:nvGraphicFramePr>
        <p:xfrm>
          <a:off x="0" y="365760"/>
          <a:ext cx="12192000" cy="49377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732576690"/>
                    </a:ext>
                  </a:extLst>
                </a:gridCol>
              </a:tblGrid>
              <a:tr h="200180"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Problems of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RAID6</a:t>
                      </a:r>
                      <a:endParaRPr lang="ru-RU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18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1800" dirty="0"/>
                        <a:t>Let us use Reed-Solomon coding with parameters</a:t>
                      </a:r>
                      <a:r>
                        <a:rPr lang="ru-RU" sz="1800" dirty="0"/>
                        <a:t> </a:t>
                      </a:r>
                      <a:r>
                        <a:rPr lang="en-US" sz="1800" dirty="0"/>
                        <a:t>(n, n + m). This means that we store m redundant pages for every n pages of user data.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ru-RU" sz="1800" dirty="0"/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1800" dirty="0"/>
                        <a:t>Tail latency:</a:t>
                      </a:r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In order to read n</a:t>
                      </a:r>
                      <a:r>
                        <a:rPr lang="ru-RU" sz="1800" dirty="0"/>
                        <a:t> </a:t>
                      </a:r>
                      <a:r>
                        <a:rPr lang="en-US" sz="1800" dirty="0"/>
                        <a:t>consecutive data pages, we need to make requests to n disks or n cluster nodes</a:t>
                      </a:r>
                      <a:r>
                        <a:rPr lang="ru-RU" sz="1800" dirty="0"/>
                        <a:t>.</a:t>
                      </a:r>
                      <a:endParaRPr lang="en-US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A single write to an array requires writes to n + m disks</a:t>
                      </a:r>
                      <a:r>
                        <a:rPr lang="ru-RU" sz="1800" dirty="0"/>
                        <a:t>.</a:t>
                      </a:r>
                      <a:endParaRPr lang="en-US" sz="1800" dirty="0"/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sz="1800" dirty="0"/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sz="1800" dirty="0"/>
                        <a:t>Read amplification during a rebuild:</a:t>
                      </a:r>
                      <a:endParaRPr lang="ru-RU" sz="1800" dirty="0"/>
                    </a:p>
                    <a:p>
                      <a:pPr marL="800100" lvl="1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In order to rebuild 1 page, we must read</a:t>
                      </a:r>
                      <a:r>
                        <a:rPr lang="ru-RU" sz="1800" dirty="0"/>
                        <a:t> </a:t>
                      </a:r>
                      <a:r>
                        <a:rPr lang="en-US" sz="1800" dirty="0"/>
                        <a:t>n pages</a:t>
                      </a:r>
                      <a:r>
                        <a:rPr lang="ru-RU" sz="1800" dirty="0"/>
                        <a:t>.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dirty="0"/>
                        <a:t>There is a class of erasure codes that </a:t>
                      </a:r>
                      <a:r>
                        <a:rPr lang="en-US" sz="1800" dirty="0" err="1"/>
                        <a:t>minimises</a:t>
                      </a:r>
                      <a:r>
                        <a:rPr lang="en-US" sz="1800" dirty="0"/>
                        <a:t> the replication traffic: Minimum Storage Regenerating codes.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See:</a:t>
                      </a:r>
                      <a:r>
                        <a:rPr lang="ru-RU" sz="1800" dirty="0"/>
                        <a:t> 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Clay Codes: Moulding MDS Codes to Yield an MSR Code</a:t>
                      </a:r>
                      <a:b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https://www.usenix.org/system/files/conference/fast18/fast18-vajha.pdf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264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6661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265221"/>
              </p:ext>
            </p:extLst>
          </p:nvPr>
        </p:nvGraphicFramePr>
        <p:xfrm>
          <a:off x="0" y="1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1276">
                <a:tc>
                  <a:txBody>
                    <a:bodyPr/>
                    <a:lstStyle/>
                    <a:p>
                      <a:r>
                        <a:rPr lang="en-US" sz="1800" dirty="0"/>
                        <a:t>The basics of file systems</a:t>
                      </a:r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034516"/>
              </p:ext>
            </p:extLst>
          </p:nvPr>
        </p:nvGraphicFramePr>
        <p:xfrm>
          <a:off x="0" y="6532604"/>
          <a:ext cx="12192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09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142574"/>
              </p:ext>
            </p:extLst>
          </p:nvPr>
        </p:nvGraphicFramePr>
        <p:xfrm>
          <a:off x="0" y="365760"/>
          <a:ext cx="12192000" cy="16459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0180">
                <a:tc>
                  <a:txBody>
                    <a:bodyPr/>
                    <a:lstStyle/>
                    <a:p>
                      <a:r>
                        <a:rPr lang="en-US" sz="2400" dirty="0"/>
                        <a:t>The model of errors in</a:t>
                      </a:r>
                      <a:r>
                        <a:rPr lang="ru-RU" sz="2400" dirty="0"/>
                        <a:t> </a:t>
                      </a:r>
                      <a:r>
                        <a:rPr lang="en-US" sz="2400" dirty="0"/>
                        <a:t>RAID6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180">
                <a:tc>
                  <a:txBody>
                    <a:bodyPr/>
                    <a:lstStyle/>
                    <a:p>
                      <a:r>
                        <a:rPr lang="en-US" sz="1800" b="1" dirty="0"/>
                        <a:t>Reminder</a:t>
                      </a:r>
                      <a:r>
                        <a:rPr lang="ru-RU" sz="1800" dirty="0"/>
                        <a:t>: </a:t>
                      </a:r>
                      <a:r>
                        <a:rPr lang="en-US" sz="1800" dirty="0"/>
                        <a:t>RAID6, just like</a:t>
                      </a:r>
                      <a:r>
                        <a:rPr lang="ru-RU" sz="1800" dirty="0"/>
                        <a:t> </a:t>
                      </a:r>
                      <a:r>
                        <a:rPr lang="en-US" sz="1800" dirty="0"/>
                        <a:t>RAID5 assumes that a failed disk is reported as missing</a:t>
                      </a:r>
                      <a:r>
                        <a:rPr lang="ru-RU" sz="1800" dirty="0"/>
                        <a:t>. </a:t>
                      </a:r>
                      <a:r>
                        <a:rPr lang="en-US" sz="1800" dirty="0"/>
                        <a:t>RAID6 provides no protection against the</a:t>
                      </a:r>
                      <a:r>
                        <a:rPr lang="ru-RU" sz="1800" dirty="0"/>
                        <a:t> </a:t>
                      </a:r>
                      <a:r>
                        <a:rPr lang="en-US" sz="1800" b="1" dirty="0"/>
                        <a:t>bit rot</a:t>
                      </a:r>
                      <a:r>
                        <a:rPr lang="en-US" sz="1800" dirty="0"/>
                        <a:t>. It does not detect situations when a failed disk reads garbage and reports success.</a:t>
                      </a:r>
                      <a:endParaRPr lang="ru-RU" sz="1800" dirty="0"/>
                    </a:p>
                    <a:p>
                      <a:endParaRPr lang="ru-RU" sz="1800" dirty="0"/>
                    </a:p>
                    <a:p>
                      <a:r>
                        <a:rPr lang="en-US" sz="1800" dirty="0"/>
                        <a:t>If we use RAID6 we still need data integrity checks.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264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9190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21298</TotalTime>
  <Words>4276</Words>
  <Application>Microsoft Macintosh PowerPoint</Application>
  <PresentationFormat>Widescreen</PresentationFormat>
  <Paragraphs>758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6" baseType="lpstr">
      <vt:lpstr>Arial</vt:lpstr>
      <vt:lpstr>Calibri</vt:lpstr>
      <vt:lpstr>Calibri Light</vt:lpstr>
      <vt:lpstr>Cambria Math</vt:lpstr>
      <vt:lpstr>Consolas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Artem Anisimov</dc:creator>
  <cp:lastModifiedBy>QA Admin-TEST</cp:lastModifiedBy>
  <cp:revision>223</cp:revision>
  <cp:lastPrinted>2017-11-27T09:09:54Z</cp:lastPrinted>
  <dcterms:created xsi:type="dcterms:W3CDTF">2016-09-20T13:25:15Z</dcterms:created>
  <dcterms:modified xsi:type="dcterms:W3CDTF">2025-11-28T13:20:09Z</dcterms:modified>
</cp:coreProperties>
</file>