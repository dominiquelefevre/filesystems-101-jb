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2"/>
  </p:notesMasterIdLst>
  <p:handoutMasterIdLst>
    <p:handoutMasterId r:id="rId53"/>
  </p:handoutMasterIdLst>
  <p:sldIdLst>
    <p:sldId id="398" r:id="rId3"/>
    <p:sldId id="317" r:id="rId4"/>
    <p:sldId id="349" r:id="rId5"/>
    <p:sldId id="318" r:id="rId6"/>
    <p:sldId id="319" r:id="rId7"/>
    <p:sldId id="320" r:id="rId8"/>
    <p:sldId id="414" r:id="rId9"/>
    <p:sldId id="416" r:id="rId10"/>
    <p:sldId id="412" r:id="rId11"/>
    <p:sldId id="411" r:id="rId12"/>
    <p:sldId id="413" r:id="rId13"/>
    <p:sldId id="399" r:id="rId14"/>
    <p:sldId id="400" r:id="rId15"/>
    <p:sldId id="395" r:id="rId16"/>
    <p:sldId id="266" r:id="rId17"/>
    <p:sldId id="369" r:id="rId18"/>
    <p:sldId id="388" r:id="rId19"/>
    <p:sldId id="401" r:id="rId20"/>
    <p:sldId id="415" r:id="rId21"/>
    <p:sldId id="403" r:id="rId22"/>
    <p:sldId id="406" r:id="rId23"/>
    <p:sldId id="405" r:id="rId24"/>
    <p:sldId id="404" r:id="rId25"/>
    <p:sldId id="402" r:id="rId26"/>
    <p:sldId id="425" r:id="rId27"/>
    <p:sldId id="417" r:id="rId28"/>
    <p:sldId id="407" r:id="rId29"/>
    <p:sldId id="329" r:id="rId30"/>
    <p:sldId id="302" r:id="rId31"/>
    <p:sldId id="350" r:id="rId32"/>
    <p:sldId id="408" r:id="rId33"/>
    <p:sldId id="378" r:id="rId34"/>
    <p:sldId id="374" r:id="rId35"/>
    <p:sldId id="375" r:id="rId36"/>
    <p:sldId id="377" r:id="rId37"/>
    <p:sldId id="381" r:id="rId38"/>
    <p:sldId id="409" r:id="rId39"/>
    <p:sldId id="337" r:id="rId40"/>
    <p:sldId id="410" r:id="rId41"/>
    <p:sldId id="384" r:id="rId42"/>
    <p:sldId id="387" r:id="rId43"/>
    <p:sldId id="385" r:id="rId44"/>
    <p:sldId id="386" r:id="rId45"/>
    <p:sldId id="418" r:id="rId46"/>
    <p:sldId id="420" r:id="rId47"/>
    <p:sldId id="419" r:id="rId48"/>
    <p:sldId id="422" r:id="rId49"/>
    <p:sldId id="423" r:id="rId50"/>
    <p:sldId id="424" r:id="rId5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50" autoAdjust="0"/>
    <p:restoredTop sz="94744"/>
  </p:normalViewPr>
  <p:slideViewPr>
    <p:cSldViewPr snapToGrid="0">
      <p:cViewPr varScale="1">
        <p:scale>
          <a:sx n="119" d="100"/>
          <a:sy n="119" d="100"/>
        </p:scale>
        <p:origin x="8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ru-RU"/>
              <a:t>Основы построения файловых систем</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C6788E-680A-49E5-BB93-D456A9D23A29}" type="datetimeFigureOut">
              <a:rPr lang="ru-RU" smtClean="0"/>
              <a:t>20.10.2026</a:t>
            </a:fld>
            <a:endParaRPr lang="ru-RU"/>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061F6E-92FD-414D-9278-71772D358CBE}" type="slidenum">
              <a:rPr lang="ru-RU" smtClean="0"/>
              <a:t>‹#›</a:t>
            </a:fld>
            <a:endParaRPr lang="ru-RU"/>
          </a:p>
        </p:txBody>
      </p:sp>
    </p:spTree>
    <p:extLst>
      <p:ext uri="{BB962C8B-B14F-4D97-AF65-F5344CB8AC3E}">
        <p14:creationId xmlns:p14="http://schemas.microsoft.com/office/powerpoint/2010/main" val="3262730847"/>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ru-RU"/>
              <a:t>Основы построения файловых систем</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DF4945-C160-4CD5-B124-49B9BE14C0AB}" type="datetimeFigureOut">
              <a:rPr lang="ru-RU" smtClean="0"/>
              <a:t>19.10.2026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33120B-582B-4354-977D-A474A534F6B9}" type="slidenum">
              <a:rPr lang="ru-RU" smtClean="0"/>
              <a:t>‹#›</a:t>
            </a:fld>
            <a:endParaRPr lang="ru-RU"/>
          </a:p>
        </p:txBody>
      </p:sp>
    </p:spTree>
    <p:extLst>
      <p:ext uri="{BB962C8B-B14F-4D97-AF65-F5344CB8AC3E}">
        <p14:creationId xmlns:p14="http://schemas.microsoft.com/office/powerpoint/2010/main" val="3814565650"/>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374511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689799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306043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821707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573079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6</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301874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710B0-9FF0-753E-E519-A6DCEA4DD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AE1D5-64D1-09DD-4BA3-56D8D2C67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BF9236-BB64-3CAE-7AC2-AD82FE0FD392}"/>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F031E970-9480-4A03-CCA1-C249A1E729DE}"/>
              </a:ext>
            </a:extLst>
          </p:cNvPr>
          <p:cNvSpPr>
            <a:spLocks noGrp="1"/>
          </p:cNvSpPr>
          <p:nvPr>
            <p:ph type="sldNum" sz="quarter" idx="10"/>
          </p:nvPr>
        </p:nvSpPr>
        <p:spPr/>
        <p:txBody>
          <a:bodyPr/>
          <a:lstStyle/>
          <a:p>
            <a:fld id="{7F33120B-582B-4354-977D-A474A534F6B9}" type="slidenum">
              <a:rPr lang="ru-RU" smtClean="0"/>
              <a:t>7</a:t>
            </a:fld>
            <a:endParaRPr lang="ru-RU"/>
          </a:p>
        </p:txBody>
      </p:sp>
      <p:sp>
        <p:nvSpPr>
          <p:cNvPr id="5" name="Header Placeholder 4">
            <a:extLst>
              <a:ext uri="{FF2B5EF4-FFF2-40B4-BE49-F238E27FC236}">
                <a16:creationId xmlns:a16="http://schemas.microsoft.com/office/drawing/2014/main" id="{99446C18-30A5-A763-D6F1-3402EB6AACCB}"/>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236492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0B6FB-CD0C-76F4-2479-D9E46C16A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309DC-9869-28B3-4463-FB2EFDEBA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A4983-00FB-972B-DD23-8A845ABEC392}"/>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DC83554F-EF36-28E5-BD7D-3B9289CE0325}"/>
              </a:ext>
            </a:extLst>
          </p:cNvPr>
          <p:cNvSpPr>
            <a:spLocks noGrp="1"/>
          </p:cNvSpPr>
          <p:nvPr>
            <p:ph type="sldNum" sz="quarter" idx="10"/>
          </p:nvPr>
        </p:nvSpPr>
        <p:spPr/>
        <p:txBody>
          <a:bodyPr/>
          <a:lstStyle/>
          <a:p>
            <a:fld id="{7F33120B-582B-4354-977D-A474A534F6B9}" type="slidenum">
              <a:rPr lang="ru-RU" smtClean="0"/>
              <a:t>8</a:t>
            </a:fld>
            <a:endParaRPr lang="ru-RU"/>
          </a:p>
        </p:txBody>
      </p:sp>
      <p:sp>
        <p:nvSpPr>
          <p:cNvPr id="5" name="Header Placeholder 4">
            <a:extLst>
              <a:ext uri="{FF2B5EF4-FFF2-40B4-BE49-F238E27FC236}">
                <a16:creationId xmlns:a16="http://schemas.microsoft.com/office/drawing/2014/main" id="{0FE022E7-3332-3021-FA1C-BC15C5B41D75}"/>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941618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348B9-4D64-25E7-82F1-18E7D8D64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B0969-F4B5-05D5-BDA6-D27F794C8F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E49FF-E46C-5855-D70E-63CD8D837343}"/>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6DA31E9E-2426-E440-95C5-E50676774A77}"/>
              </a:ext>
            </a:extLst>
          </p:cNvPr>
          <p:cNvSpPr>
            <a:spLocks noGrp="1"/>
          </p:cNvSpPr>
          <p:nvPr>
            <p:ph type="sldNum" sz="quarter" idx="10"/>
          </p:nvPr>
        </p:nvSpPr>
        <p:spPr/>
        <p:txBody>
          <a:bodyPr/>
          <a:lstStyle/>
          <a:p>
            <a:fld id="{7F33120B-582B-4354-977D-A474A534F6B9}" type="slidenum">
              <a:rPr lang="ru-RU" smtClean="0"/>
              <a:t>9</a:t>
            </a:fld>
            <a:endParaRPr lang="ru-RU"/>
          </a:p>
        </p:txBody>
      </p:sp>
      <p:sp>
        <p:nvSpPr>
          <p:cNvPr id="5" name="Header Placeholder 4">
            <a:extLst>
              <a:ext uri="{FF2B5EF4-FFF2-40B4-BE49-F238E27FC236}">
                <a16:creationId xmlns:a16="http://schemas.microsoft.com/office/drawing/2014/main" id="{699809A4-255D-AF37-A28D-21F89DFB668F}"/>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928516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503B6-DB4C-55D0-9823-FC27976CF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0EE68-9BB5-8EEA-44C4-DC23B2116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FF838-EB58-C125-F467-93DEE741F65B}"/>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765E6852-CAED-8C36-B82B-79BC93371149}"/>
              </a:ext>
            </a:extLst>
          </p:cNvPr>
          <p:cNvSpPr>
            <a:spLocks noGrp="1"/>
          </p:cNvSpPr>
          <p:nvPr>
            <p:ph type="sldNum" sz="quarter" idx="10"/>
          </p:nvPr>
        </p:nvSpPr>
        <p:spPr/>
        <p:txBody>
          <a:bodyPr/>
          <a:lstStyle/>
          <a:p>
            <a:fld id="{7F33120B-582B-4354-977D-A474A534F6B9}" type="slidenum">
              <a:rPr lang="ru-RU" smtClean="0"/>
              <a:t>10</a:t>
            </a:fld>
            <a:endParaRPr lang="ru-RU"/>
          </a:p>
        </p:txBody>
      </p:sp>
      <p:sp>
        <p:nvSpPr>
          <p:cNvPr id="5" name="Header Placeholder 4">
            <a:extLst>
              <a:ext uri="{FF2B5EF4-FFF2-40B4-BE49-F238E27FC236}">
                <a16:creationId xmlns:a16="http://schemas.microsoft.com/office/drawing/2014/main" id="{808CF3D7-A7B0-ACD4-A8B1-36087A990D21}"/>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811134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582F9-1202-BEB2-BCBD-9B73C4D6D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CEAB4-6FDF-70F4-000E-492BD8A32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DDBAF7-E0B0-885C-764D-061B98538956}"/>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04DB5C62-8613-3FEB-E7B7-67DE1EF50DD0}"/>
              </a:ext>
            </a:extLst>
          </p:cNvPr>
          <p:cNvSpPr>
            <a:spLocks noGrp="1"/>
          </p:cNvSpPr>
          <p:nvPr>
            <p:ph type="sldNum" sz="quarter" idx="10"/>
          </p:nvPr>
        </p:nvSpPr>
        <p:spPr/>
        <p:txBody>
          <a:bodyPr/>
          <a:lstStyle/>
          <a:p>
            <a:fld id="{7F33120B-582B-4354-977D-A474A534F6B9}" type="slidenum">
              <a:rPr lang="ru-RU" smtClean="0"/>
              <a:t>11</a:t>
            </a:fld>
            <a:endParaRPr lang="ru-RU"/>
          </a:p>
        </p:txBody>
      </p:sp>
      <p:sp>
        <p:nvSpPr>
          <p:cNvPr id="5" name="Header Placeholder 4">
            <a:extLst>
              <a:ext uri="{FF2B5EF4-FFF2-40B4-BE49-F238E27FC236}">
                <a16:creationId xmlns:a16="http://schemas.microsoft.com/office/drawing/2014/main" id="{88926E8A-1091-8C13-AE67-5743865925D1}"/>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332656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B7B0F-326E-A526-EC87-79C866868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BC7D1-4EB4-DABB-4E68-516A224E1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915198-7586-5CBF-525D-3B8EC0AD3D52}"/>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CB92C151-9954-F4B3-389C-57A861F23B5E}"/>
              </a:ext>
            </a:extLst>
          </p:cNvPr>
          <p:cNvSpPr>
            <a:spLocks noGrp="1"/>
          </p:cNvSpPr>
          <p:nvPr>
            <p:ph type="sldNum" sz="quarter" idx="10"/>
          </p:nvPr>
        </p:nvSpPr>
        <p:spPr/>
        <p:txBody>
          <a:bodyPr/>
          <a:lstStyle/>
          <a:p>
            <a:fld id="{7F33120B-582B-4354-977D-A474A534F6B9}" type="slidenum">
              <a:rPr lang="ru-RU" smtClean="0"/>
              <a:t>12</a:t>
            </a:fld>
            <a:endParaRPr lang="ru-RU"/>
          </a:p>
        </p:txBody>
      </p:sp>
      <p:sp>
        <p:nvSpPr>
          <p:cNvPr id="5" name="Header Placeholder 4">
            <a:extLst>
              <a:ext uri="{FF2B5EF4-FFF2-40B4-BE49-F238E27FC236}">
                <a16:creationId xmlns:a16="http://schemas.microsoft.com/office/drawing/2014/main" id="{FA80071F-9F77-A361-2BF7-E3F084065A8F}"/>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53922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2DD37-EFAE-9D0A-A493-441F6EFAC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A2D417-DD07-56EE-2A84-7F77ACE05E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D1E585-D302-0C51-B04C-21069D6F32EF}"/>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0576B2C8-A7D2-1F78-1D89-7CBECA60A7B8}"/>
              </a:ext>
            </a:extLst>
          </p:cNvPr>
          <p:cNvSpPr>
            <a:spLocks noGrp="1"/>
          </p:cNvSpPr>
          <p:nvPr>
            <p:ph type="sldNum" sz="quarter" idx="10"/>
          </p:nvPr>
        </p:nvSpPr>
        <p:spPr/>
        <p:txBody>
          <a:bodyPr/>
          <a:lstStyle/>
          <a:p>
            <a:fld id="{7F33120B-582B-4354-977D-A474A534F6B9}" type="slidenum">
              <a:rPr lang="ru-RU" smtClean="0"/>
              <a:t>13</a:t>
            </a:fld>
            <a:endParaRPr lang="ru-RU"/>
          </a:p>
        </p:txBody>
      </p:sp>
      <p:sp>
        <p:nvSpPr>
          <p:cNvPr id="5" name="Header Placeholder 4">
            <a:extLst>
              <a:ext uri="{FF2B5EF4-FFF2-40B4-BE49-F238E27FC236}">
                <a16:creationId xmlns:a16="http://schemas.microsoft.com/office/drawing/2014/main" id="{26E5BBD4-A8DF-829E-32D5-5F9CDF24E4CF}"/>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766576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14</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1713233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006867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16</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2769110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7F33120B-582B-4354-977D-A474A534F6B9}" type="slidenum">
              <a:rPr lang="ru-RU" smtClean="0"/>
              <a:t>17</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932648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56D60-8274-9F0F-7E85-522F21B72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34831-247F-4CA0-BD2E-D00F8B70E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AFA23-67F1-D123-CA34-286747E45196}"/>
              </a:ext>
            </a:extLst>
          </p:cNvPr>
          <p:cNvSpPr>
            <a:spLocks noGrp="1"/>
          </p:cNvSpPr>
          <p:nvPr>
            <p:ph type="body" idx="1"/>
          </p:nvPr>
        </p:nvSpPr>
        <p:spPr/>
        <p:txBody>
          <a:bodyPr/>
          <a:lstStyle/>
          <a:p>
            <a:endParaRPr lang="ru-RU" dirty="0"/>
          </a:p>
        </p:txBody>
      </p:sp>
      <p:sp>
        <p:nvSpPr>
          <p:cNvPr id="4" name="Slide Number Placeholder 3">
            <a:extLst>
              <a:ext uri="{FF2B5EF4-FFF2-40B4-BE49-F238E27FC236}">
                <a16:creationId xmlns:a16="http://schemas.microsoft.com/office/drawing/2014/main" id="{B31C8949-A015-045C-FABB-78EA06E3D5B8}"/>
              </a:ext>
            </a:extLst>
          </p:cNvPr>
          <p:cNvSpPr>
            <a:spLocks noGrp="1"/>
          </p:cNvSpPr>
          <p:nvPr>
            <p:ph type="sldNum" sz="quarter" idx="10"/>
          </p:nvPr>
        </p:nvSpPr>
        <p:spPr/>
        <p:txBody>
          <a:bodyPr/>
          <a:lstStyle/>
          <a:p>
            <a:fld id="{7F33120B-582B-4354-977D-A474A534F6B9}" type="slidenum">
              <a:rPr lang="ru-RU" smtClean="0"/>
              <a:t>18</a:t>
            </a:fld>
            <a:endParaRPr lang="ru-RU"/>
          </a:p>
        </p:txBody>
      </p:sp>
      <p:sp>
        <p:nvSpPr>
          <p:cNvPr id="5" name="Header Placeholder 4">
            <a:extLst>
              <a:ext uri="{FF2B5EF4-FFF2-40B4-BE49-F238E27FC236}">
                <a16:creationId xmlns:a16="http://schemas.microsoft.com/office/drawing/2014/main" id="{4618224B-C573-5353-F218-AC031568093C}"/>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231905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47414-1A0E-AC8E-C688-B51917AF5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F8945-A5A2-F7D4-F75D-F5C72AE2A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3610D-C18F-42EF-390E-9917F061BA06}"/>
              </a:ext>
            </a:extLst>
          </p:cNvPr>
          <p:cNvSpPr>
            <a:spLocks noGrp="1"/>
          </p:cNvSpPr>
          <p:nvPr>
            <p:ph type="body" idx="1"/>
          </p:nvPr>
        </p:nvSpPr>
        <p:spPr/>
        <p:txBody>
          <a:bodyPr/>
          <a:lstStyle/>
          <a:p>
            <a:endParaRPr lang="ru-RU" dirty="0"/>
          </a:p>
        </p:txBody>
      </p:sp>
      <p:sp>
        <p:nvSpPr>
          <p:cNvPr id="4" name="Slide Number Placeholder 3">
            <a:extLst>
              <a:ext uri="{FF2B5EF4-FFF2-40B4-BE49-F238E27FC236}">
                <a16:creationId xmlns:a16="http://schemas.microsoft.com/office/drawing/2014/main" id="{1E2E8D8F-51C2-AA83-FE70-A2FCBD911AF6}"/>
              </a:ext>
            </a:extLst>
          </p:cNvPr>
          <p:cNvSpPr>
            <a:spLocks noGrp="1"/>
          </p:cNvSpPr>
          <p:nvPr>
            <p:ph type="sldNum" sz="quarter" idx="10"/>
          </p:nvPr>
        </p:nvSpPr>
        <p:spPr/>
        <p:txBody>
          <a:bodyPr/>
          <a:lstStyle/>
          <a:p>
            <a:fld id="{7F33120B-582B-4354-977D-A474A534F6B9}" type="slidenum">
              <a:rPr lang="ru-RU" smtClean="0"/>
              <a:t>19</a:t>
            </a:fld>
            <a:endParaRPr lang="ru-RU"/>
          </a:p>
        </p:txBody>
      </p:sp>
      <p:sp>
        <p:nvSpPr>
          <p:cNvPr id="5" name="Header Placeholder 4">
            <a:extLst>
              <a:ext uri="{FF2B5EF4-FFF2-40B4-BE49-F238E27FC236}">
                <a16:creationId xmlns:a16="http://schemas.microsoft.com/office/drawing/2014/main" id="{07F765A7-2717-409A-9BA8-21B919B5370A}"/>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5693426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59CD8-5AFE-3B32-CE95-2A9E7DAA3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CF5CE-5906-21B9-1925-C8C493627C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EE5F0C-2C94-CF84-861D-78C191A2720B}"/>
              </a:ext>
            </a:extLst>
          </p:cNvPr>
          <p:cNvSpPr>
            <a:spLocks noGrp="1"/>
          </p:cNvSpPr>
          <p:nvPr>
            <p:ph type="body" idx="1"/>
          </p:nvPr>
        </p:nvSpPr>
        <p:spPr/>
        <p:txBody>
          <a:bodyPr/>
          <a:lstStyle/>
          <a:p>
            <a:endParaRPr lang="ru-RU" dirty="0"/>
          </a:p>
        </p:txBody>
      </p:sp>
      <p:sp>
        <p:nvSpPr>
          <p:cNvPr id="4" name="Slide Number Placeholder 3">
            <a:extLst>
              <a:ext uri="{FF2B5EF4-FFF2-40B4-BE49-F238E27FC236}">
                <a16:creationId xmlns:a16="http://schemas.microsoft.com/office/drawing/2014/main" id="{4F4BEEE1-590C-9D9B-101A-E7836857DA53}"/>
              </a:ext>
            </a:extLst>
          </p:cNvPr>
          <p:cNvSpPr>
            <a:spLocks noGrp="1"/>
          </p:cNvSpPr>
          <p:nvPr>
            <p:ph type="sldNum" sz="quarter" idx="10"/>
          </p:nvPr>
        </p:nvSpPr>
        <p:spPr/>
        <p:txBody>
          <a:bodyPr/>
          <a:lstStyle/>
          <a:p>
            <a:fld id="{7F33120B-582B-4354-977D-A474A534F6B9}" type="slidenum">
              <a:rPr lang="ru-RU" smtClean="0"/>
              <a:t>20</a:t>
            </a:fld>
            <a:endParaRPr lang="ru-RU"/>
          </a:p>
        </p:txBody>
      </p:sp>
      <p:sp>
        <p:nvSpPr>
          <p:cNvPr id="5" name="Header Placeholder 4">
            <a:extLst>
              <a:ext uri="{FF2B5EF4-FFF2-40B4-BE49-F238E27FC236}">
                <a16:creationId xmlns:a16="http://schemas.microsoft.com/office/drawing/2014/main" id="{50D24448-5C2D-5256-C54E-68F813B67FF9}"/>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5671683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1D65B-A80B-DC0C-E10D-3DA738AEE6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119C6-F7A3-EDB5-4C03-A2A03DD0D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D2E56-E4AA-5FB8-FD3B-62DC79ED89BD}"/>
              </a:ext>
            </a:extLst>
          </p:cNvPr>
          <p:cNvSpPr>
            <a:spLocks noGrp="1"/>
          </p:cNvSpPr>
          <p:nvPr>
            <p:ph type="body" idx="1"/>
          </p:nvPr>
        </p:nvSpPr>
        <p:spPr/>
        <p:txBody>
          <a:bodyPr/>
          <a:lstStyle/>
          <a:p>
            <a:endParaRPr lang="ru-RU" dirty="0"/>
          </a:p>
        </p:txBody>
      </p:sp>
      <p:sp>
        <p:nvSpPr>
          <p:cNvPr id="4" name="Slide Number Placeholder 3">
            <a:extLst>
              <a:ext uri="{FF2B5EF4-FFF2-40B4-BE49-F238E27FC236}">
                <a16:creationId xmlns:a16="http://schemas.microsoft.com/office/drawing/2014/main" id="{C8537E30-87DF-C1DA-8C00-3435A7A846ED}"/>
              </a:ext>
            </a:extLst>
          </p:cNvPr>
          <p:cNvSpPr>
            <a:spLocks noGrp="1"/>
          </p:cNvSpPr>
          <p:nvPr>
            <p:ph type="sldNum" sz="quarter" idx="10"/>
          </p:nvPr>
        </p:nvSpPr>
        <p:spPr/>
        <p:txBody>
          <a:bodyPr/>
          <a:lstStyle/>
          <a:p>
            <a:fld id="{7F33120B-582B-4354-977D-A474A534F6B9}" type="slidenum">
              <a:rPr lang="ru-RU" smtClean="0"/>
              <a:t>21</a:t>
            </a:fld>
            <a:endParaRPr lang="ru-RU"/>
          </a:p>
        </p:txBody>
      </p:sp>
      <p:sp>
        <p:nvSpPr>
          <p:cNvPr id="5" name="Header Placeholder 4">
            <a:extLst>
              <a:ext uri="{FF2B5EF4-FFF2-40B4-BE49-F238E27FC236}">
                <a16:creationId xmlns:a16="http://schemas.microsoft.com/office/drawing/2014/main" id="{1350E2B9-8220-6B2B-149C-4B6B06E55755}"/>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801673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D6750-69EE-CA3B-A493-2A89D6708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5299A1-D832-DECE-1BD7-20FAB64148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9C9D69-F5BE-2B48-249C-C6FA048141CF}"/>
              </a:ext>
            </a:extLst>
          </p:cNvPr>
          <p:cNvSpPr>
            <a:spLocks noGrp="1"/>
          </p:cNvSpPr>
          <p:nvPr>
            <p:ph type="body" idx="1"/>
          </p:nvPr>
        </p:nvSpPr>
        <p:spPr/>
        <p:txBody>
          <a:bodyPr/>
          <a:lstStyle/>
          <a:p>
            <a:endParaRPr lang="ru-RU" dirty="0"/>
          </a:p>
        </p:txBody>
      </p:sp>
      <p:sp>
        <p:nvSpPr>
          <p:cNvPr id="4" name="Slide Number Placeholder 3">
            <a:extLst>
              <a:ext uri="{FF2B5EF4-FFF2-40B4-BE49-F238E27FC236}">
                <a16:creationId xmlns:a16="http://schemas.microsoft.com/office/drawing/2014/main" id="{BEF8B87E-0171-80A3-D340-50814ED103F4}"/>
              </a:ext>
            </a:extLst>
          </p:cNvPr>
          <p:cNvSpPr>
            <a:spLocks noGrp="1"/>
          </p:cNvSpPr>
          <p:nvPr>
            <p:ph type="sldNum" sz="quarter" idx="10"/>
          </p:nvPr>
        </p:nvSpPr>
        <p:spPr/>
        <p:txBody>
          <a:bodyPr/>
          <a:lstStyle/>
          <a:p>
            <a:fld id="{7F33120B-582B-4354-977D-A474A534F6B9}" type="slidenum">
              <a:rPr lang="ru-RU" smtClean="0"/>
              <a:t>22</a:t>
            </a:fld>
            <a:endParaRPr lang="ru-RU"/>
          </a:p>
        </p:txBody>
      </p:sp>
      <p:sp>
        <p:nvSpPr>
          <p:cNvPr id="5" name="Header Placeholder 4">
            <a:extLst>
              <a:ext uri="{FF2B5EF4-FFF2-40B4-BE49-F238E27FC236}">
                <a16:creationId xmlns:a16="http://schemas.microsoft.com/office/drawing/2014/main" id="{26F6F13F-18CA-E8B9-16CC-8248172B17F0}"/>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8938290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99D61-B3D2-B1F3-46B6-85FCD24A4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62F59-2217-58BE-B654-C99306F823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E131B-4D3D-9B30-4AFA-CCE2C01FD1F8}"/>
              </a:ext>
            </a:extLst>
          </p:cNvPr>
          <p:cNvSpPr>
            <a:spLocks noGrp="1"/>
          </p:cNvSpPr>
          <p:nvPr>
            <p:ph type="body" idx="1"/>
          </p:nvPr>
        </p:nvSpPr>
        <p:spPr/>
        <p:txBody>
          <a:bodyPr/>
          <a:lstStyle/>
          <a:p>
            <a:endParaRPr lang="ru-RU" dirty="0"/>
          </a:p>
        </p:txBody>
      </p:sp>
      <p:sp>
        <p:nvSpPr>
          <p:cNvPr id="4" name="Slide Number Placeholder 3">
            <a:extLst>
              <a:ext uri="{FF2B5EF4-FFF2-40B4-BE49-F238E27FC236}">
                <a16:creationId xmlns:a16="http://schemas.microsoft.com/office/drawing/2014/main" id="{20403E7E-B6A8-98D6-9BD0-0D18220667B4}"/>
              </a:ext>
            </a:extLst>
          </p:cNvPr>
          <p:cNvSpPr>
            <a:spLocks noGrp="1"/>
          </p:cNvSpPr>
          <p:nvPr>
            <p:ph type="sldNum" sz="quarter" idx="10"/>
          </p:nvPr>
        </p:nvSpPr>
        <p:spPr/>
        <p:txBody>
          <a:bodyPr/>
          <a:lstStyle/>
          <a:p>
            <a:fld id="{7F33120B-582B-4354-977D-A474A534F6B9}" type="slidenum">
              <a:rPr lang="ru-RU" smtClean="0"/>
              <a:t>23</a:t>
            </a:fld>
            <a:endParaRPr lang="ru-RU"/>
          </a:p>
        </p:txBody>
      </p:sp>
      <p:sp>
        <p:nvSpPr>
          <p:cNvPr id="5" name="Header Placeholder 4">
            <a:extLst>
              <a:ext uri="{FF2B5EF4-FFF2-40B4-BE49-F238E27FC236}">
                <a16:creationId xmlns:a16="http://schemas.microsoft.com/office/drawing/2014/main" id="{77F7AF7E-E0F1-0108-A163-A03215C2384E}"/>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5220307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29ADB-DE75-13E8-E37A-A64384DA8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C30B2-1BEA-655A-9602-B1C8A1ECF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5776C0-4E18-2136-F2CB-BD2CDC88A144}"/>
              </a:ext>
            </a:extLst>
          </p:cNvPr>
          <p:cNvSpPr>
            <a:spLocks noGrp="1"/>
          </p:cNvSpPr>
          <p:nvPr>
            <p:ph type="body" idx="1"/>
          </p:nvPr>
        </p:nvSpPr>
        <p:spPr/>
        <p:txBody>
          <a:bodyPr/>
          <a:lstStyle/>
          <a:p>
            <a:endParaRPr lang="ru-RU" dirty="0"/>
          </a:p>
        </p:txBody>
      </p:sp>
      <p:sp>
        <p:nvSpPr>
          <p:cNvPr id="4" name="Slide Number Placeholder 3">
            <a:extLst>
              <a:ext uri="{FF2B5EF4-FFF2-40B4-BE49-F238E27FC236}">
                <a16:creationId xmlns:a16="http://schemas.microsoft.com/office/drawing/2014/main" id="{35BC1536-4D4F-225C-037C-F098BD9632F9}"/>
              </a:ext>
            </a:extLst>
          </p:cNvPr>
          <p:cNvSpPr>
            <a:spLocks noGrp="1"/>
          </p:cNvSpPr>
          <p:nvPr>
            <p:ph type="sldNum" sz="quarter" idx="10"/>
          </p:nvPr>
        </p:nvSpPr>
        <p:spPr/>
        <p:txBody>
          <a:bodyPr/>
          <a:lstStyle/>
          <a:p>
            <a:fld id="{7F33120B-582B-4354-977D-A474A534F6B9}" type="slidenum">
              <a:rPr lang="ru-RU" smtClean="0"/>
              <a:t>24</a:t>
            </a:fld>
            <a:endParaRPr lang="ru-RU"/>
          </a:p>
        </p:txBody>
      </p:sp>
      <p:sp>
        <p:nvSpPr>
          <p:cNvPr id="5" name="Header Placeholder 4">
            <a:extLst>
              <a:ext uri="{FF2B5EF4-FFF2-40B4-BE49-F238E27FC236}">
                <a16:creationId xmlns:a16="http://schemas.microsoft.com/office/drawing/2014/main" id="{6DDF9FF9-CE1E-6711-F638-8B911816046C}"/>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1634448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E873D-FF9F-5EC8-7871-3F7B2129AD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DBDFE-9005-201F-256F-59F43A0BD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FD98DE-5EC2-D4F9-336E-BFC2D3D1BA2C}"/>
              </a:ext>
            </a:extLst>
          </p:cNvPr>
          <p:cNvSpPr>
            <a:spLocks noGrp="1"/>
          </p:cNvSpPr>
          <p:nvPr>
            <p:ph type="body" idx="1"/>
          </p:nvPr>
        </p:nvSpPr>
        <p:spPr/>
        <p:txBody>
          <a:bodyPr/>
          <a:lstStyle/>
          <a:p>
            <a:endParaRPr lang="ru-RU" dirty="0"/>
          </a:p>
        </p:txBody>
      </p:sp>
      <p:sp>
        <p:nvSpPr>
          <p:cNvPr id="4" name="Slide Number Placeholder 3">
            <a:extLst>
              <a:ext uri="{FF2B5EF4-FFF2-40B4-BE49-F238E27FC236}">
                <a16:creationId xmlns:a16="http://schemas.microsoft.com/office/drawing/2014/main" id="{9E5B4654-1518-CCD5-1985-2006F5FD7C7F}"/>
              </a:ext>
            </a:extLst>
          </p:cNvPr>
          <p:cNvSpPr>
            <a:spLocks noGrp="1"/>
          </p:cNvSpPr>
          <p:nvPr>
            <p:ph type="sldNum" sz="quarter" idx="10"/>
          </p:nvPr>
        </p:nvSpPr>
        <p:spPr/>
        <p:txBody>
          <a:bodyPr/>
          <a:lstStyle/>
          <a:p>
            <a:fld id="{7F33120B-582B-4354-977D-A474A534F6B9}" type="slidenum">
              <a:rPr lang="ru-RU" smtClean="0"/>
              <a:t>25</a:t>
            </a:fld>
            <a:endParaRPr lang="ru-RU"/>
          </a:p>
        </p:txBody>
      </p:sp>
      <p:sp>
        <p:nvSpPr>
          <p:cNvPr id="5" name="Header Placeholder 4">
            <a:extLst>
              <a:ext uri="{FF2B5EF4-FFF2-40B4-BE49-F238E27FC236}">
                <a16:creationId xmlns:a16="http://schemas.microsoft.com/office/drawing/2014/main" id="{244C112A-E527-6BB4-15F7-7BFAEE85DDA1}"/>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1591991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F4690-BF34-CB57-5383-6C1C3C81B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7F7BE-F74B-BF46-7CEE-B41D20C05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C345D-6474-3C66-EC53-CDA261792E84}"/>
              </a:ext>
            </a:extLst>
          </p:cNvPr>
          <p:cNvSpPr>
            <a:spLocks noGrp="1"/>
          </p:cNvSpPr>
          <p:nvPr>
            <p:ph type="body" idx="1"/>
          </p:nvPr>
        </p:nvSpPr>
        <p:spPr/>
        <p:txBody>
          <a:bodyPr/>
          <a:lstStyle/>
          <a:p>
            <a:endParaRPr lang="ru-RU" dirty="0"/>
          </a:p>
        </p:txBody>
      </p:sp>
      <p:sp>
        <p:nvSpPr>
          <p:cNvPr id="4" name="Slide Number Placeholder 3">
            <a:extLst>
              <a:ext uri="{FF2B5EF4-FFF2-40B4-BE49-F238E27FC236}">
                <a16:creationId xmlns:a16="http://schemas.microsoft.com/office/drawing/2014/main" id="{A1E58CEE-E850-1CDA-F34C-6EC3DBC5190B}"/>
              </a:ext>
            </a:extLst>
          </p:cNvPr>
          <p:cNvSpPr>
            <a:spLocks noGrp="1"/>
          </p:cNvSpPr>
          <p:nvPr>
            <p:ph type="sldNum" sz="quarter" idx="10"/>
          </p:nvPr>
        </p:nvSpPr>
        <p:spPr/>
        <p:txBody>
          <a:bodyPr/>
          <a:lstStyle/>
          <a:p>
            <a:fld id="{7F33120B-582B-4354-977D-A474A534F6B9}" type="slidenum">
              <a:rPr lang="ru-RU" smtClean="0"/>
              <a:t>26</a:t>
            </a:fld>
            <a:endParaRPr lang="ru-RU"/>
          </a:p>
        </p:txBody>
      </p:sp>
      <p:sp>
        <p:nvSpPr>
          <p:cNvPr id="5" name="Header Placeholder 4">
            <a:extLst>
              <a:ext uri="{FF2B5EF4-FFF2-40B4-BE49-F238E27FC236}">
                <a16:creationId xmlns:a16="http://schemas.microsoft.com/office/drawing/2014/main" id="{E695308D-BE2A-CCCF-10A5-3874AD8B4045}"/>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6613802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4E098-E9CD-717B-E0C2-9859BC617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50E2B-B630-907D-5246-18956B5086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7439A8-2B88-8A02-C0CC-D76B9016A820}"/>
              </a:ext>
            </a:extLst>
          </p:cNvPr>
          <p:cNvSpPr>
            <a:spLocks noGrp="1"/>
          </p:cNvSpPr>
          <p:nvPr>
            <p:ph type="body" idx="1"/>
          </p:nvPr>
        </p:nvSpPr>
        <p:spPr/>
        <p:txBody>
          <a:bodyPr/>
          <a:lstStyle/>
          <a:p>
            <a:endParaRPr lang="ru-RU" dirty="0"/>
          </a:p>
        </p:txBody>
      </p:sp>
      <p:sp>
        <p:nvSpPr>
          <p:cNvPr id="4" name="Slide Number Placeholder 3">
            <a:extLst>
              <a:ext uri="{FF2B5EF4-FFF2-40B4-BE49-F238E27FC236}">
                <a16:creationId xmlns:a16="http://schemas.microsoft.com/office/drawing/2014/main" id="{2C206FF3-9F31-6A8A-360A-193096D09C61}"/>
              </a:ext>
            </a:extLst>
          </p:cNvPr>
          <p:cNvSpPr>
            <a:spLocks noGrp="1"/>
          </p:cNvSpPr>
          <p:nvPr>
            <p:ph type="sldNum" sz="quarter" idx="10"/>
          </p:nvPr>
        </p:nvSpPr>
        <p:spPr/>
        <p:txBody>
          <a:bodyPr/>
          <a:lstStyle/>
          <a:p>
            <a:fld id="{7F33120B-582B-4354-977D-A474A534F6B9}" type="slidenum">
              <a:rPr lang="ru-RU" smtClean="0"/>
              <a:t>27</a:t>
            </a:fld>
            <a:endParaRPr lang="ru-RU"/>
          </a:p>
        </p:txBody>
      </p:sp>
      <p:sp>
        <p:nvSpPr>
          <p:cNvPr id="5" name="Header Placeholder 4">
            <a:extLst>
              <a:ext uri="{FF2B5EF4-FFF2-40B4-BE49-F238E27FC236}">
                <a16:creationId xmlns:a16="http://schemas.microsoft.com/office/drawing/2014/main" id="{D94E813B-1ED5-5C30-438C-907E93001F5F}"/>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1728071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7F33120B-582B-4354-977D-A474A534F6B9}" type="slidenum">
              <a:rPr lang="ru-RU" smtClean="0"/>
              <a:t>28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9387157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29</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2790280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30</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8331445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655B1-79D1-4B0C-C82B-50E2990F3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3A825-833E-C733-C528-F8B4278EE9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11184B-249F-2B1C-CD6B-AA5F104A3F6F}"/>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490B33E7-7F63-2F00-E0A7-2E5337B5B4E5}"/>
              </a:ext>
            </a:extLst>
          </p:cNvPr>
          <p:cNvSpPr>
            <a:spLocks noGrp="1"/>
          </p:cNvSpPr>
          <p:nvPr>
            <p:ph type="sldNum" sz="quarter" idx="10"/>
          </p:nvPr>
        </p:nvSpPr>
        <p:spPr/>
        <p:txBody>
          <a:bodyPr/>
          <a:lstStyle/>
          <a:p>
            <a:fld id="{7F33120B-582B-4354-977D-A474A534F6B9}" type="slidenum">
              <a:rPr lang="ru-RU" smtClean="0"/>
              <a:t>31</a:t>
            </a:fld>
            <a:endParaRPr lang="ru-RU"/>
          </a:p>
        </p:txBody>
      </p:sp>
      <p:sp>
        <p:nvSpPr>
          <p:cNvPr id="5" name="Header Placeholder 4">
            <a:extLst>
              <a:ext uri="{FF2B5EF4-FFF2-40B4-BE49-F238E27FC236}">
                <a16:creationId xmlns:a16="http://schemas.microsoft.com/office/drawing/2014/main" id="{27E9F4B9-6E3C-5977-EB0D-579A41F0875F}"/>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0921880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2399921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33</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0752245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34</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6269324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6394229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36</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807956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51B92-9335-842F-14E5-4E4C89FF5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35D3B-2022-504B-EF77-C264DF953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F7E76-79E5-2581-74AE-E6816BA84678}"/>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F0A5982D-06D4-582F-6B23-5A34B0168C19}"/>
              </a:ext>
            </a:extLst>
          </p:cNvPr>
          <p:cNvSpPr>
            <a:spLocks noGrp="1"/>
          </p:cNvSpPr>
          <p:nvPr>
            <p:ph type="sldNum" sz="quarter" idx="10"/>
          </p:nvPr>
        </p:nvSpPr>
        <p:spPr/>
        <p:txBody>
          <a:bodyPr/>
          <a:lstStyle/>
          <a:p>
            <a:fld id="{7F33120B-582B-4354-977D-A474A534F6B9}" type="slidenum">
              <a:rPr lang="ru-RU" smtClean="0"/>
              <a:t>37</a:t>
            </a:fld>
            <a:endParaRPr lang="ru-RU"/>
          </a:p>
        </p:txBody>
      </p:sp>
      <p:sp>
        <p:nvSpPr>
          <p:cNvPr id="5" name="Header Placeholder 4">
            <a:extLst>
              <a:ext uri="{FF2B5EF4-FFF2-40B4-BE49-F238E27FC236}">
                <a16:creationId xmlns:a16="http://schemas.microsoft.com/office/drawing/2014/main" id="{D76E7FED-D3EF-EFB6-3E3B-39597AD73743}"/>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0476365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3579821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E3425-A178-1CCD-5CB5-4E6F40C56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F84DC-0744-275B-E2CA-712572ACA4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988A2-BE49-56A9-B1BA-3D7C9D67C422}"/>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79DC2877-C4B3-F85E-E884-5144CAA9E3A5}"/>
              </a:ext>
            </a:extLst>
          </p:cNvPr>
          <p:cNvSpPr>
            <a:spLocks noGrp="1"/>
          </p:cNvSpPr>
          <p:nvPr>
            <p:ph type="sldNum" sz="quarter" idx="10"/>
          </p:nvPr>
        </p:nvSpPr>
        <p:spPr/>
        <p:txBody>
          <a:bodyPr/>
          <a:lstStyle/>
          <a:p>
            <a:fld id="{7F33120B-582B-4354-977D-A474A534F6B9}" type="slidenum">
              <a:rPr lang="ru-RU" smtClean="0"/>
              <a:t>39</a:t>
            </a:fld>
            <a:endParaRPr lang="ru-RU"/>
          </a:p>
        </p:txBody>
      </p:sp>
      <p:sp>
        <p:nvSpPr>
          <p:cNvPr id="5" name="Header Placeholder 4">
            <a:extLst>
              <a:ext uri="{FF2B5EF4-FFF2-40B4-BE49-F238E27FC236}">
                <a16:creationId xmlns:a16="http://schemas.microsoft.com/office/drawing/2014/main" id="{B071C038-5658-6F83-8D81-F4F8F4A6A94D}"/>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9591360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40</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2321075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41</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4291301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9314202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43</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28798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45F13-9652-F292-494E-A8A1CD269B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704FF-632D-596A-EB0C-63556DF895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965A74-CBD0-E0C4-2765-352CEFEC8C9C}"/>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02885487-ABA2-1D32-4B32-2CCD96533C2B}"/>
              </a:ext>
            </a:extLst>
          </p:cNvPr>
          <p:cNvSpPr>
            <a:spLocks noGrp="1"/>
          </p:cNvSpPr>
          <p:nvPr>
            <p:ph type="sldNum" sz="quarter" idx="10"/>
          </p:nvPr>
        </p:nvSpPr>
        <p:spPr/>
        <p:txBody>
          <a:bodyPr/>
          <a:lstStyle/>
          <a:p>
            <a:fld id="{7F33120B-582B-4354-977D-A474A534F6B9}" type="slidenum">
              <a:rPr lang="ru-RU" smtClean="0"/>
              <a:t>44</a:t>
            </a:fld>
            <a:endParaRPr lang="ru-RU"/>
          </a:p>
        </p:txBody>
      </p:sp>
      <p:sp>
        <p:nvSpPr>
          <p:cNvPr id="5" name="Header Placeholder 4">
            <a:extLst>
              <a:ext uri="{FF2B5EF4-FFF2-40B4-BE49-F238E27FC236}">
                <a16:creationId xmlns:a16="http://schemas.microsoft.com/office/drawing/2014/main" id="{D2F733CD-B231-C48B-828B-243958BBC0F7}"/>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9597021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A73E2-2FE1-0CFA-B4AC-98D828A7EE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AA8571-4982-18EC-0F27-DD4119B8E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913DB5-D571-3BAE-0257-37577E265603}"/>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2465F3C6-845F-75A9-69F9-EF0A5A3BBC6E}"/>
              </a:ext>
            </a:extLst>
          </p:cNvPr>
          <p:cNvSpPr>
            <a:spLocks noGrp="1"/>
          </p:cNvSpPr>
          <p:nvPr>
            <p:ph type="sldNum" sz="quarter" idx="10"/>
          </p:nvPr>
        </p:nvSpPr>
        <p:spPr/>
        <p:txBody>
          <a:bodyPr/>
          <a:lstStyle/>
          <a:p>
            <a:fld id="{7F33120B-582B-4354-977D-A474A534F6B9}" type="slidenum">
              <a:rPr lang="ru-RU" smtClean="0"/>
              <a:t>45</a:t>
            </a:fld>
            <a:endParaRPr lang="ru-RU"/>
          </a:p>
        </p:txBody>
      </p:sp>
      <p:sp>
        <p:nvSpPr>
          <p:cNvPr id="5" name="Header Placeholder 4">
            <a:extLst>
              <a:ext uri="{FF2B5EF4-FFF2-40B4-BE49-F238E27FC236}">
                <a16:creationId xmlns:a16="http://schemas.microsoft.com/office/drawing/2014/main" id="{DABEBE51-DF74-31FF-B9B6-A31ECB1EA7FE}"/>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1398961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092FB-980A-8E45-91F4-53DD4D336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7EDE03-0D88-3566-22AA-8DE0CC786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32114F-2EC3-CBA8-B0CC-742AD60B3A41}"/>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223055E3-7D35-C911-C7B2-28B5CB74E7C5}"/>
              </a:ext>
            </a:extLst>
          </p:cNvPr>
          <p:cNvSpPr>
            <a:spLocks noGrp="1"/>
          </p:cNvSpPr>
          <p:nvPr>
            <p:ph type="sldNum" sz="quarter" idx="10"/>
          </p:nvPr>
        </p:nvSpPr>
        <p:spPr/>
        <p:txBody>
          <a:bodyPr/>
          <a:lstStyle/>
          <a:p>
            <a:fld id="{7F33120B-582B-4354-977D-A474A534F6B9}" type="slidenum">
              <a:rPr lang="ru-RU" smtClean="0"/>
              <a:t>46</a:t>
            </a:fld>
            <a:endParaRPr lang="ru-RU"/>
          </a:p>
        </p:txBody>
      </p:sp>
      <p:sp>
        <p:nvSpPr>
          <p:cNvPr id="5" name="Header Placeholder 4">
            <a:extLst>
              <a:ext uri="{FF2B5EF4-FFF2-40B4-BE49-F238E27FC236}">
                <a16:creationId xmlns:a16="http://schemas.microsoft.com/office/drawing/2014/main" id="{2406D7B8-8A9F-41D6-0782-C932D44762BC}"/>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780983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D61D-F333-3A6B-13E7-4D006B6538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E53F7-2DF3-D7F9-54C7-AAC14CF42D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64A0A-A5AE-11B8-A87F-D38904FCF823}"/>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386A813B-9693-C2DF-24F9-908E9209F6A9}"/>
              </a:ext>
            </a:extLst>
          </p:cNvPr>
          <p:cNvSpPr>
            <a:spLocks noGrp="1"/>
          </p:cNvSpPr>
          <p:nvPr>
            <p:ph type="sldNum" sz="quarter" idx="10"/>
          </p:nvPr>
        </p:nvSpPr>
        <p:spPr/>
        <p:txBody>
          <a:bodyPr/>
          <a:lstStyle/>
          <a:p>
            <a:fld id="{7F33120B-582B-4354-977D-A474A534F6B9}" type="slidenum">
              <a:rPr lang="ru-RU" smtClean="0"/>
              <a:t>47</a:t>
            </a:fld>
            <a:endParaRPr lang="ru-RU"/>
          </a:p>
        </p:txBody>
      </p:sp>
      <p:sp>
        <p:nvSpPr>
          <p:cNvPr id="5" name="Header Placeholder 4">
            <a:extLst>
              <a:ext uri="{FF2B5EF4-FFF2-40B4-BE49-F238E27FC236}">
                <a16:creationId xmlns:a16="http://schemas.microsoft.com/office/drawing/2014/main" id="{85FA515F-3BC6-576C-F45F-84AE976CB34C}"/>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570329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D792-0E99-92AB-D152-55DF97FF2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67511D-D9F2-20C6-29CB-28BFBA5A2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B702F-CDE1-201C-4CC4-0372ACDF10DE}"/>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069EEAC2-C010-8310-68A3-F348F266F137}"/>
              </a:ext>
            </a:extLst>
          </p:cNvPr>
          <p:cNvSpPr>
            <a:spLocks noGrp="1"/>
          </p:cNvSpPr>
          <p:nvPr>
            <p:ph type="sldNum" sz="quarter" idx="10"/>
          </p:nvPr>
        </p:nvSpPr>
        <p:spPr/>
        <p:txBody>
          <a:bodyPr/>
          <a:lstStyle/>
          <a:p>
            <a:fld id="{7F33120B-582B-4354-977D-A474A534F6B9}" type="slidenum">
              <a:rPr lang="ru-RU" smtClean="0"/>
              <a:t>48</a:t>
            </a:fld>
            <a:endParaRPr lang="ru-RU"/>
          </a:p>
        </p:txBody>
      </p:sp>
      <p:sp>
        <p:nvSpPr>
          <p:cNvPr id="5" name="Header Placeholder 4">
            <a:extLst>
              <a:ext uri="{FF2B5EF4-FFF2-40B4-BE49-F238E27FC236}">
                <a16:creationId xmlns:a16="http://schemas.microsoft.com/office/drawing/2014/main" id="{1E793BD7-9AD0-79C8-DE95-BDF0D62ADA9E}"/>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42125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4442-78F3-6C71-F1C0-C00B0790FE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2189A-885A-FE16-0188-DE4A7E8A2F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1A11DF-DE93-E358-8901-02C0D2488E33}"/>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316C0335-42A1-5E02-38D6-42A817558074}"/>
              </a:ext>
            </a:extLst>
          </p:cNvPr>
          <p:cNvSpPr>
            <a:spLocks noGrp="1"/>
          </p:cNvSpPr>
          <p:nvPr>
            <p:ph type="sldNum" sz="quarter" idx="10"/>
          </p:nvPr>
        </p:nvSpPr>
        <p:spPr/>
        <p:txBody>
          <a:bodyPr/>
          <a:lstStyle/>
          <a:p>
            <a:fld id="{7F33120B-582B-4354-977D-A474A534F6B9}" type="slidenum">
              <a:rPr lang="ru-RU" smtClean="0"/>
              <a:t>49</a:t>
            </a:fld>
            <a:endParaRPr lang="ru-RU"/>
          </a:p>
        </p:txBody>
      </p:sp>
      <p:sp>
        <p:nvSpPr>
          <p:cNvPr id="5" name="Header Placeholder 4">
            <a:extLst>
              <a:ext uri="{FF2B5EF4-FFF2-40B4-BE49-F238E27FC236}">
                <a16:creationId xmlns:a16="http://schemas.microsoft.com/office/drawing/2014/main" id="{6251B635-6237-5749-4CEA-7C5C8F11648E}"/>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177766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p:cNvSpPr>
            <a:spLocks noGrp="1"/>
          </p:cNvSpPr>
          <p:nvPr>
            <p:ph type="dt" sz="half" idx="10"/>
          </p:nvPr>
        </p:nvSpPr>
        <p:spPr/>
        <p:txBody>
          <a:bodyPr/>
          <a:lstStyle/>
          <a:p>
            <a:fld id="{12C63722-5D9F-4E99-9720-9B6A0C7BB1C9}" type="datetimeFigureOut">
              <a:rPr lang="ru-RU" smtClean="0"/>
              <a:t>19.10.2026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1849482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12C63722-5D9F-4E99-9720-9B6A0C7BB1C9}" type="datetimeFigureOut">
              <a:rPr lang="ru-RU" smtClean="0"/>
              <a:t>19.10.2026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638140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C63722-5D9F-4E99-9720-9B6A0C7BB1C9}" type="datetimeFigureOut">
              <a:rPr lang="ru-RU" smtClean="0"/>
              <a:t>19.10.2026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1447981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6"/>
            <a:ext cx="10515600" cy="622754"/>
          </a:xfrm>
        </p:spPr>
        <p:txBody>
          <a:bodyPr/>
          <a:lstStyle>
            <a:lvl1pPr>
              <a:defRPr/>
            </a:lvl1pPr>
          </a:lstStyle>
          <a:p>
            <a:r>
              <a:rPr lang="ru-RU" dirty="0"/>
              <a:t>Основы построения файловых систем</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p:cNvSpPr>
            <a:spLocks noGrp="1"/>
          </p:cNvSpPr>
          <p:nvPr>
            <p:ph type="dt" sz="half" idx="10"/>
          </p:nvPr>
        </p:nvSpPr>
        <p:spPr/>
        <p:txBody>
          <a:bodyPr/>
          <a:lstStyle/>
          <a:p>
            <a:fld id="{12C63722-5D9F-4E99-9720-9B6A0C7BB1C9}" type="datetimeFigureOut">
              <a:rPr lang="ru-RU" smtClean="0"/>
              <a:t>19.10.2026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1247053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p:cNvSpPr>
            <a:spLocks noGrp="1"/>
          </p:cNvSpPr>
          <p:nvPr>
            <p:ph type="dt" sz="half" idx="10"/>
          </p:nvPr>
        </p:nvSpPr>
        <p:spPr/>
        <p:txBody>
          <a:bodyPr/>
          <a:lstStyle/>
          <a:p>
            <a:fld id="{12C63722-5D9F-4E99-9720-9B6A0C7BB1C9}" type="datetimeFigureOut">
              <a:rPr lang="ru-RU" smtClean="0"/>
              <a:t>19.10.2026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2259022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Date Placeholder 2"/>
          <p:cNvSpPr>
            <a:spLocks noGrp="1"/>
          </p:cNvSpPr>
          <p:nvPr>
            <p:ph type="dt" sz="half" idx="10"/>
          </p:nvPr>
        </p:nvSpPr>
        <p:spPr/>
        <p:txBody>
          <a:bodyPr/>
          <a:lstStyle/>
          <a:p>
            <a:fld id="{12C63722-5D9F-4E99-9720-9B6A0C7BB1C9}" type="datetimeFigureOut">
              <a:rPr lang="ru-RU" smtClean="0"/>
              <a:t>19.10.2026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689913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C63722-5D9F-4E99-9720-9B6A0C7BB1C9}" type="datetimeFigureOut">
              <a:rPr lang="ru-RU" smtClean="0"/>
              <a:t>19.10.2026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2257432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C63722-5D9F-4E99-9720-9B6A0C7BB1C9}" type="datetimeFigureOut">
              <a:rPr lang="ru-RU" smtClean="0"/>
              <a:t>19.10.2026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1533646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C63722-5D9F-4E99-9720-9B6A0C7BB1C9}" type="datetimeFigureOut">
              <a:rPr lang="ru-RU" smtClean="0"/>
              <a:t>19.10.2026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3532430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12C63722-5D9F-4E99-9720-9B6A0C7BB1C9}" type="datetimeFigureOut">
              <a:rPr lang="ru-RU" smtClean="0"/>
              <a:t>19.10.2026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3950928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12C63722-5D9F-4E99-9720-9B6A0C7BB1C9}" type="datetimeFigureOut">
              <a:rPr lang="ru-RU" smtClean="0"/>
              <a:t>19.10.2026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1439964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p:cNvSpPr>
            <a:spLocks noGrp="1"/>
          </p:cNvSpPr>
          <p:nvPr>
            <p:ph type="dt" sz="half" idx="10"/>
          </p:nvPr>
        </p:nvSpPr>
        <p:spPr/>
        <p:txBody>
          <a:bodyPr/>
          <a:lstStyle/>
          <a:p>
            <a:fld id="{8C218C88-2408-4CFC-B25C-07450930B282}" type="datetimeFigureOut">
              <a:rPr lang="ru-RU" smtClean="0"/>
              <a:t>19.10.2026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3255585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8C218C88-2408-4CFC-B25C-07450930B282}" type="datetimeFigureOut">
              <a:rPr lang="ru-RU" smtClean="0"/>
              <a:t>19.10.2026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6069723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218C88-2408-4CFC-B25C-07450930B282}" type="datetimeFigureOut">
              <a:rPr lang="ru-RU" smtClean="0"/>
              <a:t>19.10.2026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32980577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p:cNvSpPr>
            <a:spLocks noGrp="1"/>
          </p:cNvSpPr>
          <p:nvPr>
            <p:ph type="dt" sz="half" idx="10"/>
          </p:nvPr>
        </p:nvSpPr>
        <p:spPr/>
        <p:txBody>
          <a:bodyPr/>
          <a:lstStyle/>
          <a:p>
            <a:fld id="{8C218C88-2408-4CFC-B25C-07450930B282}" type="datetimeFigureOut">
              <a:rPr lang="ru-RU" smtClean="0"/>
              <a:t>19.10.2026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1862659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p:cNvSpPr>
            <a:spLocks noGrp="1"/>
          </p:cNvSpPr>
          <p:nvPr>
            <p:ph type="dt" sz="half" idx="10"/>
          </p:nvPr>
        </p:nvSpPr>
        <p:spPr/>
        <p:txBody>
          <a:bodyPr/>
          <a:lstStyle/>
          <a:p>
            <a:fld id="{8C218C88-2408-4CFC-B25C-07450930B282}" type="datetimeFigureOut">
              <a:rPr lang="ru-RU" smtClean="0"/>
              <a:t>19.10.2026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6225382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Date Placeholder 2"/>
          <p:cNvSpPr>
            <a:spLocks noGrp="1"/>
          </p:cNvSpPr>
          <p:nvPr>
            <p:ph type="dt" sz="half" idx="10"/>
          </p:nvPr>
        </p:nvSpPr>
        <p:spPr/>
        <p:txBody>
          <a:bodyPr/>
          <a:lstStyle/>
          <a:p>
            <a:fld id="{8C218C88-2408-4CFC-B25C-07450930B282}" type="datetimeFigureOut">
              <a:rPr lang="ru-RU" smtClean="0"/>
              <a:t>19.10.2026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14747844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218C88-2408-4CFC-B25C-07450930B282}" type="datetimeFigureOut">
              <a:rPr lang="ru-RU" smtClean="0"/>
              <a:t>19.10.2026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3008505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218C88-2408-4CFC-B25C-07450930B282}" type="datetimeFigureOut">
              <a:rPr lang="ru-RU" smtClean="0"/>
              <a:t>19.10.2026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38103721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218C88-2408-4CFC-B25C-07450930B282}" type="datetimeFigureOut">
              <a:rPr lang="ru-RU" smtClean="0"/>
              <a:t>19.10.2026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33388115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8C218C88-2408-4CFC-B25C-07450930B282}" type="datetimeFigureOut">
              <a:rPr lang="ru-RU" smtClean="0"/>
              <a:t>19.10.2026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12913520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8C218C88-2408-4CFC-B25C-07450930B282}" type="datetimeFigureOut">
              <a:rPr lang="ru-RU" smtClean="0"/>
              <a:t>19.10.2026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2101758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C63722-5D9F-4E99-9720-9B6A0C7BB1C9}" type="datetimeFigureOut">
              <a:rPr lang="ru-RU" smtClean="0"/>
              <a:t>19.10.2026</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66C827-9CFA-4E1C-AE4D-19624BF57C6E}" type="slidenum">
              <a:rPr lang="ru-RU" smtClean="0"/>
              <a:t>‹#›</a:t>
            </a:fld>
            <a:endParaRPr lang="ru-RU"/>
          </a:p>
        </p:txBody>
      </p:sp>
    </p:spTree>
    <p:extLst>
      <p:ext uri="{BB962C8B-B14F-4D97-AF65-F5344CB8AC3E}">
        <p14:creationId xmlns:p14="http://schemas.microsoft.com/office/powerpoint/2010/main" val="711473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218C88-2408-4CFC-B25C-07450930B282}" type="datetimeFigureOut">
              <a:rPr lang="ru-RU" smtClean="0"/>
              <a:t>19.10.2026</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9145A7-1FFA-4548-B8B9-099A1C219AAF}" type="slidenum">
              <a:rPr lang="ru-RU" smtClean="0"/>
              <a:t>‹#›</a:t>
            </a:fld>
            <a:endParaRPr lang="ru-RU"/>
          </a:p>
        </p:txBody>
      </p:sp>
    </p:spTree>
    <p:extLst>
      <p:ext uri="{BB962C8B-B14F-4D97-AF65-F5344CB8AC3E}">
        <p14:creationId xmlns:p14="http://schemas.microsoft.com/office/powerpoint/2010/main" val="30781416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lwn.net/Articles/888914/"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lwn.net/Articles/893906/"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lwn.net/Articles/845507/" TargetMode="External"/><Relationship Id="rId5" Type="http://schemas.openxmlformats.org/officeDocument/2006/relationships/hyperlink" Target="https://lwn.net/Articles/974392/" TargetMode="External"/><Relationship Id="rId4" Type="http://schemas.openxmlformats.org/officeDocument/2006/relationships/hyperlink" Target="https://lwn.net/Articles/932298/"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lwn.net/Articles/718734/"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tackoverflow.com/q/42434872/398670"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golang/go/issues/79664#issuecomment-5139068484"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lwn.net/Articles/976856/"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s://research.google.com/pubs/archive/46403.pdf" TargetMode="External"/><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hyperlink" Target="https://lwn.net/Articles/776703/," TargetMode="External"/><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hyperlink" Target="https://github.com/axboe/liburing"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948236535"/>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endParaRPr lang="ru-RU" sz="1800" b="1" kern="1200" dirty="0">
                        <a:solidFill>
                          <a:schemeClr val="lt1"/>
                        </a:solidFill>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sp>
        <p:nvSpPr>
          <p:cNvPr id="2" name="TextBox 1"/>
          <p:cNvSpPr txBox="1"/>
          <p:nvPr/>
        </p:nvSpPr>
        <p:spPr>
          <a:xfrm>
            <a:off x="3648654" y="923419"/>
            <a:ext cx="5388335" cy="707886"/>
          </a:xfrm>
          <a:prstGeom prst="rect">
            <a:avLst/>
          </a:prstGeom>
          <a:noFill/>
        </p:spPr>
        <p:txBody>
          <a:bodyPr wrap="none" rtlCol="0">
            <a:spAutoFit/>
          </a:bodyPr>
          <a:lstStyle/>
          <a:p>
            <a:r>
              <a:rPr lang="en-US" sz="4000" dirty="0"/>
              <a:t>The basics of file systems</a:t>
            </a:r>
            <a:endParaRPr lang="ru-RU" sz="4000" dirty="0"/>
          </a:p>
        </p:txBody>
      </p:sp>
      <p:pic>
        <p:nvPicPr>
          <p:cNvPr id="1026" name="Picture 2" descr="Neapolis University Pafos, Cyprus Adaptive • Inspiring • Today • Education">
            <a:extLst>
              <a:ext uri="{FF2B5EF4-FFF2-40B4-BE49-F238E27FC236}">
                <a16:creationId xmlns:a16="http://schemas.microsoft.com/office/drawing/2014/main" id="{4A89C479-1691-99F0-24E5-26D57F721B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1822" y="2457450"/>
            <a:ext cx="4191000" cy="1943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35F9A63-3251-7EB7-FC8E-AE3ABA4B70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62638" y="1977686"/>
            <a:ext cx="2677540" cy="2902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97260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94093864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46122090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495964216"/>
              </p:ext>
            </p:extLst>
          </p:nvPr>
        </p:nvGraphicFramePr>
        <p:xfrm>
          <a:off x="0" y="365760"/>
          <a:ext cx="12192000" cy="3657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Memory-mapped files</a:t>
                      </a:r>
                      <a:endParaRPr lang="ru-RU"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02469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63592030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80047794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762405156"/>
              </p:ext>
            </p:extLst>
          </p:nvPr>
        </p:nvGraphicFramePr>
        <p:xfrm>
          <a:off x="0" y="365760"/>
          <a:ext cx="12192000" cy="27432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Memory-mapped files</a:t>
                      </a:r>
                      <a:endParaRPr lang="ru-RU" dirty="0"/>
                    </a:p>
                  </a:txBody>
                  <a:tcPr/>
                </a:tc>
                <a:extLst>
                  <a:ext uri="{0D108BD9-81ED-4DB2-BD59-A6C34878D82A}">
                    <a16:rowId xmlns:a16="http://schemas.microsoft.com/office/drawing/2014/main" val="10000"/>
                  </a:ext>
                </a:extLst>
              </a:tr>
              <a:tr h="216655">
                <a:tc>
                  <a:txBody>
                    <a:bodyPr/>
                    <a:lstStyle/>
                    <a:p>
                      <a:r>
                        <a:rPr lang="en-US" dirty="0" err="1">
                          <a:latin typeface="Consolas" panose="020B0609020204030204" pitchFamily="49" charset="0"/>
                          <a:ea typeface="Menlo" charset="0"/>
                          <a:cs typeface="Consolas" panose="020B0609020204030204" pitchFamily="49" charset="0"/>
                        </a:rPr>
                        <a:t>int</a:t>
                      </a:r>
                      <a:r>
                        <a:rPr lang="en-US" baseline="0" dirty="0">
                          <a:latin typeface="Consolas" panose="020B0609020204030204" pitchFamily="49" charset="0"/>
                          <a:ea typeface="Menlo" charset="0"/>
                          <a:cs typeface="Consolas" panose="020B0609020204030204" pitchFamily="49" charset="0"/>
                        </a:rPr>
                        <a:t> </a:t>
                      </a:r>
                      <a:r>
                        <a:rPr lang="en-US" baseline="0" dirty="0" err="1">
                          <a:latin typeface="Consolas" panose="020B0609020204030204" pitchFamily="49" charset="0"/>
                          <a:ea typeface="Menlo" charset="0"/>
                          <a:cs typeface="Consolas" panose="020B0609020204030204" pitchFamily="49" charset="0"/>
                        </a:rPr>
                        <a:t>fd</a:t>
                      </a:r>
                      <a:r>
                        <a:rPr lang="en-US" baseline="0" dirty="0">
                          <a:latin typeface="Consolas" panose="020B0609020204030204" pitchFamily="49" charset="0"/>
                          <a:ea typeface="Menlo" charset="0"/>
                          <a:cs typeface="Consolas" panose="020B0609020204030204" pitchFamily="49" charset="0"/>
                        </a:rPr>
                        <a:t> = open(“</a:t>
                      </a:r>
                      <a:r>
                        <a:rPr lang="en-US" baseline="0" dirty="0" err="1">
                          <a:latin typeface="Consolas" panose="020B0609020204030204" pitchFamily="49" charset="0"/>
                          <a:ea typeface="Menlo" charset="0"/>
                          <a:cs typeface="Consolas" panose="020B0609020204030204" pitchFamily="49" charset="0"/>
                        </a:rPr>
                        <a:t>file.txt</a:t>
                      </a:r>
                      <a:r>
                        <a:rPr lang="en-US" baseline="0" dirty="0">
                          <a:latin typeface="Consolas" panose="020B0609020204030204" pitchFamily="49" charset="0"/>
                          <a:ea typeface="Menlo" charset="0"/>
                          <a:cs typeface="Consolas" panose="020B0609020204030204" pitchFamily="49" charset="0"/>
                        </a:rPr>
                        <a:t>”, O_RDONLY);</a:t>
                      </a:r>
                    </a:p>
                    <a:p>
                      <a:r>
                        <a:rPr lang="en-US" dirty="0">
                          <a:latin typeface="Consolas" panose="020B0609020204030204" pitchFamily="49" charset="0"/>
                          <a:ea typeface="Menlo" charset="0"/>
                          <a:cs typeface="Consolas" panose="020B0609020204030204" pitchFamily="49" charset="0"/>
                        </a:rPr>
                        <a:t>char</a:t>
                      </a:r>
                      <a:r>
                        <a:rPr lang="en-US" baseline="0" dirty="0">
                          <a:latin typeface="Consolas" panose="020B0609020204030204" pitchFamily="49" charset="0"/>
                          <a:ea typeface="Menlo" charset="0"/>
                          <a:cs typeface="Consolas" panose="020B0609020204030204" pitchFamily="49" charset="0"/>
                        </a:rPr>
                        <a:t> *</a:t>
                      </a:r>
                      <a:r>
                        <a:rPr lang="en-US" baseline="0" dirty="0" err="1">
                          <a:latin typeface="Consolas" panose="020B0609020204030204" pitchFamily="49" charset="0"/>
                          <a:ea typeface="Menlo" charset="0"/>
                          <a:cs typeface="Consolas" panose="020B0609020204030204" pitchFamily="49" charset="0"/>
                        </a:rPr>
                        <a:t>str</a:t>
                      </a:r>
                      <a:r>
                        <a:rPr lang="en-US" baseline="0" dirty="0">
                          <a:latin typeface="Consolas" panose="020B0609020204030204" pitchFamily="49" charset="0"/>
                          <a:ea typeface="Menlo" charset="0"/>
                          <a:cs typeface="Consolas" panose="020B0609020204030204" pitchFamily="49" charset="0"/>
                        </a:rPr>
                        <a:t> = </a:t>
                      </a:r>
                      <a:r>
                        <a:rPr lang="en-US" baseline="0" dirty="0" err="1">
                          <a:latin typeface="Consolas" panose="020B0609020204030204" pitchFamily="49" charset="0"/>
                          <a:ea typeface="Menlo" charset="0"/>
                          <a:cs typeface="Consolas" panose="020B0609020204030204" pitchFamily="49" charset="0"/>
                        </a:rPr>
                        <a:t>mmap</a:t>
                      </a:r>
                      <a:r>
                        <a:rPr lang="en-US" baseline="0" dirty="0">
                          <a:latin typeface="Consolas" panose="020B0609020204030204" pitchFamily="49" charset="0"/>
                          <a:ea typeface="Menlo" charset="0"/>
                          <a:cs typeface="Consolas" panose="020B0609020204030204" pitchFamily="49" charset="0"/>
                        </a:rPr>
                        <a:t>(NULL, length, PROT_READ, MAP_PRIVATE, </a:t>
                      </a:r>
                      <a:r>
                        <a:rPr lang="en-US" baseline="0" dirty="0" err="1">
                          <a:latin typeface="Consolas" panose="020B0609020204030204" pitchFamily="49" charset="0"/>
                          <a:ea typeface="Menlo" charset="0"/>
                          <a:cs typeface="Consolas" panose="020B0609020204030204" pitchFamily="49" charset="0"/>
                        </a:rPr>
                        <a:t>fd</a:t>
                      </a:r>
                      <a:r>
                        <a:rPr lang="en-US" baseline="0" dirty="0">
                          <a:latin typeface="Consolas" panose="020B0609020204030204" pitchFamily="49" charset="0"/>
                          <a:ea typeface="Menlo" charset="0"/>
                          <a:cs typeface="Consolas" panose="020B0609020204030204" pitchFamily="49" charset="0"/>
                        </a:rPr>
                        <a:t>, 0);</a:t>
                      </a:r>
                    </a:p>
                    <a:p>
                      <a:endParaRPr lang="en-US" baseline="0" dirty="0">
                        <a:latin typeface="Consolas" panose="020B0609020204030204" pitchFamily="49" charset="0"/>
                        <a:ea typeface="Menlo" charset="0"/>
                        <a:cs typeface="Consolas" panose="020B0609020204030204" pitchFamily="49" charset="0"/>
                      </a:endParaRPr>
                    </a:p>
                    <a:p>
                      <a:r>
                        <a:rPr lang="en-US" baseline="0" dirty="0">
                          <a:latin typeface="Consolas" panose="020B0609020204030204" pitchFamily="49" charset="0"/>
                          <a:ea typeface="Menlo" charset="0"/>
                          <a:cs typeface="Consolas" panose="020B0609020204030204" pitchFamily="49" charset="0"/>
                        </a:rPr>
                        <a:t>/* work with @</a:t>
                      </a:r>
                      <a:r>
                        <a:rPr lang="en-US" baseline="0" dirty="0" err="1">
                          <a:latin typeface="Consolas" panose="020B0609020204030204" pitchFamily="49" charset="0"/>
                          <a:ea typeface="Menlo" charset="0"/>
                          <a:cs typeface="Consolas" panose="020B0609020204030204" pitchFamily="49" charset="0"/>
                        </a:rPr>
                        <a:t>str</a:t>
                      </a:r>
                      <a:r>
                        <a:rPr lang="en-US" baseline="0" dirty="0">
                          <a:latin typeface="Consolas" panose="020B0609020204030204" pitchFamily="49" charset="0"/>
                          <a:ea typeface="Menlo" charset="0"/>
                          <a:cs typeface="Consolas" panose="020B0609020204030204" pitchFamily="49" charset="0"/>
                        </a:rPr>
                        <a:t> as if it were an array */</a:t>
                      </a:r>
                    </a:p>
                    <a:p>
                      <a:r>
                        <a:rPr lang="en-US" baseline="0" dirty="0" err="1">
                          <a:latin typeface="Consolas" panose="020B0609020204030204" pitchFamily="49" charset="0"/>
                          <a:ea typeface="Menlo" charset="0"/>
                          <a:cs typeface="Consolas" panose="020B0609020204030204" pitchFamily="49" charset="0"/>
                        </a:rPr>
                        <a:t>printf</a:t>
                      </a:r>
                      <a:r>
                        <a:rPr lang="en-US" baseline="0" dirty="0">
                          <a:latin typeface="Consolas" panose="020B0609020204030204" pitchFamily="49" charset="0"/>
                          <a:ea typeface="Menlo" charset="0"/>
                          <a:cs typeface="Consolas" panose="020B0609020204030204" pitchFamily="49" charset="0"/>
                        </a:rPr>
                        <a:t>(“%s\n”, </a:t>
                      </a:r>
                      <a:r>
                        <a:rPr lang="en-US" baseline="0" dirty="0" err="1">
                          <a:latin typeface="Consolas" panose="020B0609020204030204" pitchFamily="49" charset="0"/>
                          <a:ea typeface="Menlo" charset="0"/>
                          <a:cs typeface="Consolas" panose="020B0609020204030204" pitchFamily="49" charset="0"/>
                        </a:rPr>
                        <a:t>str</a:t>
                      </a:r>
                      <a:r>
                        <a:rPr lang="en-US" baseline="0" dirty="0">
                          <a:latin typeface="Consolas" panose="020B0609020204030204" pitchFamily="49" charset="0"/>
                          <a:ea typeface="Menlo" charset="0"/>
                          <a:cs typeface="Consolas" panose="020B0609020204030204" pitchFamily="49" charset="0"/>
                        </a:rPr>
                        <a:t>);</a:t>
                      </a:r>
                    </a:p>
                    <a:p>
                      <a:endParaRPr lang="en-US" baseline="0" dirty="0">
                        <a:latin typeface="Consolas" panose="020B0609020204030204" pitchFamily="49" charset="0"/>
                        <a:ea typeface="Menlo" charset="0"/>
                        <a:cs typeface="Consolas" panose="020B0609020204030204" pitchFamily="49" charset="0"/>
                      </a:endParaRPr>
                    </a:p>
                    <a:p>
                      <a:r>
                        <a:rPr lang="en-US" baseline="0" dirty="0" err="1">
                          <a:latin typeface="Consolas" panose="020B0609020204030204" pitchFamily="49" charset="0"/>
                          <a:ea typeface="Menlo" charset="0"/>
                          <a:cs typeface="Consolas" panose="020B0609020204030204" pitchFamily="49" charset="0"/>
                        </a:rPr>
                        <a:t>munmap</a:t>
                      </a:r>
                      <a:r>
                        <a:rPr lang="en-US" baseline="0" dirty="0">
                          <a:latin typeface="Consolas" panose="020B0609020204030204" pitchFamily="49" charset="0"/>
                          <a:ea typeface="Menlo" charset="0"/>
                          <a:cs typeface="Consolas" panose="020B0609020204030204" pitchFamily="49" charset="0"/>
                        </a:rPr>
                        <a:t>(</a:t>
                      </a:r>
                      <a:r>
                        <a:rPr lang="en-US" baseline="0" dirty="0" err="1">
                          <a:latin typeface="Consolas" panose="020B0609020204030204" pitchFamily="49" charset="0"/>
                          <a:ea typeface="Menlo" charset="0"/>
                          <a:cs typeface="Consolas" panose="020B0609020204030204" pitchFamily="49" charset="0"/>
                        </a:rPr>
                        <a:t>str</a:t>
                      </a:r>
                      <a:r>
                        <a:rPr lang="en-US" baseline="0" dirty="0">
                          <a:latin typeface="Consolas" panose="020B0609020204030204" pitchFamily="49" charset="0"/>
                          <a:ea typeface="Menlo" charset="0"/>
                          <a:cs typeface="Consolas" panose="020B0609020204030204" pitchFamily="49" charset="0"/>
                        </a:rPr>
                        <a:t>, length);</a:t>
                      </a:r>
                      <a:endParaRPr lang="ru-RU" dirty="0">
                        <a:latin typeface="Consolas" panose="020B0609020204030204" pitchFamily="49" charset="0"/>
                        <a:ea typeface="Menlo" charset="0"/>
                        <a:cs typeface="Consolas" panose="020B0609020204030204" pitchFamily="49" charset="0"/>
                      </a:endParaRPr>
                    </a:p>
                  </a:txBody>
                  <a:tcPr/>
                </a:tc>
                <a:extLst>
                  <a:ext uri="{0D108BD9-81ED-4DB2-BD59-A6C34878D82A}">
                    <a16:rowId xmlns:a16="http://schemas.microsoft.com/office/drawing/2014/main" val="10001"/>
                  </a:ext>
                </a:extLst>
              </a:tr>
              <a:tr h="216655">
                <a:tc>
                  <a:txBody>
                    <a:bodyPr/>
                    <a:lstStyle/>
                    <a:p>
                      <a:r>
                        <a:rPr lang="en-US" dirty="0">
                          <a:latin typeface="+mn-lt"/>
                          <a:ea typeface="Menlo" charset="0"/>
                          <a:cs typeface="Menlo" charset="0"/>
                        </a:rPr>
                        <a:t>How does this work?</a:t>
                      </a:r>
                      <a:endParaRPr lang="ru-RU" dirty="0">
                        <a:latin typeface="+mn-lt"/>
                        <a:ea typeface="Menlo" charset="0"/>
                        <a:cs typeface="Menlo"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18386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25930263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73883047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852661041"/>
              </p:ext>
            </p:extLst>
          </p:nvPr>
        </p:nvGraphicFramePr>
        <p:xfrm>
          <a:off x="0" y="365760"/>
          <a:ext cx="12192000" cy="38404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Virtual memory: why do we need it</a:t>
                      </a:r>
                      <a:r>
                        <a:rPr lang="ru-RU" baseline="0" dirty="0"/>
                        <a:t>?</a:t>
                      </a:r>
                      <a:endParaRPr lang="ru-RU" dirty="0"/>
                    </a:p>
                  </a:txBody>
                  <a:tcPr/>
                </a:tc>
                <a:extLst>
                  <a:ext uri="{0D108BD9-81ED-4DB2-BD59-A6C34878D82A}">
                    <a16:rowId xmlns:a16="http://schemas.microsoft.com/office/drawing/2014/main" val="10000"/>
                  </a:ext>
                </a:extLst>
              </a:tr>
              <a:tr h="216655">
                <a:tc>
                  <a:txBody>
                    <a:bodyPr/>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r>
                        <a:rPr lang="en-US" baseline="0" dirty="0"/>
                        <a:t>Processes have no direct access to the physical RAM in a computer.</a:t>
                      </a:r>
                      <a:endParaRPr lang="ru-RU" baseline="0" dirty="0"/>
                    </a:p>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lang="ru-RU" baseline="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aseline="0" dirty="0"/>
                        <a:t>Instead, the OS supplies them with a virtual address space. Parts of the virtual address space are mapped to the physical memory in a way that is most convenient for the OS</a:t>
                      </a:r>
                      <a:r>
                        <a:rPr lang="ru-RU" baseline="0" dirty="0"/>
                        <a:t>.</a:t>
                      </a:r>
                    </a:p>
                  </a:txBody>
                  <a:tcPr/>
                </a:tc>
                <a:extLst>
                  <a:ext uri="{0D108BD9-81ED-4DB2-BD59-A6C34878D82A}">
                    <a16:rowId xmlns:a16="http://schemas.microsoft.com/office/drawing/2014/main" val="10001"/>
                  </a:ext>
                </a:extLst>
              </a:tr>
              <a:tr h="216655">
                <a:tc>
                  <a:txBody>
                    <a:bodyPr/>
                    <a:lstStyle/>
                    <a:p>
                      <a:pPr marL="0" indent="0">
                        <a:buFont typeface="Arial" charset="0"/>
                        <a:buNone/>
                      </a:pPr>
                      <a:r>
                        <a:rPr lang="en-US" dirty="0"/>
                        <a:t>What are the benefits of virtual address spaces:</a:t>
                      </a:r>
                      <a:endParaRPr lang="en-US" baseline="0" dirty="0"/>
                    </a:p>
                    <a:p>
                      <a:pPr marL="0" indent="0">
                        <a:buFont typeface="Arial" charset="0"/>
                        <a:buNone/>
                      </a:pPr>
                      <a:endParaRPr lang="ru-RU" dirty="0"/>
                    </a:p>
                    <a:p>
                      <a:pPr marL="342900" indent="-342900">
                        <a:buFont typeface="+mj-lt"/>
                        <a:buAutoNum type="arabicPeriod"/>
                      </a:pPr>
                      <a:r>
                        <a:rPr lang="en-US" dirty="0"/>
                        <a:t>The address space of a process is very simple, and every process has the same address space. Essentially, a process believes it can use all addresses in the range</a:t>
                      </a:r>
                      <a:r>
                        <a:rPr lang="ru-RU" baseline="0" dirty="0"/>
                        <a:t> </a:t>
                      </a:r>
                      <a:r>
                        <a:rPr lang="en-US" baseline="0" dirty="0">
                          <a:latin typeface="Consolas" panose="020B0609020204030204" pitchFamily="49" charset="0"/>
                          <a:cs typeface="Consolas" panose="020B0609020204030204" pitchFamily="49" charset="0"/>
                        </a:rPr>
                        <a:t>[0, MAX_ADDR).</a:t>
                      </a:r>
                      <a:endParaRPr lang="en-US" baseline="0" dirty="0"/>
                    </a:p>
                    <a:p>
                      <a:pPr marL="342900" indent="-342900">
                        <a:buFont typeface="+mj-lt"/>
                        <a:buAutoNum type="arabicPeriod"/>
                      </a:pPr>
                      <a:r>
                        <a:rPr lang="en-US" baseline="0" dirty="0"/>
                        <a:t>Processes are isolated one from another.</a:t>
                      </a:r>
                      <a:endParaRPr lang="ru-RU" baseline="0" dirty="0"/>
                    </a:p>
                    <a:p>
                      <a:pPr marL="342900" indent="-342900">
                        <a:buFont typeface="+mj-lt"/>
                        <a:buAutoNum type="arabicPeriod"/>
                      </a:pPr>
                      <a:r>
                        <a:rPr lang="en-US" baseline="0" dirty="0"/>
                        <a:t>Processes can share memory without even knowing that. For example, it suffices to load shared libraries into the memory only once, and then share them between processes.</a:t>
                      </a:r>
                    </a:p>
                    <a:p>
                      <a:pPr marL="342900" indent="-342900">
                        <a:buFont typeface="+mj-lt"/>
                        <a:buAutoNum type="arabicPeriod"/>
                      </a:pPr>
                      <a:r>
                        <a:rPr lang="en-US" baseline="0" dirty="0"/>
                        <a:t>The memory of a process can be partially swapped out in a way that is transparent to the process.</a:t>
                      </a:r>
                      <a:endParaRPr lang="ru-RU" baseline="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51436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259479694"/>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14434573"/>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462385203"/>
              </p:ext>
            </p:extLst>
          </p:nvPr>
        </p:nvGraphicFramePr>
        <p:xfrm>
          <a:off x="0" y="365760"/>
          <a:ext cx="12192000" cy="60350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Virtual memory from the point of view of a CPU</a:t>
                      </a:r>
                      <a:endParaRPr lang="ru-RU" dirty="0"/>
                    </a:p>
                  </a:txBody>
                  <a:tcPr/>
                </a:tc>
                <a:extLst>
                  <a:ext uri="{0D108BD9-81ED-4DB2-BD59-A6C34878D82A}">
                    <a16:rowId xmlns:a16="http://schemas.microsoft.com/office/drawing/2014/main" val="10000"/>
                  </a:ext>
                </a:extLst>
              </a:tr>
              <a:tr h="216655">
                <a:tc>
                  <a: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ru-RU" dirty="0"/>
                    </a:p>
                  </a:txBody>
                  <a:tcPr/>
                </a:tc>
                <a:extLst>
                  <a:ext uri="{0D108BD9-81ED-4DB2-BD59-A6C34878D82A}">
                    <a16:rowId xmlns:a16="http://schemas.microsoft.com/office/drawing/2014/main" val="10001"/>
                  </a:ext>
                </a:extLst>
              </a:tr>
              <a:tr h="216655">
                <a:tc>
                  <a:txBody>
                    <a:bodyPr/>
                    <a:lstStyle/>
                    <a:p>
                      <a:pPr marL="285750" indent="-285750">
                        <a:buFont typeface="Arial" charset="0"/>
                        <a:buChar char="•"/>
                      </a:pPr>
                      <a:r>
                        <a:rPr lang="en-US" dirty="0"/>
                        <a:t>A virtual address is split into several segments. Each segment is used as an offset into a page table or a page.</a:t>
                      </a:r>
                    </a:p>
                    <a:p>
                      <a:pPr marL="285750" indent="-285750">
                        <a:buFont typeface="Arial" charset="0"/>
                        <a:buChar char="•"/>
                      </a:pPr>
                      <a:r>
                        <a:rPr lang="en-US" dirty="0"/>
                        <a:t>Tables may be filled only partially to avoid wasting memory.</a:t>
                      </a:r>
                    </a:p>
                    <a:p>
                      <a:pPr marL="285750" indent="-285750">
                        <a:buFont typeface="Arial" charset="0"/>
                        <a:buChar char="•"/>
                      </a:pPr>
                      <a:r>
                        <a:rPr lang="en-US" dirty="0"/>
                        <a:t>Address lookups need multiple access to the RAM, so their results are cached by the </a:t>
                      </a:r>
                      <a:r>
                        <a:rPr lang="en-US" baseline="0" dirty="0"/>
                        <a:t>TLB (Translation Look-aside Buffer).</a:t>
                      </a:r>
                    </a:p>
                    <a:p>
                      <a:pPr marL="285750" indent="-285750">
                        <a:buFont typeface="Arial" charset="0"/>
                        <a:buChar char="•"/>
                      </a:pPr>
                      <a:r>
                        <a:rPr lang="en-US" baseline="0" dirty="0"/>
                        <a:t>See also </a:t>
                      </a:r>
                      <a:r>
                        <a:rPr lang="en-US" baseline="0" dirty="0">
                          <a:hlinkClick r:id="rId3"/>
                        </a:rPr>
                        <a:t>https://lwn.net/Articles/888914/</a:t>
                      </a:r>
                      <a:r>
                        <a:rPr lang="en-US" baseline="0" dirty="0"/>
                        <a:t> about pointer tagging.</a:t>
                      </a:r>
                      <a:endParaRPr lang="ru-RU" dirty="0"/>
                    </a:p>
                  </a:txBody>
                  <a:tcPr/>
                </a:tc>
                <a:extLst>
                  <a:ext uri="{0D108BD9-81ED-4DB2-BD59-A6C34878D82A}">
                    <a16:rowId xmlns:a16="http://schemas.microsoft.com/office/drawing/2014/main" val="10002"/>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971628734"/>
              </p:ext>
            </p:extLst>
          </p:nvPr>
        </p:nvGraphicFramePr>
        <p:xfrm>
          <a:off x="566757" y="1039155"/>
          <a:ext cx="8128000" cy="741680"/>
        </p:xfrm>
        <a:graphic>
          <a:graphicData uri="http://schemas.openxmlformats.org/drawingml/2006/table">
            <a:tbl>
              <a:tblPr firstRow="1" bandRow="1">
                <a:tableStyleId>{7E9639D4-E3E2-4D34-9284-5A2195B3D0D7}</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370840">
                <a:tc gridSpan="5">
                  <a:txBody>
                    <a:bodyPr/>
                    <a:lstStyle/>
                    <a:p>
                      <a:r>
                        <a:rPr lang="en-US" dirty="0"/>
                        <a:t>Virtual address</a:t>
                      </a:r>
                    </a:p>
                  </a:txBody>
                  <a:tcPr>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394214797"/>
              </p:ext>
            </p:extLst>
          </p:nvPr>
        </p:nvGraphicFramePr>
        <p:xfrm>
          <a:off x="1172683" y="2129824"/>
          <a:ext cx="2022461" cy="1854200"/>
        </p:xfrm>
        <a:graphic>
          <a:graphicData uri="http://schemas.openxmlformats.org/drawingml/2006/table">
            <a:tbl>
              <a:tblPr firstRow="1" bandRow="1">
                <a:tableStyleId>{7E9639D4-E3E2-4D34-9284-5A2195B3D0D7}</a:tableStyleId>
              </a:tblPr>
              <a:tblGrid>
                <a:gridCol w="2022461">
                  <a:extLst>
                    <a:ext uri="{9D8B030D-6E8A-4147-A177-3AD203B41FA5}">
                      <a16:colId xmlns:a16="http://schemas.microsoft.com/office/drawing/2014/main" val="20000"/>
                    </a:ext>
                  </a:extLst>
                </a:gridCol>
              </a:tblGrid>
              <a:tr h="370840">
                <a:tc>
                  <a:txBody>
                    <a:bodyPr/>
                    <a:lstStyle/>
                    <a:p>
                      <a:r>
                        <a:rPr lang="en-US" dirty="0"/>
                        <a:t>1</a:t>
                      </a:r>
                      <a:r>
                        <a:rPr lang="en-US" baseline="30000" dirty="0"/>
                        <a:t>st</a:t>
                      </a:r>
                      <a:r>
                        <a:rPr lang="en-US" dirty="0"/>
                        <a:t> level page table</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cxnSp>
        <p:nvCxnSpPr>
          <p:cNvPr id="14" name="Straight Arrow Connector 13"/>
          <p:cNvCxnSpPr/>
          <p:nvPr/>
        </p:nvCxnSpPr>
        <p:spPr>
          <a:xfrm>
            <a:off x="661012" y="1780835"/>
            <a:ext cx="511672" cy="157931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15"/>
          <p:cNvGraphicFramePr>
            <a:graphicFrameLocks noGrp="1"/>
          </p:cNvGraphicFramePr>
          <p:nvPr>
            <p:extLst>
              <p:ext uri="{D42A27DB-BD31-4B8C-83A1-F6EECF244321}">
                <p14:modId xmlns:p14="http://schemas.microsoft.com/office/powerpoint/2010/main" val="639834031"/>
              </p:ext>
            </p:extLst>
          </p:nvPr>
        </p:nvGraphicFramePr>
        <p:xfrm>
          <a:off x="4246390" y="3055422"/>
          <a:ext cx="2045325" cy="1854200"/>
        </p:xfrm>
        <a:graphic>
          <a:graphicData uri="http://schemas.openxmlformats.org/drawingml/2006/table">
            <a:tbl>
              <a:tblPr firstRow="1" bandRow="1">
                <a:tableStyleId>{7E9639D4-E3E2-4D34-9284-5A2195B3D0D7}</a:tableStyleId>
              </a:tblPr>
              <a:tblGrid>
                <a:gridCol w="2045325">
                  <a:extLst>
                    <a:ext uri="{9D8B030D-6E8A-4147-A177-3AD203B41FA5}">
                      <a16:colId xmlns:a16="http://schemas.microsoft.com/office/drawing/2014/main" val="20000"/>
                    </a:ext>
                  </a:extLst>
                </a:gridCol>
              </a:tblGrid>
              <a:tr h="370840">
                <a:tc>
                  <a:txBody>
                    <a:bodyPr/>
                    <a:lstStyle/>
                    <a:p>
                      <a:r>
                        <a:rPr lang="en-US" dirty="0"/>
                        <a:t>2</a:t>
                      </a:r>
                      <a:r>
                        <a:rPr lang="en-US" baseline="30000" dirty="0"/>
                        <a:t>nd</a:t>
                      </a:r>
                      <a:r>
                        <a:rPr lang="en-US" dirty="0"/>
                        <a:t> level page table</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cxnSp>
        <p:nvCxnSpPr>
          <p:cNvPr id="20" name="Straight Arrow Connector 19"/>
          <p:cNvCxnSpPr>
            <a:cxnSpLocks/>
          </p:cNvCxnSpPr>
          <p:nvPr/>
        </p:nvCxnSpPr>
        <p:spPr>
          <a:xfrm>
            <a:off x="3195144" y="3360145"/>
            <a:ext cx="1051246"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402767" y="1780835"/>
            <a:ext cx="843623" cy="2866116"/>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6291715" y="4618591"/>
            <a:ext cx="513819"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Table 24"/>
          <p:cNvGraphicFramePr>
            <a:graphicFrameLocks noGrp="1"/>
          </p:cNvGraphicFramePr>
          <p:nvPr>
            <p:extLst>
              <p:ext uri="{D42A27DB-BD31-4B8C-83A1-F6EECF244321}">
                <p14:modId xmlns:p14="http://schemas.microsoft.com/office/powerpoint/2010/main" val="2114479352"/>
              </p:ext>
            </p:extLst>
          </p:nvPr>
        </p:nvGraphicFramePr>
        <p:xfrm>
          <a:off x="9852721" y="2570490"/>
          <a:ext cx="1370767" cy="1833880"/>
        </p:xfrm>
        <a:graphic>
          <a:graphicData uri="http://schemas.openxmlformats.org/drawingml/2006/table">
            <a:tbl>
              <a:tblPr firstRow="1" bandRow="1">
                <a:tableStyleId>{073A0DAA-6AF3-43AB-8588-CEC1D06C72B9}</a:tableStyleId>
              </a:tblPr>
              <a:tblGrid>
                <a:gridCol w="1370767">
                  <a:extLst>
                    <a:ext uri="{9D8B030D-6E8A-4147-A177-3AD203B41FA5}">
                      <a16:colId xmlns:a16="http://schemas.microsoft.com/office/drawing/2014/main" val="20000"/>
                    </a:ext>
                  </a:extLst>
                </a:gridCol>
              </a:tblGrid>
              <a:tr h="370840">
                <a:tc>
                  <a:txBody>
                    <a:bodyPr/>
                    <a:lstStyle/>
                    <a:p>
                      <a:r>
                        <a:rPr lang="en-US" dirty="0"/>
                        <a:t>Page</a:t>
                      </a:r>
                    </a:p>
                  </a:txBody>
                  <a:tcPr/>
                </a:tc>
                <a:extLst>
                  <a:ext uri="{0D108BD9-81ED-4DB2-BD59-A6C34878D82A}">
                    <a16:rowId xmlns:a16="http://schemas.microsoft.com/office/drawing/2014/main" val="10000"/>
                  </a:ext>
                </a:extLst>
              </a:tr>
              <a:tr h="370840">
                <a:tc>
                  <a:txBody>
                    <a:bodyPr/>
                    <a:lstStyle/>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bl>
          </a:graphicData>
        </a:graphic>
      </p:graphicFrame>
      <p:cxnSp>
        <p:nvCxnSpPr>
          <p:cNvPr id="27" name="Straight Arrow Connector 26"/>
          <p:cNvCxnSpPr/>
          <p:nvPr/>
        </p:nvCxnSpPr>
        <p:spPr>
          <a:xfrm flipV="1">
            <a:off x="8306718" y="2743200"/>
            <a:ext cx="1496849" cy="11017"/>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8109679" y="1780835"/>
            <a:ext cx="1743042" cy="2116608"/>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C975D0F-D3E9-3DAC-EE64-856A5F3B76A6}"/>
              </a:ext>
            </a:extLst>
          </p:cNvPr>
          <p:cNvSpPr txBox="1"/>
          <p:nvPr/>
        </p:nvSpPr>
        <p:spPr>
          <a:xfrm>
            <a:off x="6805534" y="2448910"/>
            <a:ext cx="1501184" cy="2031325"/>
          </a:xfrm>
          <a:prstGeom prst="rect">
            <a:avLst/>
          </a:prstGeom>
          <a:noFill/>
        </p:spPr>
        <p:txBody>
          <a:bodyPr wrap="square" rtlCol="0">
            <a:spAutoFit/>
          </a:bodyPr>
          <a:lstStyle/>
          <a:p>
            <a:endParaRPr lang="en-CY" dirty="0"/>
          </a:p>
          <a:p>
            <a:endParaRPr lang="en-CY" dirty="0"/>
          </a:p>
          <a:p>
            <a:endParaRPr lang="en-CY" dirty="0"/>
          </a:p>
          <a:p>
            <a:pPr algn="ctr"/>
            <a:r>
              <a:rPr lang="en-CY" dirty="0"/>
              <a:t>…</a:t>
            </a:r>
          </a:p>
          <a:p>
            <a:endParaRPr lang="en-CY" dirty="0"/>
          </a:p>
          <a:p>
            <a:endParaRPr lang="en-CY" dirty="0"/>
          </a:p>
          <a:p>
            <a:endParaRPr lang="en-CY" dirty="0"/>
          </a:p>
        </p:txBody>
      </p:sp>
    </p:spTree>
    <p:extLst>
      <p:ext uri="{BB962C8B-B14F-4D97-AF65-F5344CB8AC3E}">
        <p14:creationId xmlns:p14="http://schemas.microsoft.com/office/powerpoint/2010/main" val="1785084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61337640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380304833"/>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763021763"/>
              </p:ext>
            </p:extLst>
          </p:nvPr>
        </p:nvGraphicFramePr>
        <p:xfrm>
          <a:off x="0" y="365760"/>
          <a:ext cx="12192000" cy="13716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TLBs and the latency of </a:t>
                      </a:r>
                      <a:r>
                        <a:rPr lang="en-US" dirty="0" err="1"/>
                        <a:t>munmap</a:t>
                      </a:r>
                      <a:r>
                        <a:rPr lang="en-US" dirty="0"/>
                        <a:t>()</a:t>
                      </a:r>
                      <a:endParaRPr lang="ru-RU" dirty="0"/>
                    </a:p>
                  </a:txBody>
                  <a:tcPr/>
                </a:tc>
                <a:extLst>
                  <a:ext uri="{0D108BD9-81ED-4DB2-BD59-A6C34878D82A}">
                    <a16:rowId xmlns:a16="http://schemas.microsoft.com/office/drawing/2014/main" val="10000"/>
                  </a:ext>
                </a:extLst>
              </a:tr>
              <a:tr h="216655">
                <a:tc>
                  <a:txBody>
                    <a:bodyPr/>
                    <a:lstStyle/>
                    <a:p>
                      <a:pPr marL="285750" indent="-285750">
                        <a:buFont typeface="Arial" panose="020B0604020202020204" pitchFamily="34" charset="0"/>
                        <a:buChar char="•"/>
                      </a:pPr>
                      <a:r>
                        <a:rPr lang="en-US" dirty="0"/>
                        <a:t>Address lookups need multiple access to the RAM, so their results are cached by the </a:t>
                      </a:r>
                      <a:r>
                        <a:rPr lang="en-US" baseline="0" dirty="0"/>
                        <a:t>TLB (Translation Look-aside Buffer).</a:t>
                      </a:r>
                      <a:endParaRPr lang="ru-RU" dirty="0"/>
                    </a:p>
                  </a:txBody>
                  <a:tcPr/>
                </a:tc>
                <a:extLst>
                  <a:ext uri="{0D108BD9-81ED-4DB2-BD59-A6C34878D82A}">
                    <a16:rowId xmlns:a16="http://schemas.microsoft.com/office/drawing/2014/main" val="10001"/>
                  </a:ext>
                </a:extLst>
              </a:tr>
              <a:tr h="216655">
                <a:tc>
                  <a:txBody>
                    <a:bodyPr/>
                    <a:lstStyle/>
                    <a:p>
                      <a:pPr marL="0" indent="0">
                        <a:buFont typeface="Arial" panose="020B0604020202020204" pitchFamily="34" charset="0"/>
                        <a:buNone/>
                      </a:pPr>
                      <a:r>
                        <a:rPr lang="en-US" dirty="0"/>
                        <a:t>TLB entries become stale when </a:t>
                      </a:r>
                      <a:r>
                        <a:rPr lang="en-US" dirty="0" err="1">
                          <a:latin typeface="Consolas" panose="020B0609020204030204" pitchFamily="49" charset="0"/>
                          <a:cs typeface="Consolas" panose="020B0609020204030204" pitchFamily="49" charset="0"/>
                        </a:rPr>
                        <a:t>munmap</a:t>
                      </a:r>
                      <a:r>
                        <a:rPr lang="en-US" dirty="0">
                          <a:latin typeface="Consolas" panose="020B0609020204030204" pitchFamily="49" charset="0"/>
                          <a:cs typeface="Consolas" panose="020B0609020204030204" pitchFamily="49" charset="0"/>
                        </a:rPr>
                        <a:t>()</a:t>
                      </a:r>
                      <a:r>
                        <a:rPr lang="en-US" dirty="0"/>
                        <a:t> or </a:t>
                      </a:r>
                      <a:r>
                        <a:rPr lang="en-US" dirty="0" err="1">
                          <a:latin typeface="Consolas" panose="020B0609020204030204" pitchFamily="49" charset="0"/>
                          <a:cs typeface="Consolas" panose="020B0609020204030204" pitchFamily="49" charset="0"/>
                        </a:rPr>
                        <a:t>mprotect</a:t>
                      </a:r>
                      <a:r>
                        <a:rPr lang="en-US" dirty="0">
                          <a:latin typeface="Consolas" panose="020B0609020204030204" pitchFamily="49" charset="0"/>
                          <a:cs typeface="Consolas" panose="020B0609020204030204" pitchFamily="49" charset="0"/>
                        </a:rPr>
                        <a:t>()</a:t>
                      </a:r>
                      <a:r>
                        <a:rPr lang="en-US" dirty="0"/>
                        <a:t> change the page table of a process. In a multithreaded process they need to send an IPI to inform other cores that their TLB entries became invalid.</a:t>
                      </a:r>
                    </a:p>
                  </a:txBody>
                  <a:tcPr/>
                </a:tc>
                <a:extLst>
                  <a:ext uri="{0D108BD9-81ED-4DB2-BD59-A6C34878D82A}">
                    <a16:rowId xmlns:a16="http://schemas.microsoft.com/office/drawing/2014/main" val="1500576680"/>
                  </a:ext>
                </a:extLst>
              </a:tr>
            </a:tbl>
          </a:graphicData>
        </a:graphic>
      </p:graphicFrame>
    </p:spTree>
    <p:extLst>
      <p:ext uri="{BB962C8B-B14F-4D97-AF65-F5344CB8AC3E}">
        <p14:creationId xmlns:p14="http://schemas.microsoft.com/office/powerpoint/2010/main" val="1381049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D6F2C-E99F-65DD-27A3-E0162F773E4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1C2C800-324E-9350-6BF0-41A90D8DFA89}"/>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64719840-BB97-1514-55C7-1452A7C24F4F}"/>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DF5005EF-A123-3FBD-818C-EE05487B2F80}"/>
              </a:ext>
            </a:extLst>
          </p:cNvPr>
          <p:cNvGraphicFramePr>
            <a:graphicFrameLocks noGrp="1"/>
          </p:cNvGraphicFramePr>
          <p:nvPr>
            <p:extLst>
              <p:ext uri="{D42A27DB-BD31-4B8C-83A1-F6EECF244321}">
                <p14:modId xmlns:p14="http://schemas.microsoft.com/office/powerpoint/2010/main" val="3115691915"/>
              </p:ext>
            </p:extLst>
          </p:nvPr>
        </p:nvGraphicFramePr>
        <p:xfrm>
          <a:off x="0" y="365760"/>
          <a:ext cx="12192000" cy="46634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TLBs and the latency of </a:t>
                      </a:r>
                      <a:r>
                        <a:rPr lang="en-US" dirty="0" err="1"/>
                        <a:t>munmap</a:t>
                      </a:r>
                      <a:r>
                        <a:rPr lang="en-US" dirty="0"/>
                        <a:t>()</a:t>
                      </a:r>
                      <a:endParaRPr lang="ru-RU" dirty="0"/>
                    </a:p>
                  </a:txBody>
                  <a:tcPr/>
                </a:tc>
                <a:extLst>
                  <a:ext uri="{0D108BD9-81ED-4DB2-BD59-A6C34878D82A}">
                    <a16:rowId xmlns:a16="http://schemas.microsoft.com/office/drawing/2014/main" val="10000"/>
                  </a:ext>
                </a:extLst>
              </a:tr>
              <a:tr h="216655">
                <a:tc>
                  <a:txBody>
                    <a:bodyPr/>
                    <a:lstStyle/>
                    <a:p>
                      <a:pPr marL="285750" indent="-285750">
                        <a:buFont typeface="Arial" panose="020B0604020202020204" pitchFamily="34" charset="0"/>
                        <a:buChar char="•"/>
                      </a:pPr>
                      <a:r>
                        <a:rPr lang="en-US" dirty="0"/>
                        <a:t>Address lookups need multiple access to the RAM, so their results are cached by the </a:t>
                      </a:r>
                      <a:r>
                        <a:rPr lang="en-US" baseline="0" dirty="0"/>
                        <a:t>TLB (Translation Look-aside Buffer).</a:t>
                      </a:r>
                      <a:endParaRPr lang="ru-RU" dirty="0"/>
                    </a:p>
                  </a:txBody>
                  <a:tcPr/>
                </a:tc>
                <a:extLst>
                  <a:ext uri="{0D108BD9-81ED-4DB2-BD59-A6C34878D82A}">
                    <a16:rowId xmlns:a16="http://schemas.microsoft.com/office/drawing/2014/main" val="10001"/>
                  </a:ext>
                </a:extLst>
              </a:tr>
              <a:tr h="216655">
                <a:tc>
                  <a:txBody>
                    <a:bodyPr/>
                    <a:lstStyle/>
                    <a:p>
                      <a:pPr marL="0" indent="0">
                        <a:buFont typeface="Arial" panose="020B0604020202020204" pitchFamily="34" charset="0"/>
                        <a:buNone/>
                      </a:pPr>
                      <a:r>
                        <a:rPr lang="en-US" dirty="0"/>
                        <a:t>TLB entries become stale when </a:t>
                      </a:r>
                      <a:r>
                        <a:rPr lang="en-US" dirty="0" err="1">
                          <a:latin typeface="Consolas" panose="020B0609020204030204" pitchFamily="49" charset="0"/>
                          <a:cs typeface="Consolas" panose="020B0609020204030204" pitchFamily="49" charset="0"/>
                        </a:rPr>
                        <a:t>munmap</a:t>
                      </a:r>
                      <a:r>
                        <a:rPr lang="en-US" dirty="0">
                          <a:latin typeface="Consolas" panose="020B0609020204030204" pitchFamily="49" charset="0"/>
                          <a:cs typeface="Consolas" panose="020B0609020204030204" pitchFamily="49" charset="0"/>
                        </a:rPr>
                        <a:t>()</a:t>
                      </a:r>
                      <a:r>
                        <a:rPr lang="en-US" dirty="0"/>
                        <a:t> or </a:t>
                      </a:r>
                      <a:r>
                        <a:rPr lang="en-US" dirty="0" err="1">
                          <a:latin typeface="Consolas" panose="020B0609020204030204" pitchFamily="49" charset="0"/>
                          <a:cs typeface="Consolas" panose="020B0609020204030204" pitchFamily="49" charset="0"/>
                        </a:rPr>
                        <a:t>mprotect</a:t>
                      </a:r>
                      <a:r>
                        <a:rPr lang="en-US" dirty="0">
                          <a:latin typeface="Consolas" panose="020B0609020204030204" pitchFamily="49" charset="0"/>
                          <a:cs typeface="Consolas" panose="020B0609020204030204" pitchFamily="49" charset="0"/>
                        </a:rPr>
                        <a:t>()</a:t>
                      </a:r>
                      <a:r>
                        <a:rPr lang="en-US" dirty="0"/>
                        <a:t> change the page table of a process. In a multithreaded process they need to send an IPI to inform other cores that their TLB entries became invalid.</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Quiz</a:t>
                      </a:r>
                      <a:r>
                        <a:rPr lang="en-US" dirty="0"/>
                        <a:t>: why does </a:t>
                      </a:r>
                      <a:r>
                        <a:rPr lang="en-US" dirty="0" err="1">
                          <a:latin typeface="Consolas" panose="020B0609020204030204" pitchFamily="49" charset="0"/>
                          <a:cs typeface="Consolas" panose="020B0609020204030204" pitchFamily="49" charset="0"/>
                        </a:rPr>
                        <a:t>mmap</a:t>
                      </a:r>
                      <a:r>
                        <a:rPr lang="en-US" dirty="0">
                          <a:latin typeface="Consolas" panose="020B0609020204030204" pitchFamily="49" charset="0"/>
                          <a:cs typeface="Consolas" panose="020B0609020204030204" pitchFamily="49" charset="0"/>
                        </a:rPr>
                        <a:t>()</a:t>
                      </a:r>
                      <a:r>
                        <a:rPr lang="en-US" dirty="0"/>
                        <a:t> not need an IPI?</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txBody>
                  <a:tcPr/>
                </a:tc>
                <a:extLst>
                  <a:ext uri="{0D108BD9-81ED-4DB2-BD59-A6C34878D82A}">
                    <a16:rowId xmlns:a16="http://schemas.microsoft.com/office/drawing/2014/main" val="1500576680"/>
                  </a:ext>
                </a:extLst>
              </a:tr>
            </a:tbl>
          </a:graphicData>
        </a:graphic>
      </p:graphicFrame>
    </p:spTree>
    <p:extLst>
      <p:ext uri="{BB962C8B-B14F-4D97-AF65-F5344CB8AC3E}">
        <p14:creationId xmlns:p14="http://schemas.microsoft.com/office/powerpoint/2010/main" val="2562086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0AF3B-2186-205A-691B-EA0D2AD79495}"/>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203FE9E-25D9-F2B4-49BA-F41D584FB661}"/>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492462E8-736E-AEFA-7F7F-6331C98BABE5}"/>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71B74CFB-057C-91B3-F174-0E2FC6F7809A}"/>
              </a:ext>
            </a:extLst>
          </p:cNvPr>
          <p:cNvGraphicFramePr>
            <a:graphicFrameLocks noGrp="1"/>
          </p:cNvGraphicFramePr>
          <p:nvPr>
            <p:extLst>
              <p:ext uri="{D42A27DB-BD31-4B8C-83A1-F6EECF244321}">
                <p14:modId xmlns:p14="http://schemas.microsoft.com/office/powerpoint/2010/main" val="1522009878"/>
              </p:ext>
            </p:extLst>
          </p:nvPr>
        </p:nvGraphicFramePr>
        <p:xfrm>
          <a:off x="0" y="365760"/>
          <a:ext cx="12192000" cy="61264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TLBs and the latency of </a:t>
                      </a:r>
                      <a:r>
                        <a:rPr lang="en-US" dirty="0" err="1"/>
                        <a:t>munmap</a:t>
                      </a:r>
                      <a:r>
                        <a:rPr lang="en-US" dirty="0"/>
                        <a:t>()</a:t>
                      </a:r>
                      <a:endParaRPr lang="ru-RU" dirty="0"/>
                    </a:p>
                  </a:txBody>
                  <a:tcPr/>
                </a:tc>
                <a:extLst>
                  <a:ext uri="{0D108BD9-81ED-4DB2-BD59-A6C34878D82A}">
                    <a16:rowId xmlns:a16="http://schemas.microsoft.com/office/drawing/2014/main" val="10000"/>
                  </a:ext>
                </a:extLst>
              </a:tr>
              <a:tr h="216655">
                <a:tc>
                  <a:txBody>
                    <a:bodyPr/>
                    <a:lstStyle/>
                    <a:p>
                      <a:pPr marL="285750" indent="-285750">
                        <a:buFont typeface="Arial" panose="020B0604020202020204" pitchFamily="34" charset="0"/>
                        <a:buChar char="•"/>
                      </a:pPr>
                      <a:r>
                        <a:rPr lang="en-US" dirty="0"/>
                        <a:t>Address lookups need multiple access to the RAM, so their results are cached by the </a:t>
                      </a:r>
                      <a:r>
                        <a:rPr lang="en-US" baseline="0" dirty="0"/>
                        <a:t>TLB (Translation Look-aside Buffer).</a:t>
                      </a:r>
                      <a:endParaRPr lang="ru-RU" dirty="0"/>
                    </a:p>
                  </a:txBody>
                  <a:tcPr/>
                </a:tc>
                <a:extLst>
                  <a:ext uri="{0D108BD9-81ED-4DB2-BD59-A6C34878D82A}">
                    <a16:rowId xmlns:a16="http://schemas.microsoft.com/office/drawing/2014/main" val="10001"/>
                  </a:ext>
                </a:extLst>
              </a:tr>
              <a:tr h="216655">
                <a:tc>
                  <a:txBody>
                    <a:bodyPr/>
                    <a:lstStyle/>
                    <a:p>
                      <a:pPr marL="0" indent="0">
                        <a:buFont typeface="Arial" panose="020B0604020202020204" pitchFamily="34" charset="0"/>
                        <a:buNone/>
                      </a:pPr>
                      <a:r>
                        <a:rPr lang="en-US" dirty="0"/>
                        <a:t>TLB entries become stale when </a:t>
                      </a:r>
                      <a:r>
                        <a:rPr lang="en-US" dirty="0" err="1">
                          <a:latin typeface="Consolas" panose="020B0609020204030204" pitchFamily="49" charset="0"/>
                          <a:cs typeface="Consolas" panose="020B0609020204030204" pitchFamily="49" charset="0"/>
                        </a:rPr>
                        <a:t>munmap</a:t>
                      </a:r>
                      <a:r>
                        <a:rPr lang="en-US" dirty="0">
                          <a:latin typeface="Consolas" panose="020B0609020204030204" pitchFamily="49" charset="0"/>
                          <a:cs typeface="Consolas" panose="020B0609020204030204" pitchFamily="49" charset="0"/>
                        </a:rPr>
                        <a:t>()</a:t>
                      </a:r>
                      <a:r>
                        <a:rPr lang="en-US" dirty="0"/>
                        <a:t> or </a:t>
                      </a:r>
                      <a:r>
                        <a:rPr lang="en-US" dirty="0" err="1">
                          <a:latin typeface="Consolas" panose="020B0609020204030204" pitchFamily="49" charset="0"/>
                          <a:cs typeface="Consolas" panose="020B0609020204030204" pitchFamily="49" charset="0"/>
                        </a:rPr>
                        <a:t>mprotect</a:t>
                      </a:r>
                      <a:r>
                        <a:rPr lang="en-US" dirty="0">
                          <a:latin typeface="Consolas" panose="020B0609020204030204" pitchFamily="49" charset="0"/>
                          <a:cs typeface="Consolas" panose="020B0609020204030204" pitchFamily="49" charset="0"/>
                        </a:rPr>
                        <a:t>()</a:t>
                      </a:r>
                      <a:r>
                        <a:rPr lang="en-US" dirty="0"/>
                        <a:t> change the page table of a process. In a multithreaded process they need to send an IPI to inform other cores that their TLB entries became invalid.</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Quiz</a:t>
                      </a:r>
                      <a:r>
                        <a:rPr lang="en-US" dirty="0"/>
                        <a:t>: why does </a:t>
                      </a:r>
                      <a:r>
                        <a:rPr lang="en-US" dirty="0" err="1">
                          <a:latin typeface="Consolas" panose="020B0609020204030204" pitchFamily="49" charset="0"/>
                          <a:cs typeface="Consolas" panose="020B0609020204030204" pitchFamily="49" charset="0"/>
                        </a:rPr>
                        <a:t>mmap</a:t>
                      </a:r>
                      <a:r>
                        <a:rPr lang="en-US" dirty="0">
                          <a:latin typeface="Consolas" panose="020B0609020204030204" pitchFamily="49" charset="0"/>
                          <a:cs typeface="Consolas" panose="020B0609020204030204" pitchFamily="49" charset="0"/>
                        </a:rPr>
                        <a:t>()</a:t>
                      </a:r>
                      <a:r>
                        <a:rPr lang="en-US" dirty="0"/>
                        <a:t> not need an IPI?</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Experiment</a:t>
                      </a:r>
                      <a:r>
                        <a:rPr lang="en-US" dirty="0"/>
                        <a:t>:</a:t>
                      </a:r>
                    </a:p>
                    <a:p>
                      <a:pPr marL="342900" indent="-342900">
                        <a:buFont typeface="+mj-lt"/>
                        <a:buAutoNum type="arabicPeriod"/>
                      </a:pPr>
                      <a:r>
                        <a:rPr lang="en-US" dirty="0"/>
                        <a:t>write a program that </a:t>
                      </a:r>
                      <a:r>
                        <a:rPr lang="en-US" dirty="0" err="1">
                          <a:latin typeface="Consolas" panose="020B0609020204030204" pitchFamily="49" charset="0"/>
                          <a:cs typeface="Consolas" panose="020B0609020204030204" pitchFamily="49" charset="0"/>
                        </a:rPr>
                        <a:t>mmap</a:t>
                      </a:r>
                      <a:r>
                        <a:rPr lang="en-US" dirty="0">
                          <a:latin typeface="Consolas" panose="020B0609020204030204" pitchFamily="49" charset="0"/>
                          <a:cs typeface="Consolas" panose="020B0609020204030204" pitchFamily="49" charset="0"/>
                        </a:rPr>
                        <a:t>()</a:t>
                      </a:r>
                      <a:r>
                        <a:rPr lang="en-US" dirty="0"/>
                        <a:t>s a region of memory and immediately </a:t>
                      </a:r>
                      <a:r>
                        <a:rPr lang="en-US" dirty="0" err="1">
                          <a:latin typeface="Consolas" panose="020B0609020204030204" pitchFamily="49" charset="0"/>
                          <a:cs typeface="Consolas" panose="020B0609020204030204" pitchFamily="49" charset="0"/>
                        </a:rPr>
                        <a:t>munmap</a:t>
                      </a:r>
                      <a:r>
                        <a:rPr lang="en-US" dirty="0">
                          <a:latin typeface="Consolas" panose="020B0609020204030204" pitchFamily="49" charset="0"/>
                          <a:cs typeface="Consolas" panose="020B0609020204030204" pitchFamily="49" charset="0"/>
                        </a:rPr>
                        <a:t>()</a:t>
                      </a:r>
                      <a:r>
                        <a:rPr lang="en-US" dirty="0"/>
                        <a:t>s it in a loop,</a:t>
                      </a:r>
                    </a:p>
                    <a:p>
                      <a:pPr marL="342900" indent="-342900">
                        <a:buFont typeface="+mj-lt"/>
                        <a:buAutoNum type="arabicPeriod"/>
                      </a:pPr>
                      <a:r>
                        <a:rPr lang="en-US" dirty="0"/>
                        <a:t>measure the duration of calls to </a:t>
                      </a:r>
                      <a:r>
                        <a:rPr lang="en-US" dirty="0" err="1">
                          <a:latin typeface="Consolas" panose="020B0609020204030204" pitchFamily="49" charset="0"/>
                          <a:cs typeface="Consolas" panose="020B0609020204030204" pitchFamily="49" charset="0"/>
                        </a:rPr>
                        <a:t>mmap</a:t>
                      </a:r>
                      <a:r>
                        <a:rPr lang="en-US" dirty="0">
                          <a:latin typeface="Consolas" panose="020B0609020204030204" pitchFamily="49" charset="0"/>
                          <a:cs typeface="Consolas" panose="020B0609020204030204" pitchFamily="49" charset="0"/>
                        </a:rPr>
                        <a:t>()</a:t>
                      </a:r>
                      <a:r>
                        <a:rPr lang="en-US" dirty="0"/>
                        <a:t> and </a:t>
                      </a:r>
                      <a:r>
                        <a:rPr lang="en-US" dirty="0" err="1">
                          <a:latin typeface="Consolas" panose="020B0609020204030204" pitchFamily="49" charset="0"/>
                          <a:cs typeface="Consolas" panose="020B0609020204030204" pitchFamily="49" charset="0"/>
                        </a:rPr>
                        <a:t>munmap</a:t>
                      </a:r>
                      <a:r>
                        <a:rPr lang="en-US" dirty="0">
                          <a:latin typeface="Consolas" panose="020B0609020204030204" pitchFamily="49" charset="0"/>
                          <a:cs typeface="Consolas" panose="020B0609020204030204" pitchFamily="49" charset="0"/>
                        </a:rPr>
                        <a:t>()</a:t>
                      </a:r>
                      <a:r>
                        <a:rPr lang="en-US" dirty="0"/>
                        <a:t>,</a:t>
                      </a:r>
                    </a:p>
                    <a:p>
                      <a:pPr marL="342900" indent="-342900">
                        <a:buFont typeface="+mj-lt"/>
                        <a:buAutoNum type="arabicPeriod"/>
                      </a:pPr>
                      <a:r>
                        <a:rPr lang="en-US" dirty="0"/>
                        <a:t>modify the program to start several threads that run a </a:t>
                      </a:r>
                      <a:r>
                        <a:rPr lang="en-US" dirty="0" err="1">
                          <a:latin typeface="Consolas" panose="020B0609020204030204" pitchFamily="49" charset="0"/>
                          <a:cs typeface="Consolas" panose="020B0609020204030204" pitchFamily="49" charset="0"/>
                        </a:rPr>
                        <a:t>mmap</a:t>
                      </a:r>
                      <a:r>
                        <a:rPr lang="en-US" dirty="0">
                          <a:latin typeface="Consolas" panose="020B0609020204030204" pitchFamily="49" charset="0"/>
                          <a:cs typeface="Consolas" panose="020B0609020204030204" pitchFamily="49" charset="0"/>
                        </a:rPr>
                        <a:t>()/</a:t>
                      </a:r>
                      <a:r>
                        <a:rPr lang="en-US" dirty="0" err="1">
                          <a:latin typeface="Consolas" panose="020B0609020204030204" pitchFamily="49" charset="0"/>
                          <a:cs typeface="Consolas" panose="020B0609020204030204" pitchFamily="49" charset="0"/>
                        </a:rPr>
                        <a:t>munmap</a:t>
                      </a:r>
                      <a:r>
                        <a:rPr lang="en-US" dirty="0">
                          <a:latin typeface="Consolas" panose="020B0609020204030204" pitchFamily="49" charset="0"/>
                          <a:cs typeface="Consolas" panose="020B0609020204030204" pitchFamily="49" charset="0"/>
                        </a:rPr>
                        <a:t>()</a:t>
                      </a:r>
                      <a:r>
                        <a:rPr lang="en-US" dirty="0"/>
                        <a:t> loop,</a:t>
                      </a:r>
                    </a:p>
                    <a:p>
                      <a:pPr marL="342900" indent="-342900">
                        <a:buFont typeface="+mj-lt"/>
                        <a:buAutoNum type="arabicPeriod"/>
                      </a:pPr>
                      <a:r>
                        <a:rPr lang="en-US" dirty="0"/>
                        <a:t>modify both versions to access the </a:t>
                      </a:r>
                      <a:r>
                        <a:rPr lang="en-US" dirty="0" err="1">
                          <a:latin typeface="Consolas" panose="020B0609020204030204" pitchFamily="49" charset="0"/>
                          <a:cs typeface="Consolas" panose="020B0609020204030204" pitchFamily="49" charset="0"/>
                        </a:rPr>
                        <a:t>mmap</a:t>
                      </a:r>
                      <a:r>
                        <a:rPr lang="en-US" dirty="0">
                          <a:latin typeface="Consolas" panose="020B0609020204030204" pitchFamily="49" charset="0"/>
                          <a:cs typeface="Consolas" panose="020B0609020204030204" pitchFamily="49" charset="0"/>
                        </a:rPr>
                        <a:t>()</a:t>
                      </a:r>
                      <a:r>
                        <a:rPr lang="en-US" dirty="0"/>
                        <a:t>ed region of memory.</a:t>
                      </a:r>
                    </a:p>
                    <a:p>
                      <a:pPr marL="342900" indent="-342900">
                        <a:buFont typeface="+mj-lt"/>
                        <a:buAutoNum type="arabicPeriod"/>
                      </a:pPr>
                      <a:endParaRPr lang="en-US" dirty="0"/>
                    </a:p>
                    <a:p>
                      <a:pPr marL="0" indent="0">
                        <a:buFont typeface="+mj-lt"/>
                        <a:buNone/>
                      </a:pPr>
                      <a:r>
                        <a:rPr lang="en-US" dirty="0"/>
                        <a:t>To measure the </a:t>
                      </a:r>
                      <a:r>
                        <a:rPr lang="en-US" dirty="0" err="1"/>
                        <a:t>syscall</a:t>
                      </a:r>
                      <a:r>
                        <a:rPr lang="en-US" dirty="0"/>
                        <a:t> latency use</a:t>
                      </a:r>
                    </a:p>
                    <a:p>
                      <a:pPr marL="0" indent="0">
                        <a:buFont typeface="+mj-lt"/>
                        <a:buNone/>
                      </a:pPr>
                      <a:r>
                        <a:rPr lang="en-US" dirty="0">
                          <a:latin typeface="Menlo" panose="020B0609030804020204" pitchFamily="49" charset="0"/>
                          <a:ea typeface="Menlo" panose="020B0609030804020204" pitchFamily="49" charset="0"/>
                          <a:cs typeface="Menlo" panose="020B0609030804020204" pitchFamily="49" charset="0"/>
                        </a:rPr>
                        <a:t>    % perf record -e '</a:t>
                      </a:r>
                      <a:r>
                        <a:rPr lang="en-US" dirty="0" err="1">
                          <a:latin typeface="Menlo" panose="020B0609030804020204" pitchFamily="49" charset="0"/>
                          <a:ea typeface="Menlo" panose="020B0609030804020204" pitchFamily="49" charset="0"/>
                          <a:cs typeface="Menlo" panose="020B0609030804020204" pitchFamily="49" charset="0"/>
                        </a:rPr>
                        <a:t>syscalls:sys</a:t>
                      </a:r>
                      <a:r>
                        <a:rPr lang="en-US" dirty="0">
                          <a:latin typeface="Menlo" panose="020B0609030804020204" pitchFamily="49" charset="0"/>
                          <a:ea typeface="Menlo" panose="020B0609030804020204" pitchFamily="49" charset="0"/>
                          <a:cs typeface="Menlo" panose="020B0609030804020204" pitchFamily="49" charset="0"/>
                        </a:rPr>
                        <a:t>_*_</a:t>
                      </a:r>
                      <a:r>
                        <a:rPr lang="en-US" dirty="0" err="1">
                          <a:latin typeface="Menlo" panose="020B0609030804020204" pitchFamily="49" charset="0"/>
                          <a:ea typeface="Menlo" panose="020B0609030804020204" pitchFamily="49" charset="0"/>
                          <a:cs typeface="Menlo" panose="020B0609030804020204" pitchFamily="49" charset="0"/>
                        </a:rPr>
                        <a:t>mmap,syscalls:sys</a:t>
                      </a:r>
                      <a:r>
                        <a:rPr lang="en-US" dirty="0">
                          <a:latin typeface="Menlo" panose="020B0609030804020204" pitchFamily="49" charset="0"/>
                          <a:ea typeface="Menlo" panose="020B0609030804020204" pitchFamily="49" charset="0"/>
                          <a:cs typeface="Menlo" panose="020B0609030804020204" pitchFamily="49" charset="0"/>
                        </a:rPr>
                        <a:t>_*_</a:t>
                      </a:r>
                      <a:r>
                        <a:rPr lang="en-US" dirty="0" err="1">
                          <a:latin typeface="Menlo" panose="020B0609030804020204" pitchFamily="49" charset="0"/>
                          <a:ea typeface="Menlo" panose="020B0609030804020204" pitchFamily="49" charset="0"/>
                          <a:cs typeface="Menlo" panose="020B0609030804020204" pitchFamily="49" charset="0"/>
                        </a:rPr>
                        <a:t>munmap</a:t>
                      </a:r>
                      <a:r>
                        <a:rPr lang="en-US" dirty="0">
                          <a:latin typeface="Menlo" panose="020B0609030804020204" pitchFamily="49" charset="0"/>
                          <a:ea typeface="Menlo" panose="020B0609030804020204" pitchFamily="49" charset="0"/>
                          <a:cs typeface="Menlo" panose="020B0609030804020204" pitchFamily="49" charset="0"/>
                        </a:rPr>
                        <a:t>’ ./</a:t>
                      </a:r>
                      <a:r>
                        <a:rPr lang="en-US" dirty="0" err="1">
                          <a:latin typeface="Menlo" panose="020B0609030804020204" pitchFamily="49" charset="0"/>
                          <a:ea typeface="Menlo" panose="020B0609030804020204" pitchFamily="49" charset="0"/>
                          <a:cs typeface="Menlo" panose="020B0609030804020204" pitchFamily="49" charset="0"/>
                        </a:rPr>
                        <a:t>test_program</a:t>
                      </a:r>
                      <a:endParaRPr lang="en-US" dirty="0">
                        <a:latin typeface="Menlo" panose="020B0609030804020204" pitchFamily="49" charset="0"/>
                        <a:ea typeface="Menlo" panose="020B0609030804020204" pitchFamily="49" charset="0"/>
                        <a:cs typeface="Menlo" panose="020B0609030804020204" pitchFamily="49" charset="0"/>
                      </a:endParaRPr>
                    </a:p>
                    <a:p>
                      <a:pPr marL="0" indent="0">
                        <a:buFont typeface="+mj-lt"/>
                        <a:buNone/>
                      </a:pPr>
                      <a:r>
                        <a:rPr lang="en-US" dirty="0">
                          <a:latin typeface="Menlo" panose="020B0609030804020204" pitchFamily="49" charset="0"/>
                          <a:ea typeface="Menlo" panose="020B0609030804020204" pitchFamily="49" charset="0"/>
                          <a:cs typeface="Menlo" panose="020B0609030804020204" pitchFamily="49" charset="0"/>
                        </a:rPr>
                        <a:t>    % perf script --</a:t>
                      </a:r>
                      <a:r>
                        <a:rPr lang="en-US" dirty="0" err="1">
                          <a:latin typeface="Menlo" panose="020B0609030804020204" pitchFamily="49" charset="0"/>
                          <a:ea typeface="Menlo" panose="020B0609030804020204" pitchFamily="49" charset="0"/>
                          <a:cs typeface="Menlo" panose="020B0609030804020204" pitchFamily="49" charset="0"/>
                        </a:rPr>
                        <a:t>deltatime</a:t>
                      </a:r>
                      <a:r>
                        <a:rPr lang="en-US" dirty="0">
                          <a:latin typeface="Menlo" panose="020B0609030804020204" pitchFamily="49" charset="0"/>
                          <a:ea typeface="Menlo" panose="020B0609030804020204" pitchFamily="49" charset="0"/>
                          <a:cs typeface="Menlo" panose="020B0609030804020204" pitchFamily="49" charset="0"/>
                        </a:rPr>
                        <a:t> --ns --</a:t>
                      </a:r>
                      <a:r>
                        <a:rPr lang="en-US" dirty="0" err="1">
                          <a:latin typeface="Menlo" panose="020B0609030804020204" pitchFamily="49" charset="0"/>
                          <a:ea typeface="Menlo" panose="020B0609030804020204" pitchFamily="49" charset="0"/>
                          <a:cs typeface="Menlo" panose="020B0609030804020204" pitchFamily="49" charset="0"/>
                        </a:rPr>
                        <a:t>tid</a:t>
                      </a:r>
                      <a:r>
                        <a:rPr lang="en-US" dirty="0">
                          <a:latin typeface="Menlo" panose="020B0609030804020204" pitchFamily="49" charset="0"/>
                          <a:ea typeface="Menlo" panose="020B0609030804020204" pitchFamily="49" charset="0"/>
                          <a:cs typeface="Menlo" panose="020B0609030804020204" pitchFamily="49" charset="0"/>
                        </a:rPr>
                        <a:t>=&lt;</a:t>
                      </a:r>
                      <a:r>
                        <a:rPr lang="en-US" dirty="0" err="1">
                          <a:latin typeface="Menlo" panose="020B0609030804020204" pitchFamily="49" charset="0"/>
                          <a:ea typeface="Menlo" panose="020B0609030804020204" pitchFamily="49" charset="0"/>
                          <a:cs typeface="Menlo" panose="020B0609030804020204" pitchFamily="49" charset="0"/>
                        </a:rPr>
                        <a:t>tid</a:t>
                      </a:r>
                      <a:r>
                        <a:rPr lang="en-US" dirty="0">
                          <a:latin typeface="Menlo" panose="020B0609030804020204" pitchFamily="49" charset="0"/>
                          <a:ea typeface="Menlo" panose="020B0609030804020204" pitchFamily="49" charset="0"/>
                          <a:cs typeface="Menlo" panose="020B0609030804020204" pitchFamily="49" charset="0"/>
                        </a:rPr>
                        <a:t> of one of threads&gt;</a:t>
                      </a:r>
                      <a:endParaRPr lang="ru-RU"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500576680"/>
                  </a:ext>
                </a:extLst>
              </a:tr>
              <a:tr h="216655">
                <a:tc>
                  <a:txBody>
                    <a:bodyPr/>
                    <a:lstStyle/>
                    <a:p>
                      <a:pPr marL="0" indent="0">
                        <a:buFont typeface="+mj-lt"/>
                        <a:buNone/>
                      </a:pPr>
                      <a:r>
                        <a:rPr lang="en-US" dirty="0">
                          <a:latin typeface="+mn-lt"/>
                          <a:ea typeface="Menlo" panose="020B0609030804020204" pitchFamily="49" charset="0"/>
                          <a:cs typeface="Menlo" panose="020B0609030804020204" pitchFamily="49" charset="0"/>
                        </a:rPr>
                        <a:t>See also:</a:t>
                      </a:r>
                    </a:p>
                    <a:p>
                      <a:pPr marL="285750" indent="-285750">
                        <a:buFont typeface="Arial" panose="020B0604020202020204" pitchFamily="34" charset="0"/>
                        <a:buChar char="•"/>
                      </a:pPr>
                      <a:r>
                        <a:rPr lang="en-GB" dirty="0">
                          <a:latin typeface="+mn-lt"/>
                          <a:ea typeface="Menlo" panose="020B0609030804020204" pitchFamily="49" charset="0"/>
                          <a:cs typeface="Menlo" panose="020B0609030804020204" pitchFamily="49" charset="0"/>
                          <a:hlinkClick r:id="rId3"/>
                        </a:rPr>
                        <a:t>https://lwn.net/Articles/893906/</a:t>
                      </a:r>
                      <a:endParaRPr lang="en-GB" dirty="0">
                        <a:latin typeface="+mn-lt"/>
                        <a:ea typeface="Menlo" panose="020B0609030804020204" pitchFamily="49" charset="0"/>
                        <a:cs typeface="Menlo" panose="020B0609030804020204" pitchFamily="49" charset="0"/>
                      </a:endParaRPr>
                    </a:p>
                    <a:p>
                      <a:pPr marL="285750" indent="-285750">
                        <a:buFont typeface="Arial" panose="020B0604020202020204" pitchFamily="34" charset="0"/>
                        <a:buChar char="•"/>
                      </a:pPr>
                      <a:r>
                        <a:rPr lang="en-GB" dirty="0">
                          <a:latin typeface="+mn-lt"/>
                          <a:ea typeface="Menlo" panose="020B0609030804020204" pitchFamily="49" charset="0"/>
                          <a:cs typeface="Menlo" panose="020B0609030804020204" pitchFamily="49" charset="0"/>
                          <a:hlinkClick r:id="rId4"/>
                        </a:rPr>
                        <a:t>https://lwn.net/Articles/932298/</a:t>
                      </a:r>
                      <a:endParaRPr lang="en-GB" dirty="0">
                        <a:latin typeface="+mn-lt"/>
                        <a:ea typeface="Menlo" panose="020B0609030804020204" pitchFamily="49" charset="0"/>
                        <a:cs typeface="Menlo" panose="020B0609030804020204" pitchFamily="49" charset="0"/>
                      </a:endParaRPr>
                    </a:p>
                    <a:p>
                      <a:pPr marL="285750" indent="-285750">
                        <a:buFont typeface="Arial" panose="020B0604020202020204" pitchFamily="34" charset="0"/>
                        <a:buChar char="•"/>
                      </a:pPr>
                      <a:r>
                        <a:rPr lang="en-GB" dirty="0">
                          <a:latin typeface="+mn-lt"/>
                          <a:ea typeface="Menlo" panose="020B0609030804020204" pitchFamily="49" charset="0"/>
                          <a:cs typeface="Menlo" panose="020B0609030804020204" pitchFamily="49" charset="0"/>
                          <a:hlinkClick r:id="rId5"/>
                        </a:rPr>
                        <a:t>https://lwn.net/Articles/974392/</a:t>
                      </a:r>
                      <a:endParaRPr lang="en-GB" dirty="0">
                        <a:latin typeface="+mn-lt"/>
                        <a:ea typeface="Menlo" panose="020B0609030804020204" pitchFamily="49" charset="0"/>
                        <a:cs typeface="Menlo" panose="020B0609030804020204" pitchFamily="49" charset="0"/>
                      </a:endParaRPr>
                    </a:p>
                    <a:p>
                      <a:pPr marL="285750" indent="-285750">
                        <a:buFont typeface="Arial" panose="020B0604020202020204" pitchFamily="34" charset="0"/>
                        <a:buChar char="•"/>
                      </a:pPr>
                      <a:r>
                        <a:rPr lang="en-GB" dirty="0">
                          <a:latin typeface="+mn-lt"/>
                          <a:ea typeface="Menlo" panose="020B0609030804020204" pitchFamily="49" charset="0"/>
                          <a:cs typeface="Menlo" panose="020B0609030804020204" pitchFamily="49" charset="0"/>
                          <a:hlinkClick r:id="rId6"/>
                        </a:rPr>
                        <a:t>https://lwn.net/Articles/845507/</a:t>
                      </a:r>
                      <a:endParaRPr lang="ru-RU" dirty="0">
                        <a:latin typeface="+mn-lt"/>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522288224"/>
                  </a:ext>
                </a:extLst>
              </a:tr>
            </a:tbl>
          </a:graphicData>
        </a:graphic>
      </p:graphicFrame>
    </p:spTree>
    <p:extLst>
      <p:ext uri="{BB962C8B-B14F-4D97-AF65-F5344CB8AC3E}">
        <p14:creationId xmlns:p14="http://schemas.microsoft.com/office/powerpoint/2010/main" val="78477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5519-E70B-6543-DEB2-4AB97B41E3F5}"/>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19DD12F-42EB-2F0D-5307-34C52B7023C0}"/>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FE0DD844-67D1-FE43-C463-DFF9550D8F1D}"/>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77A211A7-F60E-4EC3-DD2C-6A802C027A9C}"/>
              </a:ext>
            </a:extLst>
          </p:cNvPr>
          <p:cNvGraphicFramePr>
            <a:graphicFrameLocks noGrp="1"/>
          </p:cNvGraphicFramePr>
          <p:nvPr>
            <p:extLst>
              <p:ext uri="{D42A27DB-BD31-4B8C-83A1-F6EECF244321}">
                <p14:modId xmlns:p14="http://schemas.microsoft.com/office/powerpoint/2010/main" val="2379734452"/>
              </p:ext>
            </p:extLst>
          </p:nvPr>
        </p:nvGraphicFramePr>
        <p:xfrm>
          <a:off x="0" y="365760"/>
          <a:ext cx="12192000" cy="210312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Virtual memory from the point of view of an OS</a:t>
                      </a:r>
                      <a:endParaRPr lang="ru-RU" dirty="0"/>
                    </a:p>
                  </a:txBody>
                  <a:tcPr/>
                </a:tc>
                <a:extLst>
                  <a:ext uri="{0D108BD9-81ED-4DB2-BD59-A6C34878D82A}">
                    <a16:rowId xmlns:a16="http://schemas.microsoft.com/office/drawing/2014/main" val="10000"/>
                  </a:ext>
                </a:extLst>
              </a:tr>
              <a:tr h="216655">
                <a:tc>
                  <a:txBody>
                    <a:bodyPr/>
                    <a:lstStyle/>
                    <a:p>
                      <a:r>
                        <a:rPr lang="en-US" dirty="0"/>
                        <a:t>Linux represents the memory of a process as a list of VMAs </a:t>
                      </a:r>
                      <a:r>
                        <a:rPr lang="en-US" baseline="0" dirty="0"/>
                        <a:t>(Virtual Memory Area).</a:t>
                      </a:r>
                    </a:p>
                    <a:p>
                      <a:endParaRPr lang="en-US" baseline="0" dirty="0"/>
                    </a:p>
                    <a:p>
                      <a:r>
                        <a:rPr lang="en-US" baseline="0" dirty="0"/>
                        <a:t>Each VMA tracks</a:t>
                      </a:r>
                      <a:endParaRPr lang="ru-RU" baseline="0" dirty="0"/>
                    </a:p>
                    <a:p>
                      <a:pPr marL="285750" indent="-285750">
                        <a:buFont typeface="Arial" charset="0"/>
                        <a:buChar char="•"/>
                      </a:pPr>
                      <a:r>
                        <a:rPr lang="en-US" baseline="0" dirty="0"/>
                        <a:t>the range of addresses that it describes,</a:t>
                      </a:r>
                      <a:endParaRPr lang="ru-RU" baseline="0" dirty="0"/>
                    </a:p>
                    <a:p>
                      <a:pPr marL="285750" indent="-285750">
                        <a:buFont typeface="Arial" charset="0"/>
                        <a:buChar char="•"/>
                      </a:pPr>
                      <a:r>
                        <a:rPr lang="en-US" baseline="0" dirty="0"/>
                        <a:t>the access rights of the memory region</a:t>
                      </a:r>
                      <a:r>
                        <a:rPr lang="ru-RU" baseline="0" dirty="0"/>
                        <a:t> (</a:t>
                      </a:r>
                      <a:r>
                        <a:rPr lang="en-US" baseline="0" dirty="0"/>
                        <a:t>and flags like copy-on-write),</a:t>
                      </a:r>
                    </a:p>
                    <a:p>
                      <a:pPr marL="285750" indent="-285750">
                        <a:buFont typeface="Arial" charset="0"/>
                        <a:buChar char="•"/>
                      </a:pPr>
                      <a:r>
                        <a:rPr lang="en-US" baseline="0" dirty="0"/>
                        <a:t>the rule which describes how to page-in pages in this memory range (from a file, from the swap, from </a:t>
                      </a:r>
                      <a:r>
                        <a:rPr lang="en-US" baseline="0" dirty="0" err="1"/>
                        <a:t>userfaultfd</a:t>
                      </a:r>
                      <a:r>
                        <a:rPr lang="en-US" baseline="0" dirty="0"/>
                        <a:t>, etc.).</a:t>
                      </a:r>
                      <a:endParaRPr lang="ru-RU"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78561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F3FA-8E27-6C45-006E-EF82FAFEFF10}"/>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051C554-50F4-F009-7547-59405D67394B}"/>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D15922DD-B733-EB13-8003-B635A3ECBEF7}"/>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CC806D75-5792-12E4-9E76-BE5B02CB7041}"/>
              </a:ext>
            </a:extLst>
          </p:cNvPr>
          <p:cNvGraphicFramePr>
            <a:graphicFrameLocks noGrp="1"/>
          </p:cNvGraphicFramePr>
          <p:nvPr>
            <p:extLst>
              <p:ext uri="{D42A27DB-BD31-4B8C-83A1-F6EECF244321}">
                <p14:modId xmlns:p14="http://schemas.microsoft.com/office/powerpoint/2010/main" val="906498249"/>
              </p:ext>
            </p:extLst>
          </p:nvPr>
        </p:nvGraphicFramePr>
        <p:xfrm>
          <a:off x="0" y="365760"/>
          <a:ext cx="12192000" cy="438912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Memory overcommit</a:t>
                      </a:r>
                      <a:endParaRPr lang="ru-RU" dirty="0"/>
                    </a:p>
                  </a:txBody>
                  <a:tcPr/>
                </a:tc>
                <a:extLst>
                  <a:ext uri="{0D108BD9-81ED-4DB2-BD59-A6C34878D82A}">
                    <a16:rowId xmlns:a16="http://schemas.microsoft.com/office/drawing/2014/main" val="10000"/>
                  </a:ext>
                </a:extLst>
              </a:tr>
              <a:tr h="216655">
                <a:tc>
                  <a:txBody>
                    <a:bodyPr/>
                    <a:lstStyle/>
                    <a:p>
                      <a:r>
                        <a:rPr lang="en-US" dirty="0"/>
                        <a:t>Linux represents the memory of a process as a list of VMAs </a:t>
                      </a:r>
                      <a:r>
                        <a:rPr lang="en-US" baseline="0" dirty="0"/>
                        <a:t>(Virtual Memory Area).</a:t>
                      </a:r>
                    </a:p>
                    <a:p>
                      <a:endParaRPr lang="en-US" baseline="0" dirty="0"/>
                    </a:p>
                    <a:p>
                      <a:r>
                        <a:rPr lang="en-US" baseline="0" dirty="0"/>
                        <a:t>Each VMA tracks</a:t>
                      </a:r>
                      <a:endParaRPr lang="ru-RU" baseline="0" dirty="0"/>
                    </a:p>
                    <a:p>
                      <a:pPr marL="285750" indent="-285750">
                        <a:buFont typeface="Arial" charset="0"/>
                        <a:buChar char="•"/>
                      </a:pPr>
                      <a:r>
                        <a:rPr lang="en-US" baseline="0" dirty="0"/>
                        <a:t>the range of addresses that it describes,</a:t>
                      </a:r>
                      <a:endParaRPr lang="ru-RU" baseline="0" dirty="0"/>
                    </a:p>
                    <a:p>
                      <a:pPr marL="285750" indent="-285750">
                        <a:buFont typeface="Arial" charset="0"/>
                        <a:buChar char="•"/>
                      </a:pPr>
                      <a:r>
                        <a:rPr lang="en-US" baseline="0" dirty="0"/>
                        <a:t>the access rights of the memory region</a:t>
                      </a:r>
                      <a:r>
                        <a:rPr lang="ru-RU" baseline="0" dirty="0"/>
                        <a:t> (</a:t>
                      </a:r>
                      <a:r>
                        <a:rPr lang="en-US" baseline="0" dirty="0"/>
                        <a:t>and flags like copy-on-write),</a:t>
                      </a:r>
                    </a:p>
                    <a:p>
                      <a:pPr marL="285750" indent="-285750">
                        <a:buFont typeface="Arial" charset="0"/>
                        <a:buChar char="•"/>
                      </a:pPr>
                      <a:r>
                        <a:rPr lang="en-US" baseline="0" dirty="0"/>
                        <a:t>the rule which describes how to page-in pages in this memory range (from a file, from the swap, from </a:t>
                      </a:r>
                      <a:r>
                        <a:rPr lang="en-US" baseline="0" dirty="0" err="1"/>
                        <a:t>userfaultfd</a:t>
                      </a:r>
                      <a:r>
                        <a:rPr lang="en-US" baseline="0" dirty="0"/>
                        <a:t>, etc.).</a:t>
                      </a:r>
                      <a:endParaRPr lang="ru-RU" dirty="0"/>
                    </a:p>
                  </a:txBody>
                  <a:tcPr/>
                </a:tc>
                <a:extLst>
                  <a:ext uri="{0D108BD9-81ED-4DB2-BD59-A6C34878D82A}">
                    <a16:rowId xmlns:a16="http://schemas.microsoft.com/office/drawing/2014/main" val="10001"/>
                  </a:ext>
                </a:extLst>
              </a:tr>
              <a:tr h="216655">
                <a:tc>
                  <a:txBody>
                    <a:bodyPr/>
                    <a:lstStyle/>
                    <a:p>
                      <a:pPr marL="0" indent="0">
                        <a:buFont typeface="Arial" charset="0"/>
                        <a:buNone/>
                      </a:pPr>
                      <a:r>
                        <a:rPr lang="en-US" dirty="0"/>
                        <a:t>VMAs need not allocate backing physical pages immediately. They can be faulted in as the application accesses its memory.</a:t>
                      </a:r>
                    </a:p>
                    <a:p>
                      <a:pPr marL="0" indent="0">
                        <a:buFont typeface="Arial" charset="0"/>
                        <a:buNone/>
                      </a:pPr>
                      <a:endParaRPr lang="en-US" dirty="0"/>
                    </a:p>
                    <a:p>
                      <a:pPr marL="0" indent="0">
                        <a:buFont typeface="Arial" charset="0"/>
                        <a:buNone/>
                      </a:pPr>
                      <a:r>
                        <a:rPr lang="en-US" dirty="0"/>
                        <a:t>In particular, the size of VMAs of a process may be greater than the amount of physical RAM reserved for the process.</a:t>
                      </a:r>
                      <a:br>
                        <a:rPr lang="en-US" dirty="0"/>
                      </a:br>
                      <a:r>
                        <a:rPr lang="en-US" dirty="0"/>
                        <a:t>This is called </a:t>
                      </a:r>
                      <a:r>
                        <a:rPr lang="en-US" b="1" dirty="0"/>
                        <a:t>overcommit</a:t>
                      </a:r>
                      <a:r>
                        <a:rPr lang="en-US" dirty="0"/>
                        <a:t>. This is the default </a:t>
                      </a:r>
                      <a:r>
                        <a:rPr lang="en-US" dirty="0" err="1"/>
                        <a:t>behaviour</a:t>
                      </a:r>
                      <a:r>
                        <a:rPr lang="en-US" dirty="0"/>
                        <a:t> of Linux.</a:t>
                      </a:r>
                    </a:p>
                    <a:p>
                      <a:pPr marL="0" indent="0">
                        <a:buFont typeface="Arial" charset="0"/>
                        <a:buNone/>
                      </a:pPr>
                      <a:endParaRPr lang="en-US" dirty="0"/>
                    </a:p>
                    <a:p>
                      <a:pPr marL="0" indent="0">
                        <a:buFont typeface="Arial" charset="0"/>
                        <a:buNone/>
                      </a:pPr>
                      <a:r>
                        <a:rPr lang="en-US" dirty="0"/>
                        <a:t>See also:</a:t>
                      </a:r>
                    </a:p>
                    <a:p>
                      <a:pPr marL="285750" indent="-285750">
                        <a:buFont typeface="Arial" panose="020B0604020202020204" pitchFamily="34" charset="0"/>
                        <a:buChar char="•"/>
                      </a:pPr>
                      <a:r>
                        <a:rPr lang="en-US" dirty="0" err="1">
                          <a:latin typeface="Menlo" panose="020B0609030804020204" pitchFamily="49" charset="0"/>
                          <a:ea typeface="Menlo" panose="020B0609030804020204" pitchFamily="49" charset="0"/>
                          <a:cs typeface="Menlo" panose="020B0609030804020204" pitchFamily="49" charset="0"/>
                        </a:rPr>
                        <a:t>sysctl</a:t>
                      </a:r>
                      <a:r>
                        <a:rPr lang="en-US" dirty="0">
                          <a:latin typeface="Menlo" panose="020B0609030804020204" pitchFamily="49" charset="0"/>
                          <a:ea typeface="Menlo" panose="020B0609030804020204" pitchFamily="49" charset="0"/>
                          <a:cs typeface="Menlo" panose="020B0609030804020204" pitchFamily="49" charset="0"/>
                        </a:rPr>
                        <a:t> </a:t>
                      </a:r>
                      <a:r>
                        <a:rPr lang="en-US" dirty="0" err="1">
                          <a:latin typeface="Menlo" panose="020B0609030804020204" pitchFamily="49" charset="0"/>
                          <a:ea typeface="Menlo" panose="020B0609030804020204" pitchFamily="49" charset="0"/>
                          <a:cs typeface="Menlo" panose="020B0609030804020204" pitchFamily="49" charset="0"/>
                        </a:rPr>
                        <a:t>vm.overcommit_ratio</a:t>
                      </a:r>
                      <a:r>
                        <a:rPr lang="en-US"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GB" dirty="0">
                          <a:latin typeface="Menlo" panose="020B0609030804020204" pitchFamily="49" charset="0"/>
                          <a:ea typeface="Menlo" panose="020B0609030804020204" pitchFamily="49" charset="0"/>
                          <a:cs typeface="Menlo" panose="020B0609030804020204" pitchFamily="49" charset="0"/>
                        </a:rPr>
                        <a:t>/proc/sys/</a:t>
                      </a:r>
                      <a:r>
                        <a:rPr lang="en-GB" dirty="0" err="1">
                          <a:latin typeface="Menlo" panose="020B0609030804020204" pitchFamily="49" charset="0"/>
                          <a:ea typeface="Menlo" panose="020B0609030804020204" pitchFamily="49" charset="0"/>
                          <a:cs typeface="Menlo" panose="020B0609030804020204" pitchFamily="49" charset="0"/>
                        </a:rPr>
                        <a:t>vm</a:t>
                      </a: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overcommit_ratio</a:t>
                      </a:r>
                      <a:r>
                        <a:rPr lang="en-GB" dirty="0">
                          <a:latin typeface="Menlo" panose="020B0609030804020204" pitchFamily="49" charset="0"/>
                          <a:ea typeface="Menlo" panose="020B0609030804020204" pitchFamily="49" charset="0"/>
                          <a:cs typeface="Menlo" panose="020B0609030804020204" pitchFamily="49" charset="0"/>
                        </a:rPr>
                        <a:t>.</a:t>
                      </a:r>
                      <a:endParaRPr lang="ru-RU"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993825394"/>
                  </a:ext>
                </a:extLst>
              </a:tr>
            </a:tbl>
          </a:graphicData>
        </a:graphic>
      </p:graphicFrame>
    </p:spTree>
    <p:extLst>
      <p:ext uri="{BB962C8B-B14F-4D97-AF65-F5344CB8AC3E}">
        <p14:creationId xmlns:p14="http://schemas.microsoft.com/office/powerpoint/2010/main" val="161834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660C6-8790-8F24-19DF-E71545476C2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7919BA7-2C7D-A845-1510-B3E62CCCF774}"/>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0C9D33FE-3A46-ADA9-9115-021AEDC67142}"/>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227253E9-970A-225E-10CB-A2460F7FC239}"/>
              </a:ext>
            </a:extLst>
          </p:cNvPr>
          <p:cNvGraphicFramePr>
            <a:graphicFrameLocks noGrp="1"/>
          </p:cNvGraphicFramePr>
          <p:nvPr>
            <p:extLst>
              <p:ext uri="{D42A27DB-BD31-4B8C-83A1-F6EECF244321}">
                <p14:modId xmlns:p14="http://schemas.microsoft.com/office/powerpoint/2010/main" val="1713337552"/>
              </p:ext>
            </p:extLst>
          </p:nvPr>
        </p:nvGraphicFramePr>
        <p:xfrm>
          <a:off x="0" y="365760"/>
          <a:ext cx="12192000" cy="61264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Memory overcommit</a:t>
                      </a:r>
                      <a:endParaRPr lang="ru-RU" dirty="0"/>
                    </a:p>
                  </a:txBody>
                  <a:tcPr/>
                </a:tc>
                <a:extLst>
                  <a:ext uri="{0D108BD9-81ED-4DB2-BD59-A6C34878D82A}">
                    <a16:rowId xmlns:a16="http://schemas.microsoft.com/office/drawing/2014/main" val="10000"/>
                  </a:ext>
                </a:extLst>
              </a:tr>
              <a:tr h="216655">
                <a:tc>
                  <a:txBody>
                    <a:bodyPr/>
                    <a:lstStyle/>
                    <a:p>
                      <a:r>
                        <a:rPr lang="en-US" dirty="0"/>
                        <a:t>Linux represents the memory of a process as a list of VMAs </a:t>
                      </a:r>
                      <a:r>
                        <a:rPr lang="en-US" baseline="0" dirty="0"/>
                        <a:t>(Virtual Memory Area).</a:t>
                      </a:r>
                    </a:p>
                    <a:p>
                      <a:endParaRPr lang="en-US" baseline="0" dirty="0"/>
                    </a:p>
                    <a:p>
                      <a:r>
                        <a:rPr lang="en-US" baseline="0" dirty="0"/>
                        <a:t>Each VMA tracks</a:t>
                      </a:r>
                      <a:endParaRPr lang="ru-RU" baseline="0" dirty="0"/>
                    </a:p>
                    <a:p>
                      <a:pPr marL="285750" indent="-285750">
                        <a:buFont typeface="Arial" charset="0"/>
                        <a:buChar char="•"/>
                      </a:pPr>
                      <a:r>
                        <a:rPr lang="en-US" baseline="0" dirty="0"/>
                        <a:t>the range of addresses that it describes,</a:t>
                      </a:r>
                      <a:endParaRPr lang="ru-RU" baseline="0" dirty="0"/>
                    </a:p>
                    <a:p>
                      <a:pPr marL="285750" indent="-285750">
                        <a:buFont typeface="Arial" charset="0"/>
                        <a:buChar char="•"/>
                      </a:pPr>
                      <a:r>
                        <a:rPr lang="en-US" baseline="0" dirty="0"/>
                        <a:t>the access rights of the memory region</a:t>
                      </a:r>
                      <a:r>
                        <a:rPr lang="ru-RU" baseline="0" dirty="0"/>
                        <a:t> (</a:t>
                      </a:r>
                      <a:r>
                        <a:rPr lang="en-US" baseline="0" dirty="0"/>
                        <a:t>and flags like copy-on-write),</a:t>
                      </a:r>
                    </a:p>
                    <a:p>
                      <a:pPr marL="285750" indent="-285750">
                        <a:buFont typeface="Arial" charset="0"/>
                        <a:buChar char="•"/>
                      </a:pPr>
                      <a:r>
                        <a:rPr lang="en-US" baseline="0" dirty="0"/>
                        <a:t>the rule which describes how to page-in pages in this memory range (from a file, from the swap, from </a:t>
                      </a:r>
                      <a:r>
                        <a:rPr lang="en-US" baseline="0" dirty="0" err="1"/>
                        <a:t>userfaultfd</a:t>
                      </a:r>
                      <a:r>
                        <a:rPr lang="en-US" baseline="0" dirty="0"/>
                        <a:t>, etc.).</a:t>
                      </a:r>
                      <a:endParaRPr lang="ru-RU" dirty="0"/>
                    </a:p>
                  </a:txBody>
                  <a:tcPr/>
                </a:tc>
                <a:extLst>
                  <a:ext uri="{0D108BD9-81ED-4DB2-BD59-A6C34878D82A}">
                    <a16:rowId xmlns:a16="http://schemas.microsoft.com/office/drawing/2014/main" val="10001"/>
                  </a:ext>
                </a:extLst>
              </a:tr>
              <a:tr h="216655">
                <a:tc>
                  <a:txBody>
                    <a:bodyPr/>
                    <a:lstStyle/>
                    <a:p>
                      <a:pPr marL="0" indent="0">
                        <a:buFont typeface="Arial" charset="0"/>
                        <a:buNone/>
                      </a:pPr>
                      <a:r>
                        <a:rPr lang="en-US" dirty="0"/>
                        <a:t>VMAs need not allocate backing physical pages immediately. They can be faulted in as the application accesses its memory.</a:t>
                      </a:r>
                    </a:p>
                    <a:p>
                      <a:pPr marL="0" indent="0">
                        <a:buFont typeface="Arial" charset="0"/>
                        <a:buNone/>
                      </a:pPr>
                      <a:endParaRPr lang="en-US" dirty="0"/>
                    </a:p>
                    <a:p>
                      <a:pPr marL="0" indent="0">
                        <a:buFont typeface="Arial" charset="0"/>
                        <a:buNone/>
                      </a:pPr>
                      <a:r>
                        <a:rPr lang="en-US" dirty="0"/>
                        <a:t>In particular, the size of VMAs of a process may be greater than the amount of physical RAM reserved for the process.</a:t>
                      </a:r>
                      <a:br>
                        <a:rPr lang="en-US" dirty="0"/>
                      </a:br>
                      <a:r>
                        <a:rPr lang="en-US" dirty="0"/>
                        <a:t>This is called </a:t>
                      </a:r>
                      <a:r>
                        <a:rPr lang="en-US" b="1" dirty="0"/>
                        <a:t>overcommit</a:t>
                      </a:r>
                      <a:r>
                        <a:rPr lang="en-US" dirty="0"/>
                        <a:t>. This is the default </a:t>
                      </a:r>
                      <a:r>
                        <a:rPr lang="en-US" dirty="0" err="1"/>
                        <a:t>behaviour</a:t>
                      </a:r>
                      <a:r>
                        <a:rPr lang="en-US" dirty="0"/>
                        <a:t> of Linux.</a:t>
                      </a:r>
                    </a:p>
                    <a:p>
                      <a:pPr marL="0" indent="0">
                        <a:buFont typeface="Arial" charset="0"/>
                        <a:buNone/>
                      </a:pPr>
                      <a:endParaRPr lang="en-US" dirty="0"/>
                    </a:p>
                    <a:p>
                      <a:pPr marL="0" indent="0">
                        <a:buFont typeface="Arial" charset="0"/>
                        <a:buNone/>
                      </a:pPr>
                      <a:r>
                        <a:rPr lang="en-US" dirty="0"/>
                        <a:t>See also:</a:t>
                      </a:r>
                    </a:p>
                    <a:p>
                      <a:pPr marL="285750" indent="-285750">
                        <a:buFont typeface="Arial" panose="020B0604020202020204" pitchFamily="34" charset="0"/>
                        <a:buChar char="•"/>
                      </a:pPr>
                      <a:r>
                        <a:rPr lang="en-US" dirty="0" err="1">
                          <a:latin typeface="Menlo" panose="020B0609030804020204" pitchFamily="49" charset="0"/>
                          <a:ea typeface="Menlo" panose="020B0609030804020204" pitchFamily="49" charset="0"/>
                          <a:cs typeface="Menlo" panose="020B0609030804020204" pitchFamily="49" charset="0"/>
                        </a:rPr>
                        <a:t>sysctl</a:t>
                      </a:r>
                      <a:r>
                        <a:rPr lang="en-US" dirty="0">
                          <a:latin typeface="Menlo" panose="020B0609030804020204" pitchFamily="49" charset="0"/>
                          <a:ea typeface="Menlo" panose="020B0609030804020204" pitchFamily="49" charset="0"/>
                          <a:cs typeface="Menlo" panose="020B0609030804020204" pitchFamily="49" charset="0"/>
                        </a:rPr>
                        <a:t> </a:t>
                      </a:r>
                      <a:r>
                        <a:rPr lang="en-US" dirty="0" err="1">
                          <a:latin typeface="Menlo" panose="020B0609030804020204" pitchFamily="49" charset="0"/>
                          <a:ea typeface="Menlo" panose="020B0609030804020204" pitchFamily="49" charset="0"/>
                          <a:cs typeface="Menlo" panose="020B0609030804020204" pitchFamily="49" charset="0"/>
                        </a:rPr>
                        <a:t>vm.overcommit_ratio</a:t>
                      </a:r>
                      <a:r>
                        <a:rPr lang="en-US"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GB" dirty="0">
                          <a:latin typeface="Menlo" panose="020B0609030804020204" pitchFamily="49" charset="0"/>
                          <a:ea typeface="Menlo" panose="020B0609030804020204" pitchFamily="49" charset="0"/>
                          <a:cs typeface="Menlo" panose="020B0609030804020204" pitchFamily="49" charset="0"/>
                        </a:rPr>
                        <a:t>/proc/sys/</a:t>
                      </a:r>
                      <a:r>
                        <a:rPr lang="en-GB" dirty="0" err="1">
                          <a:latin typeface="Menlo" panose="020B0609030804020204" pitchFamily="49" charset="0"/>
                          <a:ea typeface="Menlo" panose="020B0609030804020204" pitchFamily="49" charset="0"/>
                          <a:cs typeface="Menlo" panose="020B0609030804020204" pitchFamily="49" charset="0"/>
                        </a:rPr>
                        <a:t>vm</a:t>
                      </a: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overcommit_ratio</a:t>
                      </a:r>
                      <a:r>
                        <a:rPr lang="en-GB" dirty="0">
                          <a:latin typeface="Menlo" panose="020B0609030804020204" pitchFamily="49" charset="0"/>
                          <a:ea typeface="Menlo" panose="020B0609030804020204" pitchFamily="49" charset="0"/>
                          <a:cs typeface="Menlo" panose="020B0609030804020204" pitchFamily="49" charset="0"/>
                        </a:rPr>
                        <a:t>.</a:t>
                      </a:r>
                      <a:endParaRPr lang="ru-RU"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993825394"/>
                  </a:ext>
                </a:extLst>
              </a:tr>
              <a:tr h="216655">
                <a:tc>
                  <a:txBody>
                    <a:bodyPr/>
                    <a:lstStyle/>
                    <a:p>
                      <a:pPr marL="0" indent="0">
                        <a:buFont typeface="Arial" panose="020B0604020202020204" pitchFamily="34" charset="0"/>
                        <a:buNone/>
                      </a:pPr>
                      <a:r>
                        <a:rPr lang="en-US" dirty="0">
                          <a:latin typeface="+mn-lt"/>
                          <a:ea typeface="Menlo" panose="020B0609030804020204" pitchFamily="49" charset="0"/>
                          <a:cs typeface="Menlo" panose="020B0609030804020204" pitchFamily="49" charset="0"/>
                        </a:rPr>
                        <a:t>Even though Linux overcommits memory, a call to </a:t>
                      </a:r>
                      <a:r>
                        <a:rPr lang="en-US" dirty="0">
                          <a:latin typeface="Consolas" panose="020B0609020204030204" pitchFamily="49" charset="0"/>
                          <a:ea typeface="Menlo" panose="020B0609030804020204" pitchFamily="49" charset="0"/>
                          <a:cs typeface="Consolas" panose="020B0609020204030204" pitchFamily="49" charset="0"/>
                        </a:rPr>
                        <a:t>malloc()</a:t>
                      </a:r>
                      <a:r>
                        <a:rPr lang="en-US" dirty="0">
                          <a:latin typeface="+mn-lt"/>
                          <a:ea typeface="Menlo" panose="020B0609030804020204" pitchFamily="49" charset="0"/>
                          <a:cs typeface="Menlo" panose="020B0609030804020204" pitchFamily="49" charset="0"/>
                        </a:rPr>
                        <a:t> or </a:t>
                      </a:r>
                      <a:r>
                        <a:rPr lang="en-US" dirty="0" err="1">
                          <a:latin typeface="Consolas" panose="020B0609020204030204" pitchFamily="49" charset="0"/>
                          <a:ea typeface="Menlo" panose="020B0609030804020204" pitchFamily="49" charset="0"/>
                          <a:cs typeface="Consolas" panose="020B0609020204030204" pitchFamily="49" charset="0"/>
                        </a:rPr>
                        <a:t>mmap</a:t>
                      </a:r>
                      <a:r>
                        <a:rPr lang="en-US" dirty="0">
                          <a:latin typeface="Consolas" panose="020B0609020204030204" pitchFamily="49" charset="0"/>
                          <a:ea typeface="Menlo" panose="020B0609030804020204" pitchFamily="49" charset="0"/>
                          <a:cs typeface="Consolas" panose="020B0609020204030204" pitchFamily="49" charset="0"/>
                        </a:rPr>
                        <a:t>()</a:t>
                      </a:r>
                      <a:r>
                        <a:rPr lang="en-US" dirty="0">
                          <a:latin typeface="+mn-lt"/>
                          <a:ea typeface="Menlo" panose="020B0609030804020204" pitchFamily="49" charset="0"/>
                          <a:cs typeface="Menlo" panose="020B0609030804020204" pitchFamily="49" charset="0"/>
                        </a:rPr>
                        <a:t> may return </a:t>
                      </a:r>
                      <a:r>
                        <a:rPr lang="en-US" dirty="0">
                          <a:latin typeface="Consolas" panose="020B0609020204030204" pitchFamily="49" charset="0"/>
                          <a:ea typeface="Menlo" panose="020B0609030804020204" pitchFamily="49" charset="0"/>
                          <a:cs typeface="Consolas" panose="020B0609020204030204" pitchFamily="49" charset="0"/>
                        </a:rPr>
                        <a:t>NULL</a:t>
                      </a:r>
                      <a:r>
                        <a:rPr lang="en-US" dirty="0">
                          <a:latin typeface="+mn-lt"/>
                          <a:ea typeface="Menlo" panose="020B0609030804020204" pitchFamily="49" charset="0"/>
                          <a:cs typeface="Menlo" panose="020B0609030804020204" pitchFamily="49" charset="0"/>
                        </a:rPr>
                        <a:t>. The number of VMAs per process is limited, and it is often easy to reach that limit.</a:t>
                      </a:r>
                    </a:p>
                    <a:p>
                      <a:pPr marL="0" indent="0">
                        <a:buFont typeface="Arial" panose="020B0604020202020204" pitchFamily="34" charset="0"/>
                        <a:buNone/>
                      </a:pPr>
                      <a:endParaRPr lang="en-US" dirty="0">
                        <a:latin typeface="+mn-lt"/>
                        <a:ea typeface="Menlo" panose="020B0609030804020204" pitchFamily="49" charset="0"/>
                        <a:cs typeface="Menlo" panose="020B0609030804020204" pitchFamily="49" charset="0"/>
                      </a:endParaRPr>
                    </a:p>
                    <a:p>
                      <a:pPr marL="0" indent="0">
                        <a:buFont typeface="Arial" panose="020B0604020202020204" pitchFamily="34" charset="0"/>
                        <a:buNone/>
                      </a:pPr>
                      <a:r>
                        <a:rPr lang="en-US" dirty="0">
                          <a:latin typeface="+mn-lt"/>
                          <a:ea typeface="Menlo" panose="020B0609030804020204" pitchFamily="49" charset="0"/>
                          <a:cs typeface="Menlo" panose="020B0609030804020204" pitchFamily="49" charset="0"/>
                        </a:rPr>
                        <a:t>See also:</a:t>
                      </a:r>
                    </a:p>
                    <a:p>
                      <a:pPr marL="285750" indent="-285750">
                        <a:buFont typeface="Arial" panose="020B0604020202020204" pitchFamily="34" charset="0"/>
                        <a:buChar char="•"/>
                      </a:pPr>
                      <a:r>
                        <a:rPr lang="en-US" dirty="0" err="1">
                          <a:latin typeface="Menlo" panose="020B0609030804020204" pitchFamily="49" charset="0"/>
                          <a:ea typeface="Menlo" panose="020B0609030804020204" pitchFamily="49" charset="0"/>
                          <a:cs typeface="Menlo" panose="020B0609030804020204" pitchFamily="49" charset="0"/>
                        </a:rPr>
                        <a:t>sysctl</a:t>
                      </a:r>
                      <a:r>
                        <a:rPr lang="en-US"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vm.max_map_count</a:t>
                      </a:r>
                      <a:r>
                        <a:rPr lang="en-GB"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GB" dirty="0">
                          <a:latin typeface="Menlo" panose="020B0609030804020204" pitchFamily="49" charset="0"/>
                          <a:ea typeface="Menlo" panose="020B0609030804020204" pitchFamily="49" charset="0"/>
                          <a:cs typeface="Menlo" panose="020B0609030804020204" pitchFamily="49" charset="0"/>
                        </a:rPr>
                        <a:t>/proc/sys/</a:t>
                      </a:r>
                      <a:r>
                        <a:rPr lang="en-GB" dirty="0" err="1">
                          <a:latin typeface="Menlo" panose="020B0609030804020204" pitchFamily="49" charset="0"/>
                          <a:ea typeface="Menlo" panose="020B0609030804020204" pitchFamily="49" charset="0"/>
                          <a:cs typeface="Menlo" panose="020B0609030804020204" pitchFamily="49" charset="0"/>
                        </a:rPr>
                        <a:t>vm</a:t>
                      </a: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max_map_count</a:t>
                      </a:r>
                      <a:r>
                        <a:rPr lang="en-GB" dirty="0">
                          <a:latin typeface="Menlo" panose="020B0609030804020204" pitchFamily="49" charset="0"/>
                          <a:ea typeface="Menlo" panose="020B0609030804020204" pitchFamily="49" charset="0"/>
                          <a:cs typeface="Menlo" panose="020B0609030804020204" pitchFamily="49" charset="0"/>
                        </a:rPr>
                        <a:t>.</a:t>
                      </a:r>
                      <a:endParaRPr lang="ru-RU"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2202278669"/>
                  </a:ext>
                </a:extLst>
              </a:tr>
            </a:tbl>
          </a:graphicData>
        </a:graphic>
      </p:graphicFrame>
    </p:spTree>
    <p:extLst>
      <p:ext uri="{BB962C8B-B14F-4D97-AF65-F5344CB8AC3E}">
        <p14:creationId xmlns:p14="http://schemas.microsoft.com/office/powerpoint/2010/main" val="2535871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529E0-E02C-D68D-36F1-387B72FA3B31}"/>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D06736C-018A-6DD2-B60B-C0A7BD2C4066}"/>
              </a:ext>
            </a:extLst>
          </p:cNvPr>
          <p:cNvGraphicFramePr>
            <a:graphicFrameLocks noGrp="1"/>
          </p:cNvGraphicFramePr>
          <p:nvPr>
            <p:extLst>
              <p:ext uri="{D42A27DB-BD31-4B8C-83A1-F6EECF244321}">
                <p14:modId xmlns:p14="http://schemas.microsoft.com/office/powerpoint/2010/main" val="4222798943"/>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AD7E6B43-784A-200B-048F-383F5BAE509C}"/>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765931C8-949F-99DA-425F-F85BEE697FE6}"/>
              </a:ext>
            </a:extLst>
          </p:cNvPr>
          <p:cNvGraphicFramePr>
            <a:graphicFrameLocks noGrp="1"/>
          </p:cNvGraphicFramePr>
          <p:nvPr>
            <p:extLst>
              <p:ext uri="{D42A27DB-BD31-4B8C-83A1-F6EECF244321}">
                <p14:modId xmlns:p14="http://schemas.microsoft.com/office/powerpoint/2010/main" val="3687752569"/>
              </p:ext>
            </p:extLst>
          </p:nvPr>
        </p:nvGraphicFramePr>
        <p:xfrm>
          <a:off x="0" y="365760"/>
          <a:ext cx="12192000" cy="37490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Usability problems of memory-mapped files</a:t>
                      </a:r>
                      <a:endParaRPr lang="ru-RU" dirty="0"/>
                    </a:p>
                  </a:txBody>
                  <a:tcPr/>
                </a:tc>
                <a:extLst>
                  <a:ext uri="{0D108BD9-81ED-4DB2-BD59-A6C34878D82A}">
                    <a16:rowId xmlns:a16="http://schemas.microsoft.com/office/drawing/2014/main" val="10000"/>
                  </a:ext>
                </a:extLst>
              </a:tr>
              <a:tr h="216655">
                <a:tc>
                  <a:txBody>
                    <a:bodyPr/>
                    <a:lstStyle/>
                    <a:p>
                      <a:r>
                        <a:rPr lang="en-US" dirty="0"/>
                        <a:t>When a file is visible as an array in memory, it is very easy to read it and to write it.</a:t>
                      </a:r>
                      <a:endParaRPr lang="ru-RU" baseline="0" dirty="0"/>
                    </a:p>
                    <a:p>
                      <a:endParaRPr lang="ru-RU" baseline="0" dirty="0"/>
                    </a:p>
                    <a:p>
                      <a:r>
                        <a:rPr lang="en-US" baseline="0" dirty="0"/>
                        <a:t>But how does one</a:t>
                      </a:r>
                      <a:endParaRPr lang="ru-RU" baseline="0" dirty="0"/>
                    </a:p>
                    <a:p>
                      <a:pPr marL="342900" indent="-342900">
                        <a:buAutoNum type="arabicPeriod"/>
                      </a:pPr>
                      <a:r>
                        <a:rPr lang="en-US" baseline="0" dirty="0"/>
                        <a:t>grow or shrink the file</a:t>
                      </a:r>
                      <a:r>
                        <a:rPr lang="ru-RU" baseline="0" dirty="0"/>
                        <a:t>?</a:t>
                      </a:r>
                    </a:p>
                    <a:p>
                      <a:pPr marL="342900" indent="-342900">
                        <a:buAutoNum type="arabicPeriod"/>
                      </a:pPr>
                      <a:r>
                        <a:rPr lang="en-US" baseline="0" dirty="0"/>
                        <a:t>handle read errors</a:t>
                      </a:r>
                      <a:r>
                        <a:rPr lang="ru-RU" baseline="0" dirty="0"/>
                        <a:t>?</a:t>
                      </a:r>
                    </a:p>
                    <a:p>
                      <a:pPr marL="342900" indent="-342900">
                        <a:buAutoNum type="arabicPeriod"/>
                      </a:pPr>
                      <a:r>
                        <a:rPr lang="en-US" baseline="0" dirty="0"/>
                        <a:t>handle write errors</a:t>
                      </a:r>
                      <a:r>
                        <a:rPr lang="ru-RU" baseline="0" dirty="0"/>
                        <a:t>?</a:t>
                      </a:r>
                      <a:endParaRPr lang="en-US" baseline="0" dirty="0"/>
                    </a:p>
                    <a:p>
                      <a:pPr marL="342900" indent="-342900">
                        <a:buAutoNum type="arabicPeriod"/>
                      </a:pPr>
                      <a:endParaRPr lang="en-US" baseline="0" dirty="0"/>
                    </a:p>
                    <a:p>
                      <a:pPr marL="0" indent="0">
                        <a:buNone/>
                      </a:pPr>
                      <a:r>
                        <a:rPr lang="en-US" baseline="0" dirty="0"/>
                        <a:t>With memory-mapped files there is no way to do that</a:t>
                      </a:r>
                      <a:r>
                        <a:rPr lang="ru-RU" baseline="0" dirty="0"/>
                        <a:t>.</a:t>
                      </a:r>
                      <a:endParaRPr lang="en-US" baseline="0" dirty="0"/>
                    </a:p>
                    <a:p>
                      <a:pPr marL="0" indent="0">
                        <a:buNone/>
                      </a:pPr>
                      <a:endParaRPr lang="en-US" baseline="0" dirty="0"/>
                    </a:p>
                    <a:p>
                      <a:pPr marL="0" indent="0">
                        <a:buNone/>
                      </a:pPr>
                      <a:endParaRPr lang="en-US" baseline="0" dirty="0"/>
                    </a:p>
                    <a:p>
                      <a:pPr marL="0" indent="0">
                        <a:buNone/>
                      </a:pPr>
                      <a:endParaRPr lang="en-US" baseline="0" dirty="0"/>
                    </a:p>
                    <a:p>
                      <a:pPr marL="0" indent="0">
                        <a:buNone/>
                      </a:pPr>
                      <a:endParaRPr lang="en-US" baseline="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65545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CBDD8-8AEB-1CAA-AFE0-399ED6892E11}"/>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7E319AA-1B4A-2925-6A02-FD3FCC5D70FA}"/>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74ED7D29-895E-141B-F869-FBE0083651DB}"/>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718AB0D7-B7E7-60B7-F1BD-8CCA64E671CB}"/>
              </a:ext>
            </a:extLst>
          </p:cNvPr>
          <p:cNvGraphicFramePr>
            <a:graphicFrameLocks noGrp="1"/>
          </p:cNvGraphicFramePr>
          <p:nvPr>
            <p:extLst>
              <p:ext uri="{D42A27DB-BD31-4B8C-83A1-F6EECF244321}">
                <p14:modId xmlns:p14="http://schemas.microsoft.com/office/powerpoint/2010/main" val="1392870551"/>
              </p:ext>
            </p:extLst>
          </p:nvPr>
        </p:nvGraphicFramePr>
        <p:xfrm>
          <a:off x="0" y="365760"/>
          <a:ext cx="12192000" cy="37490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Usability problems of memory-mapped files</a:t>
                      </a:r>
                      <a:endParaRPr lang="ru-RU" dirty="0"/>
                    </a:p>
                  </a:txBody>
                  <a:tcPr/>
                </a:tc>
                <a:extLst>
                  <a:ext uri="{0D108BD9-81ED-4DB2-BD59-A6C34878D82A}">
                    <a16:rowId xmlns:a16="http://schemas.microsoft.com/office/drawing/2014/main" val="10000"/>
                  </a:ext>
                </a:extLst>
              </a:tr>
              <a:tr h="216655">
                <a:tc>
                  <a:txBody>
                    <a:bodyPr/>
                    <a:lstStyle/>
                    <a:p>
                      <a:r>
                        <a:rPr lang="en-US" dirty="0"/>
                        <a:t>When a file is visible as an array in memory, it is very easy to read it and to write it.</a:t>
                      </a:r>
                      <a:endParaRPr lang="ru-RU" baseline="0" dirty="0"/>
                    </a:p>
                    <a:p>
                      <a:endParaRPr lang="ru-RU" baseline="0" dirty="0"/>
                    </a:p>
                    <a:p>
                      <a:r>
                        <a:rPr lang="en-US" baseline="0" dirty="0"/>
                        <a:t>But how does one</a:t>
                      </a:r>
                      <a:endParaRPr lang="ru-RU" baseline="0" dirty="0"/>
                    </a:p>
                    <a:p>
                      <a:pPr marL="342900" indent="-342900">
                        <a:buAutoNum type="arabicPeriod"/>
                      </a:pPr>
                      <a:r>
                        <a:rPr lang="en-US" baseline="0" dirty="0"/>
                        <a:t>grow or shrink the file</a:t>
                      </a:r>
                      <a:r>
                        <a:rPr lang="ru-RU" baseline="0" dirty="0"/>
                        <a:t>?</a:t>
                      </a:r>
                    </a:p>
                    <a:p>
                      <a:pPr marL="342900" indent="-342900">
                        <a:buAutoNum type="arabicPeriod"/>
                      </a:pPr>
                      <a:r>
                        <a:rPr lang="en-US" baseline="0" dirty="0"/>
                        <a:t>handle read errors</a:t>
                      </a:r>
                      <a:r>
                        <a:rPr lang="ru-RU" baseline="0" dirty="0"/>
                        <a:t>?</a:t>
                      </a:r>
                    </a:p>
                    <a:p>
                      <a:pPr marL="342900" indent="-342900">
                        <a:buAutoNum type="arabicPeriod"/>
                      </a:pPr>
                      <a:r>
                        <a:rPr lang="en-US" baseline="0" dirty="0"/>
                        <a:t>handle write errors</a:t>
                      </a:r>
                      <a:r>
                        <a:rPr lang="ru-RU" baseline="0" dirty="0"/>
                        <a:t>?</a:t>
                      </a:r>
                      <a:endParaRPr lang="en-US" baseline="0" dirty="0"/>
                    </a:p>
                    <a:p>
                      <a:pPr marL="342900" indent="-342900">
                        <a:buAutoNum type="arabicPeriod"/>
                      </a:pPr>
                      <a:endParaRPr lang="en-US" baseline="0" dirty="0"/>
                    </a:p>
                    <a:p>
                      <a:pPr marL="0" indent="0">
                        <a:buNone/>
                      </a:pPr>
                      <a:r>
                        <a:rPr lang="en-US" baseline="0" dirty="0"/>
                        <a:t>With memory-mapped files there is no way to do that</a:t>
                      </a:r>
                      <a:r>
                        <a:rPr lang="ru-RU" baseline="0" dirty="0"/>
                        <a:t>.</a:t>
                      </a:r>
                      <a:endParaRPr lang="en-US" baseline="0" dirty="0"/>
                    </a:p>
                    <a:p>
                      <a:pPr marL="342900" indent="-342900">
                        <a:buAutoNum type="arabicPeriod"/>
                      </a:pPr>
                      <a:endParaRPr lang="en-US" baseline="0" dirty="0"/>
                    </a:p>
                    <a:p>
                      <a:pPr marL="0" indent="0">
                        <a:buNone/>
                      </a:pPr>
                      <a:r>
                        <a:rPr lang="en-US" baseline="0" dirty="0"/>
                        <a:t>Until recently, it was even possible to lose writeback errors:</a:t>
                      </a:r>
                    </a:p>
                    <a:p>
                      <a:pPr marL="285750" indent="-285750">
                        <a:buFont typeface="Arial" charset="0"/>
                        <a:buChar char="•"/>
                      </a:pPr>
                      <a:r>
                        <a:rPr lang="en-US" baseline="0" dirty="0">
                          <a:hlinkClick r:id="rId3"/>
                        </a:rPr>
                        <a:t>https://lwn.net/Articles/718734/</a:t>
                      </a:r>
                      <a:endParaRPr lang="en-US" baseline="0" dirty="0"/>
                    </a:p>
                    <a:p>
                      <a:pPr marL="285750" indent="-285750">
                        <a:buFont typeface="Arial" charset="0"/>
                        <a:buChar char="•"/>
                      </a:pPr>
                      <a:r>
                        <a:rPr lang="en-US" baseline="0" dirty="0">
                          <a:hlinkClick r:id="rId4"/>
                        </a:rPr>
                        <a:t>http://stackoverflow.com/q/42434872/398670</a:t>
                      </a:r>
                      <a:endParaRPr lang="en-US" baseline="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60645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05363651"/>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17461535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433725922"/>
              </p:ext>
            </p:extLst>
          </p:nvPr>
        </p:nvGraphicFramePr>
        <p:xfrm>
          <a:off x="0" y="365760"/>
          <a:ext cx="12192000" cy="3657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Let us get back to the</a:t>
                      </a:r>
                      <a:r>
                        <a:rPr lang="ru-RU" dirty="0"/>
                        <a:t> </a:t>
                      </a:r>
                      <a:r>
                        <a:rPr lang="en-US" dirty="0"/>
                        <a:t>POSIX API</a:t>
                      </a:r>
                      <a:endParaRPr lang="ru-RU"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360802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924846668"/>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8413349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827065674"/>
              </p:ext>
            </p:extLst>
          </p:nvPr>
        </p:nvGraphicFramePr>
        <p:xfrm>
          <a:off x="0" y="365760"/>
          <a:ext cx="12192000" cy="3872753"/>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268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The desired interface to a file system</a:t>
                      </a:r>
                      <a:r>
                        <a:rPr lang="ru-RU" sz="18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The interface of a storage device:</a:t>
                      </a:r>
                      <a:endParaRPr lang="ru-RU" sz="1800" dirty="0"/>
                    </a:p>
                  </a:txBody>
                  <a:tcPr/>
                </a:tc>
                <a:extLst>
                  <a:ext uri="{0D108BD9-81ED-4DB2-BD59-A6C34878D82A}">
                    <a16:rowId xmlns:a16="http://schemas.microsoft.com/office/drawing/2014/main" val="10000"/>
                  </a:ext>
                </a:extLst>
              </a:tr>
              <a:tr h="2696264">
                <a:tc>
                  <a:txBody>
                    <a:bodyPr/>
                    <a:lstStyle/>
                    <a:p>
                      <a:r>
                        <a:rPr lang="en-US" sz="1600" dirty="0">
                          <a:latin typeface="Menlo" panose="020B0609030804020204" pitchFamily="49" charset="0"/>
                          <a:ea typeface="Menlo" panose="020B0609030804020204" pitchFamily="49" charset="0"/>
                          <a:cs typeface="Menlo" panose="020B0609030804020204" pitchFamily="49" charset="0"/>
                        </a:rPr>
                        <a:t>f = open(“./</a:t>
                      </a:r>
                      <a:r>
                        <a:rPr lang="en-US" sz="1600" dirty="0" err="1">
                          <a:latin typeface="Menlo" panose="020B0609030804020204" pitchFamily="49" charset="0"/>
                          <a:ea typeface="Menlo" panose="020B0609030804020204" pitchFamily="49" charset="0"/>
                          <a:cs typeface="Menlo" panose="020B0609030804020204" pitchFamily="49" charset="0"/>
                        </a:rPr>
                        <a:t>pstorage-fes</a:t>
                      </a:r>
                      <a:r>
                        <a:rPr lang="en-US" sz="1600" dirty="0">
                          <a:latin typeface="Menlo" panose="020B0609030804020204" pitchFamily="49" charset="0"/>
                          <a:ea typeface="Menlo" panose="020B0609030804020204" pitchFamily="49" charset="0"/>
                          <a:cs typeface="Menlo" panose="020B0609030804020204" pitchFamily="49" charset="0"/>
                        </a:rPr>
                        <a:t>/</a:t>
                      </a:r>
                      <a:r>
                        <a:rPr lang="en-US" sz="1600" dirty="0" err="1">
                          <a:latin typeface="Menlo" panose="020B0609030804020204" pitchFamily="49" charset="0"/>
                          <a:ea typeface="Menlo" panose="020B0609030804020204" pitchFamily="49" charset="0"/>
                          <a:cs typeface="Menlo" panose="020B0609030804020204" pitchFamily="49" charset="0"/>
                        </a:rPr>
                        <a:t>src</a:t>
                      </a:r>
                      <a:r>
                        <a:rPr lang="en-US" sz="1600" dirty="0">
                          <a:latin typeface="Menlo" panose="020B0609030804020204" pitchFamily="49" charset="0"/>
                          <a:ea typeface="Menlo" panose="020B0609030804020204" pitchFamily="49" charset="0"/>
                          <a:cs typeface="Menlo" panose="020B0609030804020204" pitchFamily="49" charset="0"/>
                        </a:rPr>
                        <a:t>/</a:t>
                      </a:r>
                      <a:r>
                        <a:rPr lang="en-US" sz="1600" dirty="0" err="1">
                          <a:latin typeface="Menlo" panose="020B0609030804020204" pitchFamily="49" charset="0"/>
                          <a:ea typeface="Menlo" panose="020B0609030804020204" pitchFamily="49" charset="0"/>
                          <a:cs typeface="Menlo" panose="020B0609030804020204" pitchFamily="49" charset="0"/>
                        </a:rPr>
                        <a:t>fes.c</a:t>
                      </a:r>
                      <a:r>
                        <a:rPr lang="en-US" sz="1600" dirty="0">
                          <a:latin typeface="Menlo" panose="020B0609030804020204" pitchFamily="49" charset="0"/>
                          <a:ea typeface="Menlo" panose="020B0609030804020204" pitchFamily="49" charset="0"/>
                          <a:cs typeface="Menlo" panose="020B0609030804020204" pitchFamily="49" charset="0"/>
                        </a:rPr>
                        <a:t>");</a:t>
                      </a:r>
                    </a:p>
                    <a:p>
                      <a:r>
                        <a:rPr lang="en-US" sz="1600" dirty="0">
                          <a:latin typeface="Menlo" panose="020B0609030804020204" pitchFamily="49" charset="0"/>
                          <a:ea typeface="Menlo" panose="020B0609030804020204" pitchFamily="49" charset="0"/>
                          <a:cs typeface="Menlo" panose="020B0609030804020204" pitchFamily="49" charset="0"/>
                        </a:rPr>
                        <a:t>read(f, buffer, size);</a:t>
                      </a:r>
                    </a:p>
                    <a:p>
                      <a:r>
                        <a:rPr lang="en-US" sz="1600" dirty="0">
                          <a:latin typeface="Menlo" panose="020B0609030804020204" pitchFamily="49" charset="0"/>
                          <a:ea typeface="Menlo" panose="020B0609030804020204" pitchFamily="49" charset="0"/>
                          <a:cs typeface="Menlo" panose="020B0609030804020204" pitchFamily="49" charset="0"/>
                        </a:rPr>
                        <a:t>.....</a:t>
                      </a:r>
                    </a:p>
                    <a:p>
                      <a:r>
                        <a:rPr lang="en-US" sz="1600" dirty="0">
                          <a:latin typeface="Menlo" panose="020B0609030804020204" pitchFamily="49" charset="0"/>
                          <a:ea typeface="Menlo" panose="020B0609030804020204" pitchFamily="49" charset="0"/>
                          <a:cs typeface="Menlo" panose="020B0609030804020204" pitchFamily="49" charset="0"/>
                        </a:rPr>
                        <a:t>write(f, buffer, size);</a:t>
                      </a:r>
                    </a:p>
                    <a:p>
                      <a:r>
                        <a:rPr lang="en-US" sz="1600" dirty="0">
                          <a:latin typeface="Menlo" panose="020B0609030804020204" pitchFamily="49" charset="0"/>
                          <a:ea typeface="Menlo" panose="020B0609030804020204" pitchFamily="49" charset="0"/>
                          <a:cs typeface="Menlo" panose="020B0609030804020204" pitchFamily="49" charset="0"/>
                        </a:rPr>
                        <a:t>.....</a:t>
                      </a:r>
                    </a:p>
                    <a:p>
                      <a:r>
                        <a:rPr lang="en-US" sz="1600" dirty="0">
                          <a:latin typeface="Menlo" panose="020B0609030804020204" pitchFamily="49" charset="0"/>
                          <a:ea typeface="Menlo" panose="020B0609030804020204" pitchFamily="49" charset="0"/>
                          <a:cs typeface="Menlo" panose="020B0609030804020204" pitchFamily="49" charset="0"/>
                        </a:rPr>
                        <a:t>close(f);</a:t>
                      </a:r>
                    </a:p>
                    <a:p>
                      <a:endParaRPr lang="en-US" sz="1600" dirty="0">
                        <a:latin typeface="Menlo" panose="020B0609030804020204" pitchFamily="49" charset="0"/>
                        <a:ea typeface="Menlo" panose="020B0609030804020204" pitchFamily="49" charset="0"/>
                        <a:cs typeface="Menlo" panose="020B0609030804020204" pitchFamily="49" charset="0"/>
                      </a:endParaRPr>
                    </a:p>
                    <a:p>
                      <a:r>
                        <a:rPr lang="en-US" sz="1600" dirty="0">
                          <a:latin typeface="Menlo" panose="020B0609030804020204" pitchFamily="49" charset="0"/>
                          <a:ea typeface="Menlo" panose="020B0609030804020204" pitchFamily="49" charset="0"/>
                          <a:cs typeface="Menlo" panose="020B0609030804020204" pitchFamily="49" charset="0"/>
                        </a:rPr>
                        <a:t>---</a:t>
                      </a:r>
                    </a:p>
                    <a:p>
                      <a:endParaRPr lang="en-US" sz="1600" dirty="0">
                        <a:latin typeface="Menlo" panose="020B0609030804020204" pitchFamily="49" charset="0"/>
                        <a:ea typeface="Menlo" panose="020B0609030804020204" pitchFamily="49" charset="0"/>
                        <a:cs typeface="Menlo" panose="020B0609030804020204" pitchFamily="49" charset="0"/>
                      </a:endParaRPr>
                    </a:p>
                    <a:p>
                      <a:r>
                        <a:rPr lang="en-US" sz="1600" dirty="0">
                          <a:latin typeface="Menlo" panose="020B0609030804020204" pitchFamily="49" charset="0"/>
                          <a:ea typeface="Menlo" panose="020B0609030804020204" pitchFamily="49" charset="0"/>
                          <a:cs typeface="Menlo" panose="020B0609030804020204" pitchFamily="49" charset="0"/>
                        </a:rPr>
                        <a:t>f = </a:t>
                      </a:r>
                      <a:r>
                        <a:rPr lang="en-US" sz="1600" dirty="0" err="1">
                          <a:latin typeface="Menlo" panose="020B0609030804020204" pitchFamily="49" charset="0"/>
                          <a:ea typeface="Menlo" panose="020B0609030804020204" pitchFamily="49" charset="0"/>
                          <a:cs typeface="Menlo" panose="020B0609030804020204" pitchFamily="49" charset="0"/>
                        </a:rPr>
                        <a:t>fopen</a:t>
                      </a:r>
                      <a:r>
                        <a:rPr lang="en-US" sz="1600" dirty="0">
                          <a:latin typeface="Menlo" panose="020B0609030804020204" pitchFamily="49" charset="0"/>
                          <a:ea typeface="Menlo" panose="020B0609030804020204" pitchFamily="49" charset="0"/>
                          <a:cs typeface="Menlo" panose="020B0609030804020204" pitchFamily="49" charset="0"/>
                        </a:rPr>
                        <a:t>(“./</a:t>
                      </a:r>
                      <a:r>
                        <a:rPr lang="en-US" sz="1600" dirty="0" err="1">
                          <a:latin typeface="Menlo" panose="020B0609030804020204" pitchFamily="49" charset="0"/>
                          <a:ea typeface="Menlo" panose="020B0609030804020204" pitchFamily="49" charset="0"/>
                          <a:cs typeface="Menlo" panose="020B0609030804020204" pitchFamily="49" charset="0"/>
                        </a:rPr>
                        <a:t>pstorage-fes</a:t>
                      </a:r>
                      <a:r>
                        <a:rPr lang="en-US" sz="1600" dirty="0">
                          <a:latin typeface="Menlo" panose="020B0609030804020204" pitchFamily="49" charset="0"/>
                          <a:ea typeface="Menlo" panose="020B0609030804020204" pitchFamily="49" charset="0"/>
                          <a:cs typeface="Menlo" panose="020B0609030804020204" pitchFamily="49" charset="0"/>
                        </a:rPr>
                        <a:t>/</a:t>
                      </a:r>
                      <a:r>
                        <a:rPr lang="en-US" sz="1600" dirty="0" err="1">
                          <a:latin typeface="Menlo" panose="020B0609030804020204" pitchFamily="49" charset="0"/>
                          <a:ea typeface="Menlo" panose="020B0609030804020204" pitchFamily="49" charset="0"/>
                          <a:cs typeface="Menlo" panose="020B0609030804020204" pitchFamily="49" charset="0"/>
                        </a:rPr>
                        <a:t>src</a:t>
                      </a:r>
                      <a:r>
                        <a:rPr lang="en-US" sz="1600" dirty="0">
                          <a:latin typeface="Menlo" panose="020B0609030804020204" pitchFamily="49" charset="0"/>
                          <a:ea typeface="Menlo" panose="020B0609030804020204" pitchFamily="49" charset="0"/>
                          <a:cs typeface="Menlo" panose="020B0609030804020204" pitchFamily="49" charset="0"/>
                        </a:rPr>
                        <a:t>/</a:t>
                      </a:r>
                      <a:r>
                        <a:rPr lang="en-US" sz="1600" dirty="0" err="1">
                          <a:latin typeface="Menlo" panose="020B0609030804020204" pitchFamily="49" charset="0"/>
                          <a:ea typeface="Menlo" panose="020B0609030804020204" pitchFamily="49" charset="0"/>
                          <a:cs typeface="Menlo" panose="020B0609030804020204" pitchFamily="49" charset="0"/>
                        </a:rPr>
                        <a:t>hello.txt</a:t>
                      </a:r>
                      <a:r>
                        <a:rPr lang="en-US" sz="1600" dirty="0">
                          <a:latin typeface="Menlo" panose="020B0609030804020204" pitchFamily="49" charset="0"/>
                          <a:ea typeface="Menlo" panose="020B0609030804020204" pitchFamily="49" charset="0"/>
                          <a:cs typeface="Menlo" panose="020B0609030804020204" pitchFamily="49" charset="0"/>
                        </a:rPr>
                        <a:t>”, “w”);</a:t>
                      </a:r>
                    </a:p>
                    <a:p>
                      <a:r>
                        <a:rPr lang="en-US" sz="1600" dirty="0" err="1">
                          <a:latin typeface="Menlo" panose="020B0609030804020204" pitchFamily="49" charset="0"/>
                          <a:ea typeface="Menlo" panose="020B0609030804020204" pitchFamily="49" charset="0"/>
                          <a:cs typeface="Menlo" panose="020B0609030804020204" pitchFamily="49" charset="0"/>
                        </a:rPr>
                        <a:t>fprintf</a:t>
                      </a:r>
                      <a:r>
                        <a:rPr lang="en-US" sz="1600" dirty="0">
                          <a:latin typeface="Menlo" panose="020B0609030804020204" pitchFamily="49" charset="0"/>
                          <a:ea typeface="Menlo" panose="020B0609030804020204" pitchFamily="49" charset="0"/>
                          <a:cs typeface="Menlo" panose="020B0609030804020204" pitchFamily="49" charset="0"/>
                        </a:rPr>
                        <a:t>(f, “hello, world!\n”);</a:t>
                      </a:r>
                    </a:p>
                    <a:p>
                      <a:r>
                        <a:rPr lang="en-US" sz="1600" dirty="0" err="1">
                          <a:latin typeface="Menlo" panose="020B0609030804020204" pitchFamily="49" charset="0"/>
                          <a:ea typeface="Menlo" panose="020B0609030804020204" pitchFamily="49" charset="0"/>
                          <a:cs typeface="Menlo" panose="020B0609030804020204" pitchFamily="49" charset="0"/>
                        </a:rPr>
                        <a:t>fclose</a:t>
                      </a:r>
                      <a:r>
                        <a:rPr lang="en-US" sz="1600" dirty="0">
                          <a:latin typeface="Menlo" panose="020B0609030804020204" pitchFamily="49" charset="0"/>
                          <a:ea typeface="Menlo" panose="020B0609030804020204" pitchFamily="49" charset="0"/>
                          <a:cs typeface="Menlo" panose="020B0609030804020204" pitchFamily="49" charset="0"/>
                        </a:rPr>
                        <a:t>(f);</a:t>
                      </a:r>
                      <a:endParaRPr lang="ru-RU" sz="1600" dirty="0">
                        <a:latin typeface="Menlo" panose="020B0609030804020204" pitchFamily="49" charset="0"/>
                        <a:ea typeface="Menlo" panose="020B0609030804020204" pitchFamily="49" charset="0"/>
                        <a:cs typeface="Menlo" panose="020B0609030804020204" pitchFamily="49" charset="0"/>
                      </a:endParaRPr>
                    </a:p>
                  </a:txBody>
                  <a:tcPr/>
                </a:tc>
                <a:tc>
                  <a:txBody>
                    <a:bodyPr/>
                    <a:lstStyle/>
                    <a:p>
                      <a:r>
                        <a:rPr lang="ru-RU" sz="2000" dirty="0"/>
                        <a:t>* </a:t>
                      </a:r>
                      <a:r>
                        <a:rPr lang="en-US" sz="2000" dirty="0"/>
                        <a:t>read a sector* nr.</a:t>
                      </a:r>
                      <a:r>
                        <a:rPr lang="ru-RU" sz="2000" dirty="0"/>
                        <a:t> </a:t>
                      </a:r>
                      <a:r>
                        <a:rPr lang="en-US" sz="2000" dirty="0"/>
                        <a:t>N</a:t>
                      </a:r>
                      <a:r>
                        <a:rPr lang="ru-RU" sz="2000" dirty="0"/>
                        <a:t>,</a:t>
                      </a:r>
                    </a:p>
                    <a:p>
                      <a:r>
                        <a:rPr lang="ru-RU" sz="2000" dirty="0"/>
                        <a:t>* </a:t>
                      </a:r>
                      <a:r>
                        <a:rPr lang="en-US" sz="2000" dirty="0"/>
                        <a:t>write a sector* nr.</a:t>
                      </a:r>
                      <a:r>
                        <a:rPr lang="ru-RU" sz="2000" baseline="0" dirty="0"/>
                        <a:t> </a:t>
                      </a:r>
                      <a:r>
                        <a:rPr lang="en-US" sz="2000" baseline="0" dirty="0"/>
                        <a:t>M</a:t>
                      </a:r>
                      <a:r>
                        <a:rPr lang="ru-RU" sz="2000" dirty="0"/>
                        <a:t>.</a:t>
                      </a:r>
                      <a:br>
                        <a:rPr lang="en-US" dirty="0"/>
                      </a:br>
                      <a:br>
                        <a:rPr lang="en-US" dirty="0"/>
                      </a:br>
                      <a:br>
                        <a:rPr lang="en-US" dirty="0"/>
                      </a:br>
                      <a:br>
                        <a:rPr lang="en-US" dirty="0"/>
                      </a:br>
                      <a:r>
                        <a:rPr lang="en-US" sz="1600" i="1" dirty="0">
                          <a:solidFill>
                            <a:schemeClr val="tx1">
                              <a:lumMod val="65000"/>
                              <a:lumOff val="35000"/>
                            </a:schemeClr>
                          </a:solidFill>
                        </a:rPr>
                        <a:t>*</a:t>
                      </a:r>
                      <a:r>
                        <a:rPr lang="ru-RU" sz="1600" i="1" baseline="0" dirty="0">
                          <a:solidFill>
                            <a:schemeClr val="tx1">
                              <a:lumMod val="65000"/>
                              <a:lumOff val="35000"/>
                            </a:schemeClr>
                          </a:solidFill>
                        </a:rPr>
                        <a:t> </a:t>
                      </a:r>
                      <a:r>
                        <a:rPr lang="en-US" sz="1600" i="1" baseline="0" dirty="0">
                          <a:solidFill>
                            <a:schemeClr val="tx1">
                              <a:lumMod val="65000"/>
                              <a:lumOff val="35000"/>
                            </a:schemeClr>
                          </a:solidFill>
                        </a:rPr>
                        <a:t>a sector is a contiguous piece of a storage device that is 512 bytes or 4096 bytes long; the start of a sector is a multiple of the sector size</a:t>
                      </a:r>
                      <a:endParaRPr lang="ru-RU" sz="1600" i="1" dirty="0">
                        <a:solidFill>
                          <a:schemeClr val="tx1">
                            <a:lumMod val="65000"/>
                            <a:lumOff val="35000"/>
                          </a:schemeClr>
                        </a:solidFill>
                      </a:endParaRPr>
                    </a:p>
                  </a:txBody>
                  <a:tcPr/>
                </a:tc>
                <a:extLst>
                  <a:ext uri="{0D108BD9-81ED-4DB2-BD59-A6C34878D82A}">
                    <a16:rowId xmlns:a16="http://schemas.microsoft.com/office/drawing/2014/main" val="10001"/>
                  </a:ext>
                </a:extLst>
              </a:tr>
              <a:tr h="489473">
                <a:tc gridSpan="2">
                  <a:txBody>
                    <a:bodyPr/>
                    <a:lstStyle/>
                    <a:p>
                      <a:r>
                        <a:rPr lang="en-US" sz="2000" dirty="0">
                          <a:latin typeface="+mn-lt"/>
                          <a:cs typeface="Consolas" panose="020B0609020204030204" pitchFamily="49" charset="0"/>
                        </a:rPr>
                        <a:t>When are unaligned reads and write replaced with aligned reads and writes?</a:t>
                      </a:r>
                      <a:endParaRPr lang="ru-RU" sz="2000" dirty="0">
                        <a:latin typeface="+mn-lt"/>
                        <a:cs typeface="Consolas" panose="020B0609020204030204" pitchFamily="49" charset="0"/>
                      </a:endParaRPr>
                    </a:p>
                  </a:txBody>
                  <a:tcPr/>
                </a:tc>
                <a:tc hMerge="1">
                  <a:txBody>
                    <a:bodyPr/>
                    <a:lstStyle/>
                    <a:p>
                      <a:endParaRPr lang="ru-RU" sz="1600" i="1" dirty="0">
                        <a:solidFill>
                          <a:schemeClr val="tx1">
                            <a:lumMod val="65000"/>
                            <a:lumOff val="35000"/>
                          </a:schemeClr>
                        </a:solidFill>
                      </a:endParaRPr>
                    </a:p>
                  </a:txBody>
                  <a:tcPr/>
                </a:tc>
                <a:extLst>
                  <a:ext uri="{0D108BD9-81ED-4DB2-BD59-A6C34878D82A}">
                    <a16:rowId xmlns:a16="http://schemas.microsoft.com/office/drawing/2014/main" val="3638029515"/>
                  </a:ext>
                </a:extLst>
              </a:tr>
            </a:tbl>
          </a:graphicData>
        </a:graphic>
      </p:graphicFrame>
    </p:spTree>
    <p:extLst>
      <p:ext uri="{BB962C8B-B14F-4D97-AF65-F5344CB8AC3E}">
        <p14:creationId xmlns:p14="http://schemas.microsoft.com/office/powerpoint/2010/main" val="46257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26768433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77784593"/>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4144704342"/>
              </p:ext>
            </p:extLst>
          </p:nvPr>
        </p:nvGraphicFramePr>
        <p:xfrm>
          <a:off x="2032000" y="1215422"/>
          <a:ext cx="8128002" cy="4993547"/>
        </p:xfrm>
        <a:graphic>
          <a:graphicData uri="http://schemas.openxmlformats.org/drawingml/2006/table">
            <a:tbl>
              <a:tblPr firstRow="1" bandRow="1">
                <a:tableStyleId>{5940675A-B579-460E-94D1-54222C63F5DA}</a:tableStyleId>
              </a:tblPr>
              <a:tblGrid>
                <a:gridCol w="8128002">
                  <a:extLst>
                    <a:ext uri="{9D8B030D-6E8A-4147-A177-3AD203B41FA5}">
                      <a16:colId xmlns:a16="http://schemas.microsoft.com/office/drawing/2014/main" val="20000"/>
                    </a:ext>
                  </a:extLst>
                </a:gridCol>
              </a:tblGrid>
              <a:tr h="359628">
                <a:tc>
                  <a:txBody>
                    <a:bodyPr/>
                    <a:lstStyle/>
                    <a:p>
                      <a:pPr algn="ctr"/>
                      <a:r>
                        <a:rPr lang="en-US" dirty="0"/>
                        <a:t>Application buffers</a:t>
                      </a:r>
                    </a:p>
                  </a:txBody>
                  <a:tcPr/>
                </a:tc>
                <a:extLst>
                  <a:ext uri="{0D108BD9-81ED-4DB2-BD59-A6C34878D82A}">
                    <a16:rowId xmlns:a16="http://schemas.microsoft.com/office/drawing/2014/main" val="10000"/>
                  </a:ext>
                </a:extLst>
              </a:tr>
              <a:tr h="338642">
                <a:tc>
                  <a:txBody>
                    <a:bodyPr/>
                    <a:lstStyle/>
                    <a:p>
                      <a:pPr algn="ctr"/>
                      <a:r>
                        <a:rPr lang="en-US" dirty="0"/>
                        <a:t>Buffers in libraries</a:t>
                      </a:r>
                      <a:r>
                        <a:rPr lang="ru-RU" baseline="0" dirty="0"/>
                        <a:t> (</a:t>
                      </a:r>
                      <a:r>
                        <a:rPr lang="en-US" baseline="0" dirty="0"/>
                        <a:t>e.g.</a:t>
                      </a:r>
                      <a:r>
                        <a:rPr lang="ru-RU" baseline="0" dirty="0"/>
                        <a:t>, </a:t>
                      </a:r>
                      <a:r>
                        <a:rPr lang="en-US" baseline="0" dirty="0" err="1"/>
                        <a:t>glibc</a:t>
                      </a:r>
                      <a:r>
                        <a:rPr lang="en-US" baseline="0" dirty="0"/>
                        <a:t>)</a:t>
                      </a:r>
                      <a:endParaRPr lang="en-US" dirty="0"/>
                    </a:p>
                  </a:txBody>
                  <a:tcPr/>
                </a:tc>
                <a:extLst>
                  <a:ext uri="{0D108BD9-81ED-4DB2-BD59-A6C34878D82A}">
                    <a16:rowId xmlns:a16="http://schemas.microsoft.com/office/drawing/2014/main" val="10001"/>
                  </a:ext>
                </a:extLst>
              </a:tr>
              <a:tr h="347636">
                <a:tc>
                  <a:txBody>
                    <a:bodyPr/>
                    <a:lstStyle/>
                    <a:p>
                      <a:pPr algn="ctr"/>
                      <a:r>
                        <a:rPr lang="en-US" dirty="0" err="1"/>
                        <a:t>Pagecache</a:t>
                      </a:r>
                      <a:endParaRPr lang="en-US" dirty="0"/>
                    </a:p>
                  </a:txBody>
                  <a:tcPr/>
                </a:tc>
                <a:extLst>
                  <a:ext uri="{0D108BD9-81ED-4DB2-BD59-A6C34878D82A}">
                    <a16:rowId xmlns:a16="http://schemas.microsoft.com/office/drawing/2014/main" val="10002"/>
                  </a:ext>
                </a:extLst>
              </a:tr>
              <a:tr h="326649">
                <a:tc>
                  <a:txBody>
                    <a:bodyPr/>
                    <a:lstStyle/>
                    <a:p>
                      <a:pPr algn="ctr"/>
                      <a:r>
                        <a:rPr lang="en-US" dirty="0"/>
                        <a:t>Filesystem</a:t>
                      </a:r>
                    </a:p>
                  </a:txBody>
                  <a:tcPr/>
                </a:tc>
                <a:extLst>
                  <a:ext uri="{0D108BD9-81ED-4DB2-BD59-A6C34878D82A}">
                    <a16:rowId xmlns:a16="http://schemas.microsoft.com/office/drawing/2014/main" val="10003"/>
                  </a:ext>
                </a:extLst>
              </a:tr>
              <a:tr h="335644">
                <a:tc>
                  <a:txBody>
                    <a:bodyPr/>
                    <a:lstStyle/>
                    <a:p>
                      <a:pPr algn="ctr"/>
                      <a:r>
                        <a:rPr lang="en-US" dirty="0"/>
                        <a:t>Block IO layer (requests</a:t>
                      </a:r>
                      <a:r>
                        <a:rPr lang="en-US" baseline="0" dirty="0"/>
                        <a:t> submission &amp; </a:t>
                      </a:r>
                      <a:r>
                        <a:rPr lang="en-US" dirty="0"/>
                        <a:t>scheduling)</a:t>
                      </a:r>
                    </a:p>
                  </a:txBody>
                  <a:tcPr/>
                </a:tc>
                <a:extLst>
                  <a:ext uri="{0D108BD9-81ED-4DB2-BD59-A6C34878D82A}">
                    <a16:rowId xmlns:a16="http://schemas.microsoft.com/office/drawing/2014/main" val="10004"/>
                  </a:ext>
                </a:extLst>
              </a:tr>
              <a:tr h="2142927">
                <a:tc>
                  <a:txBody>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txBody>
                  <a:tcPr/>
                </a:tc>
                <a:extLst>
                  <a:ext uri="{0D108BD9-81ED-4DB2-BD59-A6C34878D82A}">
                    <a16:rowId xmlns:a16="http://schemas.microsoft.com/office/drawing/2014/main" val="10005"/>
                  </a:ext>
                </a:extLst>
              </a:tr>
              <a:tr h="604427">
                <a:tc>
                  <a:txBody>
                    <a:bodyPr/>
                    <a:lstStyle/>
                    <a:p>
                      <a:pPr algn="ctr"/>
                      <a:r>
                        <a:rPr lang="en-US" dirty="0"/>
                        <a:t>Stable storage</a:t>
                      </a:r>
                    </a:p>
                  </a:txBody>
                  <a:tcPr/>
                </a:tc>
                <a:extLst>
                  <a:ext uri="{0D108BD9-81ED-4DB2-BD59-A6C34878D82A}">
                    <a16:rowId xmlns:a16="http://schemas.microsoft.com/office/drawing/2014/main" val="10008"/>
                  </a:ext>
                </a:extLst>
              </a:tr>
            </a:tbl>
          </a:graphicData>
        </a:graphic>
      </p:graphicFrame>
      <p:sp>
        <p:nvSpPr>
          <p:cNvPr id="3" name="Freeform 2"/>
          <p:cNvSpPr/>
          <p:nvPr/>
        </p:nvSpPr>
        <p:spPr>
          <a:xfrm>
            <a:off x="1244906" y="1861851"/>
            <a:ext cx="1233889" cy="143234"/>
          </a:xfrm>
          <a:custGeom>
            <a:avLst/>
            <a:gdLst>
              <a:gd name="connsiteX0" fmla="*/ 0 w 1355075"/>
              <a:gd name="connsiteY0" fmla="*/ 187301 h 187315"/>
              <a:gd name="connsiteX1" fmla="*/ 143219 w 1355075"/>
              <a:gd name="connsiteY1" fmla="*/ 22048 h 187315"/>
              <a:gd name="connsiteX2" fmla="*/ 286438 w 1355075"/>
              <a:gd name="connsiteY2" fmla="*/ 176284 h 187315"/>
              <a:gd name="connsiteX3" fmla="*/ 440675 w 1355075"/>
              <a:gd name="connsiteY3" fmla="*/ 33064 h 187315"/>
              <a:gd name="connsiteX4" fmla="*/ 561860 w 1355075"/>
              <a:gd name="connsiteY4" fmla="*/ 176284 h 187315"/>
              <a:gd name="connsiteX5" fmla="*/ 738130 w 1355075"/>
              <a:gd name="connsiteY5" fmla="*/ 14 h 187315"/>
              <a:gd name="connsiteX6" fmla="*/ 859316 w 1355075"/>
              <a:gd name="connsiteY6" fmla="*/ 187301 h 187315"/>
              <a:gd name="connsiteX7" fmla="*/ 1013552 w 1355075"/>
              <a:gd name="connsiteY7" fmla="*/ 11031 h 187315"/>
              <a:gd name="connsiteX8" fmla="*/ 1200838 w 1355075"/>
              <a:gd name="connsiteY8" fmla="*/ 187301 h 187315"/>
              <a:gd name="connsiteX9" fmla="*/ 1355075 w 1355075"/>
              <a:gd name="connsiteY9" fmla="*/ 11031 h 187315"/>
              <a:gd name="connsiteX10" fmla="*/ 1355075 w 1355075"/>
              <a:gd name="connsiteY10" fmla="*/ 11031 h 18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5075" h="187315">
                <a:moveTo>
                  <a:pt x="0" y="187301"/>
                </a:moveTo>
                <a:cubicBezTo>
                  <a:pt x="47739" y="105592"/>
                  <a:pt x="95479" y="23884"/>
                  <a:pt x="143219" y="22048"/>
                </a:cubicBezTo>
                <a:cubicBezTo>
                  <a:pt x="190959" y="20212"/>
                  <a:pt x="236862" y="174448"/>
                  <a:pt x="286438" y="176284"/>
                </a:cubicBezTo>
                <a:cubicBezTo>
                  <a:pt x="336014" y="178120"/>
                  <a:pt x="394771" y="33064"/>
                  <a:pt x="440675" y="33064"/>
                </a:cubicBezTo>
                <a:cubicBezTo>
                  <a:pt x="486579" y="33064"/>
                  <a:pt x="512284" y="181792"/>
                  <a:pt x="561860" y="176284"/>
                </a:cubicBezTo>
                <a:cubicBezTo>
                  <a:pt x="611436" y="170776"/>
                  <a:pt x="688554" y="-1822"/>
                  <a:pt x="738130" y="14"/>
                </a:cubicBezTo>
                <a:cubicBezTo>
                  <a:pt x="787706" y="1850"/>
                  <a:pt x="813412" y="185465"/>
                  <a:pt x="859316" y="187301"/>
                </a:cubicBezTo>
                <a:cubicBezTo>
                  <a:pt x="905220" y="189137"/>
                  <a:pt x="956632" y="11031"/>
                  <a:pt x="1013552" y="11031"/>
                </a:cubicBezTo>
                <a:cubicBezTo>
                  <a:pt x="1070472" y="11031"/>
                  <a:pt x="1143918" y="187301"/>
                  <a:pt x="1200838" y="187301"/>
                </a:cubicBezTo>
                <a:cubicBezTo>
                  <a:pt x="1257758" y="187301"/>
                  <a:pt x="1355075" y="11031"/>
                  <a:pt x="1355075" y="11031"/>
                </a:cubicBezTo>
                <a:lnTo>
                  <a:pt x="1355075" y="11031"/>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9384535" y="1861851"/>
            <a:ext cx="1233889" cy="143234"/>
          </a:xfrm>
          <a:custGeom>
            <a:avLst/>
            <a:gdLst>
              <a:gd name="connsiteX0" fmla="*/ 0 w 1355075"/>
              <a:gd name="connsiteY0" fmla="*/ 187301 h 187315"/>
              <a:gd name="connsiteX1" fmla="*/ 143219 w 1355075"/>
              <a:gd name="connsiteY1" fmla="*/ 22048 h 187315"/>
              <a:gd name="connsiteX2" fmla="*/ 286438 w 1355075"/>
              <a:gd name="connsiteY2" fmla="*/ 176284 h 187315"/>
              <a:gd name="connsiteX3" fmla="*/ 440675 w 1355075"/>
              <a:gd name="connsiteY3" fmla="*/ 33064 h 187315"/>
              <a:gd name="connsiteX4" fmla="*/ 561860 w 1355075"/>
              <a:gd name="connsiteY4" fmla="*/ 176284 h 187315"/>
              <a:gd name="connsiteX5" fmla="*/ 738130 w 1355075"/>
              <a:gd name="connsiteY5" fmla="*/ 14 h 187315"/>
              <a:gd name="connsiteX6" fmla="*/ 859316 w 1355075"/>
              <a:gd name="connsiteY6" fmla="*/ 187301 h 187315"/>
              <a:gd name="connsiteX7" fmla="*/ 1013552 w 1355075"/>
              <a:gd name="connsiteY7" fmla="*/ 11031 h 187315"/>
              <a:gd name="connsiteX8" fmla="*/ 1200838 w 1355075"/>
              <a:gd name="connsiteY8" fmla="*/ 187301 h 187315"/>
              <a:gd name="connsiteX9" fmla="*/ 1355075 w 1355075"/>
              <a:gd name="connsiteY9" fmla="*/ 11031 h 187315"/>
              <a:gd name="connsiteX10" fmla="*/ 1355075 w 1355075"/>
              <a:gd name="connsiteY10" fmla="*/ 11031 h 18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5075" h="187315">
                <a:moveTo>
                  <a:pt x="0" y="187301"/>
                </a:moveTo>
                <a:cubicBezTo>
                  <a:pt x="47739" y="105592"/>
                  <a:pt x="95479" y="23884"/>
                  <a:pt x="143219" y="22048"/>
                </a:cubicBezTo>
                <a:cubicBezTo>
                  <a:pt x="190959" y="20212"/>
                  <a:pt x="236862" y="174448"/>
                  <a:pt x="286438" y="176284"/>
                </a:cubicBezTo>
                <a:cubicBezTo>
                  <a:pt x="336014" y="178120"/>
                  <a:pt x="394771" y="33064"/>
                  <a:pt x="440675" y="33064"/>
                </a:cubicBezTo>
                <a:cubicBezTo>
                  <a:pt x="486579" y="33064"/>
                  <a:pt x="512284" y="181792"/>
                  <a:pt x="561860" y="176284"/>
                </a:cubicBezTo>
                <a:cubicBezTo>
                  <a:pt x="611436" y="170776"/>
                  <a:pt x="688554" y="-1822"/>
                  <a:pt x="738130" y="14"/>
                </a:cubicBezTo>
                <a:cubicBezTo>
                  <a:pt x="787706" y="1850"/>
                  <a:pt x="813412" y="185465"/>
                  <a:pt x="859316" y="187301"/>
                </a:cubicBezTo>
                <a:cubicBezTo>
                  <a:pt x="905220" y="189137"/>
                  <a:pt x="956632" y="11031"/>
                  <a:pt x="1013552" y="11031"/>
                </a:cubicBezTo>
                <a:cubicBezTo>
                  <a:pt x="1070472" y="11031"/>
                  <a:pt x="1143918" y="187301"/>
                  <a:pt x="1200838" y="187301"/>
                </a:cubicBezTo>
                <a:cubicBezTo>
                  <a:pt x="1257758" y="187301"/>
                  <a:pt x="1355075" y="11031"/>
                  <a:pt x="1355075" y="11031"/>
                </a:cubicBezTo>
                <a:lnTo>
                  <a:pt x="1355075" y="11031"/>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2202" y="1002534"/>
            <a:ext cx="1729648" cy="646331"/>
          </a:xfrm>
          <a:prstGeom prst="rect">
            <a:avLst/>
          </a:prstGeom>
          <a:noFill/>
        </p:spPr>
        <p:txBody>
          <a:bodyPr wrap="square" rtlCol="0">
            <a:spAutoFit/>
          </a:bodyPr>
          <a:lstStyle/>
          <a:p>
            <a:r>
              <a:rPr lang="en-US" dirty="0"/>
              <a:t>User</a:t>
            </a:r>
            <a:br>
              <a:rPr lang="en-US" dirty="0"/>
            </a:br>
            <a:r>
              <a:rPr lang="en-US" dirty="0"/>
              <a:t>space</a:t>
            </a:r>
          </a:p>
        </p:txBody>
      </p:sp>
      <p:sp>
        <p:nvSpPr>
          <p:cNvPr id="8" name="TextBox 7"/>
          <p:cNvSpPr txBox="1"/>
          <p:nvPr/>
        </p:nvSpPr>
        <p:spPr>
          <a:xfrm>
            <a:off x="99152" y="2379642"/>
            <a:ext cx="1762698" cy="646331"/>
          </a:xfrm>
          <a:prstGeom prst="rect">
            <a:avLst/>
          </a:prstGeom>
          <a:noFill/>
        </p:spPr>
        <p:txBody>
          <a:bodyPr wrap="square" rtlCol="0">
            <a:spAutoFit/>
          </a:bodyPr>
          <a:lstStyle/>
          <a:p>
            <a:r>
              <a:rPr lang="en-US" dirty="0"/>
              <a:t>Kernel</a:t>
            </a:r>
            <a:br>
              <a:rPr lang="en-US" dirty="0"/>
            </a:br>
            <a:r>
              <a:rPr lang="en-US" dirty="0"/>
              <a:t>Space</a:t>
            </a:r>
          </a:p>
        </p:txBody>
      </p:sp>
      <p:sp>
        <p:nvSpPr>
          <p:cNvPr id="12" name="Down Arrow 11"/>
          <p:cNvSpPr/>
          <p:nvPr/>
        </p:nvSpPr>
        <p:spPr>
          <a:xfrm>
            <a:off x="1409075" y="1215422"/>
            <a:ext cx="164892" cy="49915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p:cNvGraphicFramePr>
            <a:graphicFrameLocks noGrp="1"/>
          </p:cNvGraphicFramePr>
          <p:nvPr>
            <p:extLst>
              <p:ext uri="{D42A27DB-BD31-4B8C-83A1-F6EECF244321}">
                <p14:modId xmlns:p14="http://schemas.microsoft.com/office/powerpoint/2010/main" val="3192682356"/>
              </p:ext>
            </p:extLst>
          </p:nvPr>
        </p:nvGraphicFramePr>
        <p:xfrm>
          <a:off x="0" y="343339"/>
          <a:ext cx="12157112" cy="370840"/>
        </p:xfrm>
        <a:graphic>
          <a:graphicData uri="http://schemas.openxmlformats.org/drawingml/2006/table">
            <a:tbl>
              <a:tblPr firstRow="1" bandRow="1">
                <a:tableStyleId>{3B4B98B0-60AC-42C2-AFA5-B58CD77FA1E5}</a:tableStyleId>
              </a:tblPr>
              <a:tblGrid>
                <a:gridCol w="12157112">
                  <a:extLst>
                    <a:ext uri="{9D8B030D-6E8A-4147-A177-3AD203B41FA5}">
                      <a16:colId xmlns:a16="http://schemas.microsoft.com/office/drawing/2014/main" val="20000"/>
                    </a:ext>
                  </a:extLst>
                </a:gridCol>
              </a:tblGrid>
              <a:tr h="370840">
                <a:tc>
                  <a:txBody>
                    <a:bodyPr/>
                    <a:lstStyle/>
                    <a:p>
                      <a:r>
                        <a:rPr lang="en-US" sz="1800" dirty="0"/>
                        <a:t>The path of writes from applications to a disk (very approximate)</a:t>
                      </a:r>
                    </a:p>
                  </a:txBody>
                  <a:tcPr/>
                </a:tc>
                <a:extLst>
                  <a:ext uri="{0D108BD9-81ED-4DB2-BD59-A6C34878D82A}">
                    <a16:rowId xmlns:a16="http://schemas.microsoft.com/office/drawing/2014/main" val="10000"/>
                  </a:ext>
                </a:extLst>
              </a:tr>
            </a:tbl>
          </a:graphicData>
        </a:graphic>
      </p:graphicFrame>
      <p:sp>
        <p:nvSpPr>
          <p:cNvPr id="14" name="TextBox 13"/>
          <p:cNvSpPr txBox="1"/>
          <p:nvPr/>
        </p:nvSpPr>
        <p:spPr>
          <a:xfrm>
            <a:off x="10140417" y="1840259"/>
            <a:ext cx="1837234" cy="1477328"/>
          </a:xfrm>
          <a:prstGeom prst="rect">
            <a:avLst/>
          </a:prstGeom>
          <a:noFill/>
        </p:spPr>
        <p:txBody>
          <a:bodyPr wrap="none" rtlCol="0">
            <a:spAutoFit/>
          </a:bodyPr>
          <a:lstStyle/>
          <a:p>
            <a:pPr marL="285750" indent="-285750">
              <a:buFont typeface="Arial" charset="0"/>
              <a:buChar char="•"/>
            </a:pPr>
            <a:r>
              <a:rPr lang="en-US" dirty="0"/>
              <a:t>Unaligned IO</a:t>
            </a:r>
            <a:r>
              <a:rPr lang="ru-RU" dirty="0"/>
              <a:t>,</a:t>
            </a:r>
          </a:p>
          <a:p>
            <a:pPr marL="285750" indent="-285750">
              <a:buFont typeface="Arial" charset="0"/>
              <a:buChar char="•"/>
            </a:pPr>
            <a:r>
              <a:rPr lang="en-US" dirty="0"/>
              <a:t>Caching of</a:t>
            </a:r>
            <a:br>
              <a:rPr lang="en-US" dirty="0"/>
            </a:br>
            <a:r>
              <a:rPr lang="en-US" dirty="0"/>
              <a:t>frequently</a:t>
            </a:r>
            <a:br>
              <a:rPr lang="en-US" dirty="0"/>
            </a:br>
            <a:r>
              <a:rPr lang="en-US" dirty="0"/>
              <a:t>accessed data,</a:t>
            </a:r>
          </a:p>
          <a:p>
            <a:pPr marL="285750" indent="-285750">
              <a:buFont typeface="Arial" charset="0"/>
              <a:buChar char="•"/>
            </a:pPr>
            <a:r>
              <a:rPr lang="en-US" dirty="0"/>
              <a:t>Readahead.</a:t>
            </a:r>
          </a:p>
        </p:txBody>
      </p:sp>
      <p:sp>
        <p:nvSpPr>
          <p:cNvPr id="15" name="Left Arrow 14"/>
          <p:cNvSpPr/>
          <p:nvPr/>
        </p:nvSpPr>
        <p:spPr>
          <a:xfrm>
            <a:off x="10160002" y="2061107"/>
            <a:ext cx="239921" cy="13421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8278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533153364"/>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936673848"/>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761159197"/>
              </p:ext>
            </p:extLst>
          </p:nvPr>
        </p:nvGraphicFramePr>
        <p:xfrm>
          <a:off x="0" y="365760"/>
          <a:ext cx="12192000" cy="420624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756801126"/>
                    </a:ext>
                  </a:extLst>
                </a:gridCol>
              </a:tblGrid>
              <a:tr h="128226">
                <a:tc>
                  <a:txBody>
                    <a:bodyPr/>
                    <a:lstStyle/>
                    <a:p>
                      <a:r>
                        <a:rPr lang="en-US" b="0" dirty="0"/>
                        <a:t>What does this program print</a:t>
                      </a:r>
                      <a:r>
                        <a:rPr lang="ru-RU" b="0" dirty="0"/>
                        <a:t>?</a:t>
                      </a:r>
                      <a:endParaRPr lang="en-US" b="0" dirty="0"/>
                    </a:p>
                  </a:txBody>
                  <a:tcPr/>
                </a:tc>
                <a:tc>
                  <a:txBody>
                    <a:bodyPr/>
                    <a:lstStyle/>
                    <a:p>
                      <a:r>
                        <a:rPr lang="en-US" b="0" dirty="0"/>
                        <a:t>And this one</a:t>
                      </a:r>
                      <a:r>
                        <a:rPr lang="ru-RU" b="0" dirty="0"/>
                        <a:t>?</a:t>
                      </a:r>
                    </a:p>
                  </a:txBody>
                  <a:tcPr/>
                </a:tc>
                <a:extLst>
                  <a:ext uri="{0D108BD9-81ED-4DB2-BD59-A6C34878D82A}">
                    <a16:rowId xmlns:a16="http://schemas.microsoft.com/office/drawing/2014/main" val="10000"/>
                  </a:ext>
                </a:extLst>
              </a:tr>
              <a:tr h="1691640">
                <a:tc>
                  <a:txBody>
                    <a:bodyPr/>
                    <a:lstStyle/>
                    <a:p>
                      <a:r>
                        <a:rPr lang="en-GB" b="0" dirty="0">
                          <a:latin typeface="Menlo" panose="020B0609030804020204" pitchFamily="49" charset="0"/>
                          <a:ea typeface="Menlo" panose="020B0609030804020204" pitchFamily="49" charset="0"/>
                          <a:cs typeface="Menlo" panose="020B0609030804020204" pitchFamily="49" charset="0"/>
                        </a:rPr>
                        <a:t>#include &lt;sys/</a:t>
                      </a:r>
                      <a:r>
                        <a:rPr lang="en-GB" b="0" dirty="0" err="1">
                          <a:latin typeface="Menlo" panose="020B0609030804020204" pitchFamily="49" charset="0"/>
                          <a:ea typeface="Menlo" panose="020B0609030804020204" pitchFamily="49" charset="0"/>
                          <a:cs typeface="Menlo" panose="020B0609030804020204" pitchFamily="49" charset="0"/>
                        </a:rPr>
                        <a:t>types.h</a:t>
                      </a:r>
                      <a:r>
                        <a:rPr lang="en-GB" b="0" dirty="0">
                          <a:latin typeface="Menlo" panose="020B0609030804020204" pitchFamily="49" charset="0"/>
                          <a:ea typeface="Menlo" panose="020B0609030804020204" pitchFamily="49" charset="0"/>
                          <a:cs typeface="Menlo" panose="020B0609030804020204" pitchFamily="49" charset="0"/>
                        </a:rPr>
                        <a:t>&gt;</a:t>
                      </a:r>
                    </a:p>
                    <a:p>
                      <a:r>
                        <a:rPr lang="en-GB" b="0" dirty="0">
                          <a:latin typeface="Menlo" panose="020B0609030804020204" pitchFamily="49" charset="0"/>
                          <a:ea typeface="Menlo" panose="020B0609030804020204" pitchFamily="49" charset="0"/>
                          <a:cs typeface="Menlo" panose="020B0609030804020204" pitchFamily="49" charset="0"/>
                        </a:rPr>
                        <a:t>#include &lt;</a:t>
                      </a:r>
                      <a:r>
                        <a:rPr lang="en-GB" b="0" dirty="0" err="1">
                          <a:latin typeface="Menlo" panose="020B0609030804020204" pitchFamily="49" charset="0"/>
                          <a:ea typeface="Menlo" panose="020B0609030804020204" pitchFamily="49" charset="0"/>
                          <a:cs typeface="Menlo" panose="020B0609030804020204" pitchFamily="49" charset="0"/>
                        </a:rPr>
                        <a:t>unistd.h</a:t>
                      </a:r>
                      <a:r>
                        <a:rPr lang="en-GB" b="0" dirty="0">
                          <a:latin typeface="Menlo" panose="020B0609030804020204" pitchFamily="49" charset="0"/>
                          <a:ea typeface="Menlo" panose="020B0609030804020204" pitchFamily="49" charset="0"/>
                          <a:cs typeface="Menlo" panose="020B0609030804020204" pitchFamily="49" charset="0"/>
                        </a:rPr>
                        <a:t>&gt;</a:t>
                      </a:r>
                    </a:p>
                    <a:p>
                      <a:r>
                        <a:rPr lang="en-GB" b="0" dirty="0">
                          <a:latin typeface="Menlo" panose="020B0609030804020204" pitchFamily="49" charset="0"/>
                          <a:ea typeface="Menlo" panose="020B0609030804020204" pitchFamily="49" charset="0"/>
                          <a:cs typeface="Menlo" panose="020B0609030804020204" pitchFamily="49" charset="0"/>
                        </a:rPr>
                        <a:t>#include &lt;</a:t>
                      </a:r>
                      <a:r>
                        <a:rPr lang="en-GB" b="0" dirty="0" err="1">
                          <a:latin typeface="Menlo" panose="020B0609030804020204" pitchFamily="49" charset="0"/>
                          <a:ea typeface="Menlo" panose="020B0609030804020204" pitchFamily="49" charset="0"/>
                          <a:cs typeface="Menlo" panose="020B0609030804020204" pitchFamily="49" charset="0"/>
                        </a:rPr>
                        <a:t>stdio.h</a:t>
                      </a:r>
                      <a:r>
                        <a:rPr lang="en-GB" b="0" dirty="0">
                          <a:latin typeface="Menlo" panose="020B0609030804020204" pitchFamily="49" charset="0"/>
                          <a:ea typeface="Menlo" panose="020B0609030804020204" pitchFamily="49" charset="0"/>
                          <a:cs typeface="Menlo" panose="020B0609030804020204" pitchFamily="49" charset="0"/>
                        </a:rPr>
                        <a:t>&gt;</a:t>
                      </a:r>
                    </a:p>
                    <a:p>
                      <a:endParaRPr lang="en-GB" b="0" dirty="0">
                        <a:latin typeface="Menlo" panose="020B0609030804020204" pitchFamily="49" charset="0"/>
                        <a:ea typeface="Menlo" panose="020B0609030804020204" pitchFamily="49" charset="0"/>
                        <a:cs typeface="Menlo" panose="020B0609030804020204" pitchFamily="49" charset="0"/>
                      </a:endParaRPr>
                    </a:p>
                    <a:p>
                      <a:r>
                        <a:rPr lang="en-GB" b="0" dirty="0">
                          <a:latin typeface="Menlo" panose="020B0609030804020204" pitchFamily="49" charset="0"/>
                          <a:ea typeface="Menlo" panose="020B0609030804020204" pitchFamily="49" charset="0"/>
                          <a:cs typeface="Menlo" panose="020B0609030804020204" pitchFamily="49" charset="0"/>
                        </a:rPr>
                        <a:t>int main(int </a:t>
                      </a:r>
                      <a:r>
                        <a:rPr lang="en-GB" b="0" dirty="0" err="1">
                          <a:latin typeface="Menlo" panose="020B0609030804020204" pitchFamily="49" charset="0"/>
                          <a:ea typeface="Menlo" panose="020B0609030804020204" pitchFamily="49" charset="0"/>
                          <a:cs typeface="Menlo" panose="020B0609030804020204" pitchFamily="49" charset="0"/>
                        </a:rPr>
                        <a:t>argc</a:t>
                      </a:r>
                      <a:r>
                        <a:rPr lang="en-GB" b="0" dirty="0">
                          <a:latin typeface="Menlo" panose="020B0609030804020204" pitchFamily="49" charset="0"/>
                          <a:ea typeface="Menlo" panose="020B0609030804020204" pitchFamily="49" charset="0"/>
                          <a:cs typeface="Menlo" panose="020B0609030804020204" pitchFamily="49" charset="0"/>
                        </a:rPr>
                        <a:t>, char **</a:t>
                      </a:r>
                      <a:r>
                        <a:rPr lang="en-GB" b="0" dirty="0" err="1">
                          <a:latin typeface="Menlo" panose="020B0609030804020204" pitchFamily="49" charset="0"/>
                          <a:ea typeface="Menlo" panose="020B0609030804020204" pitchFamily="49" charset="0"/>
                          <a:cs typeface="Menlo" panose="020B0609030804020204" pitchFamily="49" charset="0"/>
                        </a:rPr>
                        <a:t>argv</a:t>
                      </a:r>
                      <a:r>
                        <a:rPr lang="en-GB" b="0" dirty="0">
                          <a:latin typeface="Menlo" panose="020B0609030804020204" pitchFamily="49" charset="0"/>
                          <a:ea typeface="Menlo" panose="020B0609030804020204" pitchFamily="49" charset="0"/>
                          <a:cs typeface="Menlo" panose="020B0609030804020204" pitchFamily="49" charset="0"/>
                        </a:rPr>
                        <a:t>)</a:t>
                      </a:r>
                    </a:p>
                    <a:p>
                      <a:r>
                        <a:rPr lang="en-GB" b="0" dirty="0">
                          <a:latin typeface="Menlo" panose="020B0609030804020204" pitchFamily="49" charset="0"/>
                          <a:ea typeface="Menlo" panose="020B0609030804020204" pitchFamily="49" charset="0"/>
                          <a:cs typeface="Menlo" panose="020B0609030804020204" pitchFamily="49" charset="0"/>
                        </a:rPr>
                        <a:t>{</a:t>
                      </a:r>
                    </a:p>
                    <a:p>
                      <a:r>
                        <a:rPr lang="en-GB" b="0" dirty="0">
                          <a:latin typeface="Menlo" panose="020B0609030804020204" pitchFamily="49" charset="0"/>
                          <a:ea typeface="Menlo" panose="020B0609030804020204" pitchFamily="49" charset="0"/>
                          <a:cs typeface="Menlo" panose="020B0609030804020204" pitchFamily="49" charset="0"/>
                        </a:rPr>
                        <a:t>    </a:t>
                      </a:r>
                      <a:r>
                        <a:rPr lang="en-GB" b="0" dirty="0" err="1">
                          <a:latin typeface="Menlo" panose="020B0609030804020204" pitchFamily="49" charset="0"/>
                          <a:ea typeface="Menlo" panose="020B0609030804020204" pitchFamily="49" charset="0"/>
                          <a:cs typeface="Menlo" panose="020B0609030804020204" pitchFamily="49" charset="0"/>
                        </a:rPr>
                        <a:t>fprintf</a:t>
                      </a:r>
                      <a:r>
                        <a:rPr lang="en-GB" b="0" dirty="0">
                          <a:latin typeface="Menlo" panose="020B0609030804020204" pitchFamily="49" charset="0"/>
                          <a:ea typeface="Menlo" panose="020B0609030804020204" pitchFamily="49" charset="0"/>
                          <a:cs typeface="Menlo" panose="020B0609030804020204" pitchFamily="49" charset="0"/>
                        </a:rPr>
                        <a:t>(</a:t>
                      </a:r>
                      <a:r>
                        <a:rPr lang="en-GB" b="0" dirty="0" err="1">
                          <a:solidFill>
                            <a:srgbClr val="FF0000"/>
                          </a:solidFill>
                          <a:latin typeface="Menlo" panose="020B0609030804020204" pitchFamily="49" charset="0"/>
                          <a:ea typeface="Menlo" panose="020B0609030804020204" pitchFamily="49" charset="0"/>
                          <a:cs typeface="Menlo" panose="020B0609030804020204" pitchFamily="49" charset="0"/>
                        </a:rPr>
                        <a:t>stdout</a:t>
                      </a:r>
                      <a:r>
                        <a:rPr lang="en-GB" b="0" dirty="0">
                          <a:latin typeface="Menlo" panose="020B0609030804020204" pitchFamily="49" charset="0"/>
                          <a:ea typeface="Menlo" panose="020B0609030804020204" pitchFamily="49" charset="0"/>
                          <a:cs typeface="Menlo" panose="020B0609030804020204" pitchFamily="49" charset="0"/>
                        </a:rPr>
                        <a:t>, "hello");</a:t>
                      </a:r>
                    </a:p>
                    <a:p>
                      <a:r>
                        <a:rPr lang="en-GB" b="0" dirty="0">
                          <a:latin typeface="Menlo" panose="020B0609030804020204" pitchFamily="49" charset="0"/>
                          <a:ea typeface="Menlo" panose="020B0609030804020204" pitchFamily="49" charset="0"/>
                          <a:cs typeface="Menlo" panose="020B0609030804020204" pitchFamily="49" charset="0"/>
                        </a:rPr>
                        <a:t>    fork();</a:t>
                      </a:r>
                    </a:p>
                    <a:p>
                      <a:r>
                        <a:rPr lang="en-GB" b="0" dirty="0">
                          <a:latin typeface="Menlo" panose="020B0609030804020204" pitchFamily="49" charset="0"/>
                          <a:ea typeface="Menlo" panose="020B0609030804020204" pitchFamily="49" charset="0"/>
                          <a:cs typeface="Menlo" panose="020B0609030804020204" pitchFamily="49" charset="0"/>
                        </a:rPr>
                        <a:t>    return 0;</a:t>
                      </a:r>
                    </a:p>
                    <a:p>
                      <a:r>
                        <a:rPr lang="en-GB" b="0" dirty="0">
                          <a:latin typeface="Menlo" panose="020B0609030804020204" pitchFamily="49" charset="0"/>
                          <a:ea typeface="Menlo" panose="020B0609030804020204" pitchFamily="49" charset="0"/>
                          <a:cs typeface="Menlo" panose="020B0609030804020204" pitchFamily="49" charset="0"/>
                        </a:rPr>
                        <a:t>}</a:t>
                      </a:r>
                      <a:endParaRPr lang="ru-RU" b="0" dirty="0">
                        <a:latin typeface="Menlo" panose="020B0609030804020204" pitchFamily="49" charset="0"/>
                        <a:ea typeface="Menlo" panose="020B0609030804020204" pitchFamily="49" charset="0"/>
                        <a:cs typeface="Menlo" panose="020B0609030804020204" pitchFamily="49" charset="0"/>
                      </a:endParaRPr>
                    </a:p>
                    <a:p>
                      <a:endParaRPr lang="ru-RU" b="0" dirty="0">
                        <a:latin typeface="Menlo" panose="020B0609030804020204" pitchFamily="49" charset="0"/>
                        <a:ea typeface="Menlo" panose="020B0609030804020204" pitchFamily="49" charset="0"/>
                        <a:cs typeface="Menlo" panose="020B0609030804020204" pitchFamily="49" charset="0"/>
                      </a:endParaRPr>
                    </a:p>
                  </a:txBody>
                  <a:tcPr/>
                </a:tc>
                <a:tc>
                  <a:txBody>
                    <a:bodyPr/>
                    <a:lstStyle/>
                    <a:p>
                      <a:r>
                        <a:rPr lang="en-GB" b="0" dirty="0">
                          <a:latin typeface="Menlo" panose="020B0609030804020204" pitchFamily="49" charset="0"/>
                          <a:ea typeface="Menlo" panose="020B0609030804020204" pitchFamily="49" charset="0"/>
                          <a:cs typeface="Menlo" panose="020B0609030804020204" pitchFamily="49" charset="0"/>
                        </a:rPr>
                        <a:t>#include &lt;sys/</a:t>
                      </a:r>
                      <a:r>
                        <a:rPr lang="en-GB" b="0" dirty="0" err="1">
                          <a:latin typeface="Menlo" panose="020B0609030804020204" pitchFamily="49" charset="0"/>
                          <a:ea typeface="Menlo" panose="020B0609030804020204" pitchFamily="49" charset="0"/>
                          <a:cs typeface="Menlo" panose="020B0609030804020204" pitchFamily="49" charset="0"/>
                        </a:rPr>
                        <a:t>types.h</a:t>
                      </a:r>
                      <a:r>
                        <a:rPr lang="en-GB" b="0" dirty="0">
                          <a:latin typeface="Menlo" panose="020B0609030804020204" pitchFamily="49" charset="0"/>
                          <a:ea typeface="Menlo" panose="020B0609030804020204" pitchFamily="49" charset="0"/>
                          <a:cs typeface="Menlo" panose="020B0609030804020204" pitchFamily="49" charset="0"/>
                        </a:rPr>
                        <a:t>&gt;</a:t>
                      </a:r>
                    </a:p>
                    <a:p>
                      <a:r>
                        <a:rPr lang="en-GB" b="0" dirty="0">
                          <a:latin typeface="Menlo" panose="020B0609030804020204" pitchFamily="49" charset="0"/>
                          <a:ea typeface="Menlo" panose="020B0609030804020204" pitchFamily="49" charset="0"/>
                          <a:cs typeface="Menlo" panose="020B0609030804020204" pitchFamily="49" charset="0"/>
                        </a:rPr>
                        <a:t>#include &lt;</a:t>
                      </a:r>
                      <a:r>
                        <a:rPr lang="en-GB" b="0" dirty="0" err="1">
                          <a:latin typeface="Menlo" panose="020B0609030804020204" pitchFamily="49" charset="0"/>
                          <a:ea typeface="Menlo" panose="020B0609030804020204" pitchFamily="49" charset="0"/>
                          <a:cs typeface="Menlo" panose="020B0609030804020204" pitchFamily="49" charset="0"/>
                        </a:rPr>
                        <a:t>unistd.h</a:t>
                      </a:r>
                      <a:r>
                        <a:rPr lang="en-GB" b="0" dirty="0">
                          <a:latin typeface="Menlo" panose="020B0609030804020204" pitchFamily="49" charset="0"/>
                          <a:ea typeface="Menlo" panose="020B0609030804020204" pitchFamily="49" charset="0"/>
                          <a:cs typeface="Menlo" panose="020B0609030804020204" pitchFamily="49" charset="0"/>
                        </a:rPr>
                        <a:t>&gt;</a:t>
                      </a:r>
                    </a:p>
                    <a:p>
                      <a:r>
                        <a:rPr lang="en-GB" b="0" dirty="0">
                          <a:latin typeface="Menlo" panose="020B0609030804020204" pitchFamily="49" charset="0"/>
                          <a:ea typeface="Menlo" panose="020B0609030804020204" pitchFamily="49" charset="0"/>
                          <a:cs typeface="Menlo" panose="020B0609030804020204" pitchFamily="49" charset="0"/>
                        </a:rPr>
                        <a:t>#include &lt;</a:t>
                      </a:r>
                      <a:r>
                        <a:rPr lang="en-GB" b="0" dirty="0" err="1">
                          <a:latin typeface="Menlo" panose="020B0609030804020204" pitchFamily="49" charset="0"/>
                          <a:ea typeface="Menlo" panose="020B0609030804020204" pitchFamily="49" charset="0"/>
                          <a:cs typeface="Menlo" panose="020B0609030804020204" pitchFamily="49" charset="0"/>
                        </a:rPr>
                        <a:t>stdio.h</a:t>
                      </a:r>
                      <a:r>
                        <a:rPr lang="en-GB" b="0" dirty="0">
                          <a:latin typeface="Menlo" panose="020B0609030804020204" pitchFamily="49" charset="0"/>
                          <a:ea typeface="Menlo" panose="020B0609030804020204" pitchFamily="49" charset="0"/>
                          <a:cs typeface="Menlo" panose="020B0609030804020204" pitchFamily="49" charset="0"/>
                        </a:rPr>
                        <a:t>&gt;</a:t>
                      </a:r>
                    </a:p>
                    <a:p>
                      <a:endParaRPr lang="en-GB" b="0" dirty="0">
                        <a:latin typeface="Menlo" panose="020B0609030804020204" pitchFamily="49" charset="0"/>
                        <a:ea typeface="Menlo" panose="020B0609030804020204" pitchFamily="49" charset="0"/>
                        <a:cs typeface="Menlo" panose="020B0609030804020204" pitchFamily="49" charset="0"/>
                      </a:endParaRPr>
                    </a:p>
                    <a:p>
                      <a:r>
                        <a:rPr lang="en-GB" b="0" dirty="0">
                          <a:latin typeface="Menlo" panose="020B0609030804020204" pitchFamily="49" charset="0"/>
                          <a:ea typeface="Menlo" panose="020B0609030804020204" pitchFamily="49" charset="0"/>
                          <a:cs typeface="Menlo" panose="020B0609030804020204" pitchFamily="49" charset="0"/>
                        </a:rPr>
                        <a:t>int main(int </a:t>
                      </a:r>
                      <a:r>
                        <a:rPr lang="en-GB" b="0" dirty="0" err="1">
                          <a:latin typeface="Menlo" panose="020B0609030804020204" pitchFamily="49" charset="0"/>
                          <a:ea typeface="Menlo" panose="020B0609030804020204" pitchFamily="49" charset="0"/>
                          <a:cs typeface="Menlo" panose="020B0609030804020204" pitchFamily="49" charset="0"/>
                        </a:rPr>
                        <a:t>argc</a:t>
                      </a:r>
                      <a:r>
                        <a:rPr lang="en-GB" b="0" dirty="0">
                          <a:latin typeface="Menlo" panose="020B0609030804020204" pitchFamily="49" charset="0"/>
                          <a:ea typeface="Menlo" panose="020B0609030804020204" pitchFamily="49" charset="0"/>
                          <a:cs typeface="Menlo" panose="020B0609030804020204" pitchFamily="49" charset="0"/>
                        </a:rPr>
                        <a:t>, char **</a:t>
                      </a:r>
                      <a:r>
                        <a:rPr lang="en-GB" b="0" dirty="0" err="1">
                          <a:latin typeface="Menlo" panose="020B0609030804020204" pitchFamily="49" charset="0"/>
                          <a:ea typeface="Menlo" panose="020B0609030804020204" pitchFamily="49" charset="0"/>
                          <a:cs typeface="Menlo" panose="020B0609030804020204" pitchFamily="49" charset="0"/>
                        </a:rPr>
                        <a:t>argv</a:t>
                      </a:r>
                      <a:r>
                        <a:rPr lang="en-GB" b="0" dirty="0">
                          <a:latin typeface="Menlo" panose="020B0609030804020204" pitchFamily="49" charset="0"/>
                          <a:ea typeface="Menlo" panose="020B0609030804020204" pitchFamily="49" charset="0"/>
                          <a:cs typeface="Menlo" panose="020B0609030804020204" pitchFamily="49" charset="0"/>
                        </a:rPr>
                        <a:t>)</a:t>
                      </a:r>
                    </a:p>
                    <a:p>
                      <a:r>
                        <a:rPr lang="en-GB" b="0" dirty="0">
                          <a:latin typeface="Menlo" panose="020B0609030804020204" pitchFamily="49" charset="0"/>
                          <a:ea typeface="Menlo" panose="020B0609030804020204" pitchFamily="49" charset="0"/>
                          <a:cs typeface="Menlo" panose="020B0609030804020204" pitchFamily="49" charset="0"/>
                        </a:rPr>
                        <a:t>{</a:t>
                      </a:r>
                    </a:p>
                    <a:p>
                      <a:r>
                        <a:rPr lang="en-GB" b="0" dirty="0">
                          <a:latin typeface="Menlo" panose="020B0609030804020204" pitchFamily="49" charset="0"/>
                          <a:ea typeface="Menlo" panose="020B0609030804020204" pitchFamily="49" charset="0"/>
                          <a:cs typeface="Menlo" panose="020B0609030804020204" pitchFamily="49" charset="0"/>
                        </a:rPr>
                        <a:t>    </a:t>
                      </a:r>
                      <a:r>
                        <a:rPr lang="en-GB" b="0" dirty="0" err="1">
                          <a:latin typeface="Menlo" panose="020B0609030804020204" pitchFamily="49" charset="0"/>
                          <a:ea typeface="Menlo" panose="020B0609030804020204" pitchFamily="49" charset="0"/>
                          <a:cs typeface="Menlo" panose="020B0609030804020204" pitchFamily="49" charset="0"/>
                        </a:rPr>
                        <a:t>fprintf</a:t>
                      </a:r>
                      <a:r>
                        <a:rPr lang="en-GB" b="0" dirty="0">
                          <a:latin typeface="Menlo" panose="020B0609030804020204" pitchFamily="49" charset="0"/>
                          <a:ea typeface="Menlo" panose="020B0609030804020204" pitchFamily="49" charset="0"/>
                          <a:cs typeface="Menlo" panose="020B0609030804020204" pitchFamily="49" charset="0"/>
                        </a:rPr>
                        <a:t>(</a:t>
                      </a:r>
                      <a:r>
                        <a:rPr lang="en-GB" b="0" dirty="0">
                          <a:solidFill>
                            <a:srgbClr val="FF0000"/>
                          </a:solidFill>
                          <a:latin typeface="Menlo" panose="020B0609030804020204" pitchFamily="49" charset="0"/>
                          <a:ea typeface="Menlo" panose="020B0609030804020204" pitchFamily="49" charset="0"/>
                          <a:cs typeface="Menlo" panose="020B0609030804020204" pitchFamily="49" charset="0"/>
                        </a:rPr>
                        <a:t>stderr</a:t>
                      </a:r>
                      <a:r>
                        <a:rPr lang="en-GB" b="0" dirty="0">
                          <a:latin typeface="Menlo" panose="020B0609030804020204" pitchFamily="49" charset="0"/>
                          <a:ea typeface="Menlo" panose="020B0609030804020204" pitchFamily="49" charset="0"/>
                          <a:cs typeface="Menlo" panose="020B0609030804020204" pitchFamily="49" charset="0"/>
                        </a:rPr>
                        <a:t>, "hello");</a:t>
                      </a:r>
                    </a:p>
                    <a:p>
                      <a:r>
                        <a:rPr lang="en-GB" b="0" dirty="0">
                          <a:latin typeface="Menlo" panose="020B0609030804020204" pitchFamily="49" charset="0"/>
                          <a:ea typeface="Menlo" panose="020B0609030804020204" pitchFamily="49" charset="0"/>
                          <a:cs typeface="Menlo" panose="020B0609030804020204" pitchFamily="49" charset="0"/>
                        </a:rPr>
                        <a:t>    fork();</a:t>
                      </a:r>
                    </a:p>
                    <a:p>
                      <a:r>
                        <a:rPr lang="en-GB" b="0" dirty="0">
                          <a:latin typeface="Menlo" panose="020B0609030804020204" pitchFamily="49" charset="0"/>
                          <a:ea typeface="Menlo" panose="020B0609030804020204" pitchFamily="49" charset="0"/>
                          <a:cs typeface="Menlo" panose="020B0609030804020204" pitchFamily="49" charset="0"/>
                        </a:rPr>
                        <a:t>    return 0;</a:t>
                      </a:r>
                    </a:p>
                    <a:p>
                      <a:r>
                        <a:rPr lang="en-GB" b="0" dirty="0">
                          <a:latin typeface="Menlo" panose="020B0609030804020204" pitchFamily="49" charset="0"/>
                          <a:ea typeface="Menlo" panose="020B0609030804020204" pitchFamily="49" charset="0"/>
                          <a:cs typeface="Menlo" panose="020B0609030804020204" pitchFamily="49" charset="0"/>
                        </a:rPr>
                        <a:t>}</a:t>
                      </a:r>
                      <a:endParaRPr lang="ru-RU" b="0"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3488557391"/>
                  </a:ext>
                </a:extLst>
              </a:tr>
              <a:tr h="216655">
                <a:tc>
                  <a:txBody>
                    <a:bodyPr/>
                    <a:lstStyle/>
                    <a:p>
                      <a:r>
                        <a:rPr lang="en-US" b="0" dirty="0" err="1"/>
                        <a:t>hellohello</a:t>
                      </a:r>
                      <a:endParaRPr lang="ru-RU" b="0" dirty="0"/>
                    </a:p>
                  </a:txBody>
                  <a:tcPr/>
                </a:tc>
                <a:tc>
                  <a:txBody>
                    <a:bodyPr/>
                    <a:lstStyle/>
                    <a:p>
                      <a:r>
                        <a:rPr lang="en-US" b="0" dirty="0"/>
                        <a:t>hello</a:t>
                      </a:r>
                      <a:endParaRPr lang="ru-RU" b="0" dirty="0"/>
                    </a:p>
                  </a:txBody>
                  <a:tcPr/>
                </a:tc>
                <a:extLst>
                  <a:ext uri="{0D108BD9-81ED-4DB2-BD59-A6C34878D82A}">
                    <a16:rowId xmlns:a16="http://schemas.microsoft.com/office/drawing/2014/main" val="266960115"/>
                  </a:ext>
                </a:extLst>
              </a:tr>
              <a:tr h="216655">
                <a:tc>
                  <a:txBody>
                    <a:bodyPr/>
                    <a:lstStyle/>
                    <a:p>
                      <a:r>
                        <a:rPr lang="en-US" b="0" dirty="0"/>
                        <a:t>How does this happen</a:t>
                      </a:r>
                      <a:r>
                        <a:rPr lang="ru-RU" b="0" dirty="0"/>
                        <a:t>?</a:t>
                      </a:r>
                    </a:p>
                  </a:txBody>
                  <a:tcPr/>
                </a:tc>
                <a:tc>
                  <a:txBody>
                    <a:bodyPr/>
                    <a:lstStyle/>
                    <a:p>
                      <a:endParaRPr lang="ru-RU" b="0" dirty="0"/>
                    </a:p>
                  </a:txBody>
                  <a:tcPr/>
                </a:tc>
                <a:extLst>
                  <a:ext uri="{0D108BD9-81ED-4DB2-BD59-A6C34878D82A}">
                    <a16:rowId xmlns:a16="http://schemas.microsoft.com/office/drawing/2014/main" val="1614954531"/>
                  </a:ext>
                </a:extLst>
              </a:tr>
            </a:tbl>
          </a:graphicData>
        </a:graphic>
      </p:graphicFrame>
    </p:spTree>
    <p:extLst>
      <p:ext uri="{BB962C8B-B14F-4D97-AF65-F5344CB8AC3E}">
        <p14:creationId xmlns:p14="http://schemas.microsoft.com/office/powerpoint/2010/main" val="1782861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F683B-A67C-ED3C-7FF7-74DCBDAA74B1}"/>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D393877-AB4A-C0A1-15EB-C1553517815C}"/>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4F804811-F81D-C496-0A63-9EFA19CE0D92}"/>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97FB43D4-300D-844F-BADD-67A1052A7CA7}"/>
              </a:ext>
            </a:extLst>
          </p:cNvPr>
          <p:cNvGraphicFramePr>
            <a:graphicFrameLocks noGrp="1"/>
          </p:cNvGraphicFramePr>
          <p:nvPr>
            <p:extLst>
              <p:ext uri="{D42A27DB-BD31-4B8C-83A1-F6EECF244321}">
                <p14:modId xmlns:p14="http://schemas.microsoft.com/office/powerpoint/2010/main" val="1771587382"/>
              </p:ext>
            </p:extLst>
          </p:nvPr>
        </p:nvGraphicFramePr>
        <p:xfrm>
          <a:off x="0" y="365760"/>
          <a:ext cx="12192000" cy="566928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756801126"/>
                    </a:ext>
                  </a:extLst>
                </a:gridCol>
              </a:tblGrid>
              <a:tr h="128226">
                <a:tc>
                  <a:txBody>
                    <a:bodyPr/>
                    <a:lstStyle/>
                    <a:p>
                      <a:r>
                        <a:rPr lang="en-US" b="0" dirty="0"/>
                        <a:t>What does this program print</a:t>
                      </a:r>
                      <a:r>
                        <a:rPr lang="ru-RU" b="0" dirty="0"/>
                        <a:t>?</a:t>
                      </a:r>
                      <a:endParaRPr lang="en-US" b="0" dirty="0"/>
                    </a:p>
                  </a:txBody>
                  <a:tcPr/>
                </a:tc>
                <a:tc>
                  <a:txBody>
                    <a:bodyPr/>
                    <a:lstStyle/>
                    <a:p>
                      <a:r>
                        <a:rPr lang="en-US" b="0" dirty="0"/>
                        <a:t>And this one</a:t>
                      </a:r>
                      <a:r>
                        <a:rPr lang="ru-RU" b="0" dirty="0"/>
                        <a:t>?</a:t>
                      </a:r>
                    </a:p>
                  </a:txBody>
                  <a:tcPr/>
                </a:tc>
                <a:extLst>
                  <a:ext uri="{0D108BD9-81ED-4DB2-BD59-A6C34878D82A}">
                    <a16:rowId xmlns:a16="http://schemas.microsoft.com/office/drawing/2014/main" val="10000"/>
                  </a:ext>
                </a:extLst>
              </a:tr>
              <a:tr h="1691640">
                <a:tc>
                  <a:txBody>
                    <a:bodyPr/>
                    <a:lstStyle/>
                    <a:p>
                      <a:r>
                        <a:rPr lang="en-GB" b="0" dirty="0">
                          <a:latin typeface="Menlo" panose="020B0609030804020204" pitchFamily="49" charset="0"/>
                          <a:ea typeface="Menlo" panose="020B0609030804020204" pitchFamily="49" charset="0"/>
                          <a:cs typeface="Menlo" panose="020B0609030804020204" pitchFamily="49" charset="0"/>
                        </a:rPr>
                        <a:t>#include &lt;sys/</a:t>
                      </a:r>
                      <a:r>
                        <a:rPr lang="en-GB" b="0" dirty="0" err="1">
                          <a:latin typeface="Menlo" panose="020B0609030804020204" pitchFamily="49" charset="0"/>
                          <a:ea typeface="Menlo" panose="020B0609030804020204" pitchFamily="49" charset="0"/>
                          <a:cs typeface="Menlo" panose="020B0609030804020204" pitchFamily="49" charset="0"/>
                        </a:rPr>
                        <a:t>types.h</a:t>
                      </a:r>
                      <a:r>
                        <a:rPr lang="en-GB" b="0" dirty="0">
                          <a:latin typeface="Menlo" panose="020B0609030804020204" pitchFamily="49" charset="0"/>
                          <a:ea typeface="Menlo" panose="020B0609030804020204" pitchFamily="49" charset="0"/>
                          <a:cs typeface="Menlo" panose="020B0609030804020204" pitchFamily="49" charset="0"/>
                        </a:rPr>
                        <a:t>&gt;</a:t>
                      </a:r>
                    </a:p>
                    <a:p>
                      <a:r>
                        <a:rPr lang="en-GB" b="0" dirty="0">
                          <a:latin typeface="Menlo" panose="020B0609030804020204" pitchFamily="49" charset="0"/>
                          <a:ea typeface="Menlo" panose="020B0609030804020204" pitchFamily="49" charset="0"/>
                          <a:cs typeface="Menlo" panose="020B0609030804020204" pitchFamily="49" charset="0"/>
                        </a:rPr>
                        <a:t>#include &lt;</a:t>
                      </a:r>
                      <a:r>
                        <a:rPr lang="en-GB" b="0" dirty="0" err="1">
                          <a:latin typeface="Menlo" panose="020B0609030804020204" pitchFamily="49" charset="0"/>
                          <a:ea typeface="Menlo" panose="020B0609030804020204" pitchFamily="49" charset="0"/>
                          <a:cs typeface="Menlo" panose="020B0609030804020204" pitchFamily="49" charset="0"/>
                        </a:rPr>
                        <a:t>unistd.h</a:t>
                      </a:r>
                      <a:r>
                        <a:rPr lang="en-GB" b="0" dirty="0">
                          <a:latin typeface="Menlo" panose="020B0609030804020204" pitchFamily="49" charset="0"/>
                          <a:ea typeface="Menlo" panose="020B0609030804020204" pitchFamily="49" charset="0"/>
                          <a:cs typeface="Menlo" panose="020B0609030804020204" pitchFamily="49" charset="0"/>
                        </a:rPr>
                        <a:t>&gt;</a:t>
                      </a:r>
                    </a:p>
                    <a:p>
                      <a:r>
                        <a:rPr lang="en-GB" b="0" dirty="0">
                          <a:latin typeface="Menlo" panose="020B0609030804020204" pitchFamily="49" charset="0"/>
                          <a:ea typeface="Menlo" panose="020B0609030804020204" pitchFamily="49" charset="0"/>
                          <a:cs typeface="Menlo" panose="020B0609030804020204" pitchFamily="49" charset="0"/>
                        </a:rPr>
                        <a:t>#include &lt;</a:t>
                      </a:r>
                      <a:r>
                        <a:rPr lang="en-GB" b="0" dirty="0" err="1">
                          <a:latin typeface="Menlo" panose="020B0609030804020204" pitchFamily="49" charset="0"/>
                          <a:ea typeface="Menlo" panose="020B0609030804020204" pitchFamily="49" charset="0"/>
                          <a:cs typeface="Menlo" panose="020B0609030804020204" pitchFamily="49" charset="0"/>
                        </a:rPr>
                        <a:t>stdio.h</a:t>
                      </a:r>
                      <a:r>
                        <a:rPr lang="en-GB" b="0" dirty="0">
                          <a:latin typeface="Menlo" panose="020B0609030804020204" pitchFamily="49" charset="0"/>
                          <a:ea typeface="Menlo" panose="020B0609030804020204" pitchFamily="49" charset="0"/>
                          <a:cs typeface="Menlo" panose="020B0609030804020204" pitchFamily="49" charset="0"/>
                        </a:rPr>
                        <a:t>&gt;</a:t>
                      </a:r>
                    </a:p>
                    <a:p>
                      <a:endParaRPr lang="en-GB" b="0" dirty="0">
                        <a:latin typeface="Menlo" panose="020B0609030804020204" pitchFamily="49" charset="0"/>
                        <a:ea typeface="Menlo" panose="020B0609030804020204" pitchFamily="49" charset="0"/>
                        <a:cs typeface="Menlo" panose="020B0609030804020204" pitchFamily="49" charset="0"/>
                      </a:endParaRPr>
                    </a:p>
                    <a:p>
                      <a:r>
                        <a:rPr lang="en-GB" b="0" dirty="0">
                          <a:latin typeface="Menlo" panose="020B0609030804020204" pitchFamily="49" charset="0"/>
                          <a:ea typeface="Menlo" panose="020B0609030804020204" pitchFamily="49" charset="0"/>
                          <a:cs typeface="Menlo" panose="020B0609030804020204" pitchFamily="49" charset="0"/>
                        </a:rPr>
                        <a:t>int main(int </a:t>
                      </a:r>
                      <a:r>
                        <a:rPr lang="en-GB" b="0" dirty="0" err="1">
                          <a:latin typeface="Menlo" panose="020B0609030804020204" pitchFamily="49" charset="0"/>
                          <a:ea typeface="Menlo" panose="020B0609030804020204" pitchFamily="49" charset="0"/>
                          <a:cs typeface="Menlo" panose="020B0609030804020204" pitchFamily="49" charset="0"/>
                        </a:rPr>
                        <a:t>argc</a:t>
                      </a:r>
                      <a:r>
                        <a:rPr lang="en-GB" b="0" dirty="0">
                          <a:latin typeface="Menlo" panose="020B0609030804020204" pitchFamily="49" charset="0"/>
                          <a:ea typeface="Menlo" panose="020B0609030804020204" pitchFamily="49" charset="0"/>
                          <a:cs typeface="Menlo" panose="020B0609030804020204" pitchFamily="49" charset="0"/>
                        </a:rPr>
                        <a:t>, char **</a:t>
                      </a:r>
                      <a:r>
                        <a:rPr lang="en-GB" b="0" dirty="0" err="1">
                          <a:latin typeface="Menlo" panose="020B0609030804020204" pitchFamily="49" charset="0"/>
                          <a:ea typeface="Menlo" panose="020B0609030804020204" pitchFamily="49" charset="0"/>
                          <a:cs typeface="Menlo" panose="020B0609030804020204" pitchFamily="49" charset="0"/>
                        </a:rPr>
                        <a:t>argv</a:t>
                      </a:r>
                      <a:r>
                        <a:rPr lang="en-GB" b="0" dirty="0">
                          <a:latin typeface="Menlo" panose="020B0609030804020204" pitchFamily="49" charset="0"/>
                          <a:ea typeface="Menlo" panose="020B0609030804020204" pitchFamily="49" charset="0"/>
                          <a:cs typeface="Menlo" panose="020B0609030804020204" pitchFamily="49" charset="0"/>
                        </a:rPr>
                        <a:t>)</a:t>
                      </a:r>
                    </a:p>
                    <a:p>
                      <a:r>
                        <a:rPr lang="en-GB" b="0" dirty="0">
                          <a:latin typeface="Menlo" panose="020B0609030804020204" pitchFamily="49" charset="0"/>
                          <a:ea typeface="Menlo" panose="020B0609030804020204" pitchFamily="49" charset="0"/>
                          <a:cs typeface="Menlo" panose="020B0609030804020204" pitchFamily="49" charset="0"/>
                        </a:rPr>
                        <a:t>{</a:t>
                      </a:r>
                    </a:p>
                    <a:p>
                      <a:r>
                        <a:rPr lang="en-GB" b="0" dirty="0">
                          <a:latin typeface="Menlo" panose="020B0609030804020204" pitchFamily="49" charset="0"/>
                          <a:ea typeface="Menlo" panose="020B0609030804020204" pitchFamily="49" charset="0"/>
                          <a:cs typeface="Menlo" panose="020B0609030804020204" pitchFamily="49" charset="0"/>
                        </a:rPr>
                        <a:t>    </a:t>
                      </a:r>
                      <a:r>
                        <a:rPr lang="en-GB" b="0" dirty="0" err="1">
                          <a:latin typeface="Menlo" panose="020B0609030804020204" pitchFamily="49" charset="0"/>
                          <a:ea typeface="Menlo" panose="020B0609030804020204" pitchFamily="49" charset="0"/>
                          <a:cs typeface="Menlo" panose="020B0609030804020204" pitchFamily="49" charset="0"/>
                        </a:rPr>
                        <a:t>fprintf</a:t>
                      </a:r>
                      <a:r>
                        <a:rPr lang="en-GB" b="0" dirty="0">
                          <a:latin typeface="Menlo" panose="020B0609030804020204" pitchFamily="49" charset="0"/>
                          <a:ea typeface="Menlo" panose="020B0609030804020204" pitchFamily="49" charset="0"/>
                          <a:cs typeface="Menlo" panose="020B0609030804020204" pitchFamily="49" charset="0"/>
                        </a:rPr>
                        <a:t>(</a:t>
                      </a:r>
                      <a:r>
                        <a:rPr lang="en-GB" b="0" dirty="0" err="1">
                          <a:solidFill>
                            <a:srgbClr val="FF0000"/>
                          </a:solidFill>
                          <a:latin typeface="Menlo" panose="020B0609030804020204" pitchFamily="49" charset="0"/>
                          <a:ea typeface="Menlo" panose="020B0609030804020204" pitchFamily="49" charset="0"/>
                          <a:cs typeface="Menlo" panose="020B0609030804020204" pitchFamily="49" charset="0"/>
                        </a:rPr>
                        <a:t>stdout</a:t>
                      </a:r>
                      <a:r>
                        <a:rPr lang="en-GB" b="0" dirty="0">
                          <a:latin typeface="Menlo" panose="020B0609030804020204" pitchFamily="49" charset="0"/>
                          <a:ea typeface="Menlo" panose="020B0609030804020204" pitchFamily="49" charset="0"/>
                          <a:cs typeface="Menlo" panose="020B0609030804020204" pitchFamily="49" charset="0"/>
                        </a:rPr>
                        <a:t>, "hello");</a:t>
                      </a:r>
                    </a:p>
                    <a:p>
                      <a:r>
                        <a:rPr lang="en-GB" b="0" dirty="0">
                          <a:latin typeface="Menlo" panose="020B0609030804020204" pitchFamily="49" charset="0"/>
                          <a:ea typeface="Menlo" panose="020B0609030804020204" pitchFamily="49" charset="0"/>
                          <a:cs typeface="Menlo" panose="020B0609030804020204" pitchFamily="49" charset="0"/>
                        </a:rPr>
                        <a:t>    fork();</a:t>
                      </a:r>
                    </a:p>
                    <a:p>
                      <a:r>
                        <a:rPr lang="en-GB" b="0" dirty="0">
                          <a:latin typeface="Menlo" panose="020B0609030804020204" pitchFamily="49" charset="0"/>
                          <a:ea typeface="Menlo" panose="020B0609030804020204" pitchFamily="49" charset="0"/>
                          <a:cs typeface="Menlo" panose="020B0609030804020204" pitchFamily="49" charset="0"/>
                        </a:rPr>
                        <a:t>    return 0;</a:t>
                      </a:r>
                    </a:p>
                    <a:p>
                      <a:r>
                        <a:rPr lang="en-GB" b="0" dirty="0">
                          <a:latin typeface="Menlo" panose="020B0609030804020204" pitchFamily="49" charset="0"/>
                          <a:ea typeface="Menlo" panose="020B0609030804020204" pitchFamily="49" charset="0"/>
                          <a:cs typeface="Menlo" panose="020B0609030804020204" pitchFamily="49" charset="0"/>
                        </a:rPr>
                        <a:t>}</a:t>
                      </a:r>
                      <a:endParaRPr lang="ru-RU" b="0" dirty="0">
                        <a:latin typeface="Menlo" panose="020B0609030804020204" pitchFamily="49" charset="0"/>
                        <a:ea typeface="Menlo" panose="020B0609030804020204" pitchFamily="49" charset="0"/>
                        <a:cs typeface="Menlo" panose="020B0609030804020204" pitchFamily="49" charset="0"/>
                      </a:endParaRPr>
                    </a:p>
                    <a:p>
                      <a:endParaRPr lang="ru-RU" b="0" dirty="0">
                        <a:latin typeface="Menlo" panose="020B0609030804020204" pitchFamily="49" charset="0"/>
                        <a:ea typeface="Menlo" panose="020B0609030804020204" pitchFamily="49" charset="0"/>
                        <a:cs typeface="Menlo" panose="020B0609030804020204" pitchFamily="49" charset="0"/>
                      </a:endParaRPr>
                    </a:p>
                  </a:txBody>
                  <a:tcPr/>
                </a:tc>
                <a:tc>
                  <a:txBody>
                    <a:bodyPr/>
                    <a:lstStyle/>
                    <a:p>
                      <a:r>
                        <a:rPr lang="en-GB" b="0" dirty="0">
                          <a:latin typeface="Menlo" panose="020B0609030804020204" pitchFamily="49" charset="0"/>
                          <a:ea typeface="Menlo" panose="020B0609030804020204" pitchFamily="49" charset="0"/>
                          <a:cs typeface="Menlo" panose="020B0609030804020204" pitchFamily="49" charset="0"/>
                        </a:rPr>
                        <a:t>#include &lt;sys/</a:t>
                      </a:r>
                      <a:r>
                        <a:rPr lang="en-GB" b="0" dirty="0" err="1">
                          <a:latin typeface="Menlo" panose="020B0609030804020204" pitchFamily="49" charset="0"/>
                          <a:ea typeface="Menlo" panose="020B0609030804020204" pitchFamily="49" charset="0"/>
                          <a:cs typeface="Menlo" panose="020B0609030804020204" pitchFamily="49" charset="0"/>
                        </a:rPr>
                        <a:t>types.h</a:t>
                      </a:r>
                      <a:r>
                        <a:rPr lang="en-GB" b="0" dirty="0">
                          <a:latin typeface="Menlo" panose="020B0609030804020204" pitchFamily="49" charset="0"/>
                          <a:ea typeface="Menlo" panose="020B0609030804020204" pitchFamily="49" charset="0"/>
                          <a:cs typeface="Menlo" panose="020B0609030804020204" pitchFamily="49" charset="0"/>
                        </a:rPr>
                        <a:t>&gt;</a:t>
                      </a:r>
                    </a:p>
                    <a:p>
                      <a:r>
                        <a:rPr lang="en-GB" b="0" dirty="0">
                          <a:latin typeface="Menlo" panose="020B0609030804020204" pitchFamily="49" charset="0"/>
                          <a:ea typeface="Menlo" panose="020B0609030804020204" pitchFamily="49" charset="0"/>
                          <a:cs typeface="Menlo" panose="020B0609030804020204" pitchFamily="49" charset="0"/>
                        </a:rPr>
                        <a:t>#include &lt;</a:t>
                      </a:r>
                      <a:r>
                        <a:rPr lang="en-GB" b="0" dirty="0" err="1">
                          <a:latin typeface="Menlo" panose="020B0609030804020204" pitchFamily="49" charset="0"/>
                          <a:ea typeface="Menlo" panose="020B0609030804020204" pitchFamily="49" charset="0"/>
                          <a:cs typeface="Menlo" panose="020B0609030804020204" pitchFamily="49" charset="0"/>
                        </a:rPr>
                        <a:t>unistd.h</a:t>
                      </a:r>
                      <a:r>
                        <a:rPr lang="en-GB" b="0" dirty="0">
                          <a:latin typeface="Menlo" panose="020B0609030804020204" pitchFamily="49" charset="0"/>
                          <a:ea typeface="Menlo" panose="020B0609030804020204" pitchFamily="49" charset="0"/>
                          <a:cs typeface="Menlo" panose="020B0609030804020204" pitchFamily="49" charset="0"/>
                        </a:rPr>
                        <a:t>&gt;</a:t>
                      </a:r>
                    </a:p>
                    <a:p>
                      <a:r>
                        <a:rPr lang="en-GB" b="0" dirty="0">
                          <a:latin typeface="Menlo" panose="020B0609030804020204" pitchFamily="49" charset="0"/>
                          <a:ea typeface="Menlo" panose="020B0609030804020204" pitchFamily="49" charset="0"/>
                          <a:cs typeface="Menlo" panose="020B0609030804020204" pitchFamily="49" charset="0"/>
                        </a:rPr>
                        <a:t>#include &lt;</a:t>
                      </a:r>
                      <a:r>
                        <a:rPr lang="en-GB" b="0" dirty="0" err="1">
                          <a:latin typeface="Menlo" panose="020B0609030804020204" pitchFamily="49" charset="0"/>
                          <a:ea typeface="Menlo" panose="020B0609030804020204" pitchFamily="49" charset="0"/>
                          <a:cs typeface="Menlo" panose="020B0609030804020204" pitchFamily="49" charset="0"/>
                        </a:rPr>
                        <a:t>stdio.h</a:t>
                      </a:r>
                      <a:r>
                        <a:rPr lang="en-GB" b="0" dirty="0">
                          <a:latin typeface="Menlo" panose="020B0609030804020204" pitchFamily="49" charset="0"/>
                          <a:ea typeface="Menlo" panose="020B0609030804020204" pitchFamily="49" charset="0"/>
                          <a:cs typeface="Menlo" panose="020B0609030804020204" pitchFamily="49" charset="0"/>
                        </a:rPr>
                        <a:t>&gt;</a:t>
                      </a:r>
                    </a:p>
                    <a:p>
                      <a:endParaRPr lang="en-GB" b="0" dirty="0">
                        <a:latin typeface="Menlo" panose="020B0609030804020204" pitchFamily="49" charset="0"/>
                        <a:ea typeface="Menlo" panose="020B0609030804020204" pitchFamily="49" charset="0"/>
                        <a:cs typeface="Menlo" panose="020B0609030804020204" pitchFamily="49" charset="0"/>
                      </a:endParaRPr>
                    </a:p>
                    <a:p>
                      <a:r>
                        <a:rPr lang="en-GB" b="0" dirty="0">
                          <a:latin typeface="Menlo" panose="020B0609030804020204" pitchFamily="49" charset="0"/>
                          <a:ea typeface="Menlo" panose="020B0609030804020204" pitchFamily="49" charset="0"/>
                          <a:cs typeface="Menlo" panose="020B0609030804020204" pitchFamily="49" charset="0"/>
                        </a:rPr>
                        <a:t>int main(int </a:t>
                      </a:r>
                      <a:r>
                        <a:rPr lang="en-GB" b="0" dirty="0" err="1">
                          <a:latin typeface="Menlo" panose="020B0609030804020204" pitchFamily="49" charset="0"/>
                          <a:ea typeface="Menlo" panose="020B0609030804020204" pitchFamily="49" charset="0"/>
                          <a:cs typeface="Menlo" panose="020B0609030804020204" pitchFamily="49" charset="0"/>
                        </a:rPr>
                        <a:t>argc</a:t>
                      </a:r>
                      <a:r>
                        <a:rPr lang="en-GB" b="0" dirty="0">
                          <a:latin typeface="Menlo" panose="020B0609030804020204" pitchFamily="49" charset="0"/>
                          <a:ea typeface="Menlo" panose="020B0609030804020204" pitchFamily="49" charset="0"/>
                          <a:cs typeface="Menlo" panose="020B0609030804020204" pitchFamily="49" charset="0"/>
                        </a:rPr>
                        <a:t>, char **</a:t>
                      </a:r>
                      <a:r>
                        <a:rPr lang="en-GB" b="0" dirty="0" err="1">
                          <a:latin typeface="Menlo" panose="020B0609030804020204" pitchFamily="49" charset="0"/>
                          <a:ea typeface="Menlo" panose="020B0609030804020204" pitchFamily="49" charset="0"/>
                          <a:cs typeface="Menlo" panose="020B0609030804020204" pitchFamily="49" charset="0"/>
                        </a:rPr>
                        <a:t>argv</a:t>
                      </a:r>
                      <a:r>
                        <a:rPr lang="en-GB" b="0" dirty="0">
                          <a:latin typeface="Menlo" panose="020B0609030804020204" pitchFamily="49" charset="0"/>
                          <a:ea typeface="Menlo" panose="020B0609030804020204" pitchFamily="49" charset="0"/>
                          <a:cs typeface="Menlo" panose="020B0609030804020204" pitchFamily="49" charset="0"/>
                        </a:rPr>
                        <a:t>)</a:t>
                      </a:r>
                    </a:p>
                    <a:p>
                      <a:r>
                        <a:rPr lang="en-GB" b="0" dirty="0">
                          <a:latin typeface="Menlo" panose="020B0609030804020204" pitchFamily="49" charset="0"/>
                          <a:ea typeface="Menlo" panose="020B0609030804020204" pitchFamily="49" charset="0"/>
                          <a:cs typeface="Menlo" panose="020B0609030804020204" pitchFamily="49" charset="0"/>
                        </a:rPr>
                        <a:t>{</a:t>
                      </a:r>
                    </a:p>
                    <a:p>
                      <a:r>
                        <a:rPr lang="en-GB" b="0" dirty="0">
                          <a:latin typeface="Menlo" panose="020B0609030804020204" pitchFamily="49" charset="0"/>
                          <a:ea typeface="Menlo" panose="020B0609030804020204" pitchFamily="49" charset="0"/>
                          <a:cs typeface="Menlo" panose="020B0609030804020204" pitchFamily="49" charset="0"/>
                        </a:rPr>
                        <a:t>    </a:t>
                      </a:r>
                      <a:r>
                        <a:rPr lang="en-GB" b="0" dirty="0" err="1">
                          <a:latin typeface="Menlo" panose="020B0609030804020204" pitchFamily="49" charset="0"/>
                          <a:ea typeface="Menlo" panose="020B0609030804020204" pitchFamily="49" charset="0"/>
                          <a:cs typeface="Menlo" panose="020B0609030804020204" pitchFamily="49" charset="0"/>
                        </a:rPr>
                        <a:t>fprintf</a:t>
                      </a:r>
                      <a:r>
                        <a:rPr lang="en-GB" b="0" dirty="0">
                          <a:latin typeface="Menlo" panose="020B0609030804020204" pitchFamily="49" charset="0"/>
                          <a:ea typeface="Menlo" panose="020B0609030804020204" pitchFamily="49" charset="0"/>
                          <a:cs typeface="Menlo" panose="020B0609030804020204" pitchFamily="49" charset="0"/>
                        </a:rPr>
                        <a:t>(</a:t>
                      </a:r>
                      <a:r>
                        <a:rPr lang="en-GB" b="0" dirty="0">
                          <a:solidFill>
                            <a:srgbClr val="FF0000"/>
                          </a:solidFill>
                          <a:latin typeface="Menlo" panose="020B0609030804020204" pitchFamily="49" charset="0"/>
                          <a:ea typeface="Menlo" panose="020B0609030804020204" pitchFamily="49" charset="0"/>
                          <a:cs typeface="Menlo" panose="020B0609030804020204" pitchFamily="49" charset="0"/>
                        </a:rPr>
                        <a:t>stderr</a:t>
                      </a:r>
                      <a:r>
                        <a:rPr lang="en-GB" b="0" dirty="0">
                          <a:latin typeface="Menlo" panose="020B0609030804020204" pitchFamily="49" charset="0"/>
                          <a:ea typeface="Menlo" panose="020B0609030804020204" pitchFamily="49" charset="0"/>
                          <a:cs typeface="Menlo" panose="020B0609030804020204" pitchFamily="49" charset="0"/>
                        </a:rPr>
                        <a:t>, "hello");</a:t>
                      </a:r>
                    </a:p>
                    <a:p>
                      <a:r>
                        <a:rPr lang="en-GB" b="0" dirty="0">
                          <a:latin typeface="Menlo" panose="020B0609030804020204" pitchFamily="49" charset="0"/>
                          <a:ea typeface="Menlo" panose="020B0609030804020204" pitchFamily="49" charset="0"/>
                          <a:cs typeface="Menlo" panose="020B0609030804020204" pitchFamily="49" charset="0"/>
                        </a:rPr>
                        <a:t>    fork();</a:t>
                      </a:r>
                    </a:p>
                    <a:p>
                      <a:r>
                        <a:rPr lang="en-GB" b="0" dirty="0">
                          <a:latin typeface="Menlo" panose="020B0609030804020204" pitchFamily="49" charset="0"/>
                          <a:ea typeface="Menlo" panose="020B0609030804020204" pitchFamily="49" charset="0"/>
                          <a:cs typeface="Menlo" panose="020B0609030804020204" pitchFamily="49" charset="0"/>
                        </a:rPr>
                        <a:t>    return 0;</a:t>
                      </a:r>
                    </a:p>
                    <a:p>
                      <a:r>
                        <a:rPr lang="en-GB" b="0" dirty="0">
                          <a:latin typeface="Menlo" panose="020B0609030804020204" pitchFamily="49" charset="0"/>
                          <a:ea typeface="Menlo" panose="020B0609030804020204" pitchFamily="49" charset="0"/>
                          <a:cs typeface="Menlo" panose="020B0609030804020204" pitchFamily="49" charset="0"/>
                        </a:rPr>
                        <a:t>}</a:t>
                      </a:r>
                      <a:endParaRPr lang="ru-RU" b="0"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3488557391"/>
                  </a:ext>
                </a:extLst>
              </a:tr>
              <a:tr h="216655">
                <a:tc>
                  <a:txBody>
                    <a:bodyPr/>
                    <a:lstStyle/>
                    <a:p>
                      <a:r>
                        <a:rPr lang="en-US" b="0" dirty="0" err="1"/>
                        <a:t>hellohello</a:t>
                      </a:r>
                      <a:endParaRPr lang="ru-RU" b="0" dirty="0"/>
                    </a:p>
                  </a:txBody>
                  <a:tcPr/>
                </a:tc>
                <a:tc>
                  <a:txBody>
                    <a:bodyPr/>
                    <a:lstStyle/>
                    <a:p>
                      <a:r>
                        <a:rPr lang="en-US" b="0" dirty="0"/>
                        <a:t>hello</a:t>
                      </a:r>
                      <a:endParaRPr lang="ru-RU" b="0" dirty="0"/>
                    </a:p>
                  </a:txBody>
                  <a:tcPr/>
                </a:tc>
                <a:extLst>
                  <a:ext uri="{0D108BD9-81ED-4DB2-BD59-A6C34878D82A}">
                    <a16:rowId xmlns:a16="http://schemas.microsoft.com/office/drawing/2014/main" val="266960115"/>
                  </a:ext>
                </a:extLst>
              </a:tr>
              <a:tr h="216655">
                <a:tc>
                  <a:txBody>
                    <a:bodyPr/>
                    <a:lstStyle/>
                    <a:p>
                      <a:r>
                        <a:rPr lang="en-US" b="0" dirty="0"/>
                        <a:t>How does this happen</a:t>
                      </a:r>
                      <a:r>
                        <a:rPr lang="ru-RU" b="0" dirty="0"/>
                        <a:t>?</a:t>
                      </a:r>
                    </a:p>
                  </a:txBody>
                  <a:tcPr/>
                </a:tc>
                <a:tc>
                  <a:txBody>
                    <a:bodyPr/>
                    <a:lstStyle/>
                    <a:p>
                      <a:endParaRPr lang="ru-RU" b="0" dirty="0"/>
                    </a:p>
                  </a:txBody>
                  <a:tcPr/>
                </a:tc>
                <a:extLst>
                  <a:ext uri="{0D108BD9-81ED-4DB2-BD59-A6C34878D82A}">
                    <a16:rowId xmlns:a16="http://schemas.microsoft.com/office/drawing/2014/main" val="1614954531"/>
                  </a:ext>
                </a:extLst>
              </a:tr>
              <a:tr h="216655">
                <a:tc>
                  <a:txBody>
                    <a:bodyPr/>
                    <a:lstStyle/>
                    <a:p>
                      <a:r>
                        <a:rPr lang="en-US" b="0" dirty="0"/>
                        <a:t>Glibc buffers writes to </a:t>
                      </a:r>
                      <a:r>
                        <a:rPr lang="en-US" b="0" dirty="0" err="1"/>
                        <a:t>stdout</a:t>
                      </a:r>
                      <a:r>
                        <a:rPr lang="en-US" b="0" dirty="0"/>
                        <a:t>. A call to</a:t>
                      </a:r>
                      <a:r>
                        <a:rPr lang="ru-RU" b="0" dirty="0"/>
                        <a:t> </a:t>
                      </a:r>
                      <a:r>
                        <a:rPr lang="en-US" b="0" dirty="0">
                          <a:latin typeface="Consolas" panose="020B0609020204030204" pitchFamily="49" charset="0"/>
                          <a:cs typeface="Consolas" panose="020B0609020204030204" pitchFamily="49" charset="0"/>
                        </a:rPr>
                        <a:t>fork()</a:t>
                      </a:r>
                      <a:r>
                        <a:rPr lang="en-US" b="0" dirty="0"/>
                        <a:t> produces a copy of this buffer in the new process.</a:t>
                      </a:r>
                    </a:p>
                    <a:p>
                      <a:endParaRPr lang="ru-RU" b="0" dirty="0"/>
                    </a:p>
                    <a:p>
                      <a:r>
                        <a:rPr lang="en-US" b="0" dirty="0"/>
                        <a:t>Upon exit, each of the 2 processes flush the buffer to file descriptor </a:t>
                      </a:r>
                      <a:r>
                        <a:rPr lang="ru-RU" b="0" dirty="0"/>
                        <a:t>1.</a:t>
                      </a:r>
                    </a:p>
                  </a:txBody>
                  <a:tcPr/>
                </a:tc>
                <a:tc>
                  <a:txBody>
                    <a:bodyPr/>
                    <a:lstStyle/>
                    <a:p>
                      <a:r>
                        <a:rPr lang="en-US" b="0" dirty="0"/>
                        <a:t>Stderr is not buffered</a:t>
                      </a:r>
                      <a:r>
                        <a:rPr lang="ru-RU" b="0" dirty="0"/>
                        <a:t>. </a:t>
                      </a:r>
                      <a:r>
                        <a:rPr lang="en-US" b="0" dirty="0"/>
                        <a:t>A call to</a:t>
                      </a:r>
                      <a:r>
                        <a:rPr lang="ru-RU" b="0" dirty="0"/>
                        <a:t> </a:t>
                      </a:r>
                      <a:r>
                        <a:rPr lang="en-US" b="0" dirty="0" err="1">
                          <a:latin typeface="Consolas" panose="020B0609020204030204" pitchFamily="49" charset="0"/>
                          <a:cs typeface="Consolas" panose="020B0609020204030204" pitchFamily="49" charset="0"/>
                        </a:rPr>
                        <a:t>fprintf</a:t>
                      </a:r>
                      <a:r>
                        <a:rPr lang="en-US" b="0" dirty="0">
                          <a:latin typeface="Consolas" panose="020B0609020204030204" pitchFamily="49" charset="0"/>
                          <a:cs typeface="Consolas" panose="020B0609020204030204" pitchFamily="49" charset="0"/>
                        </a:rPr>
                        <a:t>()</a:t>
                      </a:r>
                      <a:r>
                        <a:rPr lang="en-US" b="0" dirty="0"/>
                        <a:t> writes the message to file descriptor 2 immediately</a:t>
                      </a:r>
                      <a:r>
                        <a:rPr lang="ru-RU" b="0" dirty="0"/>
                        <a:t>.</a:t>
                      </a:r>
                      <a:r>
                        <a:rPr lang="en-US" b="0" dirty="0"/>
                        <a:t> A process forks when it has nothing more to write.</a:t>
                      </a:r>
                      <a:endParaRPr lang="ru-RU" b="0" dirty="0"/>
                    </a:p>
                  </a:txBody>
                  <a:tcPr/>
                </a:tc>
                <a:extLst>
                  <a:ext uri="{0D108BD9-81ED-4DB2-BD59-A6C34878D82A}">
                    <a16:rowId xmlns:a16="http://schemas.microsoft.com/office/drawing/2014/main" val="2238387132"/>
                  </a:ext>
                </a:extLst>
              </a:tr>
            </a:tbl>
          </a:graphicData>
        </a:graphic>
      </p:graphicFrame>
    </p:spTree>
    <p:extLst>
      <p:ext uri="{BB962C8B-B14F-4D97-AF65-F5344CB8AC3E}">
        <p14:creationId xmlns:p14="http://schemas.microsoft.com/office/powerpoint/2010/main" val="363997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FD1DD-DDE1-524A-F47B-E2F66B641C8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1C3E6FB-11CB-A7A5-B187-EBBD7F69F905}"/>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CD93A91B-BC42-30E8-04FE-8F3B0708B65F}"/>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D78F49B8-3FA8-DFAE-C325-218032BAFEC3}"/>
              </a:ext>
            </a:extLst>
          </p:cNvPr>
          <p:cNvGraphicFramePr>
            <a:graphicFrameLocks noGrp="1"/>
          </p:cNvGraphicFramePr>
          <p:nvPr>
            <p:extLst>
              <p:ext uri="{D42A27DB-BD31-4B8C-83A1-F6EECF244321}">
                <p14:modId xmlns:p14="http://schemas.microsoft.com/office/powerpoint/2010/main" val="3837783908"/>
              </p:ext>
            </p:extLst>
          </p:nvPr>
        </p:nvGraphicFramePr>
        <p:xfrm>
          <a:off x="0" y="365760"/>
          <a:ext cx="12192000" cy="457200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756801126"/>
                    </a:ext>
                  </a:extLst>
                </a:gridCol>
              </a:tblGrid>
              <a:tr h="128226">
                <a:tc>
                  <a:txBody>
                    <a:bodyPr/>
                    <a:lstStyle/>
                    <a:p>
                      <a:r>
                        <a:rPr lang="en-US" b="0" dirty="0">
                          <a:solidFill>
                            <a:schemeClr val="bg1">
                              <a:lumMod val="85000"/>
                            </a:schemeClr>
                          </a:solidFill>
                        </a:rPr>
                        <a:t>What does this program print</a:t>
                      </a:r>
                      <a:r>
                        <a:rPr lang="ru-RU" b="0" dirty="0">
                          <a:solidFill>
                            <a:schemeClr val="bg1">
                              <a:lumMod val="85000"/>
                            </a:schemeClr>
                          </a:solidFill>
                        </a:rPr>
                        <a:t>?</a:t>
                      </a:r>
                      <a:endParaRPr lang="en-US" b="0" dirty="0">
                        <a:solidFill>
                          <a:schemeClr val="bg1">
                            <a:lumMod val="85000"/>
                          </a:schemeClr>
                        </a:solidFill>
                      </a:endParaRPr>
                    </a:p>
                  </a:txBody>
                  <a:tcPr/>
                </a:tc>
                <a:tc>
                  <a:txBody>
                    <a:bodyPr/>
                    <a:lstStyle/>
                    <a:p>
                      <a:r>
                        <a:rPr lang="en-US" b="0" dirty="0">
                          <a:solidFill>
                            <a:schemeClr val="bg1">
                              <a:lumMod val="85000"/>
                            </a:schemeClr>
                          </a:solidFill>
                        </a:rPr>
                        <a:t>And this one</a:t>
                      </a:r>
                      <a:r>
                        <a:rPr lang="ru-RU" b="0" dirty="0">
                          <a:solidFill>
                            <a:schemeClr val="bg1">
                              <a:lumMod val="85000"/>
                            </a:schemeClr>
                          </a:solidFill>
                        </a:rPr>
                        <a:t>?</a:t>
                      </a:r>
                    </a:p>
                  </a:txBody>
                  <a:tcPr/>
                </a:tc>
                <a:extLst>
                  <a:ext uri="{0D108BD9-81ED-4DB2-BD59-A6C34878D82A}">
                    <a16:rowId xmlns:a16="http://schemas.microsoft.com/office/drawing/2014/main" val="10000"/>
                  </a:ext>
                </a:extLst>
              </a:tr>
              <a:tr h="1691640">
                <a:tc>
                  <a:txBody>
                    <a:bodyPr/>
                    <a:lstStyle/>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#include &lt;sys/</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types.h</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&gt;</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#include &lt;</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unistd.h</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&gt;</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#include &lt;</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stdio.h</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&gt;</a:t>
                      </a:r>
                    </a:p>
                    <a:p>
                      <a:endPar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endParaRP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int main(int </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argc</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 char **</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argv</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    </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fprintf</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stdout</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 "hello");</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    fork();</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    return 0;</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a:t>
                      </a:r>
                      <a:endParaRPr lang="ru-RU"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endParaRPr>
                    </a:p>
                    <a:p>
                      <a:endParaRPr lang="ru-RU"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endParaRPr>
                    </a:p>
                  </a:txBody>
                  <a:tcPr/>
                </a:tc>
                <a:tc>
                  <a:txBody>
                    <a:bodyPr/>
                    <a:lstStyle/>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#include &lt;sys/</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types.h</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&gt;</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#include &lt;</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unistd.h</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&gt;</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#include &lt;</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stdio.h</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&gt;</a:t>
                      </a:r>
                    </a:p>
                    <a:p>
                      <a:endPar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endParaRP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int main(int </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argc</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 char **</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argv</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    </a:t>
                      </a:r>
                      <a:r>
                        <a:rPr lang="en-GB" b="0" dirty="0" err="1">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fprintf</a:t>
                      </a:r>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(stderr, "hello");</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    fork();</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    return 0;</a:t>
                      </a:r>
                    </a:p>
                    <a:p>
                      <a:r>
                        <a:rPr lang="en-GB"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rPr>
                        <a:t>}</a:t>
                      </a:r>
                      <a:endParaRPr lang="ru-RU" b="0" dirty="0">
                        <a:solidFill>
                          <a:schemeClr val="bg1">
                            <a:lumMod val="85000"/>
                          </a:schemeClr>
                        </a:solidFill>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3488557391"/>
                  </a:ext>
                </a:extLst>
              </a:tr>
              <a:tr h="216655">
                <a:tc>
                  <a:txBody>
                    <a:bodyPr/>
                    <a:lstStyle/>
                    <a:p>
                      <a:r>
                        <a:rPr lang="en-US" b="0" dirty="0" err="1">
                          <a:solidFill>
                            <a:schemeClr val="bg1">
                              <a:lumMod val="85000"/>
                            </a:schemeClr>
                          </a:solidFill>
                        </a:rPr>
                        <a:t>hellohello</a:t>
                      </a:r>
                      <a:endParaRPr lang="ru-RU" b="0" dirty="0">
                        <a:solidFill>
                          <a:schemeClr val="bg1">
                            <a:lumMod val="85000"/>
                          </a:schemeClr>
                        </a:solidFill>
                      </a:endParaRPr>
                    </a:p>
                  </a:txBody>
                  <a:tcPr/>
                </a:tc>
                <a:tc>
                  <a:txBody>
                    <a:bodyPr/>
                    <a:lstStyle/>
                    <a:p>
                      <a:r>
                        <a:rPr lang="en-US" b="0" dirty="0">
                          <a:solidFill>
                            <a:schemeClr val="bg1">
                              <a:lumMod val="85000"/>
                            </a:schemeClr>
                          </a:solidFill>
                        </a:rPr>
                        <a:t>hello</a:t>
                      </a:r>
                      <a:endParaRPr lang="ru-RU" b="0" dirty="0">
                        <a:solidFill>
                          <a:schemeClr val="bg1">
                            <a:lumMod val="85000"/>
                          </a:schemeClr>
                        </a:solidFill>
                      </a:endParaRPr>
                    </a:p>
                  </a:txBody>
                  <a:tcPr/>
                </a:tc>
                <a:extLst>
                  <a:ext uri="{0D108BD9-81ED-4DB2-BD59-A6C34878D82A}">
                    <a16:rowId xmlns:a16="http://schemas.microsoft.com/office/drawing/2014/main" val="266960115"/>
                  </a:ext>
                </a:extLst>
              </a:tr>
              <a:tr h="216655">
                <a:tc>
                  <a:txBody>
                    <a:bodyPr/>
                    <a:lstStyle/>
                    <a:p>
                      <a:r>
                        <a:rPr lang="en-US" b="0" dirty="0">
                          <a:solidFill>
                            <a:schemeClr val="bg1">
                              <a:lumMod val="85000"/>
                            </a:schemeClr>
                          </a:solidFill>
                        </a:rPr>
                        <a:t>How does this happen</a:t>
                      </a:r>
                      <a:r>
                        <a:rPr lang="ru-RU" b="0" dirty="0">
                          <a:solidFill>
                            <a:schemeClr val="bg1">
                              <a:lumMod val="85000"/>
                            </a:schemeClr>
                          </a:solidFill>
                        </a:rPr>
                        <a:t>?</a:t>
                      </a:r>
                    </a:p>
                  </a:txBody>
                  <a:tcPr/>
                </a:tc>
                <a:tc>
                  <a:txBody>
                    <a:bodyPr/>
                    <a:lstStyle/>
                    <a:p>
                      <a:endParaRPr lang="ru-RU" b="0" dirty="0">
                        <a:solidFill>
                          <a:schemeClr val="bg1">
                            <a:lumMod val="85000"/>
                          </a:schemeClr>
                        </a:solidFill>
                      </a:endParaRPr>
                    </a:p>
                  </a:txBody>
                  <a:tcPr/>
                </a:tc>
                <a:extLst>
                  <a:ext uri="{0D108BD9-81ED-4DB2-BD59-A6C34878D82A}">
                    <a16:rowId xmlns:a16="http://schemas.microsoft.com/office/drawing/2014/main" val="1614954531"/>
                  </a:ext>
                </a:extLst>
              </a:tr>
              <a:tr h="216655">
                <a:tc gridSpan="2">
                  <a:txBody>
                    <a:bodyPr/>
                    <a:lstStyle/>
                    <a:p>
                      <a:r>
                        <a:rPr lang="en-US" b="1" dirty="0"/>
                        <a:t>Quiz</a:t>
                      </a:r>
                      <a:r>
                        <a:rPr lang="en-US" b="0" dirty="0"/>
                        <a:t>: what happens to mutexes when a multithreaded process calls </a:t>
                      </a:r>
                      <a:r>
                        <a:rPr lang="en-US" b="0" dirty="0">
                          <a:latin typeface="Consolas" panose="020B0609020204030204" pitchFamily="49" charset="0"/>
                          <a:cs typeface="Consolas" panose="020B0609020204030204" pitchFamily="49" charset="0"/>
                        </a:rPr>
                        <a:t>fork()</a:t>
                      </a:r>
                      <a:r>
                        <a:rPr lang="en-US" b="0" dirty="0"/>
                        <a:t>?</a:t>
                      </a:r>
                      <a:endParaRPr lang="ru-RU" b="0" dirty="0"/>
                    </a:p>
                  </a:txBody>
                  <a:tcPr/>
                </a:tc>
                <a:tc hMerge="1">
                  <a:txBody>
                    <a:bodyPr/>
                    <a:lstStyle/>
                    <a:p>
                      <a:endParaRPr dirty="0"/>
                    </a:p>
                  </a:txBody>
                  <a:tcPr/>
                </a:tc>
                <a:extLst>
                  <a:ext uri="{0D108BD9-81ED-4DB2-BD59-A6C34878D82A}">
                    <a16:rowId xmlns:a16="http://schemas.microsoft.com/office/drawing/2014/main" val="2238387132"/>
                  </a:ext>
                </a:extLst>
              </a:tr>
            </a:tbl>
          </a:graphicData>
        </a:graphic>
      </p:graphicFrame>
    </p:spTree>
    <p:extLst>
      <p:ext uri="{BB962C8B-B14F-4D97-AF65-F5344CB8AC3E}">
        <p14:creationId xmlns:p14="http://schemas.microsoft.com/office/powerpoint/2010/main" val="2750363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D12C6-CB88-2819-8ED2-C9AA7712655F}"/>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5832FE4-3433-4BCE-0AB9-84A17F1C7E3E}"/>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0C093373-A72B-E599-AB1E-1C5D8FA1B90E}"/>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9D8603A7-170A-387A-6F2F-22BA33404911}"/>
              </a:ext>
            </a:extLst>
          </p:cNvPr>
          <p:cNvGraphicFramePr>
            <a:graphicFrameLocks noGrp="1"/>
          </p:cNvGraphicFramePr>
          <p:nvPr>
            <p:extLst>
              <p:ext uri="{D42A27DB-BD31-4B8C-83A1-F6EECF244321}">
                <p14:modId xmlns:p14="http://schemas.microsoft.com/office/powerpoint/2010/main" val="1346263008"/>
              </p:ext>
            </p:extLst>
          </p:nvPr>
        </p:nvGraphicFramePr>
        <p:xfrm>
          <a:off x="0" y="365760"/>
          <a:ext cx="12192000" cy="15544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Page cache and </a:t>
                      </a:r>
                      <a:r>
                        <a:rPr lang="en-US" baseline="0" dirty="0"/>
                        <a:t>writeback</a:t>
                      </a:r>
                      <a:endParaRPr lang="ru-RU" dirty="0"/>
                    </a:p>
                  </a:txBody>
                  <a:tcPr/>
                </a:tc>
                <a:extLst>
                  <a:ext uri="{0D108BD9-81ED-4DB2-BD59-A6C34878D82A}">
                    <a16:rowId xmlns:a16="http://schemas.microsoft.com/office/drawing/2014/main" val="10000"/>
                  </a:ext>
                </a:extLst>
              </a:tr>
              <a:tr h="433310">
                <a:tc>
                  <a:txBody>
                    <a:bodyPr/>
                    <a:lstStyle/>
                    <a:p>
                      <a:pPr marL="285750" indent="-285750">
                        <a:buFont typeface="Arial" panose="020B0604020202020204" pitchFamily="34" charset="0"/>
                        <a:buChar char="•"/>
                      </a:pPr>
                      <a:r>
                        <a:rPr lang="en-US" baseline="0" dirty="0"/>
                        <a:t>System calls like </a:t>
                      </a:r>
                      <a:r>
                        <a:rPr lang="en-US" baseline="0" dirty="0">
                          <a:latin typeface="Consolas" panose="020B0609020204030204" pitchFamily="49" charset="0"/>
                          <a:cs typeface="Consolas" panose="020B0609020204030204" pitchFamily="49" charset="0"/>
                        </a:rPr>
                        <a:t>read()</a:t>
                      </a:r>
                      <a:r>
                        <a:rPr lang="en-US" baseline="0" dirty="0"/>
                        <a:t> and </a:t>
                      </a:r>
                      <a:r>
                        <a:rPr lang="en-US" baseline="0" dirty="0">
                          <a:latin typeface="Consolas" panose="020B0609020204030204" pitchFamily="49" charset="0"/>
                          <a:cs typeface="Consolas" panose="020B0609020204030204" pitchFamily="49" charset="0"/>
                        </a:rPr>
                        <a:t>write()</a:t>
                      </a:r>
                      <a:r>
                        <a:rPr lang="en-US" baseline="0" dirty="0"/>
                        <a:t> copy data between application buffers and the page cache in the kernel. The page cache works like a memory-mapped file. File pages are faulted into the page cache when accessed.</a:t>
                      </a:r>
                    </a:p>
                    <a:p>
                      <a:pPr marL="285750" indent="-285750">
                        <a:buFont typeface="Arial" panose="020B0604020202020204" pitchFamily="34" charset="0"/>
                        <a:buChar char="•"/>
                      </a:pPr>
                      <a:r>
                        <a:rPr lang="en-US" baseline="0" dirty="0"/>
                        <a:t>Unlike CPU instruction that load and store values, system calls have a return value and can signal IO errors.</a:t>
                      </a:r>
                      <a:endParaRPr lang="ru-RU" baseline="0" dirty="0"/>
                    </a:p>
                    <a:p>
                      <a:pPr marL="285750" indent="-285750">
                        <a:buFont typeface="Arial" panose="020B0604020202020204" pitchFamily="34" charset="0"/>
                        <a:buChar char="•"/>
                      </a:pPr>
                      <a:r>
                        <a:rPr lang="en-US" baseline="0" dirty="0"/>
                        <a:t>By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an application requests the page cache to write all dirty (modified) pages to the disk.</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737649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BF501-1E0C-D216-C9EE-02476ECE5AE0}"/>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4C120B2-0579-FCC6-ED54-8C861E8D0808}"/>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1A7665B4-1912-5DB8-C6E5-0C02E284A8AE}"/>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36DFE840-2339-6510-5F33-E3D601AEAF4A}"/>
              </a:ext>
            </a:extLst>
          </p:cNvPr>
          <p:cNvGraphicFramePr>
            <a:graphicFrameLocks noGrp="1"/>
          </p:cNvGraphicFramePr>
          <p:nvPr/>
        </p:nvGraphicFramePr>
        <p:xfrm>
          <a:off x="0" y="365760"/>
          <a:ext cx="12192000" cy="27432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Page cache and </a:t>
                      </a:r>
                      <a:r>
                        <a:rPr lang="en-US" baseline="0" dirty="0"/>
                        <a:t>writeback</a:t>
                      </a:r>
                      <a:endParaRPr lang="ru-RU" dirty="0"/>
                    </a:p>
                  </a:txBody>
                  <a:tcPr/>
                </a:tc>
                <a:extLst>
                  <a:ext uri="{0D108BD9-81ED-4DB2-BD59-A6C34878D82A}">
                    <a16:rowId xmlns:a16="http://schemas.microsoft.com/office/drawing/2014/main" val="10000"/>
                  </a:ext>
                </a:extLst>
              </a:tr>
              <a:tr h="433310">
                <a:tc>
                  <a:txBody>
                    <a:bodyPr/>
                    <a:lstStyle/>
                    <a:p>
                      <a:pPr marL="285750" indent="-285750">
                        <a:buFont typeface="Arial" panose="020B0604020202020204" pitchFamily="34" charset="0"/>
                        <a:buChar char="•"/>
                      </a:pPr>
                      <a:r>
                        <a:rPr lang="en-US" baseline="0" dirty="0"/>
                        <a:t>System calls like </a:t>
                      </a:r>
                      <a:r>
                        <a:rPr lang="en-US" baseline="0" dirty="0">
                          <a:latin typeface="Consolas" panose="020B0609020204030204" pitchFamily="49" charset="0"/>
                          <a:cs typeface="Consolas" panose="020B0609020204030204" pitchFamily="49" charset="0"/>
                        </a:rPr>
                        <a:t>read()</a:t>
                      </a:r>
                      <a:r>
                        <a:rPr lang="en-US" baseline="0" dirty="0"/>
                        <a:t> and </a:t>
                      </a:r>
                      <a:r>
                        <a:rPr lang="en-US" baseline="0" dirty="0">
                          <a:latin typeface="Consolas" panose="020B0609020204030204" pitchFamily="49" charset="0"/>
                          <a:cs typeface="Consolas" panose="020B0609020204030204" pitchFamily="49" charset="0"/>
                        </a:rPr>
                        <a:t>write()</a:t>
                      </a:r>
                      <a:r>
                        <a:rPr lang="en-US" baseline="0" dirty="0"/>
                        <a:t> copy data between application buffers and the page cache in the kernel. The page cache works like a memory-mapped file. File pages are faulted into the page cache when accessed.</a:t>
                      </a:r>
                    </a:p>
                    <a:p>
                      <a:pPr marL="285750" indent="-285750">
                        <a:buFont typeface="Arial" panose="020B0604020202020204" pitchFamily="34" charset="0"/>
                        <a:buChar char="•"/>
                      </a:pPr>
                      <a:r>
                        <a:rPr lang="en-US" baseline="0" dirty="0"/>
                        <a:t>Unlike CPU instruction that load and store values, system calls have a return value and can signal IO errors.</a:t>
                      </a:r>
                      <a:endParaRPr lang="ru-RU" baseline="0" dirty="0"/>
                    </a:p>
                    <a:p>
                      <a:pPr marL="285750" indent="-285750">
                        <a:buFont typeface="Arial" panose="020B0604020202020204" pitchFamily="34" charset="0"/>
                        <a:buChar char="•"/>
                      </a:pPr>
                      <a:r>
                        <a:rPr lang="en-US" baseline="0" dirty="0"/>
                        <a:t>By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an application requests the page cache to write all dirty (modified) pages to the disk.</a:t>
                      </a:r>
                    </a:p>
                  </a:txBody>
                  <a:tcPr/>
                </a:tc>
                <a:extLst>
                  <a:ext uri="{0D108BD9-81ED-4DB2-BD59-A6C34878D82A}">
                    <a16:rowId xmlns:a16="http://schemas.microsoft.com/office/drawing/2014/main" val="10001"/>
                  </a:ext>
                </a:extLst>
              </a:tr>
              <a:tr h="433310">
                <a:tc>
                  <a:txBody>
                    <a:bodyPr/>
                    <a:lstStyle/>
                    <a:p>
                      <a:pPr marL="0" indent="0">
                        <a:buFont typeface="Arial" panose="020B0604020202020204" pitchFamily="34" charset="0"/>
                        <a:buNone/>
                      </a:pPr>
                      <a:r>
                        <a:rPr lang="en-US" baseline="0" dirty="0"/>
                        <a:t>When can an application detect a write error</a:t>
                      </a:r>
                      <a:r>
                        <a:rPr lang="ru-RU" baseline="0" dirty="0"/>
                        <a:t>?</a:t>
                      </a: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txBody>
                  <a:tcPr/>
                </a:tc>
                <a:extLst>
                  <a:ext uri="{0D108BD9-81ED-4DB2-BD59-A6C34878D82A}">
                    <a16:rowId xmlns:a16="http://schemas.microsoft.com/office/drawing/2014/main" val="2001293846"/>
                  </a:ext>
                </a:extLst>
              </a:tr>
            </a:tbl>
          </a:graphicData>
        </a:graphic>
      </p:graphicFrame>
    </p:spTree>
    <p:extLst>
      <p:ext uri="{BB962C8B-B14F-4D97-AF65-F5344CB8AC3E}">
        <p14:creationId xmlns:p14="http://schemas.microsoft.com/office/powerpoint/2010/main" val="2422318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51594-7DFF-17E2-10CD-8C6B9DAC8894}"/>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0639CD3-7737-F15C-9C7B-0DE09A832825}"/>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4F7046BD-BB35-06BB-E2B0-D44D9430AA37}"/>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FEE3FF06-4558-1DB0-1B7B-6B74E3B1D730}"/>
              </a:ext>
            </a:extLst>
          </p:cNvPr>
          <p:cNvGraphicFramePr>
            <a:graphicFrameLocks noGrp="1"/>
          </p:cNvGraphicFramePr>
          <p:nvPr/>
        </p:nvGraphicFramePr>
        <p:xfrm>
          <a:off x="0" y="365760"/>
          <a:ext cx="12192000" cy="27432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Page cache and </a:t>
                      </a:r>
                      <a:r>
                        <a:rPr lang="en-US" baseline="0" dirty="0"/>
                        <a:t>writeback</a:t>
                      </a:r>
                      <a:endParaRPr lang="ru-RU" dirty="0"/>
                    </a:p>
                  </a:txBody>
                  <a:tcPr/>
                </a:tc>
                <a:extLst>
                  <a:ext uri="{0D108BD9-81ED-4DB2-BD59-A6C34878D82A}">
                    <a16:rowId xmlns:a16="http://schemas.microsoft.com/office/drawing/2014/main" val="10000"/>
                  </a:ext>
                </a:extLst>
              </a:tr>
              <a:tr h="433310">
                <a:tc>
                  <a:txBody>
                    <a:bodyPr/>
                    <a:lstStyle/>
                    <a:p>
                      <a:pPr marL="285750" indent="-285750">
                        <a:buFont typeface="Arial" panose="020B0604020202020204" pitchFamily="34" charset="0"/>
                        <a:buChar char="•"/>
                      </a:pPr>
                      <a:r>
                        <a:rPr lang="en-US" baseline="0" dirty="0"/>
                        <a:t>System calls like </a:t>
                      </a:r>
                      <a:r>
                        <a:rPr lang="en-US" baseline="0" dirty="0">
                          <a:latin typeface="Consolas" panose="020B0609020204030204" pitchFamily="49" charset="0"/>
                          <a:cs typeface="Consolas" panose="020B0609020204030204" pitchFamily="49" charset="0"/>
                        </a:rPr>
                        <a:t>read()</a:t>
                      </a:r>
                      <a:r>
                        <a:rPr lang="en-US" baseline="0" dirty="0"/>
                        <a:t> and </a:t>
                      </a:r>
                      <a:r>
                        <a:rPr lang="en-US" baseline="0" dirty="0">
                          <a:latin typeface="Consolas" panose="020B0609020204030204" pitchFamily="49" charset="0"/>
                          <a:cs typeface="Consolas" panose="020B0609020204030204" pitchFamily="49" charset="0"/>
                        </a:rPr>
                        <a:t>write()</a:t>
                      </a:r>
                      <a:r>
                        <a:rPr lang="en-US" baseline="0" dirty="0"/>
                        <a:t> copy data between application buffers and the page cache in the kernel. The page cache works like a memory-mapped file. File pages are faulted into the page cache when accessed.</a:t>
                      </a:r>
                    </a:p>
                    <a:p>
                      <a:pPr marL="285750" indent="-285750">
                        <a:buFont typeface="Arial" panose="020B0604020202020204" pitchFamily="34" charset="0"/>
                        <a:buChar char="•"/>
                      </a:pPr>
                      <a:r>
                        <a:rPr lang="en-US" baseline="0" dirty="0"/>
                        <a:t>Unlike CPU instruction that load and store values, system calls have a return value and can signal IO errors.</a:t>
                      </a:r>
                      <a:endParaRPr lang="ru-RU" baseline="0" dirty="0"/>
                    </a:p>
                    <a:p>
                      <a:pPr marL="285750" indent="-285750">
                        <a:buFont typeface="Arial" panose="020B0604020202020204" pitchFamily="34" charset="0"/>
                        <a:buChar char="•"/>
                      </a:pPr>
                      <a:r>
                        <a:rPr lang="en-US" baseline="0" dirty="0"/>
                        <a:t>By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an application requests the page cache to write all dirty (modified) pages to the disk.</a:t>
                      </a:r>
                    </a:p>
                  </a:txBody>
                  <a:tcPr/>
                </a:tc>
                <a:extLst>
                  <a:ext uri="{0D108BD9-81ED-4DB2-BD59-A6C34878D82A}">
                    <a16:rowId xmlns:a16="http://schemas.microsoft.com/office/drawing/2014/main" val="10001"/>
                  </a:ext>
                </a:extLst>
              </a:tr>
              <a:tr h="433310">
                <a:tc>
                  <a:txBody>
                    <a:bodyPr/>
                    <a:lstStyle/>
                    <a:p>
                      <a:pPr marL="0" indent="0">
                        <a:buFont typeface="Arial" panose="020B0604020202020204" pitchFamily="34" charset="0"/>
                        <a:buNone/>
                      </a:pPr>
                      <a:r>
                        <a:rPr lang="en-US" baseline="0" dirty="0"/>
                        <a:t>When can an application detect a write error</a:t>
                      </a:r>
                      <a:r>
                        <a:rPr lang="ru-RU" baseline="0" dirty="0"/>
                        <a:t>?</a:t>
                      </a:r>
                      <a:endParaRPr lang="en-US" baseline="0" dirty="0"/>
                    </a:p>
                    <a:p>
                      <a:pPr marL="285750" indent="-285750">
                        <a:buFont typeface="Arial" panose="020B0604020202020204" pitchFamily="34" charset="0"/>
                        <a:buChar char="•"/>
                      </a:pPr>
                      <a:r>
                        <a:rPr lang="en-US" baseline="0" dirty="0"/>
                        <a:t>When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a:t>
                      </a:r>
                    </a:p>
                    <a:p>
                      <a:pPr marL="285750" indent="-285750">
                        <a:buFont typeface="Arial" panose="020B0604020202020204" pitchFamily="34" charset="0"/>
                        <a:buChar char="•"/>
                      </a:pPr>
                      <a:r>
                        <a:rPr lang="en-US" baseline="0" dirty="0"/>
                        <a:t>When calling</a:t>
                      </a:r>
                      <a:r>
                        <a:rPr lang="ru-RU" baseline="0" dirty="0"/>
                        <a:t> </a:t>
                      </a:r>
                      <a:r>
                        <a:rPr lang="en-US" baseline="0" dirty="0">
                          <a:latin typeface="Consolas" panose="020B0609020204030204" pitchFamily="49" charset="0"/>
                          <a:cs typeface="Consolas" panose="020B0609020204030204" pitchFamily="49" charset="0"/>
                        </a:rPr>
                        <a:t>write()</a:t>
                      </a:r>
                      <a:r>
                        <a:rPr lang="ru-RU" baseline="0" dirty="0"/>
                        <a:t>, </a:t>
                      </a:r>
                      <a:r>
                        <a:rPr lang="en-US" baseline="0" dirty="0"/>
                        <a:t>if the system is low on RAM and</a:t>
                      </a:r>
                      <a:r>
                        <a:rPr lang="ru-RU" baseline="0" dirty="0"/>
                        <a:t> </a:t>
                      </a:r>
                      <a:r>
                        <a:rPr lang="en-US" baseline="0" dirty="0">
                          <a:latin typeface="Consolas" panose="020B0609020204030204" pitchFamily="49" charset="0"/>
                          <a:cs typeface="Consolas" panose="020B0609020204030204" pitchFamily="49" charset="0"/>
                        </a:rPr>
                        <a:t>write()</a:t>
                      </a:r>
                      <a:r>
                        <a:rPr lang="en-US" baseline="0" dirty="0"/>
                        <a:t> triggers</a:t>
                      </a:r>
                      <a:r>
                        <a:rPr lang="ru-RU" baseline="0" dirty="0"/>
                        <a:t> </a:t>
                      </a:r>
                      <a:r>
                        <a:rPr lang="en-US" baseline="0" dirty="0"/>
                        <a:t>writeback,</a:t>
                      </a:r>
                    </a:p>
                    <a:p>
                      <a:pPr marL="285750" indent="-285750">
                        <a:buFont typeface="Arial" panose="020B0604020202020204" pitchFamily="34" charset="0"/>
                        <a:buChar char="•"/>
                      </a:pPr>
                      <a:r>
                        <a:rPr lang="en-US" baseline="0" dirty="0"/>
                        <a:t>(Possibly) when calling*</a:t>
                      </a:r>
                      <a:r>
                        <a:rPr lang="ru-RU" baseline="0" dirty="0"/>
                        <a:t> </a:t>
                      </a:r>
                      <a:r>
                        <a:rPr lang="en-US" baseline="0" dirty="0">
                          <a:latin typeface="Consolas" panose="020B0609020204030204" pitchFamily="49" charset="0"/>
                          <a:cs typeface="Consolas" panose="020B0609020204030204" pitchFamily="49" charset="0"/>
                        </a:rPr>
                        <a:t>close()</a:t>
                      </a:r>
                      <a:r>
                        <a:rPr lang="en-US" baseline="0" dirty="0"/>
                        <a:t>.</a:t>
                      </a:r>
                    </a:p>
                  </a:txBody>
                  <a:tcPr/>
                </a:tc>
                <a:extLst>
                  <a:ext uri="{0D108BD9-81ED-4DB2-BD59-A6C34878D82A}">
                    <a16:rowId xmlns:a16="http://schemas.microsoft.com/office/drawing/2014/main" val="2001293846"/>
                  </a:ext>
                </a:extLst>
              </a:tr>
            </a:tbl>
          </a:graphicData>
        </a:graphic>
      </p:graphicFrame>
      <p:sp>
        <p:nvSpPr>
          <p:cNvPr id="3" name="TextBox 2">
            <a:extLst>
              <a:ext uri="{FF2B5EF4-FFF2-40B4-BE49-F238E27FC236}">
                <a16:creationId xmlns:a16="http://schemas.microsoft.com/office/drawing/2014/main" id="{C543DFF6-46D0-A919-51B7-3762498E0925}"/>
              </a:ext>
            </a:extLst>
          </p:cNvPr>
          <p:cNvSpPr txBox="1"/>
          <p:nvPr/>
        </p:nvSpPr>
        <p:spPr>
          <a:xfrm>
            <a:off x="0" y="6092846"/>
            <a:ext cx="12192000" cy="369332"/>
          </a:xfrm>
          <a:prstGeom prst="rect">
            <a:avLst/>
          </a:prstGeom>
          <a:noFill/>
        </p:spPr>
        <p:txBody>
          <a:bodyPr wrap="square" rtlCol="0">
            <a:spAutoFit/>
          </a:bodyPr>
          <a:lstStyle/>
          <a:p>
            <a:r>
              <a:rPr lang="en-CY" i="1" dirty="0">
                <a:solidFill>
                  <a:schemeClr val="bg1">
                    <a:lumMod val="75000"/>
                  </a:schemeClr>
                </a:solidFill>
              </a:rPr>
              <a:t>* </a:t>
            </a:r>
            <a:r>
              <a:rPr lang="en-GB" i="1" dirty="0">
                <a:solidFill>
                  <a:schemeClr val="bg1">
                    <a:lumMod val="75000"/>
                  </a:schemeClr>
                </a:solidFill>
              </a:rPr>
              <a:t>T</a:t>
            </a:r>
            <a:r>
              <a:rPr lang="en-CY" i="1" dirty="0">
                <a:solidFill>
                  <a:schemeClr val="bg1">
                    <a:lumMod val="75000"/>
                  </a:schemeClr>
                </a:solidFill>
              </a:rPr>
              <a:t>his is a very unfortunate API design. The only sure way is to call </a:t>
            </a:r>
            <a:r>
              <a:rPr lang="en-CY" i="1" dirty="0">
                <a:solidFill>
                  <a:schemeClr val="bg1">
                    <a:lumMod val="75000"/>
                  </a:schemeClr>
                </a:solidFill>
                <a:latin typeface="Consolas" panose="020B0609020204030204" pitchFamily="49" charset="0"/>
                <a:cs typeface="Consolas" panose="020B0609020204030204" pitchFamily="49" charset="0"/>
              </a:rPr>
              <a:t>fsync()</a:t>
            </a:r>
            <a:r>
              <a:rPr lang="en-CY" i="1" dirty="0">
                <a:solidFill>
                  <a:schemeClr val="bg1">
                    <a:lumMod val="75000"/>
                  </a:schemeClr>
                </a:solidFill>
              </a:rPr>
              <a:t> before </a:t>
            </a:r>
            <a:r>
              <a:rPr lang="en-CY" i="1" dirty="0">
                <a:solidFill>
                  <a:schemeClr val="bg1">
                    <a:lumMod val="75000"/>
                  </a:schemeClr>
                </a:solidFill>
                <a:latin typeface="Consolas" panose="020B0609020204030204" pitchFamily="49" charset="0"/>
                <a:cs typeface="Consolas" panose="020B0609020204030204" pitchFamily="49" charset="0"/>
              </a:rPr>
              <a:t>close()</a:t>
            </a:r>
            <a:r>
              <a:rPr lang="en-CY" i="1" dirty="0">
                <a:solidFill>
                  <a:schemeClr val="bg1">
                    <a:lumMod val="75000"/>
                  </a:schemeClr>
                </a:solidFill>
              </a:rPr>
              <a:t>.</a:t>
            </a:r>
          </a:p>
        </p:txBody>
      </p:sp>
    </p:spTree>
    <p:extLst>
      <p:ext uri="{BB962C8B-B14F-4D97-AF65-F5344CB8AC3E}">
        <p14:creationId xmlns:p14="http://schemas.microsoft.com/office/powerpoint/2010/main" val="523154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5475B-EAB3-BB66-E513-750F3E46F68D}"/>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C811812-DBA1-1272-E7A9-FF4DADE5991B}"/>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93AD9465-65C8-926E-6E1B-4F511F6078CE}"/>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04D95A04-52D2-CEA6-59B7-A531DEB71739}"/>
              </a:ext>
            </a:extLst>
          </p:cNvPr>
          <p:cNvGraphicFramePr>
            <a:graphicFrameLocks noGrp="1"/>
          </p:cNvGraphicFramePr>
          <p:nvPr>
            <p:extLst>
              <p:ext uri="{D42A27DB-BD31-4B8C-83A1-F6EECF244321}">
                <p14:modId xmlns:p14="http://schemas.microsoft.com/office/powerpoint/2010/main" val="1584422873"/>
              </p:ext>
            </p:extLst>
          </p:nvPr>
        </p:nvGraphicFramePr>
        <p:xfrm>
          <a:off x="0" y="365760"/>
          <a:ext cx="12192000" cy="55778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Page cache and </a:t>
                      </a:r>
                      <a:r>
                        <a:rPr lang="en-US" baseline="0" dirty="0"/>
                        <a:t>writeback</a:t>
                      </a:r>
                      <a:endParaRPr lang="ru-RU" dirty="0"/>
                    </a:p>
                  </a:txBody>
                  <a:tcPr/>
                </a:tc>
                <a:extLst>
                  <a:ext uri="{0D108BD9-81ED-4DB2-BD59-A6C34878D82A}">
                    <a16:rowId xmlns:a16="http://schemas.microsoft.com/office/drawing/2014/main" val="10000"/>
                  </a:ext>
                </a:extLst>
              </a:tr>
              <a:tr h="433310">
                <a:tc>
                  <a:txBody>
                    <a:bodyPr/>
                    <a:lstStyle/>
                    <a:p>
                      <a:pPr marL="285750" indent="-285750">
                        <a:buFont typeface="Arial" panose="020B0604020202020204" pitchFamily="34" charset="0"/>
                        <a:buChar char="•"/>
                      </a:pPr>
                      <a:r>
                        <a:rPr lang="en-US" baseline="0" dirty="0"/>
                        <a:t>System calls like </a:t>
                      </a:r>
                      <a:r>
                        <a:rPr lang="en-US" baseline="0" dirty="0">
                          <a:latin typeface="Consolas" panose="020B0609020204030204" pitchFamily="49" charset="0"/>
                          <a:cs typeface="Consolas" panose="020B0609020204030204" pitchFamily="49" charset="0"/>
                        </a:rPr>
                        <a:t>read()</a:t>
                      </a:r>
                      <a:r>
                        <a:rPr lang="en-US" baseline="0" dirty="0"/>
                        <a:t> and </a:t>
                      </a:r>
                      <a:r>
                        <a:rPr lang="en-US" baseline="0" dirty="0">
                          <a:latin typeface="Consolas" panose="020B0609020204030204" pitchFamily="49" charset="0"/>
                          <a:cs typeface="Consolas" panose="020B0609020204030204" pitchFamily="49" charset="0"/>
                        </a:rPr>
                        <a:t>write()</a:t>
                      </a:r>
                      <a:r>
                        <a:rPr lang="en-US" baseline="0" dirty="0"/>
                        <a:t> copy data between application buffers and the page cache in the kernel. The page cache works like a memory-mapped file. File pages are faulted into the page cache when accessed.</a:t>
                      </a:r>
                    </a:p>
                    <a:p>
                      <a:pPr marL="285750" indent="-285750">
                        <a:buFont typeface="Arial" panose="020B0604020202020204" pitchFamily="34" charset="0"/>
                        <a:buChar char="•"/>
                      </a:pPr>
                      <a:r>
                        <a:rPr lang="en-US" baseline="0" dirty="0"/>
                        <a:t>Unlike CPU instruction that load and store values, system calls have a return value and can signal IO errors.</a:t>
                      </a:r>
                      <a:endParaRPr lang="ru-RU" baseline="0" dirty="0"/>
                    </a:p>
                    <a:p>
                      <a:pPr marL="285750" indent="-285750">
                        <a:buFont typeface="Arial" panose="020B0604020202020204" pitchFamily="34" charset="0"/>
                        <a:buChar char="•"/>
                      </a:pPr>
                      <a:r>
                        <a:rPr lang="en-US" baseline="0" dirty="0"/>
                        <a:t>By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an application requests the page cache to write all dirty (modified) pages to the disk.</a:t>
                      </a:r>
                    </a:p>
                  </a:txBody>
                  <a:tcPr/>
                </a:tc>
                <a:extLst>
                  <a:ext uri="{0D108BD9-81ED-4DB2-BD59-A6C34878D82A}">
                    <a16:rowId xmlns:a16="http://schemas.microsoft.com/office/drawing/2014/main" val="10001"/>
                  </a:ext>
                </a:extLst>
              </a:tr>
              <a:tr h="433310">
                <a:tc>
                  <a:txBody>
                    <a:bodyPr/>
                    <a:lstStyle/>
                    <a:p>
                      <a:pPr marL="0" indent="0">
                        <a:buFont typeface="Arial" panose="020B0604020202020204" pitchFamily="34" charset="0"/>
                        <a:buNone/>
                      </a:pPr>
                      <a:r>
                        <a:rPr lang="en-US" baseline="0" dirty="0"/>
                        <a:t>When can an application detect a write error</a:t>
                      </a:r>
                      <a:r>
                        <a:rPr lang="ru-RU" baseline="0" dirty="0"/>
                        <a:t>?</a:t>
                      </a:r>
                      <a:endParaRPr lang="en-US" baseline="0" dirty="0"/>
                    </a:p>
                    <a:p>
                      <a:pPr marL="285750" indent="-285750">
                        <a:buFont typeface="Arial" panose="020B0604020202020204" pitchFamily="34" charset="0"/>
                        <a:buChar char="•"/>
                      </a:pPr>
                      <a:r>
                        <a:rPr lang="en-US" baseline="0" dirty="0"/>
                        <a:t>When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a:t>
                      </a:r>
                    </a:p>
                    <a:p>
                      <a:pPr marL="285750" indent="-285750">
                        <a:buFont typeface="Arial" panose="020B0604020202020204" pitchFamily="34" charset="0"/>
                        <a:buChar char="•"/>
                      </a:pPr>
                      <a:r>
                        <a:rPr lang="en-US" baseline="0" dirty="0"/>
                        <a:t>When calling</a:t>
                      </a:r>
                      <a:r>
                        <a:rPr lang="ru-RU" baseline="0" dirty="0"/>
                        <a:t> </a:t>
                      </a:r>
                      <a:r>
                        <a:rPr lang="en-US" baseline="0" dirty="0">
                          <a:latin typeface="Consolas" panose="020B0609020204030204" pitchFamily="49" charset="0"/>
                          <a:cs typeface="Consolas" panose="020B0609020204030204" pitchFamily="49" charset="0"/>
                        </a:rPr>
                        <a:t>write()</a:t>
                      </a:r>
                      <a:r>
                        <a:rPr lang="ru-RU" baseline="0" dirty="0"/>
                        <a:t>, </a:t>
                      </a:r>
                      <a:r>
                        <a:rPr lang="en-US" baseline="0" dirty="0"/>
                        <a:t>if the system is low on RAM and</a:t>
                      </a:r>
                      <a:r>
                        <a:rPr lang="ru-RU" baseline="0" dirty="0"/>
                        <a:t> </a:t>
                      </a:r>
                      <a:r>
                        <a:rPr lang="en-US" baseline="0" dirty="0">
                          <a:latin typeface="Consolas" panose="020B0609020204030204" pitchFamily="49" charset="0"/>
                          <a:cs typeface="Consolas" panose="020B0609020204030204" pitchFamily="49" charset="0"/>
                        </a:rPr>
                        <a:t>write()</a:t>
                      </a:r>
                      <a:r>
                        <a:rPr lang="en-US" baseline="0" dirty="0"/>
                        <a:t> triggers</a:t>
                      </a:r>
                      <a:r>
                        <a:rPr lang="ru-RU" baseline="0" dirty="0"/>
                        <a:t> </a:t>
                      </a:r>
                      <a:r>
                        <a:rPr lang="en-US" baseline="0" dirty="0"/>
                        <a:t>writeback,</a:t>
                      </a:r>
                    </a:p>
                    <a:p>
                      <a:pPr marL="285750" indent="-285750">
                        <a:buFont typeface="Arial" panose="020B0604020202020204" pitchFamily="34" charset="0"/>
                        <a:buChar char="•"/>
                      </a:pPr>
                      <a:r>
                        <a:rPr lang="en-US" baseline="0" dirty="0"/>
                        <a:t>(Possibly) when calling*</a:t>
                      </a:r>
                      <a:r>
                        <a:rPr lang="ru-RU" baseline="0" dirty="0"/>
                        <a:t> </a:t>
                      </a:r>
                      <a:r>
                        <a:rPr lang="en-US" baseline="0" dirty="0">
                          <a:latin typeface="Consolas" panose="020B0609020204030204" pitchFamily="49" charset="0"/>
                          <a:cs typeface="Consolas" panose="020B0609020204030204" pitchFamily="49" charset="0"/>
                        </a:rPr>
                        <a:t>close()</a:t>
                      </a:r>
                      <a:r>
                        <a:rPr lang="en-US" baseline="0" dirty="0"/>
                        <a:t>.</a:t>
                      </a:r>
                    </a:p>
                  </a:txBody>
                  <a:tcPr/>
                </a:tc>
                <a:extLst>
                  <a:ext uri="{0D108BD9-81ED-4DB2-BD59-A6C34878D82A}">
                    <a16:rowId xmlns:a16="http://schemas.microsoft.com/office/drawing/2014/main" val="2001293846"/>
                  </a:ext>
                </a:extLst>
              </a:tr>
              <a:tr h="433310">
                <a:tc>
                  <a:txBody>
                    <a:bodyPr/>
                    <a:lstStyle/>
                    <a:p>
                      <a:pPr marL="0" indent="0">
                        <a:buFont typeface="Arial" panose="020B0604020202020204" pitchFamily="34" charset="0"/>
                        <a:buNone/>
                      </a:pPr>
                      <a:r>
                        <a:rPr lang="en-US" baseline="0" dirty="0"/>
                        <a:t>Why do OSes not do IO immediately in</a:t>
                      </a:r>
                      <a:r>
                        <a:rPr lang="ru-RU" baseline="0" dirty="0"/>
                        <a:t> </a:t>
                      </a:r>
                      <a:r>
                        <a:rPr lang="en-US" baseline="0" dirty="0">
                          <a:latin typeface="Consolas" panose="020B0609020204030204" pitchFamily="49" charset="0"/>
                          <a:cs typeface="Consolas" panose="020B0609020204030204" pitchFamily="49" charset="0"/>
                        </a:rPr>
                        <a:t>write()</a:t>
                      </a:r>
                      <a:r>
                        <a:rPr lang="en-US" baseline="0" dirty="0"/>
                        <a:t> itself?</a:t>
                      </a:r>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txBody>
                  <a:tcPr/>
                </a:tc>
                <a:extLst>
                  <a:ext uri="{0D108BD9-81ED-4DB2-BD59-A6C34878D82A}">
                    <a16:rowId xmlns:a16="http://schemas.microsoft.com/office/drawing/2014/main" val="2418925043"/>
                  </a:ext>
                </a:extLst>
              </a:tr>
            </a:tbl>
          </a:graphicData>
        </a:graphic>
      </p:graphicFrame>
      <p:sp>
        <p:nvSpPr>
          <p:cNvPr id="3" name="TextBox 2">
            <a:extLst>
              <a:ext uri="{FF2B5EF4-FFF2-40B4-BE49-F238E27FC236}">
                <a16:creationId xmlns:a16="http://schemas.microsoft.com/office/drawing/2014/main" id="{B26B4051-BBE7-FCAA-CDC0-04EA8381812B}"/>
              </a:ext>
            </a:extLst>
          </p:cNvPr>
          <p:cNvSpPr txBox="1"/>
          <p:nvPr/>
        </p:nvSpPr>
        <p:spPr>
          <a:xfrm>
            <a:off x="0" y="6092846"/>
            <a:ext cx="12192000" cy="369332"/>
          </a:xfrm>
          <a:prstGeom prst="rect">
            <a:avLst/>
          </a:prstGeom>
          <a:noFill/>
        </p:spPr>
        <p:txBody>
          <a:bodyPr wrap="square" rtlCol="0">
            <a:spAutoFit/>
          </a:bodyPr>
          <a:lstStyle/>
          <a:p>
            <a:r>
              <a:rPr lang="en-CY" i="1" dirty="0">
                <a:solidFill>
                  <a:schemeClr val="bg1">
                    <a:lumMod val="75000"/>
                  </a:schemeClr>
                </a:solidFill>
              </a:rPr>
              <a:t>* </a:t>
            </a:r>
            <a:r>
              <a:rPr lang="en-GB" i="1" dirty="0">
                <a:solidFill>
                  <a:schemeClr val="bg1">
                    <a:lumMod val="75000"/>
                  </a:schemeClr>
                </a:solidFill>
              </a:rPr>
              <a:t>T</a:t>
            </a:r>
            <a:r>
              <a:rPr lang="en-CY" i="1" dirty="0">
                <a:solidFill>
                  <a:schemeClr val="bg1">
                    <a:lumMod val="75000"/>
                  </a:schemeClr>
                </a:solidFill>
              </a:rPr>
              <a:t>his is a very unfortunate API design. The only sure way is to call </a:t>
            </a:r>
            <a:r>
              <a:rPr lang="en-CY" i="1" dirty="0">
                <a:solidFill>
                  <a:schemeClr val="bg1">
                    <a:lumMod val="75000"/>
                  </a:schemeClr>
                </a:solidFill>
                <a:latin typeface="Consolas" panose="020B0609020204030204" pitchFamily="49" charset="0"/>
                <a:cs typeface="Consolas" panose="020B0609020204030204" pitchFamily="49" charset="0"/>
              </a:rPr>
              <a:t>fsync()</a:t>
            </a:r>
            <a:r>
              <a:rPr lang="en-CY" i="1" dirty="0">
                <a:solidFill>
                  <a:schemeClr val="bg1">
                    <a:lumMod val="75000"/>
                  </a:schemeClr>
                </a:solidFill>
              </a:rPr>
              <a:t> before </a:t>
            </a:r>
            <a:r>
              <a:rPr lang="en-CY" i="1" dirty="0">
                <a:solidFill>
                  <a:schemeClr val="bg1">
                    <a:lumMod val="75000"/>
                  </a:schemeClr>
                </a:solidFill>
                <a:latin typeface="Consolas" panose="020B0609020204030204" pitchFamily="49" charset="0"/>
                <a:cs typeface="Consolas" panose="020B0609020204030204" pitchFamily="49" charset="0"/>
              </a:rPr>
              <a:t>close()</a:t>
            </a:r>
            <a:r>
              <a:rPr lang="en-CY" i="1" dirty="0">
                <a:solidFill>
                  <a:schemeClr val="bg1">
                    <a:lumMod val="75000"/>
                  </a:schemeClr>
                </a:solidFill>
              </a:rPr>
              <a:t>.</a:t>
            </a:r>
          </a:p>
        </p:txBody>
      </p:sp>
    </p:spTree>
    <p:extLst>
      <p:ext uri="{BB962C8B-B14F-4D97-AF65-F5344CB8AC3E}">
        <p14:creationId xmlns:p14="http://schemas.microsoft.com/office/powerpoint/2010/main" val="513269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00447-C964-99F8-F384-40A80157D433}"/>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5AABDE8-42A4-FD8A-3412-093A7BC9737D}"/>
              </a:ext>
            </a:extLst>
          </p:cNvPr>
          <p:cNvGraphicFramePr>
            <a:graphicFrameLocks noGrp="1"/>
          </p:cNvGraphicFramePr>
          <p:nvPr>
            <p:extLst>
              <p:ext uri="{D42A27DB-BD31-4B8C-83A1-F6EECF244321}">
                <p14:modId xmlns:p14="http://schemas.microsoft.com/office/powerpoint/2010/main" val="158968572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47274DF1-1101-E21B-87EF-BC7E5452B0B7}"/>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65F78681-5462-5502-13A7-7104EF6AEBE9}"/>
              </a:ext>
            </a:extLst>
          </p:cNvPr>
          <p:cNvGraphicFramePr>
            <a:graphicFrameLocks noGrp="1"/>
          </p:cNvGraphicFramePr>
          <p:nvPr>
            <p:extLst>
              <p:ext uri="{D42A27DB-BD31-4B8C-83A1-F6EECF244321}">
                <p14:modId xmlns:p14="http://schemas.microsoft.com/office/powerpoint/2010/main" val="2779992443"/>
              </p:ext>
            </p:extLst>
          </p:nvPr>
        </p:nvGraphicFramePr>
        <p:xfrm>
          <a:off x="0" y="365760"/>
          <a:ext cx="12192000" cy="55778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Page cache and </a:t>
                      </a:r>
                      <a:r>
                        <a:rPr lang="en-US" baseline="0" dirty="0"/>
                        <a:t>writeback</a:t>
                      </a:r>
                      <a:endParaRPr lang="ru-RU" dirty="0"/>
                    </a:p>
                  </a:txBody>
                  <a:tcPr/>
                </a:tc>
                <a:extLst>
                  <a:ext uri="{0D108BD9-81ED-4DB2-BD59-A6C34878D82A}">
                    <a16:rowId xmlns:a16="http://schemas.microsoft.com/office/drawing/2014/main" val="10000"/>
                  </a:ext>
                </a:extLst>
              </a:tr>
              <a:tr h="433310">
                <a:tc>
                  <a:txBody>
                    <a:bodyPr/>
                    <a:lstStyle/>
                    <a:p>
                      <a:pPr marL="285750" indent="-285750">
                        <a:buFont typeface="Arial" panose="020B0604020202020204" pitchFamily="34" charset="0"/>
                        <a:buChar char="•"/>
                      </a:pPr>
                      <a:r>
                        <a:rPr lang="en-US" baseline="0" dirty="0"/>
                        <a:t>System calls like </a:t>
                      </a:r>
                      <a:r>
                        <a:rPr lang="en-US" baseline="0" dirty="0">
                          <a:latin typeface="Consolas" panose="020B0609020204030204" pitchFamily="49" charset="0"/>
                          <a:cs typeface="Consolas" panose="020B0609020204030204" pitchFamily="49" charset="0"/>
                        </a:rPr>
                        <a:t>read()</a:t>
                      </a:r>
                      <a:r>
                        <a:rPr lang="en-US" baseline="0" dirty="0"/>
                        <a:t> and </a:t>
                      </a:r>
                      <a:r>
                        <a:rPr lang="en-US" baseline="0" dirty="0">
                          <a:latin typeface="Consolas" panose="020B0609020204030204" pitchFamily="49" charset="0"/>
                          <a:cs typeface="Consolas" panose="020B0609020204030204" pitchFamily="49" charset="0"/>
                        </a:rPr>
                        <a:t>write()</a:t>
                      </a:r>
                      <a:r>
                        <a:rPr lang="en-US" baseline="0" dirty="0"/>
                        <a:t> copy data between application buffers and the page cache in the kernel. The page cache works like a memory-mapped file. File pages are faulted into the page cache when accessed.</a:t>
                      </a:r>
                    </a:p>
                    <a:p>
                      <a:pPr marL="285750" indent="-285750">
                        <a:buFont typeface="Arial" panose="020B0604020202020204" pitchFamily="34" charset="0"/>
                        <a:buChar char="•"/>
                      </a:pPr>
                      <a:r>
                        <a:rPr lang="en-US" baseline="0" dirty="0"/>
                        <a:t>Unlike CPU instruction that load and store values, system calls have a return value and can signal IO errors.</a:t>
                      </a:r>
                      <a:endParaRPr lang="ru-RU" baseline="0" dirty="0"/>
                    </a:p>
                    <a:p>
                      <a:pPr marL="285750" indent="-285750">
                        <a:buFont typeface="Arial" panose="020B0604020202020204" pitchFamily="34" charset="0"/>
                        <a:buChar char="•"/>
                      </a:pPr>
                      <a:r>
                        <a:rPr lang="en-US" baseline="0" dirty="0"/>
                        <a:t>By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an application requests the page cache to write all dirty (modified) pages to the disk.</a:t>
                      </a:r>
                    </a:p>
                  </a:txBody>
                  <a:tcPr/>
                </a:tc>
                <a:extLst>
                  <a:ext uri="{0D108BD9-81ED-4DB2-BD59-A6C34878D82A}">
                    <a16:rowId xmlns:a16="http://schemas.microsoft.com/office/drawing/2014/main" val="10001"/>
                  </a:ext>
                </a:extLst>
              </a:tr>
              <a:tr h="433310">
                <a:tc>
                  <a:txBody>
                    <a:bodyPr/>
                    <a:lstStyle/>
                    <a:p>
                      <a:pPr marL="0" indent="0">
                        <a:buFont typeface="Arial" panose="020B0604020202020204" pitchFamily="34" charset="0"/>
                        <a:buNone/>
                      </a:pPr>
                      <a:r>
                        <a:rPr lang="en-US" baseline="0" dirty="0"/>
                        <a:t>When can an application detect a write error</a:t>
                      </a:r>
                      <a:r>
                        <a:rPr lang="ru-RU" baseline="0" dirty="0"/>
                        <a:t>?</a:t>
                      </a:r>
                      <a:endParaRPr lang="en-US" baseline="0" dirty="0"/>
                    </a:p>
                    <a:p>
                      <a:pPr marL="285750" indent="-285750">
                        <a:buFont typeface="Arial" panose="020B0604020202020204" pitchFamily="34" charset="0"/>
                        <a:buChar char="•"/>
                      </a:pPr>
                      <a:r>
                        <a:rPr lang="en-US" baseline="0" dirty="0"/>
                        <a:t>When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a:t>
                      </a:r>
                    </a:p>
                    <a:p>
                      <a:pPr marL="285750" indent="-285750">
                        <a:buFont typeface="Arial" panose="020B0604020202020204" pitchFamily="34" charset="0"/>
                        <a:buChar char="•"/>
                      </a:pPr>
                      <a:r>
                        <a:rPr lang="en-US" baseline="0" dirty="0"/>
                        <a:t>When calling</a:t>
                      </a:r>
                      <a:r>
                        <a:rPr lang="ru-RU" baseline="0" dirty="0"/>
                        <a:t> </a:t>
                      </a:r>
                      <a:r>
                        <a:rPr lang="en-US" baseline="0" dirty="0">
                          <a:latin typeface="Consolas" panose="020B0609020204030204" pitchFamily="49" charset="0"/>
                          <a:cs typeface="Consolas" panose="020B0609020204030204" pitchFamily="49" charset="0"/>
                        </a:rPr>
                        <a:t>write()</a:t>
                      </a:r>
                      <a:r>
                        <a:rPr lang="ru-RU" baseline="0" dirty="0"/>
                        <a:t>, </a:t>
                      </a:r>
                      <a:r>
                        <a:rPr lang="en-US" baseline="0" dirty="0"/>
                        <a:t>if the system is low on RAM and</a:t>
                      </a:r>
                      <a:r>
                        <a:rPr lang="ru-RU" baseline="0" dirty="0"/>
                        <a:t> </a:t>
                      </a:r>
                      <a:r>
                        <a:rPr lang="en-US" baseline="0" dirty="0">
                          <a:latin typeface="Consolas" panose="020B0609020204030204" pitchFamily="49" charset="0"/>
                          <a:cs typeface="Consolas" panose="020B0609020204030204" pitchFamily="49" charset="0"/>
                        </a:rPr>
                        <a:t>write()</a:t>
                      </a:r>
                      <a:r>
                        <a:rPr lang="en-US" baseline="0" dirty="0"/>
                        <a:t> triggers</a:t>
                      </a:r>
                      <a:r>
                        <a:rPr lang="ru-RU" baseline="0" dirty="0"/>
                        <a:t> </a:t>
                      </a:r>
                      <a:r>
                        <a:rPr lang="en-US" baseline="0" dirty="0"/>
                        <a:t>writeback,</a:t>
                      </a:r>
                    </a:p>
                    <a:p>
                      <a:pPr marL="285750" indent="-285750">
                        <a:buFont typeface="Arial" panose="020B0604020202020204" pitchFamily="34" charset="0"/>
                        <a:buChar char="•"/>
                      </a:pPr>
                      <a:r>
                        <a:rPr lang="en-US" baseline="0" dirty="0"/>
                        <a:t>(Possibly) when calling*</a:t>
                      </a:r>
                      <a:r>
                        <a:rPr lang="ru-RU" baseline="0" dirty="0"/>
                        <a:t> </a:t>
                      </a:r>
                      <a:r>
                        <a:rPr lang="en-US" baseline="0" dirty="0">
                          <a:latin typeface="Consolas" panose="020B0609020204030204" pitchFamily="49" charset="0"/>
                          <a:cs typeface="Consolas" panose="020B0609020204030204" pitchFamily="49" charset="0"/>
                        </a:rPr>
                        <a:t>close()</a:t>
                      </a:r>
                      <a:r>
                        <a:rPr lang="en-US" baseline="0" dirty="0"/>
                        <a:t>.</a:t>
                      </a:r>
                    </a:p>
                  </a:txBody>
                  <a:tcPr/>
                </a:tc>
                <a:extLst>
                  <a:ext uri="{0D108BD9-81ED-4DB2-BD59-A6C34878D82A}">
                    <a16:rowId xmlns:a16="http://schemas.microsoft.com/office/drawing/2014/main" val="2001293846"/>
                  </a:ext>
                </a:extLst>
              </a:tr>
              <a:tr h="433310">
                <a:tc>
                  <a:txBody>
                    <a:bodyPr/>
                    <a:lstStyle/>
                    <a:p>
                      <a:pPr marL="0" indent="0">
                        <a:buFont typeface="Arial" panose="020B0604020202020204" pitchFamily="34" charset="0"/>
                        <a:buNone/>
                      </a:pPr>
                      <a:r>
                        <a:rPr lang="en-US" baseline="0" dirty="0"/>
                        <a:t>Why do OSes not do IO immediately in</a:t>
                      </a:r>
                      <a:r>
                        <a:rPr lang="ru-RU" baseline="0" dirty="0"/>
                        <a:t> </a:t>
                      </a:r>
                      <a:r>
                        <a:rPr lang="en-US" baseline="0" dirty="0">
                          <a:latin typeface="Consolas" panose="020B0609020204030204" pitchFamily="49" charset="0"/>
                          <a:cs typeface="Consolas" panose="020B0609020204030204" pitchFamily="49" charset="0"/>
                        </a:rPr>
                        <a:t>write()</a:t>
                      </a:r>
                      <a:r>
                        <a:rPr lang="en-US" baseline="0" dirty="0"/>
                        <a:t> itself?</a:t>
                      </a:r>
                    </a:p>
                    <a:p>
                      <a:pPr marL="285750" indent="-285750">
                        <a:buFont typeface="Arial" panose="020B0604020202020204" pitchFamily="34" charset="0"/>
                        <a:buChar char="•"/>
                      </a:pPr>
                      <a:r>
                        <a:rPr lang="en-US" baseline="0" dirty="0"/>
                        <a:t>Multiple writes or re-writes to a file may be coalesced into a single write to a disk,</a:t>
                      </a:r>
                    </a:p>
                    <a:p>
                      <a:pPr marL="285750" indent="-285750">
                        <a:buFont typeface="Arial" panose="020B0604020202020204" pitchFamily="34" charset="0"/>
                        <a:buChar char="•"/>
                      </a:pPr>
                      <a:r>
                        <a:rPr lang="en-US" baseline="0" dirty="0"/>
                        <a:t>It becomes possible to issue fewer IO requests to a disk, and make them longer,</a:t>
                      </a:r>
                      <a:endParaRPr lang="ru-RU" baseline="0" dirty="0"/>
                    </a:p>
                    <a:p>
                      <a:pPr marL="285750" indent="-285750">
                        <a:buFont typeface="Arial" panose="020B0604020202020204" pitchFamily="34" charset="0"/>
                        <a:buChar char="•"/>
                      </a:pPr>
                      <a:r>
                        <a:rPr lang="en-US" baseline="0" dirty="0"/>
                        <a:t>File systems can do “delayed allocation” to decrease the fragmentation of files.</a:t>
                      </a:r>
                    </a:p>
                    <a:p>
                      <a:pPr marL="285750" indent="-285750">
                        <a:buFont typeface="Arial" panose="020B0604020202020204" pitchFamily="34" charset="0"/>
                        <a:buChar char="•"/>
                      </a:pPr>
                      <a:endParaRPr lang="en-US" baseline="0" dirty="0"/>
                    </a:p>
                    <a:p>
                      <a:pPr marL="0" indent="0">
                        <a:buFont typeface="Arial" panose="020B0604020202020204" pitchFamily="34" charset="0"/>
                        <a:buNone/>
                      </a:pPr>
                      <a:r>
                        <a:rPr lang="en-US" baseline="0" dirty="0"/>
                        <a:t>Delaying the IO also has downsides. For example, it may introduce thrashing and make it impossible to control the time it takes to call </a:t>
                      </a:r>
                      <a:r>
                        <a:rPr lang="en-US" baseline="0" dirty="0">
                          <a:latin typeface="Consolas" panose="020B0609020204030204" pitchFamily="49" charset="0"/>
                          <a:cs typeface="Consolas" panose="020B0609020204030204" pitchFamily="49" charset="0"/>
                        </a:rPr>
                        <a:t>write()</a:t>
                      </a:r>
                      <a:r>
                        <a:rPr lang="en-US" baseline="0" dirty="0"/>
                        <a:t> and</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a:t>
                      </a:r>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txBody>
                  <a:tcPr/>
                </a:tc>
                <a:extLst>
                  <a:ext uri="{0D108BD9-81ED-4DB2-BD59-A6C34878D82A}">
                    <a16:rowId xmlns:a16="http://schemas.microsoft.com/office/drawing/2014/main" val="2418925043"/>
                  </a:ext>
                </a:extLst>
              </a:tr>
            </a:tbl>
          </a:graphicData>
        </a:graphic>
      </p:graphicFrame>
      <p:sp>
        <p:nvSpPr>
          <p:cNvPr id="3" name="TextBox 2">
            <a:extLst>
              <a:ext uri="{FF2B5EF4-FFF2-40B4-BE49-F238E27FC236}">
                <a16:creationId xmlns:a16="http://schemas.microsoft.com/office/drawing/2014/main" id="{AF413DB2-3ADF-0FC0-7D96-91ACC12F192E}"/>
              </a:ext>
            </a:extLst>
          </p:cNvPr>
          <p:cNvSpPr txBox="1"/>
          <p:nvPr/>
        </p:nvSpPr>
        <p:spPr>
          <a:xfrm>
            <a:off x="0" y="6092846"/>
            <a:ext cx="12192000" cy="369332"/>
          </a:xfrm>
          <a:prstGeom prst="rect">
            <a:avLst/>
          </a:prstGeom>
          <a:noFill/>
        </p:spPr>
        <p:txBody>
          <a:bodyPr wrap="square" rtlCol="0">
            <a:spAutoFit/>
          </a:bodyPr>
          <a:lstStyle/>
          <a:p>
            <a:r>
              <a:rPr lang="en-CY" i="1" dirty="0">
                <a:solidFill>
                  <a:schemeClr val="bg1">
                    <a:lumMod val="75000"/>
                  </a:schemeClr>
                </a:solidFill>
              </a:rPr>
              <a:t>* </a:t>
            </a:r>
            <a:r>
              <a:rPr lang="en-GB" i="1" dirty="0">
                <a:solidFill>
                  <a:schemeClr val="bg1">
                    <a:lumMod val="75000"/>
                  </a:schemeClr>
                </a:solidFill>
              </a:rPr>
              <a:t>T</a:t>
            </a:r>
            <a:r>
              <a:rPr lang="en-CY" i="1" dirty="0">
                <a:solidFill>
                  <a:schemeClr val="bg1">
                    <a:lumMod val="75000"/>
                  </a:schemeClr>
                </a:solidFill>
              </a:rPr>
              <a:t>his is a very unfortunate API design. The only sure way is to call </a:t>
            </a:r>
            <a:r>
              <a:rPr lang="en-CY" i="1" dirty="0">
                <a:solidFill>
                  <a:schemeClr val="bg1">
                    <a:lumMod val="75000"/>
                  </a:schemeClr>
                </a:solidFill>
                <a:latin typeface="Consolas" panose="020B0609020204030204" pitchFamily="49" charset="0"/>
                <a:cs typeface="Consolas" panose="020B0609020204030204" pitchFamily="49" charset="0"/>
              </a:rPr>
              <a:t>fsync()</a:t>
            </a:r>
            <a:r>
              <a:rPr lang="en-CY" i="1" dirty="0">
                <a:solidFill>
                  <a:schemeClr val="bg1">
                    <a:lumMod val="75000"/>
                  </a:schemeClr>
                </a:solidFill>
              </a:rPr>
              <a:t> before </a:t>
            </a:r>
            <a:r>
              <a:rPr lang="en-CY" i="1" dirty="0">
                <a:solidFill>
                  <a:schemeClr val="bg1">
                    <a:lumMod val="75000"/>
                  </a:schemeClr>
                </a:solidFill>
                <a:latin typeface="Consolas" panose="020B0609020204030204" pitchFamily="49" charset="0"/>
                <a:cs typeface="Consolas" panose="020B0609020204030204" pitchFamily="49" charset="0"/>
              </a:rPr>
              <a:t>close()</a:t>
            </a:r>
            <a:r>
              <a:rPr lang="en-CY" i="1" dirty="0">
                <a:solidFill>
                  <a:schemeClr val="bg1">
                    <a:lumMod val="75000"/>
                  </a:schemeClr>
                </a:solidFill>
              </a:rPr>
              <a:t>.</a:t>
            </a:r>
          </a:p>
        </p:txBody>
      </p:sp>
    </p:spTree>
    <p:extLst>
      <p:ext uri="{BB962C8B-B14F-4D97-AF65-F5344CB8AC3E}">
        <p14:creationId xmlns:p14="http://schemas.microsoft.com/office/powerpoint/2010/main" val="2596482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DA2E9-E0AA-C6AC-238C-21A85626695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69BD822-BE04-5591-D35A-447E201D0789}"/>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D6CF994E-A764-F142-CD71-BF0AD17DE498}"/>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15DFAD1D-63A5-D74A-4528-91B5D0CC0BD4}"/>
              </a:ext>
            </a:extLst>
          </p:cNvPr>
          <p:cNvGraphicFramePr>
            <a:graphicFrameLocks noGrp="1"/>
          </p:cNvGraphicFramePr>
          <p:nvPr>
            <p:extLst>
              <p:ext uri="{D42A27DB-BD31-4B8C-83A1-F6EECF244321}">
                <p14:modId xmlns:p14="http://schemas.microsoft.com/office/powerpoint/2010/main" val="4232568329"/>
              </p:ext>
            </p:extLst>
          </p:nvPr>
        </p:nvGraphicFramePr>
        <p:xfrm>
          <a:off x="0" y="365760"/>
          <a:ext cx="12192000" cy="55778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Page cache and </a:t>
                      </a:r>
                      <a:r>
                        <a:rPr lang="en-US" baseline="0" dirty="0"/>
                        <a:t>writeback</a:t>
                      </a:r>
                      <a:endParaRPr lang="ru-RU" dirty="0"/>
                    </a:p>
                  </a:txBody>
                  <a:tcPr/>
                </a:tc>
                <a:extLst>
                  <a:ext uri="{0D108BD9-81ED-4DB2-BD59-A6C34878D82A}">
                    <a16:rowId xmlns:a16="http://schemas.microsoft.com/office/drawing/2014/main" val="10000"/>
                  </a:ext>
                </a:extLst>
              </a:tr>
              <a:tr h="433310">
                <a:tc>
                  <a:txBody>
                    <a:bodyPr/>
                    <a:lstStyle/>
                    <a:p>
                      <a:pPr marL="285750" indent="-285750">
                        <a:buFont typeface="Arial" panose="020B0604020202020204" pitchFamily="34" charset="0"/>
                        <a:buChar char="•"/>
                      </a:pPr>
                      <a:r>
                        <a:rPr lang="en-US" baseline="0" dirty="0"/>
                        <a:t>System calls like </a:t>
                      </a:r>
                      <a:r>
                        <a:rPr lang="en-US" baseline="0" dirty="0">
                          <a:latin typeface="Consolas" panose="020B0609020204030204" pitchFamily="49" charset="0"/>
                          <a:cs typeface="Consolas" panose="020B0609020204030204" pitchFamily="49" charset="0"/>
                        </a:rPr>
                        <a:t>read()</a:t>
                      </a:r>
                      <a:r>
                        <a:rPr lang="en-US" baseline="0" dirty="0"/>
                        <a:t> and </a:t>
                      </a:r>
                      <a:r>
                        <a:rPr lang="en-US" baseline="0" dirty="0">
                          <a:latin typeface="Consolas" panose="020B0609020204030204" pitchFamily="49" charset="0"/>
                          <a:cs typeface="Consolas" panose="020B0609020204030204" pitchFamily="49" charset="0"/>
                        </a:rPr>
                        <a:t>write()</a:t>
                      </a:r>
                      <a:r>
                        <a:rPr lang="en-US" baseline="0" dirty="0"/>
                        <a:t> copy data between application buffers and the page cache in the kernel. The page cache works like a memory-mapped file. File pages are faulted into the page cache when accessed.</a:t>
                      </a:r>
                    </a:p>
                    <a:p>
                      <a:pPr marL="285750" indent="-285750">
                        <a:buFont typeface="Arial" panose="020B0604020202020204" pitchFamily="34" charset="0"/>
                        <a:buChar char="•"/>
                      </a:pPr>
                      <a:r>
                        <a:rPr lang="en-US" baseline="0" dirty="0"/>
                        <a:t>Unlike CPU instruction that load and store values, system calls have a return value and can signal IO errors.</a:t>
                      </a:r>
                      <a:endParaRPr lang="ru-RU" baseline="0" dirty="0"/>
                    </a:p>
                    <a:p>
                      <a:pPr marL="285750" indent="-285750">
                        <a:buFont typeface="Arial" panose="020B0604020202020204" pitchFamily="34" charset="0"/>
                        <a:buChar char="•"/>
                      </a:pPr>
                      <a:r>
                        <a:rPr lang="en-US" baseline="0" dirty="0"/>
                        <a:t>By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an application requests the page cache to write all dirty (modified) pages to the disk.</a:t>
                      </a:r>
                    </a:p>
                  </a:txBody>
                  <a:tcPr/>
                </a:tc>
                <a:extLst>
                  <a:ext uri="{0D108BD9-81ED-4DB2-BD59-A6C34878D82A}">
                    <a16:rowId xmlns:a16="http://schemas.microsoft.com/office/drawing/2014/main" val="10001"/>
                  </a:ext>
                </a:extLst>
              </a:tr>
              <a:tr h="433310">
                <a:tc>
                  <a:txBody>
                    <a:bodyPr/>
                    <a:lstStyle/>
                    <a:p>
                      <a:pPr marL="0" indent="0">
                        <a:buFont typeface="Arial" panose="020B0604020202020204" pitchFamily="34" charset="0"/>
                        <a:buNone/>
                      </a:pPr>
                      <a:r>
                        <a:rPr lang="en-US" baseline="0" dirty="0"/>
                        <a:t>When can an application detect a write error</a:t>
                      </a:r>
                      <a:r>
                        <a:rPr lang="ru-RU" baseline="0" dirty="0"/>
                        <a:t>?</a:t>
                      </a:r>
                      <a:endParaRPr lang="en-US" baseline="0" dirty="0"/>
                    </a:p>
                    <a:p>
                      <a:pPr marL="285750" indent="-285750">
                        <a:buFont typeface="Arial" panose="020B0604020202020204" pitchFamily="34" charset="0"/>
                        <a:buChar char="•"/>
                      </a:pPr>
                      <a:r>
                        <a:rPr lang="en-US" baseline="0" dirty="0"/>
                        <a:t>When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a:t>
                      </a:r>
                    </a:p>
                    <a:p>
                      <a:pPr marL="285750" indent="-285750">
                        <a:buFont typeface="Arial" panose="020B0604020202020204" pitchFamily="34" charset="0"/>
                        <a:buChar char="•"/>
                      </a:pPr>
                      <a:r>
                        <a:rPr lang="en-US" baseline="0" dirty="0"/>
                        <a:t>When calling</a:t>
                      </a:r>
                      <a:r>
                        <a:rPr lang="ru-RU" baseline="0" dirty="0"/>
                        <a:t> </a:t>
                      </a:r>
                      <a:r>
                        <a:rPr lang="en-US" baseline="0" dirty="0">
                          <a:latin typeface="Consolas" panose="020B0609020204030204" pitchFamily="49" charset="0"/>
                          <a:cs typeface="Consolas" panose="020B0609020204030204" pitchFamily="49" charset="0"/>
                        </a:rPr>
                        <a:t>write()</a:t>
                      </a:r>
                      <a:r>
                        <a:rPr lang="ru-RU" baseline="0" dirty="0"/>
                        <a:t>, </a:t>
                      </a:r>
                      <a:r>
                        <a:rPr lang="en-US" baseline="0" dirty="0"/>
                        <a:t>if the system is low on RAM and</a:t>
                      </a:r>
                      <a:r>
                        <a:rPr lang="ru-RU" baseline="0" dirty="0"/>
                        <a:t> </a:t>
                      </a:r>
                      <a:r>
                        <a:rPr lang="en-US" baseline="0" dirty="0">
                          <a:latin typeface="Consolas" panose="020B0609020204030204" pitchFamily="49" charset="0"/>
                          <a:cs typeface="Consolas" panose="020B0609020204030204" pitchFamily="49" charset="0"/>
                        </a:rPr>
                        <a:t>write()</a:t>
                      </a:r>
                      <a:r>
                        <a:rPr lang="en-US" baseline="0" dirty="0"/>
                        <a:t> triggers</a:t>
                      </a:r>
                      <a:r>
                        <a:rPr lang="ru-RU" baseline="0" dirty="0"/>
                        <a:t> </a:t>
                      </a:r>
                      <a:r>
                        <a:rPr lang="en-US" baseline="0" dirty="0"/>
                        <a:t>writeback,</a:t>
                      </a:r>
                    </a:p>
                    <a:p>
                      <a:pPr marL="285750" indent="-285750">
                        <a:buFont typeface="Arial" panose="020B0604020202020204" pitchFamily="34" charset="0"/>
                        <a:buChar char="•"/>
                      </a:pPr>
                      <a:r>
                        <a:rPr lang="en-US" baseline="0" dirty="0"/>
                        <a:t>(Possibly) when calling*</a:t>
                      </a:r>
                      <a:r>
                        <a:rPr lang="ru-RU" baseline="0" dirty="0"/>
                        <a:t> </a:t>
                      </a:r>
                      <a:r>
                        <a:rPr lang="en-US" baseline="0" dirty="0">
                          <a:latin typeface="Consolas" panose="020B0609020204030204" pitchFamily="49" charset="0"/>
                          <a:cs typeface="Consolas" panose="020B0609020204030204" pitchFamily="49" charset="0"/>
                        </a:rPr>
                        <a:t>close()</a:t>
                      </a:r>
                      <a:r>
                        <a:rPr lang="en-US" baseline="0" dirty="0"/>
                        <a:t>.</a:t>
                      </a:r>
                    </a:p>
                  </a:txBody>
                  <a:tcPr/>
                </a:tc>
                <a:extLst>
                  <a:ext uri="{0D108BD9-81ED-4DB2-BD59-A6C34878D82A}">
                    <a16:rowId xmlns:a16="http://schemas.microsoft.com/office/drawing/2014/main" val="2001293846"/>
                  </a:ext>
                </a:extLst>
              </a:tr>
              <a:tr h="433310">
                <a:tc>
                  <a:txBody>
                    <a:bodyPr/>
                    <a:lstStyle/>
                    <a:p>
                      <a:pPr marL="0" indent="0">
                        <a:buFont typeface="Arial" panose="020B0604020202020204" pitchFamily="34" charset="0"/>
                        <a:buNone/>
                      </a:pPr>
                      <a:r>
                        <a:rPr lang="en-US" baseline="0" dirty="0"/>
                        <a:t>Why do OSes not do IO immediately in</a:t>
                      </a:r>
                      <a:r>
                        <a:rPr lang="ru-RU" baseline="0" dirty="0"/>
                        <a:t> </a:t>
                      </a:r>
                      <a:r>
                        <a:rPr lang="en-US" baseline="0" dirty="0">
                          <a:latin typeface="Consolas" panose="020B0609020204030204" pitchFamily="49" charset="0"/>
                          <a:cs typeface="Consolas" panose="020B0609020204030204" pitchFamily="49" charset="0"/>
                        </a:rPr>
                        <a:t>write()</a:t>
                      </a:r>
                      <a:r>
                        <a:rPr lang="en-US" baseline="0" dirty="0"/>
                        <a:t> itself?</a:t>
                      </a:r>
                    </a:p>
                    <a:p>
                      <a:pPr marL="285750" indent="-285750">
                        <a:buFont typeface="Arial" panose="020B0604020202020204" pitchFamily="34" charset="0"/>
                        <a:buChar char="•"/>
                      </a:pPr>
                      <a:r>
                        <a:rPr lang="en-US" baseline="0" dirty="0"/>
                        <a:t>Multiple writes or re-writes to a file may be coalesced into a single write to a disk,</a:t>
                      </a:r>
                    </a:p>
                    <a:p>
                      <a:pPr marL="285750" indent="-285750">
                        <a:buFont typeface="Arial" panose="020B0604020202020204" pitchFamily="34" charset="0"/>
                        <a:buChar char="•"/>
                      </a:pPr>
                      <a:r>
                        <a:rPr lang="en-US" baseline="0" dirty="0"/>
                        <a:t>It becomes possible to issue fewer IO requests to a disk, and make them longer,</a:t>
                      </a:r>
                      <a:endParaRPr lang="ru-RU" baseline="0" dirty="0"/>
                    </a:p>
                    <a:p>
                      <a:pPr marL="285750" indent="-285750">
                        <a:buFont typeface="Arial" panose="020B0604020202020204" pitchFamily="34" charset="0"/>
                        <a:buChar char="•"/>
                      </a:pPr>
                      <a:r>
                        <a:rPr lang="en-US" baseline="0" dirty="0"/>
                        <a:t>File systems can do “delayed allocation” to decrease the fragmentation of files.</a:t>
                      </a:r>
                    </a:p>
                    <a:p>
                      <a:pPr marL="285750" indent="-285750">
                        <a:buFont typeface="Arial" panose="020B0604020202020204" pitchFamily="34" charset="0"/>
                        <a:buChar char="•"/>
                      </a:pPr>
                      <a:endParaRPr lang="en-US" baseline="0" dirty="0"/>
                    </a:p>
                    <a:p>
                      <a:pPr marL="0" indent="0">
                        <a:buFont typeface="Arial" panose="020B0604020202020204" pitchFamily="34" charset="0"/>
                        <a:buNone/>
                      </a:pPr>
                      <a:r>
                        <a:rPr lang="en-US" baseline="0" dirty="0"/>
                        <a:t>Delaying the IO also has downsides. For example, it may introduce thrashing and make it impossible to control the time it takes to call </a:t>
                      </a:r>
                      <a:r>
                        <a:rPr lang="en-US" baseline="0" dirty="0">
                          <a:latin typeface="Consolas" panose="020B0609020204030204" pitchFamily="49" charset="0"/>
                          <a:cs typeface="Consolas" panose="020B0609020204030204" pitchFamily="49" charset="0"/>
                        </a:rPr>
                        <a:t>write()</a:t>
                      </a:r>
                      <a:r>
                        <a:rPr lang="en-US" baseline="0" dirty="0"/>
                        <a:t> and</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a:t>
                      </a:r>
                    </a:p>
                    <a:p>
                      <a:pPr marL="0" indent="0">
                        <a:buFont typeface="Arial" panose="020B0604020202020204" pitchFamily="34" charset="0"/>
                        <a:buNone/>
                      </a:pPr>
                      <a:endParaRPr lang="en-US" baseline="0" dirty="0"/>
                    </a:p>
                    <a:p>
                      <a:pPr marL="0" indent="0">
                        <a:buFont typeface="Arial" panose="020B0604020202020204" pitchFamily="34" charset="0"/>
                        <a:buNone/>
                      </a:pPr>
                      <a:r>
                        <a:rPr lang="en-US" baseline="0" dirty="0"/>
                        <a:t>See </a:t>
                      </a:r>
                      <a:r>
                        <a:rPr lang="en-US" baseline="0" dirty="0">
                          <a:hlinkClick r:id="rId3"/>
                        </a:rPr>
                        <a:t>https://github.com/golang/go/issues/79664#issuecomment-5139068484</a:t>
                      </a:r>
                      <a:r>
                        <a:rPr lang="en-US" baseline="0" dirty="0"/>
                        <a:t> to see how important it is to have uniform latencies.</a:t>
                      </a:r>
                    </a:p>
                  </a:txBody>
                  <a:tcPr/>
                </a:tc>
                <a:extLst>
                  <a:ext uri="{0D108BD9-81ED-4DB2-BD59-A6C34878D82A}">
                    <a16:rowId xmlns:a16="http://schemas.microsoft.com/office/drawing/2014/main" val="2418925043"/>
                  </a:ext>
                </a:extLst>
              </a:tr>
            </a:tbl>
          </a:graphicData>
        </a:graphic>
      </p:graphicFrame>
      <p:sp>
        <p:nvSpPr>
          <p:cNvPr id="3" name="TextBox 2">
            <a:extLst>
              <a:ext uri="{FF2B5EF4-FFF2-40B4-BE49-F238E27FC236}">
                <a16:creationId xmlns:a16="http://schemas.microsoft.com/office/drawing/2014/main" id="{F02B9262-8551-80E3-EC48-4A51EF363446}"/>
              </a:ext>
            </a:extLst>
          </p:cNvPr>
          <p:cNvSpPr txBox="1"/>
          <p:nvPr/>
        </p:nvSpPr>
        <p:spPr>
          <a:xfrm>
            <a:off x="0" y="6092846"/>
            <a:ext cx="12192000" cy="369332"/>
          </a:xfrm>
          <a:prstGeom prst="rect">
            <a:avLst/>
          </a:prstGeom>
          <a:noFill/>
        </p:spPr>
        <p:txBody>
          <a:bodyPr wrap="square" rtlCol="0">
            <a:spAutoFit/>
          </a:bodyPr>
          <a:lstStyle/>
          <a:p>
            <a:r>
              <a:rPr lang="en-CY" i="1" dirty="0">
                <a:solidFill>
                  <a:schemeClr val="bg1">
                    <a:lumMod val="75000"/>
                  </a:schemeClr>
                </a:solidFill>
              </a:rPr>
              <a:t>* </a:t>
            </a:r>
            <a:r>
              <a:rPr lang="en-GB" i="1" dirty="0">
                <a:solidFill>
                  <a:schemeClr val="bg1">
                    <a:lumMod val="75000"/>
                  </a:schemeClr>
                </a:solidFill>
              </a:rPr>
              <a:t>T</a:t>
            </a:r>
            <a:r>
              <a:rPr lang="en-CY" i="1" dirty="0">
                <a:solidFill>
                  <a:schemeClr val="bg1">
                    <a:lumMod val="75000"/>
                  </a:schemeClr>
                </a:solidFill>
              </a:rPr>
              <a:t>his is a very unfortunate API design. The only sure way is to call </a:t>
            </a:r>
            <a:r>
              <a:rPr lang="en-CY" i="1" dirty="0">
                <a:solidFill>
                  <a:schemeClr val="bg1">
                    <a:lumMod val="75000"/>
                  </a:schemeClr>
                </a:solidFill>
                <a:latin typeface="Consolas" panose="020B0609020204030204" pitchFamily="49" charset="0"/>
                <a:cs typeface="Consolas" panose="020B0609020204030204" pitchFamily="49" charset="0"/>
              </a:rPr>
              <a:t>fsync()</a:t>
            </a:r>
            <a:r>
              <a:rPr lang="en-CY" i="1" dirty="0">
                <a:solidFill>
                  <a:schemeClr val="bg1">
                    <a:lumMod val="75000"/>
                  </a:schemeClr>
                </a:solidFill>
              </a:rPr>
              <a:t> before </a:t>
            </a:r>
            <a:r>
              <a:rPr lang="en-CY" i="1" dirty="0">
                <a:solidFill>
                  <a:schemeClr val="bg1">
                    <a:lumMod val="75000"/>
                  </a:schemeClr>
                </a:solidFill>
                <a:latin typeface="Consolas" panose="020B0609020204030204" pitchFamily="49" charset="0"/>
                <a:cs typeface="Consolas" panose="020B0609020204030204" pitchFamily="49" charset="0"/>
              </a:rPr>
              <a:t>close()</a:t>
            </a:r>
            <a:r>
              <a:rPr lang="en-CY" i="1" dirty="0">
                <a:solidFill>
                  <a:schemeClr val="bg1">
                    <a:lumMod val="75000"/>
                  </a:schemeClr>
                </a:solidFill>
              </a:rPr>
              <a:t>.</a:t>
            </a:r>
          </a:p>
        </p:txBody>
      </p:sp>
    </p:spTree>
    <p:extLst>
      <p:ext uri="{BB962C8B-B14F-4D97-AF65-F5344CB8AC3E}">
        <p14:creationId xmlns:p14="http://schemas.microsoft.com/office/powerpoint/2010/main" val="2349924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491D0-7C51-FFBC-08CF-7F8F403A3AF8}"/>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3638D5E-1566-4BEB-3526-720F1A204B62}"/>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82920E81-5D03-CD3B-833C-F75E0DE7999D}"/>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88D24D21-CE86-E9E5-DEDB-A485C296338B}"/>
              </a:ext>
            </a:extLst>
          </p:cNvPr>
          <p:cNvGraphicFramePr>
            <a:graphicFrameLocks noGrp="1"/>
          </p:cNvGraphicFramePr>
          <p:nvPr>
            <p:extLst>
              <p:ext uri="{D42A27DB-BD31-4B8C-83A1-F6EECF244321}">
                <p14:modId xmlns:p14="http://schemas.microsoft.com/office/powerpoint/2010/main" val="433596855"/>
              </p:ext>
            </p:extLst>
          </p:nvPr>
        </p:nvGraphicFramePr>
        <p:xfrm>
          <a:off x="0" y="365760"/>
          <a:ext cx="12192000" cy="55778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Page cache and </a:t>
                      </a:r>
                      <a:r>
                        <a:rPr lang="en-US" baseline="0" dirty="0"/>
                        <a:t>writeback</a:t>
                      </a:r>
                      <a:endParaRPr lang="ru-RU" dirty="0"/>
                    </a:p>
                  </a:txBody>
                  <a:tcPr/>
                </a:tc>
                <a:extLst>
                  <a:ext uri="{0D108BD9-81ED-4DB2-BD59-A6C34878D82A}">
                    <a16:rowId xmlns:a16="http://schemas.microsoft.com/office/drawing/2014/main" val="10000"/>
                  </a:ext>
                </a:extLst>
              </a:tr>
              <a:tr h="433310">
                <a:tc>
                  <a:txBody>
                    <a:bodyPr/>
                    <a:lstStyle/>
                    <a:p>
                      <a:pPr marL="285750" indent="-285750">
                        <a:buFont typeface="Arial" panose="020B0604020202020204" pitchFamily="34" charset="0"/>
                        <a:buChar char="•"/>
                      </a:pPr>
                      <a:r>
                        <a:rPr lang="en-US" baseline="0" dirty="0"/>
                        <a:t>System calls like </a:t>
                      </a:r>
                      <a:r>
                        <a:rPr lang="en-US" baseline="0" dirty="0">
                          <a:latin typeface="Consolas" panose="020B0609020204030204" pitchFamily="49" charset="0"/>
                          <a:cs typeface="Consolas" panose="020B0609020204030204" pitchFamily="49" charset="0"/>
                        </a:rPr>
                        <a:t>read()</a:t>
                      </a:r>
                      <a:r>
                        <a:rPr lang="en-US" baseline="0" dirty="0"/>
                        <a:t> and </a:t>
                      </a:r>
                      <a:r>
                        <a:rPr lang="en-US" baseline="0" dirty="0">
                          <a:latin typeface="Consolas" panose="020B0609020204030204" pitchFamily="49" charset="0"/>
                          <a:cs typeface="Consolas" panose="020B0609020204030204" pitchFamily="49" charset="0"/>
                        </a:rPr>
                        <a:t>write()</a:t>
                      </a:r>
                      <a:r>
                        <a:rPr lang="en-US" baseline="0" dirty="0"/>
                        <a:t> copy data between application buffers and the page cache in the kernel. The page cache works like a memory-mapped file. File pages are faulted into the page cache when accessed.</a:t>
                      </a:r>
                    </a:p>
                    <a:p>
                      <a:pPr marL="285750" indent="-285750">
                        <a:buFont typeface="Arial" panose="020B0604020202020204" pitchFamily="34" charset="0"/>
                        <a:buChar char="•"/>
                      </a:pPr>
                      <a:r>
                        <a:rPr lang="en-US" baseline="0" dirty="0"/>
                        <a:t>Unlike CPU instruction that load and store values, system calls have a return value and can signal IO errors.</a:t>
                      </a:r>
                      <a:endParaRPr lang="ru-RU" baseline="0" dirty="0"/>
                    </a:p>
                    <a:p>
                      <a:pPr marL="285750" indent="-285750">
                        <a:buFont typeface="Arial" panose="020B0604020202020204" pitchFamily="34" charset="0"/>
                        <a:buChar char="•"/>
                      </a:pPr>
                      <a:r>
                        <a:rPr lang="en-US" baseline="0" dirty="0"/>
                        <a:t>By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an application requests the page cache to write all dirty (modified) pages to the disk.</a:t>
                      </a:r>
                    </a:p>
                  </a:txBody>
                  <a:tcPr/>
                </a:tc>
                <a:extLst>
                  <a:ext uri="{0D108BD9-81ED-4DB2-BD59-A6C34878D82A}">
                    <a16:rowId xmlns:a16="http://schemas.microsoft.com/office/drawing/2014/main" val="10001"/>
                  </a:ext>
                </a:extLst>
              </a:tr>
              <a:tr h="433310">
                <a:tc>
                  <a:txBody>
                    <a:bodyPr/>
                    <a:lstStyle/>
                    <a:p>
                      <a:pPr marL="0" indent="0">
                        <a:buFont typeface="Arial" panose="020B0604020202020204" pitchFamily="34" charset="0"/>
                        <a:buNone/>
                      </a:pPr>
                      <a:r>
                        <a:rPr lang="en-US" baseline="0" dirty="0"/>
                        <a:t>When can an application detect a write error</a:t>
                      </a:r>
                      <a:r>
                        <a:rPr lang="ru-RU" baseline="0" dirty="0"/>
                        <a:t>?</a:t>
                      </a:r>
                      <a:endParaRPr lang="en-US" baseline="0" dirty="0"/>
                    </a:p>
                    <a:p>
                      <a:pPr marL="285750" indent="-285750">
                        <a:buFont typeface="Arial" panose="020B0604020202020204" pitchFamily="34" charset="0"/>
                        <a:buChar char="•"/>
                      </a:pPr>
                      <a:r>
                        <a:rPr lang="en-US" baseline="0" dirty="0"/>
                        <a:t>When calling</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a:t>
                      </a:r>
                    </a:p>
                    <a:p>
                      <a:pPr marL="285750" indent="-285750">
                        <a:buFont typeface="Arial" panose="020B0604020202020204" pitchFamily="34" charset="0"/>
                        <a:buChar char="•"/>
                      </a:pPr>
                      <a:r>
                        <a:rPr lang="en-US" baseline="0" dirty="0"/>
                        <a:t>When calling</a:t>
                      </a:r>
                      <a:r>
                        <a:rPr lang="ru-RU" baseline="0" dirty="0"/>
                        <a:t> </a:t>
                      </a:r>
                      <a:r>
                        <a:rPr lang="en-US" baseline="0" dirty="0">
                          <a:latin typeface="Consolas" panose="020B0609020204030204" pitchFamily="49" charset="0"/>
                          <a:cs typeface="Consolas" panose="020B0609020204030204" pitchFamily="49" charset="0"/>
                        </a:rPr>
                        <a:t>write()</a:t>
                      </a:r>
                      <a:r>
                        <a:rPr lang="ru-RU" baseline="0" dirty="0"/>
                        <a:t>, </a:t>
                      </a:r>
                      <a:r>
                        <a:rPr lang="en-US" baseline="0" dirty="0"/>
                        <a:t>if the system is low on RAM and</a:t>
                      </a:r>
                      <a:r>
                        <a:rPr lang="ru-RU" baseline="0" dirty="0"/>
                        <a:t> </a:t>
                      </a:r>
                      <a:r>
                        <a:rPr lang="en-US" baseline="0" dirty="0">
                          <a:latin typeface="Consolas" panose="020B0609020204030204" pitchFamily="49" charset="0"/>
                          <a:cs typeface="Consolas" panose="020B0609020204030204" pitchFamily="49" charset="0"/>
                        </a:rPr>
                        <a:t>write()</a:t>
                      </a:r>
                      <a:r>
                        <a:rPr lang="en-US" baseline="0" dirty="0"/>
                        <a:t> triggers</a:t>
                      </a:r>
                      <a:r>
                        <a:rPr lang="ru-RU" baseline="0" dirty="0"/>
                        <a:t> </a:t>
                      </a:r>
                      <a:r>
                        <a:rPr lang="en-US" baseline="0" dirty="0"/>
                        <a:t>writeback,</a:t>
                      </a:r>
                    </a:p>
                    <a:p>
                      <a:pPr marL="285750" indent="-285750">
                        <a:buFont typeface="Arial" panose="020B0604020202020204" pitchFamily="34" charset="0"/>
                        <a:buChar char="•"/>
                      </a:pPr>
                      <a:r>
                        <a:rPr lang="en-US" baseline="0" dirty="0"/>
                        <a:t>(Possibly) when calling*</a:t>
                      </a:r>
                      <a:r>
                        <a:rPr lang="ru-RU" baseline="0" dirty="0"/>
                        <a:t> </a:t>
                      </a:r>
                      <a:r>
                        <a:rPr lang="en-US" baseline="0" dirty="0">
                          <a:latin typeface="Consolas" panose="020B0609020204030204" pitchFamily="49" charset="0"/>
                          <a:cs typeface="Consolas" panose="020B0609020204030204" pitchFamily="49" charset="0"/>
                        </a:rPr>
                        <a:t>close()</a:t>
                      </a:r>
                      <a:r>
                        <a:rPr lang="en-US" baseline="0" dirty="0"/>
                        <a:t>.</a:t>
                      </a:r>
                    </a:p>
                  </a:txBody>
                  <a:tcPr/>
                </a:tc>
                <a:extLst>
                  <a:ext uri="{0D108BD9-81ED-4DB2-BD59-A6C34878D82A}">
                    <a16:rowId xmlns:a16="http://schemas.microsoft.com/office/drawing/2014/main" val="2001293846"/>
                  </a:ext>
                </a:extLst>
              </a:tr>
              <a:tr h="433310">
                <a:tc>
                  <a:txBody>
                    <a:bodyPr/>
                    <a:lstStyle/>
                    <a:p>
                      <a:pPr marL="0" indent="0">
                        <a:buFont typeface="Arial" panose="020B0604020202020204" pitchFamily="34" charset="0"/>
                        <a:buNone/>
                      </a:pPr>
                      <a:r>
                        <a:rPr lang="en-US" baseline="0" dirty="0"/>
                        <a:t>Why do OSes not do IO immediately in</a:t>
                      </a:r>
                      <a:r>
                        <a:rPr lang="ru-RU" baseline="0" dirty="0"/>
                        <a:t> </a:t>
                      </a:r>
                      <a:r>
                        <a:rPr lang="en-US" baseline="0" dirty="0">
                          <a:latin typeface="Consolas" panose="020B0609020204030204" pitchFamily="49" charset="0"/>
                          <a:cs typeface="Consolas" panose="020B0609020204030204" pitchFamily="49" charset="0"/>
                        </a:rPr>
                        <a:t>write()</a:t>
                      </a:r>
                      <a:r>
                        <a:rPr lang="en-US" baseline="0" dirty="0"/>
                        <a:t> itself?</a:t>
                      </a:r>
                    </a:p>
                    <a:p>
                      <a:pPr marL="285750" indent="-285750">
                        <a:buFont typeface="Arial" panose="020B0604020202020204" pitchFamily="34" charset="0"/>
                        <a:buChar char="•"/>
                      </a:pPr>
                      <a:r>
                        <a:rPr lang="en-US" baseline="0" dirty="0"/>
                        <a:t>Multiple writes or re-writes to a file may be coalesced into a single write to a disk,</a:t>
                      </a:r>
                    </a:p>
                    <a:p>
                      <a:pPr marL="285750" indent="-285750">
                        <a:buFont typeface="Arial" panose="020B0604020202020204" pitchFamily="34" charset="0"/>
                        <a:buChar char="•"/>
                      </a:pPr>
                      <a:r>
                        <a:rPr lang="en-US" baseline="0" dirty="0"/>
                        <a:t>It becomes possible to issue fewer IO requests to a disk, and make them longer,</a:t>
                      </a:r>
                      <a:endParaRPr lang="ru-RU" baseline="0" dirty="0"/>
                    </a:p>
                    <a:p>
                      <a:pPr marL="285750" indent="-285750">
                        <a:buFont typeface="Arial" panose="020B0604020202020204" pitchFamily="34" charset="0"/>
                        <a:buChar char="•"/>
                      </a:pPr>
                      <a:r>
                        <a:rPr lang="en-US" baseline="0" dirty="0"/>
                        <a:t>File systems can do “delayed allocation” to decrease the fragmentation of files.</a:t>
                      </a:r>
                    </a:p>
                    <a:p>
                      <a:pPr marL="285750" indent="-285750">
                        <a:buFont typeface="Arial" panose="020B0604020202020204" pitchFamily="34" charset="0"/>
                        <a:buChar char="•"/>
                      </a:pPr>
                      <a:endParaRPr lang="en-US" baseline="0" dirty="0"/>
                    </a:p>
                    <a:p>
                      <a:pPr marL="0" indent="0">
                        <a:buFont typeface="Arial" panose="020B0604020202020204" pitchFamily="34" charset="0"/>
                        <a:buNone/>
                      </a:pPr>
                      <a:r>
                        <a:rPr lang="en-US" baseline="0" dirty="0"/>
                        <a:t>Delaying the IO also has downsides. For example, it may introduce thrashing and make it impossible to control the time it takes to call </a:t>
                      </a:r>
                      <a:r>
                        <a:rPr lang="en-US" baseline="0" dirty="0">
                          <a:latin typeface="Consolas" panose="020B0609020204030204" pitchFamily="49" charset="0"/>
                          <a:cs typeface="Consolas" panose="020B0609020204030204" pitchFamily="49" charset="0"/>
                        </a:rPr>
                        <a:t>write()</a:t>
                      </a:r>
                      <a:r>
                        <a:rPr lang="en-US" baseline="0" dirty="0"/>
                        <a:t> and</a:t>
                      </a:r>
                      <a:r>
                        <a:rPr lang="ru-RU" baseline="0" dirty="0"/>
                        <a:t>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As of Linux 6.15, the page cache has 1 thread per a file system to do the writeback.</a:t>
                      </a:r>
                    </a:p>
                    <a:p>
                      <a:pPr marL="0" indent="0">
                        <a:buFont typeface="Arial" panose="020B0604020202020204" pitchFamily="34" charset="0"/>
                        <a:buNone/>
                      </a:pPr>
                      <a:r>
                        <a:rPr lang="en-US" baseline="0" dirty="0"/>
                        <a:t>See also: </a:t>
                      </a:r>
                      <a:r>
                        <a:rPr lang="en-US" baseline="0" dirty="0">
                          <a:hlinkClick r:id="rId3"/>
                        </a:rPr>
                        <a:t>https://lwn.net/Articles/976856/</a:t>
                      </a:r>
                      <a:r>
                        <a:rPr lang="en-US" baseline="0" dirty="0"/>
                        <a:t>.</a:t>
                      </a:r>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txBody>
                  <a:tcPr/>
                </a:tc>
                <a:extLst>
                  <a:ext uri="{0D108BD9-81ED-4DB2-BD59-A6C34878D82A}">
                    <a16:rowId xmlns:a16="http://schemas.microsoft.com/office/drawing/2014/main" val="2418925043"/>
                  </a:ext>
                </a:extLst>
              </a:tr>
            </a:tbl>
          </a:graphicData>
        </a:graphic>
      </p:graphicFrame>
      <p:sp>
        <p:nvSpPr>
          <p:cNvPr id="3" name="TextBox 2">
            <a:extLst>
              <a:ext uri="{FF2B5EF4-FFF2-40B4-BE49-F238E27FC236}">
                <a16:creationId xmlns:a16="http://schemas.microsoft.com/office/drawing/2014/main" id="{731DC416-A91B-F2D4-3D81-2D1CD1FF0419}"/>
              </a:ext>
            </a:extLst>
          </p:cNvPr>
          <p:cNvSpPr txBox="1"/>
          <p:nvPr/>
        </p:nvSpPr>
        <p:spPr>
          <a:xfrm>
            <a:off x="0" y="6092846"/>
            <a:ext cx="12192000" cy="369332"/>
          </a:xfrm>
          <a:prstGeom prst="rect">
            <a:avLst/>
          </a:prstGeom>
          <a:noFill/>
        </p:spPr>
        <p:txBody>
          <a:bodyPr wrap="square" rtlCol="0">
            <a:spAutoFit/>
          </a:bodyPr>
          <a:lstStyle/>
          <a:p>
            <a:r>
              <a:rPr lang="en-CY" i="1" dirty="0">
                <a:solidFill>
                  <a:schemeClr val="bg1">
                    <a:lumMod val="75000"/>
                  </a:schemeClr>
                </a:solidFill>
              </a:rPr>
              <a:t>* </a:t>
            </a:r>
            <a:r>
              <a:rPr lang="en-GB" i="1" dirty="0">
                <a:solidFill>
                  <a:schemeClr val="bg1">
                    <a:lumMod val="75000"/>
                  </a:schemeClr>
                </a:solidFill>
              </a:rPr>
              <a:t>T</a:t>
            </a:r>
            <a:r>
              <a:rPr lang="en-CY" i="1" dirty="0">
                <a:solidFill>
                  <a:schemeClr val="bg1">
                    <a:lumMod val="75000"/>
                  </a:schemeClr>
                </a:solidFill>
              </a:rPr>
              <a:t>his is a very unfortunate API design. The only sure way is to call </a:t>
            </a:r>
            <a:r>
              <a:rPr lang="en-CY" i="1" dirty="0">
                <a:solidFill>
                  <a:schemeClr val="bg1">
                    <a:lumMod val="75000"/>
                  </a:schemeClr>
                </a:solidFill>
                <a:latin typeface="Consolas" panose="020B0609020204030204" pitchFamily="49" charset="0"/>
                <a:cs typeface="Consolas" panose="020B0609020204030204" pitchFamily="49" charset="0"/>
              </a:rPr>
              <a:t>fsync()</a:t>
            </a:r>
            <a:r>
              <a:rPr lang="en-CY" i="1" dirty="0">
                <a:solidFill>
                  <a:schemeClr val="bg1">
                    <a:lumMod val="75000"/>
                  </a:schemeClr>
                </a:solidFill>
              </a:rPr>
              <a:t> before </a:t>
            </a:r>
            <a:r>
              <a:rPr lang="en-CY" i="1" dirty="0">
                <a:solidFill>
                  <a:schemeClr val="bg1">
                    <a:lumMod val="75000"/>
                  </a:schemeClr>
                </a:solidFill>
                <a:latin typeface="Consolas" panose="020B0609020204030204" pitchFamily="49" charset="0"/>
                <a:cs typeface="Consolas" panose="020B0609020204030204" pitchFamily="49" charset="0"/>
              </a:rPr>
              <a:t>close()</a:t>
            </a:r>
            <a:r>
              <a:rPr lang="en-CY" i="1" dirty="0">
                <a:solidFill>
                  <a:schemeClr val="bg1">
                    <a:lumMod val="75000"/>
                  </a:schemeClr>
                </a:solidFill>
              </a:rPr>
              <a:t>.</a:t>
            </a:r>
          </a:p>
        </p:txBody>
      </p:sp>
    </p:spTree>
    <p:extLst>
      <p:ext uri="{BB962C8B-B14F-4D97-AF65-F5344CB8AC3E}">
        <p14:creationId xmlns:p14="http://schemas.microsoft.com/office/powerpoint/2010/main" val="168242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A3E7D-8C5E-448A-A97C-E6E7F12A505D}"/>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C064EF9-AF88-3655-2EED-B692DB524FFB}"/>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C36AC3E8-70B9-8B80-6BB4-343B7F2CD95D}"/>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6E5F9FEC-8BBE-110B-5CD5-49B3EB67D720}"/>
              </a:ext>
            </a:extLst>
          </p:cNvPr>
          <p:cNvGraphicFramePr>
            <a:graphicFrameLocks noGrp="1"/>
          </p:cNvGraphicFramePr>
          <p:nvPr>
            <p:extLst>
              <p:ext uri="{D42A27DB-BD31-4B8C-83A1-F6EECF244321}">
                <p14:modId xmlns:p14="http://schemas.microsoft.com/office/powerpoint/2010/main" val="2624965054"/>
              </p:ext>
            </p:extLst>
          </p:nvPr>
        </p:nvGraphicFramePr>
        <p:xfrm>
          <a:off x="0" y="365760"/>
          <a:ext cx="12192000" cy="40233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Page cache and </a:t>
                      </a:r>
                      <a:r>
                        <a:rPr lang="en-US" baseline="0" dirty="0"/>
                        <a:t>writeback</a:t>
                      </a:r>
                      <a:endParaRPr lang="ru-RU" dirty="0"/>
                    </a:p>
                  </a:txBody>
                  <a:tcPr/>
                </a:tc>
                <a:extLst>
                  <a:ext uri="{0D108BD9-81ED-4DB2-BD59-A6C34878D82A}">
                    <a16:rowId xmlns:a16="http://schemas.microsoft.com/office/drawing/2014/main" val="10000"/>
                  </a:ext>
                </a:extLst>
              </a:tr>
              <a:tr h="216655">
                <a:tc>
                  <a:txBody>
                    <a:bodyPr/>
                    <a:lstStyle/>
                    <a:p>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and</a:t>
                      </a:r>
                      <a:r>
                        <a:rPr lang="ru-RU" baseline="0" dirty="0"/>
                        <a:t> </a:t>
                      </a:r>
                      <a:r>
                        <a:rPr lang="en-US" baseline="0" dirty="0" err="1">
                          <a:latin typeface="Consolas" panose="020B0609020204030204" pitchFamily="49" charset="0"/>
                          <a:cs typeface="Consolas" panose="020B0609020204030204" pitchFamily="49" charset="0"/>
                        </a:rPr>
                        <a:t>fdatasync</a:t>
                      </a:r>
                      <a:r>
                        <a:rPr lang="en-US" baseline="0" dirty="0">
                          <a:latin typeface="Consolas" panose="020B0609020204030204" pitchFamily="49" charset="0"/>
                          <a:cs typeface="Consolas" panose="020B0609020204030204" pitchFamily="49" charset="0"/>
                        </a:rPr>
                        <a:t>()</a:t>
                      </a:r>
                    </a:p>
                    <a:p>
                      <a:pPr marL="285750" indent="-285750">
                        <a:buFont typeface="Arial" charset="0"/>
                        <a:buChar char="•"/>
                      </a:pPr>
                      <a:r>
                        <a:rPr lang="en-US" baseline="0" dirty="0"/>
                        <a:t>report whether a writeback succeeded or failed</a:t>
                      </a:r>
                      <a:r>
                        <a:rPr lang="ru-RU" baseline="0" dirty="0"/>
                        <a:t>,</a:t>
                      </a:r>
                    </a:p>
                    <a:p>
                      <a:pPr marL="285750" indent="-285750">
                        <a:buFont typeface="Arial" charset="0"/>
                        <a:buChar char="•"/>
                      </a:pPr>
                      <a:r>
                        <a:rPr lang="en-US" baseline="0" dirty="0"/>
                        <a:t>do </a:t>
                      </a:r>
                      <a:r>
                        <a:rPr lang="en-US" b="1" baseline="0" dirty="0"/>
                        <a:t>not</a:t>
                      </a:r>
                      <a:r>
                        <a:rPr lang="en-US" baseline="0" dirty="0"/>
                        <a:t> specify ranges that were written successfully and ranges that failed*</a:t>
                      </a:r>
                      <a:r>
                        <a:rPr lang="ru-RU" baseline="0" dirty="0"/>
                        <a:t>.</a:t>
                      </a:r>
                      <a:endParaRPr lang="en-US" baseline="0" dirty="0"/>
                    </a:p>
                    <a:p>
                      <a:pPr marL="285750" indent="-285750">
                        <a:buFont typeface="Arial" charset="0"/>
                        <a:buChar char="•"/>
                      </a:pPr>
                      <a:endParaRPr lang="en-US" baseline="0" dirty="0"/>
                    </a:p>
                    <a:p>
                      <a:pPr marL="0" indent="0">
                        <a:buFont typeface="Arial" charset="0"/>
                        <a:buNone/>
                      </a:pPr>
                      <a:r>
                        <a:rPr lang="en-US" baseline="0" dirty="0"/>
                        <a:t>How do we design our file formats so that an error “some (unspecified) writes failed” can be handled</a:t>
                      </a:r>
                      <a:r>
                        <a:rPr lang="ru-RU" baseline="0" dirty="0"/>
                        <a:t>?</a:t>
                      </a:r>
                    </a:p>
                    <a:p>
                      <a:pPr marL="0" indent="0">
                        <a:buFont typeface="Arial" charset="0"/>
                        <a:buNone/>
                      </a:pPr>
                      <a:endParaRPr lang="en-US" baseline="0" dirty="0"/>
                    </a:p>
                    <a:p>
                      <a:pPr marL="0" indent="0">
                        <a:buFont typeface="Arial" charset="0"/>
                        <a:buNone/>
                      </a:pPr>
                      <a:endParaRPr lang="en-US" baseline="0" dirty="0"/>
                    </a:p>
                    <a:p>
                      <a:pPr marL="0" indent="0">
                        <a:buFont typeface="Arial" charset="0"/>
                        <a:buNone/>
                      </a:pPr>
                      <a:endParaRPr lang="en-US" baseline="0" dirty="0"/>
                    </a:p>
                    <a:p>
                      <a:pPr marL="0" indent="0">
                        <a:buFont typeface="Arial" charset="0"/>
                        <a:buNone/>
                      </a:pPr>
                      <a:endParaRPr lang="en-US" baseline="0" dirty="0"/>
                    </a:p>
                    <a:p>
                      <a:pPr marL="0" indent="0">
                        <a:buFont typeface="Arial" charset="0"/>
                        <a:buNone/>
                      </a:pPr>
                      <a:endParaRPr lang="en-US" baseline="0" dirty="0"/>
                    </a:p>
                    <a:p>
                      <a:pPr marL="0" indent="0">
                        <a:buFont typeface="Arial" charset="0"/>
                        <a:buNone/>
                      </a:pPr>
                      <a:endParaRPr lang="en-US" baseline="0" dirty="0"/>
                    </a:p>
                    <a:p>
                      <a:pPr marL="0" indent="0">
                        <a:buFont typeface="Arial" charset="0"/>
                        <a:buNone/>
                      </a:pPr>
                      <a:endParaRPr lang="en-US" baseline="0" dirty="0"/>
                    </a:p>
                    <a:p>
                      <a:pPr marL="0" indent="0">
                        <a:buFont typeface="Arial" charset="0"/>
                        <a:buNone/>
                      </a:pPr>
                      <a:endParaRPr lang="ru-RU" baseline="0" dirty="0"/>
                    </a:p>
                  </a:txBody>
                  <a:tcP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A70A12C2-98CC-3CBB-0478-A4E4E237054D}"/>
              </a:ext>
            </a:extLst>
          </p:cNvPr>
          <p:cNvSpPr txBox="1"/>
          <p:nvPr/>
        </p:nvSpPr>
        <p:spPr>
          <a:xfrm>
            <a:off x="-1" y="6092847"/>
            <a:ext cx="12191999" cy="369332"/>
          </a:xfrm>
          <a:prstGeom prst="rect">
            <a:avLst/>
          </a:prstGeom>
          <a:noFill/>
        </p:spPr>
        <p:txBody>
          <a:bodyPr wrap="square" rtlCol="0">
            <a:spAutoFit/>
          </a:bodyPr>
          <a:lstStyle/>
          <a:p>
            <a:r>
              <a:rPr lang="en-CY" i="1" dirty="0"/>
              <a:t>Quiz: if a program overwrites a region in a file, what can we assume abo</a:t>
            </a:r>
            <a:r>
              <a:rPr lang="en-GB" i="1" dirty="0" err="1"/>
              <a:t>ut</a:t>
            </a:r>
            <a:r>
              <a:rPr lang="en-CY" i="1" dirty="0"/>
              <a:t> the region if </a:t>
            </a:r>
            <a:r>
              <a:rPr lang="en-CY" i="1" dirty="0">
                <a:latin typeface="Consolas" panose="020B0609020204030204" pitchFamily="49" charset="0"/>
                <a:cs typeface="Consolas" panose="020B0609020204030204" pitchFamily="49" charset="0"/>
              </a:rPr>
              <a:t>fsync()</a:t>
            </a:r>
            <a:r>
              <a:rPr lang="en-CY" i="1" dirty="0"/>
              <a:t> fails?</a:t>
            </a:r>
          </a:p>
        </p:txBody>
      </p:sp>
    </p:spTree>
    <p:extLst>
      <p:ext uri="{BB962C8B-B14F-4D97-AF65-F5344CB8AC3E}">
        <p14:creationId xmlns:p14="http://schemas.microsoft.com/office/powerpoint/2010/main" val="191297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31776586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906570645"/>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370842714"/>
              </p:ext>
            </p:extLst>
          </p:nvPr>
        </p:nvGraphicFramePr>
        <p:xfrm>
          <a:off x="0" y="365760"/>
          <a:ext cx="12192000" cy="40233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6655">
                <a:tc>
                  <a:txBody>
                    <a:bodyPr/>
                    <a:lstStyle/>
                    <a:p>
                      <a:r>
                        <a:rPr lang="en-US" dirty="0"/>
                        <a:t>Page cache and </a:t>
                      </a:r>
                      <a:r>
                        <a:rPr lang="en-US" baseline="0" dirty="0"/>
                        <a:t>writeback</a:t>
                      </a:r>
                      <a:endParaRPr lang="ru-RU" dirty="0"/>
                    </a:p>
                  </a:txBody>
                  <a:tcPr/>
                </a:tc>
                <a:extLst>
                  <a:ext uri="{0D108BD9-81ED-4DB2-BD59-A6C34878D82A}">
                    <a16:rowId xmlns:a16="http://schemas.microsoft.com/office/drawing/2014/main" val="10000"/>
                  </a:ext>
                </a:extLst>
              </a:tr>
              <a:tr h="216655">
                <a:tc>
                  <a:txBody>
                    <a:bodyPr/>
                    <a:lstStyle/>
                    <a:p>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and</a:t>
                      </a:r>
                      <a:r>
                        <a:rPr lang="ru-RU" baseline="0" dirty="0"/>
                        <a:t> </a:t>
                      </a:r>
                      <a:r>
                        <a:rPr lang="en-US" baseline="0" dirty="0" err="1">
                          <a:latin typeface="Consolas" panose="020B0609020204030204" pitchFamily="49" charset="0"/>
                          <a:cs typeface="Consolas" panose="020B0609020204030204" pitchFamily="49" charset="0"/>
                        </a:rPr>
                        <a:t>fdatasync</a:t>
                      </a:r>
                      <a:r>
                        <a:rPr lang="en-US" baseline="0" dirty="0">
                          <a:latin typeface="Consolas" panose="020B0609020204030204" pitchFamily="49" charset="0"/>
                          <a:cs typeface="Consolas" panose="020B0609020204030204" pitchFamily="49" charset="0"/>
                        </a:rPr>
                        <a:t>()</a:t>
                      </a:r>
                    </a:p>
                    <a:p>
                      <a:pPr marL="285750" indent="-285750">
                        <a:buFont typeface="Arial" charset="0"/>
                        <a:buChar char="•"/>
                      </a:pPr>
                      <a:r>
                        <a:rPr lang="en-US" baseline="0" dirty="0"/>
                        <a:t>report whether a writeback succeeded or failed</a:t>
                      </a:r>
                      <a:r>
                        <a:rPr lang="ru-RU" baseline="0" dirty="0"/>
                        <a:t>,</a:t>
                      </a:r>
                    </a:p>
                    <a:p>
                      <a:pPr marL="285750" indent="-285750">
                        <a:buFont typeface="Arial" charset="0"/>
                        <a:buChar char="•"/>
                      </a:pPr>
                      <a:r>
                        <a:rPr lang="en-US" baseline="0" dirty="0"/>
                        <a:t>do </a:t>
                      </a:r>
                      <a:r>
                        <a:rPr lang="en-US" b="1" baseline="0" dirty="0"/>
                        <a:t>not</a:t>
                      </a:r>
                      <a:r>
                        <a:rPr lang="en-US" baseline="0" dirty="0"/>
                        <a:t> specify ranges that were written successfully and ranges that failed</a:t>
                      </a:r>
                      <a:r>
                        <a:rPr lang="ru-RU" baseline="0" dirty="0"/>
                        <a:t>.</a:t>
                      </a:r>
                      <a:endParaRPr lang="en-US" baseline="0" dirty="0"/>
                    </a:p>
                    <a:p>
                      <a:pPr marL="285750" indent="-285750">
                        <a:buFont typeface="Arial" charset="0"/>
                        <a:buChar char="•"/>
                      </a:pPr>
                      <a:endParaRPr lang="en-US" baseline="0" dirty="0"/>
                    </a:p>
                    <a:p>
                      <a:pPr marL="0" indent="0">
                        <a:buFont typeface="Arial" charset="0"/>
                        <a:buNone/>
                      </a:pPr>
                      <a:r>
                        <a:rPr lang="en-US" baseline="0" dirty="0"/>
                        <a:t>How do we design our file formats so that an error “some (unspecified) writes failed” can be handled</a:t>
                      </a:r>
                      <a:r>
                        <a:rPr lang="ru-RU" baseline="0" dirty="0"/>
                        <a:t>?</a:t>
                      </a:r>
                    </a:p>
                    <a:p>
                      <a:pPr marL="0" indent="0">
                        <a:buFont typeface="Arial" charset="0"/>
                        <a:buNone/>
                      </a:pPr>
                      <a:endParaRPr lang="ru-RU" baseline="0" dirty="0"/>
                    </a:p>
                    <a:p>
                      <a:pPr marL="0" indent="0">
                        <a:buFont typeface="Arial" charset="0"/>
                        <a:buNone/>
                      </a:pPr>
                      <a:r>
                        <a:rPr lang="en-US" baseline="0" dirty="0"/>
                        <a:t>We can split our data into two parts. The data files itself and metadata files that keep (small) pointers to data. With this arrangement we can order the writes this way</a:t>
                      </a:r>
                      <a:r>
                        <a:rPr lang="ru-RU" baseline="0" dirty="0"/>
                        <a:t>:</a:t>
                      </a:r>
                    </a:p>
                    <a:p>
                      <a:pPr marL="342900" indent="-342900">
                        <a:buFont typeface="+mj-lt"/>
                        <a:buAutoNum type="arabicPeriod"/>
                      </a:pPr>
                      <a:r>
                        <a:rPr lang="en-US" baseline="0" dirty="0"/>
                        <a:t>write a new data file,</a:t>
                      </a:r>
                      <a:endParaRPr lang="ru-RU" baseline="0" dirty="0"/>
                    </a:p>
                    <a:p>
                      <a:pPr marL="342900" indent="-342900">
                        <a:buFont typeface="+mj-lt"/>
                        <a:buAutoNum type="arabicPeriod"/>
                      </a:pP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the data file,</a:t>
                      </a:r>
                    </a:p>
                    <a:p>
                      <a:pPr marL="342900" indent="-342900">
                        <a:buFont typeface="+mj-lt"/>
                        <a:buAutoNum type="arabicPeriod"/>
                      </a:pPr>
                      <a:r>
                        <a:rPr lang="en-US" baseline="0" dirty="0"/>
                        <a:t>write a header that points to the new data:</a:t>
                      </a:r>
                    </a:p>
                    <a:p>
                      <a:pPr marL="800100" lvl="1" indent="-342900">
                        <a:buFont typeface="+mj-lt"/>
                        <a:buAutoNum type="alphaLcPeriod"/>
                      </a:pPr>
                      <a:r>
                        <a:rPr lang="en-US" baseline="0" dirty="0"/>
                        <a:t>append a new header to the metadata and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ru-RU" baseline="0" dirty="0"/>
                        <a:t>,</a:t>
                      </a:r>
                      <a:endParaRPr lang="en-US" baseline="0" dirty="0"/>
                    </a:p>
                    <a:p>
                      <a:pPr marL="800100" lvl="1" indent="-342900">
                        <a:buFont typeface="+mj-lt"/>
                        <a:buAutoNum type="alphaLcPeriod"/>
                      </a:pPr>
                      <a:r>
                        <a:rPr lang="en-US" baseline="0" dirty="0"/>
                        <a:t>write a temporary metadata file,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and </a:t>
                      </a:r>
                      <a:r>
                        <a:rPr lang="en-US" baseline="0" dirty="0">
                          <a:latin typeface="Consolas" panose="020B0609020204030204" pitchFamily="49" charset="0"/>
                          <a:cs typeface="Consolas" panose="020B0609020204030204" pitchFamily="49" charset="0"/>
                        </a:rPr>
                        <a:t>rename()</a:t>
                      </a:r>
                      <a:r>
                        <a:rPr lang="en-US" baseline="0" dirty="0"/>
                        <a:t> it atop the previous metadata file.</a:t>
                      </a:r>
                      <a:endParaRPr lang="ru-RU" baseline="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801449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107333514"/>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93395915"/>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063406066"/>
              </p:ext>
            </p:extLst>
          </p:nvPr>
        </p:nvGraphicFramePr>
        <p:xfrm>
          <a:off x="-2" y="365761"/>
          <a:ext cx="12192002" cy="441621"/>
        </p:xfrm>
        <a:graphic>
          <a:graphicData uri="http://schemas.openxmlformats.org/drawingml/2006/table">
            <a:tbl>
              <a:tblPr firstRow="1" bandRow="1">
                <a:tableStyleId>{3B4B98B0-60AC-42C2-AFA5-B58CD77FA1E5}</a:tableStyleId>
              </a:tblPr>
              <a:tblGrid>
                <a:gridCol w="6096001">
                  <a:extLst>
                    <a:ext uri="{9D8B030D-6E8A-4147-A177-3AD203B41FA5}">
                      <a16:colId xmlns:a16="http://schemas.microsoft.com/office/drawing/2014/main" val="20000"/>
                    </a:ext>
                  </a:extLst>
                </a:gridCol>
                <a:gridCol w="6096001">
                  <a:extLst>
                    <a:ext uri="{9D8B030D-6E8A-4147-A177-3AD203B41FA5}">
                      <a16:colId xmlns:a16="http://schemas.microsoft.com/office/drawing/2014/main" val="20001"/>
                    </a:ext>
                  </a:extLst>
                </a:gridCol>
              </a:tblGrid>
              <a:tr h="441621">
                <a:tc>
                  <a:txBody>
                    <a:bodyPr/>
                    <a:lstStyle/>
                    <a:p>
                      <a:r>
                        <a:rPr lang="en-US" dirty="0"/>
                        <a:t>POSIX API</a:t>
                      </a:r>
                      <a:endParaRPr lang="ru-RU" dirty="0"/>
                    </a:p>
                  </a:txBody>
                  <a:tcPr/>
                </a:tc>
                <a:tc>
                  <a:txBody>
                    <a:bodyPr/>
                    <a:lstStyle/>
                    <a:p>
                      <a:r>
                        <a:rPr lang="en-US" dirty="0"/>
                        <a:t>Windows API</a:t>
                      </a:r>
                      <a:endParaRPr lang="ru-RU"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07622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562019265"/>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457081692"/>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810033519"/>
              </p:ext>
            </p:extLst>
          </p:nvPr>
        </p:nvGraphicFramePr>
        <p:xfrm>
          <a:off x="-2" y="365761"/>
          <a:ext cx="12192002" cy="3611541"/>
        </p:xfrm>
        <a:graphic>
          <a:graphicData uri="http://schemas.openxmlformats.org/drawingml/2006/table">
            <a:tbl>
              <a:tblPr firstRow="1" bandRow="1">
                <a:tableStyleId>{3B4B98B0-60AC-42C2-AFA5-B58CD77FA1E5}</a:tableStyleId>
              </a:tblPr>
              <a:tblGrid>
                <a:gridCol w="6096001">
                  <a:extLst>
                    <a:ext uri="{9D8B030D-6E8A-4147-A177-3AD203B41FA5}">
                      <a16:colId xmlns:a16="http://schemas.microsoft.com/office/drawing/2014/main" val="20000"/>
                    </a:ext>
                  </a:extLst>
                </a:gridCol>
                <a:gridCol w="6096001">
                  <a:extLst>
                    <a:ext uri="{9D8B030D-6E8A-4147-A177-3AD203B41FA5}">
                      <a16:colId xmlns:a16="http://schemas.microsoft.com/office/drawing/2014/main" val="20001"/>
                    </a:ext>
                  </a:extLst>
                </a:gridCol>
              </a:tblGrid>
              <a:tr h="441621">
                <a:tc>
                  <a:txBody>
                    <a:bodyPr/>
                    <a:lstStyle/>
                    <a:p>
                      <a:r>
                        <a:rPr lang="en-US" dirty="0"/>
                        <a:t>POSIX API</a:t>
                      </a:r>
                      <a:endParaRPr lang="ru-RU" dirty="0"/>
                    </a:p>
                  </a:txBody>
                  <a:tcPr/>
                </a:tc>
                <a:tc>
                  <a:txBody>
                    <a:bodyPr/>
                    <a:lstStyle/>
                    <a:p>
                      <a:r>
                        <a:rPr lang="en-US" dirty="0"/>
                        <a:t>Windows API</a:t>
                      </a:r>
                      <a:endParaRPr lang="ru-RU" dirty="0"/>
                    </a:p>
                  </a:txBody>
                  <a:tcPr/>
                </a:tc>
                <a:extLst>
                  <a:ext uri="{0D108BD9-81ED-4DB2-BD59-A6C34878D82A}">
                    <a16:rowId xmlns:a16="http://schemas.microsoft.com/office/drawing/2014/main" val="10000"/>
                  </a:ext>
                </a:extLst>
              </a:tr>
              <a:tr h="441621">
                <a:tc>
                  <a:txBody>
                    <a:bodyPr/>
                    <a:lstStyle/>
                    <a:p>
                      <a:r>
                        <a:rPr lang="en-US" sz="1600" dirty="0" err="1">
                          <a:latin typeface="Consolas" panose="020B0609020204030204" pitchFamily="49" charset="0"/>
                          <a:cs typeface="Consolas" panose="020B0609020204030204" pitchFamily="49" charset="0"/>
                        </a:rPr>
                        <a:t>ssize_t</a:t>
                      </a:r>
                      <a:r>
                        <a:rPr lang="en-US" sz="1600" dirty="0">
                          <a:latin typeface="Consolas" panose="020B0609020204030204" pitchFamily="49" charset="0"/>
                          <a:cs typeface="Consolas" panose="020B0609020204030204" pitchFamily="49" charset="0"/>
                        </a:rPr>
                        <a:t> read(int </a:t>
                      </a:r>
                      <a:r>
                        <a:rPr lang="en-US" sz="1600" dirty="0" err="1">
                          <a:latin typeface="Consolas" panose="020B0609020204030204" pitchFamily="49" charset="0"/>
                          <a:cs typeface="Consolas" panose="020B0609020204030204" pitchFamily="49" charset="0"/>
                        </a:rPr>
                        <a:t>fd</a:t>
                      </a:r>
                      <a:r>
                        <a:rPr lang="en-US" sz="1600" dirty="0">
                          <a:latin typeface="Consolas" panose="020B0609020204030204" pitchFamily="49" charset="0"/>
                          <a:cs typeface="Consolas" panose="020B0609020204030204" pitchFamily="49" charset="0"/>
                        </a:rPr>
                        <a:t>, void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size_t</a:t>
                      </a:r>
                      <a:r>
                        <a:rPr lang="en-US" sz="1600" dirty="0">
                          <a:latin typeface="Consolas" panose="020B0609020204030204" pitchFamily="49" charset="0"/>
                          <a:cs typeface="Consolas" panose="020B0609020204030204" pitchFamily="49" charset="0"/>
                        </a:rPr>
                        <a:t> count);</a:t>
                      </a:r>
                      <a:endParaRPr lang="ru-RU" sz="1600" dirty="0">
                        <a:latin typeface="Consolas" panose="020B0609020204030204" pitchFamily="49" charset="0"/>
                        <a:cs typeface="Consolas" panose="020B0609020204030204" pitchFamily="49" charset="0"/>
                      </a:endParaRPr>
                    </a:p>
                  </a:txBody>
                  <a:tcPr/>
                </a:tc>
                <a:tc>
                  <a:txBody>
                    <a:bodyPr/>
                    <a:lstStyle/>
                    <a:p>
                      <a:r>
                        <a:rPr lang="en-US" sz="1400" dirty="0">
                          <a:latin typeface="Consolas" panose="020B0609020204030204" pitchFamily="49" charset="0"/>
                          <a:cs typeface="Consolas" panose="020B0609020204030204" pitchFamily="49" charset="0"/>
                        </a:rPr>
                        <a:t>BOOL WINAPI </a:t>
                      </a:r>
                      <a:r>
                        <a:rPr lang="en-US" sz="1400" dirty="0" err="1">
                          <a:latin typeface="Consolas" panose="020B0609020204030204" pitchFamily="49" charset="0"/>
                          <a:cs typeface="Consolas" panose="020B0609020204030204" pitchFamily="49" charset="0"/>
                        </a:rPr>
                        <a:t>ReadFile</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_In_        HANDLE          </a:t>
                      </a:r>
                      <a:r>
                        <a:rPr lang="en-US" sz="1400" dirty="0" err="1">
                          <a:latin typeface="Consolas" panose="020B0609020204030204" pitchFamily="49" charset="0"/>
                          <a:cs typeface="Consolas" panose="020B0609020204030204" pitchFamily="49" charset="0"/>
                        </a:rPr>
                        <a:t>hFile</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_Out_       LPVOID          </a:t>
                      </a:r>
                      <a:r>
                        <a:rPr lang="en-US" sz="1400" dirty="0" err="1">
                          <a:latin typeface="Consolas" panose="020B0609020204030204" pitchFamily="49" charset="0"/>
                          <a:cs typeface="Consolas" panose="020B0609020204030204" pitchFamily="49" charset="0"/>
                        </a:rPr>
                        <a:t>lpBuffer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_In_        DWORD           </a:t>
                      </a:r>
                      <a:r>
                        <a:rPr lang="en-US" sz="1400" dirty="0" err="1">
                          <a:latin typeface="Consolas" panose="020B0609020204030204" pitchFamily="49" charset="0"/>
                          <a:cs typeface="Consolas" panose="020B0609020204030204" pitchFamily="49" charset="0"/>
                        </a:rPr>
                        <a:t>nNumberOfBytesToRead</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a:t>
                      </a:r>
                      <a:r>
                        <a:rPr lang="en-US" sz="1400" dirty="0" err="1">
                          <a:latin typeface="Consolas" panose="020B0609020204030204" pitchFamily="49" charset="0"/>
                          <a:cs typeface="Consolas" panose="020B0609020204030204" pitchFamily="49" charset="0"/>
                        </a:rPr>
                        <a:t>Out_opt</a:t>
                      </a:r>
                      <a:r>
                        <a:rPr lang="en-US" sz="1400" dirty="0">
                          <a:latin typeface="Consolas" panose="020B0609020204030204" pitchFamily="49" charset="0"/>
                          <a:cs typeface="Consolas" panose="020B0609020204030204" pitchFamily="49" charset="0"/>
                        </a:rPr>
                        <a:t>_   LPDWORD         </a:t>
                      </a:r>
                      <a:r>
                        <a:rPr lang="en-US" sz="1400" dirty="0" err="1">
                          <a:latin typeface="Consolas" panose="020B0609020204030204" pitchFamily="49" charset="0"/>
                          <a:cs typeface="Consolas" panose="020B0609020204030204" pitchFamily="49" charset="0"/>
                        </a:rPr>
                        <a:t>lpNumberOfBytesRead</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a:t>
                      </a:r>
                      <a:r>
                        <a:rPr lang="en-US" sz="1400" dirty="0" err="1">
                          <a:latin typeface="Consolas" panose="020B0609020204030204" pitchFamily="49" charset="0"/>
                          <a:cs typeface="Consolas" panose="020B0609020204030204" pitchFamily="49" charset="0"/>
                        </a:rPr>
                        <a:t>Inout_opt</a:t>
                      </a:r>
                      <a:r>
                        <a:rPr lang="en-US" sz="1400" dirty="0">
                          <a:latin typeface="Consolas" panose="020B0609020204030204" pitchFamily="49" charset="0"/>
                          <a:cs typeface="Consolas" panose="020B0609020204030204" pitchFamily="49" charset="0"/>
                        </a:rPr>
                        <a:t>_ LPOVERLAPPED    </a:t>
                      </a:r>
                      <a:r>
                        <a:rPr lang="en-US" sz="1400" dirty="0" err="1">
                          <a:latin typeface="Consolas" panose="020B0609020204030204" pitchFamily="49" charset="0"/>
                          <a:cs typeface="Consolas" panose="020B0609020204030204" pitchFamily="49" charset="0"/>
                        </a:rPr>
                        <a:t>lpOverlapped</a:t>
                      </a:r>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a:t>
                      </a:r>
                      <a:endParaRPr lang="ru-RU" sz="14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441621">
                <a:tc>
                  <a:txBody>
                    <a:bodyPr/>
                    <a:lstStyle/>
                    <a:p>
                      <a:r>
                        <a:rPr lang="en-US" sz="1600" dirty="0" err="1">
                          <a:latin typeface="Consolas" panose="020B0609020204030204" pitchFamily="49" charset="0"/>
                          <a:cs typeface="Consolas" panose="020B0609020204030204" pitchFamily="49" charset="0"/>
                        </a:rPr>
                        <a:t>ssize_t</a:t>
                      </a:r>
                      <a:r>
                        <a:rPr lang="en-US" sz="1600" dirty="0">
                          <a:latin typeface="Consolas" panose="020B0609020204030204" pitchFamily="49" charset="0"/>
                          <a:cs typeface="Consolas" panose="020B0609020204030204" pitchFamily="49" charset="0"/>
                        </a:rPr>
                        <a:t> write(int </a:t>
                      </a:r>
                      <a:r>
                        <a:rPr lang="en-US" sz="1600" dirty="0" err="1">
                          <a:latin typeface="Consolas" panose="020B0609020204030204" pitchFamily="49" charset="0"/>
                          <a:cs typeface="Consolas" panose="020B0609020204030204" pitchFamily="49" charset="0"/>
                        </a:rPr>
                        <a:t>fd</a:t>
                      </a:r>
                      <a:r>
                        <a:rPr lang="en-US" sz="1600" dirty="0">
                          <a:latin typeface="Consolas" panose="020B0609020204030204" pitchFamily="49" charset="0"/>
                          <a:cs typeface="Consolas" panose="020B0609020204030204" pitchFamily="49" charset="0"/>
                        </a:rPr>
                        <a:t>, const</a:t>
                      </a:r>
                      <a:r>
                        <a:rPr lang="en-US" sz="1600" baseline="0" dirty="0">
                          <a:latin typeface="Consolas" panose="020B0609020204030204" pitchFamily="49" charset="0"/>
                          <a:cs typeface="Consolas" panose="020B0609020204030204" pitchFamily="49" charset="0"/>
                        </a:rPr>
                        <a:t> void *</a:t>
                      </a:r>
                      <a:r>
                        <a:rPr lang="en-US" sz="1600" baseline="0" dirty="0" err="1">
                          <a:latin typeface="Consolas" panose="020B0609020204030204" pitchFamily="49" charset="0"/>
                          <a:cs typeface="Consolas" panose="020B0609020204030204" pitchFamily="49" charset="0"/>
                        </a:rPr>
                        <a:t>buf</a:t>
                      </a:r>
                      <a:r>
                        <a:rPr lang="en-US" sz="1600" baseline="0" dirty="0">
                          <a:latin typeface="Consolas" panose="020B0609020204030204" pitchFamily="49" charset="0"/>
                          <a:cs typeface="Consolas" panose="020B0609020204030204" pitchFamily="49" charset="0"/>
                        </a:rPr>
                        <a:t>, </a:t>
                      </a:r>
                      <a:r>
                        <a:rPr lang="en-US" sz="1600" baseline="0" dirty="0" err="1">
                          <a:latin typeface="Consolas" panose="020B0609020204030204" pitchFamily="49" charset="0"/>
                          <a:cs typeface="Consolas" panose="020B0609020204030204" pitchFamily="49" charset="0"/>
                        </a:rPr>
                        <a:t>size_t</a:t>
                      </a:r>
                      <a:r>
                        <a:rPr lang="en-US" sz="1600" baseline="0" dirty="0">
                          <a:latin typeface="Consolas" panose="020B0609020204030204" pitchFamily="49" charset="0"/>
                          <a:cs typeface="Consolas" panose="020B0609020204030204" pitchFamily="49" charset="0"/>
                        </a:rPr>
                        <a:t> count);</a:t>
                      </a:r>
                      <a:endParaRPr lang="ru-RU" sz="1600" dirty="0">
                        <a:latin typeface="Consolas" panose="020B0609020204030204" pitchFamily="49" charset="0"/>
                        <a:cs typeface="Consolas" panose="020B0609020204030204" pitchFamily="49" charset="0"/>
                      </a:endParaRPr>
                    </a:p>
                  </a:txBody>
                  <a:tcPr/>
                </a:tc>
                <a:tc>
                  <a:txBody>
                    <a:bodyPr/>
                    <a:lstStyle/>
                    <a:p>
                      <a:r>
                        <a:rPr lang="en-US" sz="1400" dirty="0">
                          <a:latin typeface="Consolas" panose="020B0609020204030204" pitchFamily="49" charset="0"/>
                          <a:cs typeface="Consolas" panose="020B0609020204030204" pitchFamily="49" charset="0"/>
                        </a:rPr>
                        <a:t>BOOL WINAPI </a:t>
                      </a:r>
                      <a:r>
                        <a:rPr lang="en-US" sz="1400" dirty="0" err="1">
                          <a:latin typeface="Consolas" panose="020B0609020204030204" pitchFamily="49" charset="0"/>
                          <a:cs typeface="Consolas" panose="020B0609020204030204" pitchFamily="49" charset="0"/>
                        </a:rPr>
                        <a:t>WriteFile</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_In_        HANDLE          </a:t>
                      </a:r>
                      <a:r>
                        <a:rPr lang="en-US" sz="1400" dirty="0" err="1">
                          <a:latin typeface="Consolas" panose="020B0609020204030204" pitchFamily="49" charset="0"/>
                          <a:cs typeface="Consolas" panose="020B0609020204030204" pitchFamily="49" charset="0"/>
                        </a:rPr>
                        <a:t>hFile</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_In_        LPCVOID         </a:t>
                      </a:r>
                      <a:r>
                        <a:rPr lang="en-US" sz="1400" dirty="0" err="1">
                          <a:latin typeface="Consolas" panose="020B0609020204030204" pitchFamily="49" charset="0"/>
                          <a:cs typeface="Consolas" panose="020B0609020204030204" pitchFamily="49" charset="0"/>
                        </a:rPr>
                        <a:t>lpBuffer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_In_        DWORD           </a:t>
                      </a:r>
                      <a:r>
                        <a:rPr lang="en-US" sz="1400" dirty="0" err="1">
                          <a:latin typeface="Consolas" panose="020B0609020204030204" pitchFamily="49" charset="0"/>
                          <a:cs typeface="Consolas" panose="020B0609020204030204" pitchFamily="49" charset="0"/>
                        </a:rPr>
                        <a:t>nNumberOfBytesToWrite</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a:t>
                      </a:r>
                      <a:r>
                        <a:rPr lang="en-US" sz="1400" dirty="0" err="1">
                          <a:latin typeface="Consolas" panose="020B0609020204030204" pitchFamily="49" charset="0"/>
                          <a:cs typeface="Consolas" panose="020B0609020204030204" pitchFamily="49" charset="0"/>
                        </a:rPr>
                        <a:t>Out_opt</a:t>
                      </a:r>
                      <a:r>
                        <a:rPr lang="en-US" sz="1400" dirty="0">
                          <a:latin typeface="Consolas" panose="020B0609020204030204" pitchFamily="49" charset="0"/>
                          <a:cs typeface="Consolas" panose="020B0609020204030204" pitchFamily="49" charset="0"/>
                        </a:rPr>
                        <a:t>_   LPDWORD         </a:t>
                      </a:r>
                      <a:r>
                        <a:rPr lang="en-US" sz="1400" dirty="0" err="1">
                          <a:latin typeface="Consolas" panose="020B0609020204030204" pitchFamily="49" charset="0"/>
                          <a:cs typeface="Consolas" panose="020B0609020204030204" pitchFamily="49" charset="0"/>
                        </a:rPr>
                        <a:t>lpNumberOfBytesWritten</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a:t>
                      </a:r>
                      <a:r>
                        <a:rPr lang="en-US" sz="1400" dirty="0" err="1">
                          <a:latin typeface="Consolas" panose="020B0609020204030204" pitchFamily="49" charset="0"/>
                          <a:cs typeface="Consolas" panose="020B0609020204030204" pitchFamily="49" charset="0"/>
                        </a:rPr>
                        <a:t>Inout_opt</a:t>
                      </a:r>
                      <a:r>
                        <a:rPr lang="en-US" sz="1400" dirty="0">
                          <a:latin typeface="Consolas" panose="020B0609020204030204" pitchFamily="49" charset="0"/>
                          <a:cs typeface="Consolas" panose="020B0609020204030204" pitchFamily="49" charset="0"/>
                        </a:rPr>
                        <a:t>_ LPOVERLAPPED    </a:t>
                      </a:r>
                      <a:r>
                        <a:rPr lang="en-US" sz="1400" dirty="0" err="1">
                          <a:latin typeface="Consolas" panose="020B0609020204030204" pitchFamily="49" charset="0"/>
                          <a:cs typeface="Consolas" panose="020B0609020204030204" pitchFamily="49" charset="0"/>
                        </a:rPr>
                        <a:t>lpOverlapped</a:t>
                      </a:r>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a:t>
                      </a:r>
                      <a:endParaRPr lang="ru-RU" sz="14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14771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840F4-412D-A71F-35CD-80E260DAA68B}"/>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4B8E5E4-A187-D693-5AEE-8697A942E73B}"/>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30527680-A395-0614-80B9-BB101906D9ED}"/>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AA4DDA63-0F37-9963-11F7-C8A6F906703C}"/>
              </a:ext>
            </a:extLst>
          </p:cNvPr>
          <p:cNvGraphicFramePr>
            <a:graphicFrameLocks noGrp="1"/>
          </p:cNvGraphicFramePr>
          <p:nvPr>
            <p:extLst>
              <p:ext uri="{D42A27DB-BD31-4B8C-83A1-F6EECF244321}">
                <p14:modId xmlns:p14="http://schemas.microsoft.com/office/powerpoint/2010/main" val="145358153"/>
              </p:ext>
            </p:extLst>
          </p:nvPr>
        </p:nvGraphicFramePr>
        <p:xfrm>
          <a:off x="-2" y="365761"/>
          <a:ext cx="12192002" cy="3733461"/>
        </p:xfrm>
        <a:graphic>
          <a:graphicData uri="http://schemas.openxmlformats.org/drawingml/2006/table">
            <a:tbl>
              <a:tblPr firstRow="1" bandRow="1">
                <a:tableStyleId>{3B4B98B0-60AC-42C2-AFA5-B58CD77FA1E5}</a:tableStyleId>
              </a:tblPr>
              <a:tblGrid>
                <a:gridCol w="6096001">
                  <a:extLst>
                    <a:ext uri="{9D8B030D-6E8A-4147-A177-3AD203B41FA5}">
                      <a16:colId xmlns:a16="http://schemas.microsoft.com/office/drawing/2014/main" val="20000"/>
                    </a:ext>
                  </a:extLst>
                </a:gridCol>
                <a:gridCol w="6096001">
                  <a:extLst>
                    <a:ext uri="{9D8B030D-6E8A-4147-A177-3AD203B41FA5}">
                      <a16:colId xmlns:a16="http://schemas.microsoft.com/office/drawing/2014/main" val="20001"/>
                    </a:ext>
                  </a:extLst>
                </a:gridCol>
              </a:tblGrid>
              <a:tr h="441621">
                <a:tc>
                  <a:txBody>
                    <a:bodyPr/>
                    <a:lstStyle/>
                    <a:p>
                      <a:r>
                        <a:rPr lang="en-US" dirty="0"/>
                        <a:t>POSIX API</a:t>
                      </a:r>
                      <a:endParaRPr lang="ru-RU" dirty="0"/>
                    </a:p>
                  </a:txBody>
                  <a:tcPr/>
                </a:tc>
                <a:tc>
                  <a:txBody>
                    <a:bodyPr/>
                    <a:lstStyle/>
                    <a:p>
                      <a:r>
                        <a:rPr lang="en-US" dirty="0"/>
                        <a:t>Windows API</a:t>
                      </a:r>
                      <a:endParaRPr lang="ru-RU" dirty="0"/>
                    </a:p>
                  </a:txBody>
                  <a:tcPr/>
                </a:tc>
                <a:extLst>
                  <a:ext uri="{0D108BD9-81ED-4DB2-BD59-A6C34878D82A}">
                    <a16:rowId xmlns:a16="http://schemas.microsoft.com/office/drawing/2014/main" val="10000"/>
                  </a:ext>
                </a:extLst>
              </a:tr>
              <a:tr h="441621">
                <a:tc>
                  <a:txBody>
                    <a:bodyPr/>
                    <a:lstStyle/>
                    <a:p>
                      <a:r>
                        <a:rPr lang="en-US" sz="1600" dirty="0" err="1">
                          <a:latin typeface="Consolas" panose="020B0609020204030204" pitchFamily="49" charset="0"/>
                          <a:cs typeface="Consolas" panose="020B0609020204030204" pitchFamily="49" charset="0"/>
                        </a:rPr>
                        <a:t>ssize_t</a:t>
                      </a:r>
                      <a:r>
                        <a:rPr lang="en-US" sz="1600" dirty="0">
                          <a:latin typeface="Consolas" panose="020B0609020204030204" pitchFamily="49" charset="0"/>
                          <a:cs typeface="Consolas" panose="020B0609020204030204" pitchFamily="49" charset="0"/>
                        </a:rPr>
                        <a:t> read(int </a:t>
                      </a:r>
                      <a:r>
                        <a:rPr lang="en-US" sz="1600" dirty="0" err="1">
                          <a:latin typeface="Consolas" panose="020B0609020204030204" pitchFamily="49" charset="0"/>
                          <a:cs typeface="Consolas" panose="020B0609020204030204" pitchFamily="49" charset="0"/>
                        </a:rPr>
                        <a:t>fd</a:t>
                      </a:r>
                      <a:r>
                        <a:rPr lang="en-US" sz="1600" dirty="0">
                          <a:latin typeface="Consolas" panose="020B0609020204030204" pitchFamily="49" charset="0"/>
                          <a:cs typeface="Consolas" panose="020B0609020204030204" pitchFamily="49" charset="0"/>
                        </a:rPr>
                        <a:t>, void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size_t</a:t>
                      </a:r>
                      <a:r>
                        <a:rPr lang="en-US" sz="1600" dirty="0">
                          <a:latin typeface="Consolas" panose="020B0609020204030204" pitchFamily="49" charset="0"/>
                          <a:cs typeface="Consolas" panose="020B0609020204030204" pitchFamily="49" charset="0"/>
                        </a:rPr>
                        <a:t> count);</a:t>
                      </a:r>
                      <a:endParaRPr lang="ru-RU" sz="1600" dirty="0">
                        <a:latin typeface="Consolas" panose="020B0609020204030204" pitchFamily="49" charset="0"/>
                        <a:cs typeface="Consolas" panose="020B0609020204030204" pitchFamily="49" charset="0"/>
                      </a:endParaRPr>
                    </a:p>
                  </a:txBody>
                  <a:tcPr/>
                </a:tc>
                <a:tc>
                  <a:txBody>
                    <a:bodyPr/>
                    <a:lstStyle/>
                    <a:p>
                      <a:r>
                        <a:rPr lang="en-US" sz="1400" dirty="0">
                          <a:latin typeface="Consolas" panose="020B0609020204030204" pitchFamily="49" charset="0"/>
                          <a:cs typeface="Consolas" panose="020B0609020204030204" pitchFamily="49" charset="0"/>
                        </a:rPr>
                        <a:t>BOOL WINAPI </a:t>
                      </a:r>
                      <a:r>
                        <a:rPr lang="en-US" sz="1400" dirty="0" err="1">
                          <a:latin typeface="Consolas" panose="020B0609020204030204" pitchFamily="49" charset="0"/>
                          <a:cs typeface="Consolas" panose="020B0609020204030204" pitchFamily="49" charset="0"/>
                        </a:rPr>
                        <a:t>ReadFile</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_In_        HANDLE          </a:t>
                      </a:r>
                      <a:r>
                        <a:rPr lang="en-US" sz="1400" dirty="0" err="1">
                          <a:latin typeface="Consolas" panose="020B0609020204030204" pitchFamily="49" charset="0"/>
                          <a:cs typeface="Consolas" panose="020B0609020204030204" pitchFamily="49" charset="0"/>
                        </a:rPr>
                        <a:t>hFile</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_Out_       LPVOID          </a:t>
                      </a:r>
                      <a:r>
                        <a:rPr lang="en-US" sz="1400" dirty="0" err="1">
                          <a:latin typeface="Consolas" panose="020B0609020204030204" pitchFamily="49" charset="0"/>
                          <a:cs typeface="Consolas" panose="020B0609020204030204" pitchFamily="49" charset="0"/>
                        </a:rPr>
                        <a:t>lpBuffer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_In_        DWORD           </a:t>
                      </a:r>
                      <a:r>
                        <a:rPr lang="en-US" sz="1400" dirty="0" err="1">
                          <a:latin typeface="Consolas" panose="020B0609020204030204" pitchFamily="49" charset="0"/>
                          <a:cs typeface="Consolas" panose="020B0609020204030204" pitchFamily="49" charset="0"/>
                        </a:rPr>
                        <a:t>nNumberOfBytesToRead</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a:t>
                      </a:r>
                      <a:r>
                        <a:rPr lang="en-US" sz="1400" dirty="0" err="1">
                          <a:latin typeface="Consolas" panose="020B0609020204030204" pitchFamily="49" charset="0"/>
                          <a:cs typeface="Consolas" panose="020B0609020204030204" pitchFamily="49" charset="0"/>
                        </a:rPr>
                        <a:t>Out_opt</a:t>
                      </a:r>
                      <a:r>
                        <a:rPr lang="en-US" sz="1400" dirty="0">
                          <a:latin typeface="Consolas" panose="020B0609020204030204" pitchFamily="49" charset="0"/>
                          <a:cs typeface="Consolas" panose="020B0609020204030204" pitchFamily="49" charset="0"/>
                        </a:rPr>
                        <a:t>_   LPDWORD         </a:t>
                      </a:r>
                      <a:r>
                        <a:rPr lang="en-US" sz="1400" dirty="0" err="1">
                          <a:latin typeface="Consolas" panose="020B0609020204030204" pitchFamily="49" charset="0"/>
                          <a:cs typeface="Consolas" panose="020B0609020204030204" pitchFamily="49" charset="0"/>
                        </a:rPr>
                        <a:t>lpNumberOfBytesRead</a:t>
                      </a:r>
                      <a:r>
                        <a:rPr lang="en-US" sz="1400" dirty="0">
                          <a:latin typeface="Consolas" panose="020B0609020204030204" pitchFamily="49" charset="0"/>
                          <a:cs typeface="Consolas" panose="020B0609020204030204" pitchFamily="49" charset="0"/>
                        </a:rPr>
                        <a:t>,</a:t>
                      </a:r>
                    </a:p>
                    <a:p>
                      <a:r>
                        <a:rPr lang="en-US" sz="1800" dirty="0">
                          <a:solidFill>
                            <a:srgbClr val="FF0000"/>
                          </a:solidFill>
                          <a:latin typeface="Consolas" panose="020B0609020204030204" pitchFamily="49" charset="0"/>
                          <a:cs typeface="Consolas" panose="020B0609020204030204" pitchFamily="49" charset="0"/>
                        </a:rPr>
                        <a:t>  _</a:t>
                      </a:r>
                      <a:r>
                        <a:rPr lang="en-US" sz="1800" dirty="0" err="1">
                          <a:solidFill>
                            <a:srgbClr val="FF0000"/>
                          </a:solidFill>
                          <a:latin typeface="Consolas" panose="020B0609020204030204" pitchFamily="49" charset="0"/>
                          <a:cs typeface="Consolas" panose="020B0609020204030204" pitchFamily="49" charset="0"/>
                        </a:rPr>
                        <a:t>Inout_opt</a:t>
                      </a:r>
                      <a:r>
                        <a:rPr lang="en-US" sz="1800" dirty="0">
                          <a:solidFill>
                            <a:srgbClr val="FF0000"/>
                          </a:solidFill>
                          <a:latin typeface="Consolas" panose="020B0609020204030204" pitchFamily="49" charset="0"/>
                          <a:cs typeface="Consolas" panose="020B0609020204030204" pitchFamily="49" charset="0"/>
                        </a:rPr>
                        <a:t>_ LPOVERLAPPED    </a:t>
                      </a:r>
                      <a:r>
                        <a:rPr lang="en-US" sz="1800" dirty="0" err="1">
                          <a:solidFill>
                            <a:srgbClr val="FF0000"/>
                          </a:solidFill>
                          <a:latin typeface="Consolas" panose="020B0609020204030204" pitchFamily="49" charset="0"/>
                          <a:cs typeface="Consolas" panose="020B0609020204030204" pitchFamily="49" charset="0"/>
                        </a:rPr>
                        <a:t>lpOverlapped</a:t>
                      </a:r>
                      <a:endParaRPr lang="en-US" sz="1800" dirty="0">
                        <a:solidFill>
                          <a:srgbClr val="FF0000"/>
                        </a:solidFill>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a:t>
                      </a:r>
                      <a:endParaRPr lang="ru-RU" sz="14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441621">
                <a:tc>
                  <a:txBody>
                    <a:bodyPr/>
                    <a:lstStyle/>
                    <a:p>
                      <a:r>
                        <a:rPr lang="en-US" sz="1600" dirty="0" err="1">
                          <a:latin typeface="Consolas" panose="020B0609020204030204" pitchFamily="49" charset="0"/>
                          <a:cs typeface="Consolas" panose="020B0609020204030204" pitchFamily="49" charset="0"/>
                        </a:rPr>
                        <a:t>ssize_t</a:t>
                      </a:r>
                      <a:r>
                        <a:rPr lang="en-US" sz="1600" dirty="0">
                          <a:latin typeface="Consolas" panose="020B0609020204030204" pitchFamily="49" charset="0"/>
                          <a:cs typeface="Consolas" panose="020B0609020204030204" pitchFamily="49" charset="0"/>
                        </a:rPr>
                        <a:t> write(int </a:t>
                      </a:r>
                      <a:r>
                        <a:rPr lang="en-US" sz="1600" dirty="0" err="1">
                          <a:latin typeface="Consolas" panose="020B0609020204030204" pitchFamily="49" charset="0"/>
                          <a:cs typeface="Consolas" panose="020B0609020204030204" pitchFamily="49" charset="0"/>
                        </a:rPr>
                        <a:t>fd</a:t>
                      </a:r>
                      <a:r>
                        <a:rPr lang="en-US" sz="1600" dirty="0">
                          <a:latin typeface="Consolas" panose="020B0609020204030204" pitchFamily="49" charset="0"/>
                          <a:cs typeface="Consolas" panose="020B0609020204030204" pitchFamily="49" charset="0"/>
                        </a:rPr>
                        <a:t>, const</a:t>
                      </a:r>
                      <a:r>
                        <a:rPr lang="en-US" sz="1600" baseline="0" dirty="0">
                          <a:latin typeface="Consolas" panose="020B0609020204030204" pitchFamily="49" charset="0"/>
                          <a:cs typeface="Consolas" panose="020B0609020204030204" pitchFamily="49" charset="0"/>
                        </a:rPr>
                        <a:t> void *</a:t>
                      </a:r>
                      <a:r>
                        <a:rPr lang="en-US" sz="1600" baseline="0" dirty="0" err="1">
                          <a:latin typeface="Consolas" panose="020B0609020204030204" pitchFamily="49" charset="0"/>
                          <a:cs typeface="Consolas" panose="020B0609020204030204" pitchFamily="49" charset="0"/>
                        </a:rPr>
                        <a:t>buf</a:t>
                      </a:r>
                      <a:r>
                        <a:rPr lang="en-US" sz="1600" baseline="0" dirty="0">
                          <a:latin typeface="Consolas" panose="020B0609020204030204" pitchFamily="49" charset="0"/>
                          <a:cs typeface="Consolas" panose="020B0609020204030204" pitchFamily="49" charset="0"/>
                        </a:rPr>
                        <a:t>, </a:t>
                      </a:r>
                      <a:r>
                        <a:rPr lang="en-US" sz="1600" baseline="0" dirty="0" err="1">
                          <a:latin typeface="Consolas" panose="020B0609020204030204" pitchFamily="49" charset="0"/>
                          <a:cs typeface="Consolas" panose="020B0609020204030204" pitchFamily="49" charset="0"/>
                        </a:rPr>
                        <a:t>size_t</a:t>
                      </a:r>
                      <a:r>
                        <a:rPr lang="en-US" sz="1600" baseline="0" dirty="0">
                          <a:latin typeface="Consolas" panose="020B0609020204030204" pitchFamily="49" charset="0"/>
                          <a:cs typeface="Consolas" panose="020B0609020204030204" pitchFamily="49" charset="0"/>
                        </a:rPr>
                        <a:t> count);</a:t>
                      </a:r>
                      <a:endParaRPr lang="ru-RU" sz="1600" dirty="0">
                        <a:latin typeface="Consolas" panose="020B0609020204030204" pitchFamily="49" charset="0"/>
                        <a:cs typeface="Consolas" panose="020B0609020204030204" pitchFamily="49" charset="0"/>
                      </a:endParaRPr>
                    </a:p>
                  </a:txBody>
                  <a:tcPr/>
                </a:tc>
                <a:tc>
                  <a:txBody>
                    <a:bodyPr/>
                    <a:lstStyle/>
                    <a:p>
                      <a:r>
                        <a:rPr lang="en-US" sz="1400" dirty="0">
                          <a:latin typeface="Consolas" panose="020B0609020204030204" pitchFamily="49" charset="0"/>
                          <a:cs typeface="Consolas" panose="020B0609020204030204" pitchFamily="49" charset="0"/>
                        </a:rPr>
                        <a:t>BOOL WINAPI </a:t>
                      </a:r>
                      <a:r>
                        <a:rPr lang="en-US" sz="1400" dirty="0" err="1">
                          <a:latin typeface="Consolas" panose="020B0609020204030204" pitchFamily="49" charset="0"/>
                          <a:cs typeface="Consolas" panose="020B0609020204030204" pitchFamily="49" charset="0"/>
                        </a:rPr>
                        <a:t>WriteFile</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_In_        HANDLE          </a:t>
                      </a:r>
                      <a:r>
                        <a:rPr lang="en-US" sz="1400" dirty="0" err="1">
                          <a:latin typeface="Consolas" panose="020B0609020204030204" pitchFamily="49" charset="0"/>
                          <a:cs typeface="Consolas" panose="020B0609020204030204" pitchFamily="49" charset="0"/>
                        </a:rPr>
                        <a:t>hFile</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_In_        LPCVOID         </a:t>
                      </a:r>
                      <a:r>
                        <a:rPr lang="en-US" sz="1400" dirty="0" err="1">
                          <a:latin typeface="Consolas" panose="020B0609020204030204" pitchFamily="49" charset="0"/>
                          <a:cs typeface="Consolas" panose="020B0609020204030204" pitchFamily="49" charset="0"/>
                        </a:rPr>
                        <a:t>lpBuffer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_In_        DWORD           </a:t>
                      </a:r>
                      <a:r>
                        <a:rPr lang="en-US" sz="1400" dirty="0" err="1">
                          <a:latin typeface="Consolas" panose="020B0609020204030204" pitchFamily="49" charset="0"/>
                          <a:cs typeface="Consolas" panose="020B0609020204030204" pitchFamily="49" charset="0"/>
                        </a:rPr>
                        <a:t>nNumberOfBytesToWrite</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_</a:t>
                      </a:r>
                      <a:r>
                        <a:rPr lang="en-US" sz="1400" dirty="0" err="1">
                          <a:latin typeface="Consolas" panose="020B0609020204030204" pitchFamily="49" charset="0"/>
                          <a:cs typeface="Consolas" panose="020B0609020204030204" pitchFamily="49" charset="0"/>
                        </a:rPr>
                        <a:t>Out_opt</a:t>
                      </a:r>
                      <a:r>
                        <a:rPr lang="en-US" sz="1400" dirty="0">
                          <a:latin typeface="Consolas" panose="020B0609020204030204" pitchFamily="49" charset="0"/>
                          <a:cs typeface="Consolas" panose="020B0609020204030204" pitchFamily="49" charset="0"/>
                        </a:rPr>
                        <a:t>_   LPDWORD         </a:t>
                      </a:r>
                      <a:r>
                        <a:rPr lang="en-US" sz="1400" dirty="0" err="1">
                          <a:latin typeface="Consolas" panose="020B0609020204030204" pitchFamily="49" charset="0"/>
                          <a:cs typeface="Consolas" panose="020B0609020204030204" pitchFamily="49" charset="0"/>
                        </a:rPr>
                        <a:t>lpNumberOfBytesWritten</a:t>
                      </a:r>
                      <a:r>
                        <a:rPr lang="en-US" sz="1400" dirty="0">
                          <a:latin typeface="Consolas" panose="020B0609020204030204" pitchFamily="49" charset="0"/>
                          <a:cs typeface="Consolas" panose="020B0609020204030204" pitchFamily="49" charset="0"/>
                        </a:rPr>
                        <a:t>,</a:t>
                      </a:r>
                    </a:p>
                    <a:p>
                      <a:r>
                        <a:rPr lang="en-US" sz="1800" dirty="0">
                          <a:solidFill>
                            <a:srgbClr val="FF0000"/>
                          </a:solidFill>
                          <a:latin typeface="Consolas" panose="020B0609020204030204" pitchFamily="49" charset="0"/>
                          <a:cs typeface="Consolas" panose="020B0609020204030204" pitchFamily="49" charset="0"/>
                        </a:rPr>
                        <a:t>  _</a:t>
                      </a:r>
                      <a:r>
                        <a:rPr lang="en-US" sz="1800" dirty="0" err="1">
                          <a:solidFill>
                            <a:srgbClr val="FF0000"/>
                          </a:solidFill>
                          <a:latin typeface="Consolas" panose="020B0609020204030204" pitchFamily="49" charset="0"/>
                          <a:cs typeface="Consolas" panose="020B0609020204030204" pitchFamily="49" charset="0"/>
                        </a:rPr>
                        <a:t>Inout_opt</a:t>
                      </a:r>
                      <a:r>
                        <a:rPr lang="en-US" sz="1800" dirty="0">
                          <a:solidFill>
                            <a:srgbClr val="FF0000"/>
                          </a:solidFill>
                          <a:latin typeface="Consolas" panose="020B0609020204030204" pitchFamily="49" charset="0"/>
                          <a:cs typeface="Consolas" panose="020B0609020204030204" pitchFamily="49" charset="0"/>
                        </a:rPr>
                        <a:t>_ LPOVERLAPPED    </a:t>
                      </a:r>
                      <a:r>
                        <a:rPr lang="en-US" sz="1800" dirty="0" err="1">
                          <a:solidFill>
                            <a:srgbClr val="FF0000"/>
                          </a:solidFill>
                          <a:latin typeface="Consolas" panose="020B0609020204030204" pitchFamily="49" charset="0"/>
                          <a:cs typeface="Consolas" panose="020B0609020204030204" pitchFamily="49" charset="0"/>
                        </a:rPr>
                        <a:t>lpOverlapped</a:t>
                      </a:r>
                      <a:endParaRPr lang="en-US" sz="1800" dirty="0">
                        <a:solidFill>
                          <a:srgbClr val="FF0000"/>
                        </a:solidFill>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a:t>
                      </a:r>
                      <a:endParaRPr lang="ru-RU" sz="14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18337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250758865"/>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58396261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413986150"/>
              </p:ext>
            </p:extLst>
          </p:nvPr>
        </p:nvGraphicFramePr>
        <p:xfrm>
          <a:off x="0" y="365761"/>
          <a:ext cx="12192000" cy="57962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dirty="0"/>
                        <a:t>Synchronous and asynchronous IO, pipelining and</a:t>
                      </a:r>
                      <a:r>
                        <a:rPr lang="ru-RU" dirty="0"/>
                        <a:t> </a:t>
                      </a:r>
                      <a:r>
                        <a:rPr lang="en-US" dirty="0"/>
                        <a:t>multiplexing</a:t>
                      </a:r>
                      <a:endParaRPr lang="ru-RU" dirty="0"/>
                    </a:p>
                  </a:txBody>
                  <a:tcPr/>
                </a:tc>
                <a:extLst>
                  <a:ext uri="{0D108BD9-81ED-4DB2-BD59-A6C34878D82A}">
                    <a16:rowId xmlns:a16="http://schemas.microsoft.com/office/drawing/2014/main" val="10000"/>
                  </a:ext>
                </a:extLst>
              </a:tr>
              <a:tr h="370840">
                <a:tc>
                  <a:txBody>
                    <a:bodyPr/>
                    <a:lstStyle/>
                    <a:p>
                      <a:r>
                        <a:rPr lang="en-US" dirty="0"/>
                        <a:t>Consider a naïve implementation of a routine that copies a file from one disk to another</a:t>
                      </a:r>
                      <a:r>
                        <a:rPr lang="ru-RU" dirty="0"/>
                        <a:t>:</a:t>
                      </a:r>
                      <a:endParaRPr lang="en-US" dirty="0"/>
                    </a:p>
                    <a:p>
                      <a:endParaRPr lang="en-US" dirty="0"/>
                    </a:p>
                    <a:p>
                      <a:r>
                        <a:rPr lang="en-US" sz="1600" dirty="0">
                          <a:latin typeface="Consolas" panose="020B0609020204030204" pitchFamily="49" charset="0"/>
                          <a:cs typeface="Consolas" panose="020B0609020204030204" pitchFamily="49" charset="0"/>
                        </a:rPr>
                        <a:t>while (!done) {</a:t>
                      </a:r>
                    </a:p>
                    <a:p>
                      <a:r>
                        <a:rPr lang="en-US" sz="1600" dirty="0">
                          <a:latin typeface="Consolas" panose="020B0609020204030204" pitchFamily="49" charset="0"/>
                          <a:cs typeface="Consolas" panose="020B0609020204030204" pitchFamily="49" charset="0"/>
                        </a:rPr>
                        <a:t>  r = read(</a:t>
                      </a:r>
                      <a:r>
                        <a:rPr lang="en-US" sz="1600" dirty="0" err="1">
                          <a:latin typeface="Consolas" panose="020B0609020204030204" pitchFamily="49" charset="0"/>
                          <a:cs typeface="Consolas" panose="020B0609020204030204" pitchFamily="49" charset="0"/>
                        </a:rPr>
                        <a:t>fd_in</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sizeof</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r</a:t>
                      </a:r>
                      <a:r>
                        <a:rPr lang="ru-RU" sz="1600" dirty="0">
                          <a:latin typeface="Consolas" panose="020B0609020204030204" pitchFamily="49" charset="0"/>
                          <a:cs typeface="Consolas" panose="020B0609020204030204" pitchFamily="49" charset="0"/>
                        </a:rPr>
                        <a:t>1</a:t>
                      </a:r>
                      <a:r>
                        <a:rPr lang="en-US" sz="1600" dirty="0">
                          <a:latin typeface="Consolas" panose="020B0609020204030204" pitchFamily="49" charset="0"/>
                          <a:cs typeface="Consolas" panose="020B0609020204030204" pitchFamily="49" charset="0"/>
                        </a:rPr>
                        <a:t> = write(</a:t>
                      </a:r>
                      <a:r>
                        <a:rPr lang="en-US" sz="1600" dirty="0" err="1">
                          <a:latin typeface="Consolas" panose="020B0609020204030204" pitchFamily="49" charset="0"/>
                          <a:cs typeface="Consolas" panose="020B0609020204030204" pitchFamily="49" charset="0"/>
                        </a:rPr>
                        <a:t>fd_out</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r);</a:t>
                      </a:r>
                    </a:p>
                    <a:p>
                      <a:r>
                        <a:rPr lang="en-US" sz="1600" dirty="0">
                          <a:latin typeface="Consolas" panose="020B0609020204030204" pitchFamily="49" charset="0"/>
                          <a:cs typeface="Consolas" panose="020B0609020204030204" pitchFamily="49" charset="0"/>
                        </a:rPr>
                        <a:t>  ...</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a:t>
                      </a:r>
                      <a:endParaRPr lang="en-US" dirty="0"/>
                    </a:p>
                    <a:p>
                      <a:endParaRPr lang="ru-RU" dirty="0"/>
                    </a:p>
                    <a:p>
                      <a:r>
                        <a:rPr lang="en-US" dirty="0"/>
                        <a:t>Is the performance of this routine any good</a:t>
                      </a:r>
                      <a:r>
                        <a:rPr lang="ru-RU" dirty="0"/>
                        <a:t>?</a:t>
                      </a:r>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en-US" dirty="0"/>
                    </a:p>
                    <a:p>
                      <a:endParaRPr lang="ru-RU"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413539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76167825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147393295"/>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774867126"/>
              </p:ext>
            </p:extLst>
          </p:nvPr>
        </p:nvGraphicFramePr>
        <p:xfrm>
          <a:off x="0" y="365761"/>
          <a:ext cx="12192000" cy="57962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dirty="0"/>
                        <a:t>Synchronous and asynchronous IO, pipelining and</a:t>
                      </a:r>
                      <a:r>
                        <a:rPr lang="ru-RU" dirty="0"/>
                        <a:t> </a:t>
                      </a:r>
                      <a:r>
                        <a:rPr lang="en-US" dirty="0"/>
                        <a:t>multiplexing</a:t>
                      </a:r>
                      <a:endParaRPr lang="ru-RU" dirty="0"/>
                    </a:p>
                  </a:txBody>
                  <a:tcPr/>
                </a:tc>
                <a:extLst>
                  <a:ext uri="{0D108BD9-81ED-4DB2-BD59-A6C34878D82A}">
                    <a16:rowId xmlns:a16="http://schemas.microsoft.com/office/drawing/2014/main" val="10000"/>
                  </a:ext>
                </a:extLst>
              </a:tr>
              <a:tr h="370840">
                <a:tc>
                  <a:txBody>
                    <a:bodyPr/>
                    <a:lstStyle/>
                    <a:p>
                      <a:r>
                        <a:rPr lang="en-US" dirty="0"/>
                        <a:t>Consider a naïve implementation of a routine that copies a file from one disk to another</a:t>
                      </a:r>
                      <a:r>
                        <a:rPr lang="ru-RU" dirty="0"/>
                        <a:t>:</a:t>
                      </a:r>
                      <a:endParaRPr lang="en-US" dirty="0"/>
                    </a:p>
                    <a:p>
                      <a:endParaRPr lang="en-US" dirty="0"/>
                    </a:p>
                    <a:p>
                      <a:r>
                        <a:rPr lang="en-US" sz="1600" dirty="0">
                          <a:latin typeface="Consolas" panose="020B0609020204030204" pitchFamily="49" charset="0"/>
                          <a:cs typeface="Consolas" panose="020B0609020204030204" pitchFamily="49" charset="0"/>
                        </a:rPr>
                        <a:t>while (!done) {</a:t>
                      </a:r>
                    </a:p>
                    <a:p>
                      <a:r>
                        <a:rPr lang="en-US" sz="1600" dirty="0">
                          <a:latin typeface="Consolas" panose="020B0609020204030204" pitchFamily="49" charset="0"/>
                          <a:cs typeface="Consolas" panose="020B0609020204030204" pitchFamily="49" charset="0"/>
                        </a:rPr>
                        <a:t>  r = read(</a:t>
                      </a:r>
                      <a:r>
                        <a:rPr lang="en-US" sz="1600" dirty="0" err="1">
                          <a:latin typeface="Consolas" panose="020B0609020204030204" pitchFamily="49" charset="0"/>
                          <a:cs typeface="Consolas" panose="020B0609020204030204" pitchFamily="49" charset="0"/>
                        </a:rPr>
                        <a:t>fd_in</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sizeof</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r</a:t>
                      </a:r>
                      <a:r>
                        <a:rPr lang="ru-RU" sz="1600" dirty="0">
                          <a:latin typeface="Consolas" panose="020B0609020204030204" pitchFamily="49" charset="0"/>
                          <a:cs typeface="Consolas" panose="020B0609020204030204" pitchFamily="49" charset="0"/>
                        </a:rPr>
                        <a:t>1</a:t>
                      </a:r>
                      <a:r>
                        <a:rPr lang="en-US" sz="1600" dirty="0">
                          <a:latin typeface="Consolas" panose="020B0609020204030204" pitchFamily="49" charset="0"/>
                          <a:cs typeface="Consolas" panose="020B0609020204030204" pitchFamily="49" charset="0"/>
                        </a:rPr>
                        <a:t> = write(</a:t>
                      </a:r>
                      <a:r>
                        <a:rPr lang="en-US" sz="1600" dirty="0" err="1">
                          <a:latin typeface="Consolas" panose="020B0609020204030204" pitchFamily="49" charset="0"/>
                          <a:cs typeface="Consolas" panose="020B0609020204030204" pitchFamily="49" charset="0"/>
                        </a:rPr>
                        <a:t>fd_out</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r);</a:t>
                      </a:r>
                    </a:p>
                    <a:p>
                      <a:r>
                        <a:rPr lang="en-US" sz="1600" dirty="0">
                          <a:latin typeface="Consolas" panose="020B0609020204030204" pitchFamily="49" charset="0"/>
                          <a:cs typeface="Consolas" panose="020B0609020204030204" pitchFamily="49" charset="0"/>
                        </a:rPr>
                        <a:t>  ...</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a:t>
                      </a:r>
                      <a:endParaRPr lang="en-US" dirty="0"/>
                    </a:p>
                    <a:p>
                      <a:endParaRPr lang="ru-RU" dirty="0"/>
                    </a:p>
                    <a:p>
                      <a:r>
                        <a:rPr lang="en-US" dirty="0"/>
                        <a:t>Let us draw time intervals when each disk is accessed:</a:t>
                      </a:r>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en-US" dirty="0"/>
                    </a:p>
                    <a:p>
                      <a:endParaRPr lang="ru-RU" dirty="0"/>
                    </a:p>
                  </a:txBody>
                  <a:tcPr/>
                </a:tc>
                <a:extLst>
                  <a:ext uri="{0D108BD9-81ED-4DB2-BD59-A6C34878D82A}">
                    <a16:rowId xmlns:a16="http://schemas.microsoft.com/office/drawing/2014/main" val="10001"/>
                  </a:ext>
                </a:extLst>
              </a:tr>
            </a:tbl>
          </a:graphicData>
        </a:graphic>
      </p:graphicFrame>
      <p:graphicFrame>
        <p:nvGraphicFramePr>
          <p:cNvPr id="3" name="Table 2">
            <a:extLst>
              <a:ext uri="{FF2B5EF4-FFF2-40B4-BE49-F238E27FC236}">
                <a16:creationId xmlns:a16="http://schemas.microsoft.com/office/drawing/2014/main" id="{85745485-3810-AF4E-B97F-A8BCAA63019F}"/>
              </a:ext>
            </a:extLst>
          </p:cNvPr>
          <p:cNvGraphicFramePr>
            <a:graphicFrameLocks noGrp="1"/>
          </p:cNvGraphicFramePr>
          <p:nvPr/>
        </p:nvGraphicFramePr>
        <p:xfrm>
          <a:off x="181167" y="34110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disk 0</a:t>
                      </a:r>
                      <a:endParaRPr lang="ru-RU" dirty="0"/>
                    </a:p>
                  </a:txBody>
                  <a:tcPr/>
                </a:tc>
                <a:extLst>
                  <a:ext uri="{0D108BD9-81ED-4DB2-BD59-A6C34878D82A}">
                    <a16:rowId xmlns:a16="http://schemas.microsoft.com/office/drawing/2014/main" val="697513112"/>
                  </a:ext>
                </a:extLst>
              </a:tr>
            </a:tbl>
          </a:graphicData>
        </a:graphic>
      </p:graphicFrame>
      <p:graphicFrame>
        <p:nvGraphicFramePr>
          <p:cNvPr id="7" name="Table 6">
            <a:extLst>
              <a:ext uri="{FF2B5EF4-FFF2-40B4-BE49-F238E27FC236}">
                <a16:creationId xmlns:a16="http://schemas.microsoft.com/office/drawing/2014/main" id="{C1BB30A7-0B4C-7F40-8E3F-5287B7A9E41F}"/>
              </a:ext>
            </a:extLst>
          </p:cNvPr>
          <p:cNvGraphicFramePr>
            <a:graphicFrameLocks noGrp="1"/>
          </p:cNvGraphicFramePr>
          <p:nvPr/>
        </p:nvGraphicFramePr>
        <p:xfrm>
          <a:off x="181167" y="41476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app</a:t>
                      </a:r>
                      <a:endParaRPr lang="ru-RU" dirty="0"/>
                    </a:p>
                  </a:txBody>
                  <a:tcPr/>
                </a:tc>
                <a:extLst>
                  <a:ext uri="{0D108BD9-81ED-4DB2-BD59-A6C34878D82A}">
                    <a16:rowId xmlns:a16="http://schemas.microsoft.com/office/drawing/2014/main" val="697513112"/>
                  </a:ext>
                </a:extLst>
              </a:tr>
            </a:tbl>
          </a:graphicData>
        </a:graphic>
      </p:graphicFrame>
      <p:graphicFrame>
        <p:nvGraphicFramePr>
          <p:cNvPr id="8" name="Table 7">
            <a:extLst>
              <a:ext uri="{FF2B5EF4-FFF2-40B4-BE49-F238E27FC236}">
                <a16:creationId xmlns:a16="http://schemas.microsoft.com/office/drawing/2014/main" id="{97F95B88-3DC1-4C4E-B6EA-93F2539B9173}"/>
              </a:ext>
            </a:extLst>
          </p:cNvPr>
          <p:cNvGraphicFramePr>
            <a:graphicFrameLocks noGrp="1"/>
          </p:cNvGraphicFramePr>
          <p:nvPr/>
        </p:nvGraphicFramePr>
        <p:xfrm>
          <a:off x="181167" y="48842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disk 1</a:t>
                      </a:r>
                      <a:endParaRPr lang="ru-RU" dirty="0"/>
                    </a:p>
                  </a:txBody>
                  <a:tcPr/>
                </a:tc>
                <a:extLst>
                  <a:ext uri="{0D108BD9-81ED-4DB2-BD59-A6C34878D82A}">
                    <a16:rowId xmlns:a16="http://schemas.microsoft.com/office/drawing/2014/main" val="697513112"/>
                  </a:ext>
                </a:extLst>
              </a:tr>
            </a:tbl>
          </a:graphicData>
        </a:graphic>
      </p:graphicFrame>
      <p:graphicFrame>
        <p:nvGraphicFramePr>
          <p:cNvPr id="9" name="Table 8">
            <a:extLst>
              <a:ext uri="{FF2B5EF4-FFF2-40B4-BE49-F238E27FC236}">
                <a16:creationId xmlns:a16="http://schemas.microsoft.com/office/drawing/2014/main" id="{A3BC602F-6545-C246-A63B-74FAAD1C9314}"/>
              </a:ext>
            </a:extLst>
          </p:cNvPr>
          <p:cNvGraphicFramePr>
            <a:graphicFrameLocks noGrp="1"/>
          </p:cNvGraphicFramePr>
          <p:nvPr/>
        </p:nvGraphicFramePr>
        <p:xfrm>
          <a:off x="1766802" y="3421121"/>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read</a:t>
                      </a:r>
                      <a:endParaRPr lang="ru-RU" dirty="0"/>
                    </a:p>
                  </a:txBody>
                  <a:tcPr/>
                </a:tc>
                <a:extLst>
                  <a:ext uri="{0D108BD9-81ED-4DB2-BD59-A6C34878D82A}">
                    <a16:rowId xmlns:a16="http://schemas.microsoft.com/office/drawing/2014/main" val="697513112"/>
                  </a:ext>
                </a:extLst>
              </a:tr>
            </a:tbl>
          </a:graphicData>
        </a:graphic>
      </p:graphicFrame>
      <p:graphicFrame>
        <p:nvGraphicFramePr>
          <p:cNvPr id="10" name="Table 9">
            <a:extLst>
              <a:ext uri="{FF2B5EF4-FFF2-40B4-BE49-F238E27FC236}">
                <a16:creationId xmlns:a16="http://schemas.microsoft.com/office/drawing/2014/main" id="{B96F4A52-27FC-F640-9402-91C7E8902049}"/>
              </a:ext>
            </a:extLst>
          </p:cNvPr>
          <p:cNvGraphicFramePr>
            <a:graphicFrameLocks noGrp="1"/>
          </p:cNvGraphicFramePr>
          <p:nvPr/>
        </p:nvGraphicFramePr>
        <p:xfrm>
          <a:off x="3365344" y="48842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write</a:t>
                      </a:r>
                      <a:endParaRPr lang="ru-RU" dirty="0"/>
                    </a:p>
                  </a:txBody>
                  <a:tcPr/>
                </a:tc>
                <a:extLst>
                  <a:ext uri="{0D108BD9-81ED-4DB2-BD59-A6C34878D82A}">
                    <a16:rowId xmlns:a16="http://schemas.microsoft.com/office/drawing/2014/main" val="697513112"/>
                  </a:ext>
                </a:extLst>
              </a:tr>
            </a:tbl>
          </a:graphicData>
        </a:graphic>
      </p:graphicFrame>
      <p:graphicFrame>
        <p:nvGraphicFramePr>
          <p:cNvPr id="4" name="Table 3">
            <a:extLst>
              <a:ext uri="{FF2B5EF4-FFF2-40B4-BE49-F238E27FC236}">
                <a16:creationId xmlns:a16="http://schemas.microsoft.com/office/drawing/2014/main" id="{7FAC382F-59AD-E643-9598-882F1E7DC238}"/>
              </a:ext>
            </a:extLst>
          </p:cNvPr>
          <p:cNvGraphicFramePr>
            <a:graphicFrameLocks noGrp="1"/>
          </p:cNvGraphicFramePr>
          <p:nvPr/>
        </p:nvGraphicFramePr>
        <p:xfrm>
          <a:off x="1271836"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12" name="Straight Arrow Connector 11">
            <a:extLst>
              <a:ext uri="{FF2B5EF4-FFF2-40B4-BE49-F238E27FC236}">
                <a16:creationId xmlns:a16="http://schemas.microsoft.com/office/drawing/2014/main" id="{3E355DE3-0C5E-774E-8213-30D3D9A270AE}"/>
              </a:ext>
            </a:extLst>
          </p:cNvPr>
          <p:cNvCxnSpPr>
            <a:cxnSpLocks/>
            <a:stCxn id="4" idx="3"/>
            <a:endCxn id="9" idx="1"/>
          </p:cNvCxnSpPr>
          <p:nvPr/>
        </p:nvCxnSpPr>
        <p:spPr>
          <a:xfrm flipV="1">
            <a:off x="1480116" y="3606541"/>
            <a:ext cx="286686" cy="7265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F333E7F3-7C9F-D84C-A655-97018B5A7707}"/>
              </a:ext>
            </a:extLst>
          </p:cNvPr>
          <p:cNvGraphicFramePr>
            <a:graphicFrameLocks noGrp="1"/>
          </p:cNvGraphicFramePr>
          <p:nvPr/>
        </p:nvGraphicFramePr>
        <p:xfrm>
          <a:off x="2856092"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16" name="Straight Arrow Connector 15">
            <a:extLst>
              <a:ext uri="{FF2B5EF4-FFF2-40B4-BE49-F238E27FC236}">
                <a16:creationId xmlns:a16="http://schemas.microsoft.com/office/drawing/2014/main" id="{82CC0E4F-2A2C-5A4F-9D49-AC3A4908D236}"/>
              </a:ext>
            </a:extLst>
          </p:cNvPr>
          <p:cNvCxnSpPr>
            <a:endCxn id="14" idx="1"/>
          </p:cNvCxnSpPr>
          <p:nvPr/>
        </p:nvCxnSpPr>
        <p:spPr>
          <a:xfrm>
            <a:off x="2555120" y="3596503"/>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9AC5003-6DFC-A74E-B724-651725C3FF2A}"/>
              </a:ext>
            </a:extLst>
          </p:cNvPr>
          <p:cNvCxnSpPr/>
          <p:nvPr/>
        </p:nvCxnSpPr>
        <p:spPr>
          <a:xfrm>
            <a:off x="3064372" y="4333103"/>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DF6FCEF-8448-FF4E-8127-CAE0CA7701BF}"/>
              </a:ext>
            </a:extLst>
          </p:cNvPr>
          <p:cNvCxnSpPr>
            <a:cxnSpLocks/>
          </p:cNvCxnSpPr>
          <p:nvPr/>
        </p:nvCxnSpPr>
        <p:spPr>
          <a:xfrm flipV="1">
            <a:off x="4167948" y="4343141"/>
            <a:ext cx="286686" cy="7265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Table 18">
            <a:extLst>
              <a:ext uri="{FF2B5EF4-FFF2-40B4-BE49-F238E27FC236}">
                <a16:creationId xmlns:a16="http://schemas.microsoft.com/office/drawing/2014/main" id="{281A5EEF-24E4-D440-87DF-F6F9EB50D30B}"/>
              </a:ext>
            </a:extLst>
          </p:cNvPr>
          <p:cNvGraphicFramePr>
            <a:graphicFrameLocks noGrp="1"/>
          </p:cNvGraphicFramePr>
          <p:nvPr/>
        </p:nvGraphicFramePr>
        <p:xfrm>
          <a:off x="4468920"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20" name="Straight Arrow Connector 19">
            <a:extLst>
              <a:ext uri="{FF2B5EF4-FFF2-40B4-BE49-F238E27FC236}">
                <a16:creationId xmlns:a16="http://schemas.microsoft.com/office/drawing/2014/main" id="{F07F4376-019C-DE45-A6C6-84D623A81E65}"/>
              </a:ext>
            </a:extLst>
          </p:cNvPr>
          <p:cNvCxnSpPr>
            <a:cxnSpLocks/>
          </p:cNvCxnSpPr>
          <p:nvPr/>
        </p:nvCxnSpPr>
        <p:spPr>
          <a:xfrm flipV="1">
            <a:off x="4676175" y="3616579"/>
            <a:ext cx="286686" cy="7265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20">
            <a:extLst>
              <a:ext uri="{FF2B5EF4-FFF2-40B4-BE49-F238E27FC236}">
                <a16:creationId xmlns:a16="http://schemas.microsoft.com/office/drawing/2014/main" id="{8B9E2714-D4DD-9E42-9258-4AB4F7D0EA60}"/>
              </a:ext>
            </a:extLst>
          </p:cNvPr>
          <p:cNvGraphicFramePr>
            <a:graphicFrameLocks noGrp="1"/>
          </p:cNvGraphicFramePr>
          <p:nvPr/>
        </p:nvGraphicFramePr>
        <p:xfrm>
          <a:off x="4987212" y="34110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read</a:t>
                      </a:r>
                      <a:endParaRPr lang="ru-RU" dirty="0"/>
                    </a:p>
                  </a:txBody>
                  <a:tcPr/>
                </a:tc>
                <a:extLst>
                  <a:ext uri="{0D108BD9-81ED-4DB2-BD59-A6C34878D82A}">
                    <a16:rowId xmlns:a16="http://schemas.microsoft.com/office/drawing/2014/main" val="697513112"/>
                  </a:ext>
                </a:extLst>
              </a:tr>
            </a:tbl>
          </a:graphicData>
        </a:graphic>
      </p:graphicFrame>
      <p:graphicFrame>
        <p:nvGraphicFramePr>
          <p:cNvPr id="22" name="Table 21">
            <a:extLst>
              <a:ext uri="{FF2B5EF4-FFF2-40B4-BE49-F238E27FC236}">
                <a16:creationId xmlns:a16="http://schemas.microsoft.com/office/drawing/2014/main" id="{9F9418B1-E25F-E841-8CBF-8D36AD360ACA}"/>
              </a:ext>
            </a:extLst>
          </p:cNvPr>
          <p:cNvGraphicFramePr>
            <a:graphicFrameLocks noGrp="1"/>
          </p:cNvGraphicFramePr>
          <p:nvPr/>
        </p:nvGraphicFramePr>
        <p:xfrm>
          <a:off x="6059996"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23" name="Straight Arrow Connector 22">
            <a:extLst>
              <a:ext uri="{FF2B5EF4-FFF2-40B4-BE49-F238E27FC236}">
                <a16:creationId xmlns:a16="http://schemas.microsoft.com/office/drawing/2014/main" id="{D65C9454-6640-A64C-8936-DC91C55033DC}"/>
              </a:ext>
            </a:extLst>
          </p:cNvPr>
          <p:cNvCxnSpPr>
            <a:endCxn id="22" idx="1"/>
          </p:cNvCxnSpPr>
          <p:nvPr/>
        </p:nvCxnSpPr>
        <p:spPr>
          <a:xfrm>
            <a:off x="5759024" y="3596503"/>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22E1C74-CB63-D84A-ACF2-2B6A25791D13}"/>
              </a:ext>
            </a:extLst>
          </p:cNvPr>
          <p:cNvCxnSpPr/>
          <p:nvPr/>
        </p:nvCxnSpPr>
        <p:spPr>
          <a:xfrm>
            <a:off x="6268276" y="4333103"/>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Table 24">
            <a:extLst>
              <a:ext uri="{FF2B5EF4-FFF2-40B4-BE49-F238E27FC236}">
                <a16:creationId xmlns:a16="http://schemas.microsoft.com/office/drawing/2014/main" id="{11C9D2BA-252F-A841-A5F0-1D067E2BBA03}"/>
              </a:ext>
            </a:extLst>
          </p:cNvPr>
          <p:cNvGraphicFramePr>
            <a:graphicFrameLocks noGrp="1"/>
          </p:cNvGraphicFramePr>
          <p:nvPr/>
        </p:nvGraphicFramePr>
        <p:xfrm>
          <a:off x="6577093" y="48842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write</a:t>
                      </a:r>
                      <a:endParaRPr lang="ru-RU" dirty="0"/>
                    </a:p>
                  </a:txBody>
                  <a:tcPr/>
                </a:tc>
                <a:extLst>
                  <a:ext uri="{0D108BD9-81ED-4DB2-BD59-A6C34878D82A}">
                    <a16:rowId xmlns:a16="http://schemas.microsoft.com/office/drawing/2014/main" val="697513112"/>
                  </a:ext>
                </a:extLst>
              </a:tr>
            </a:tbl>
          </a:graphicData>
        </a:graphic>
      </p:graphicFrame>
      <p:cxnSp>
        <p:nvCxnSpPr>
          <p:cNvPr id="26" name="Straight Arrow Connector 25">
            <a:extLst>
              <a:ext uri="{FF2B5EF4-FFF2-40B4-BE49-F238E27FC236}">
                <a16:creationId xmlns:a16="http://schemas.microsoft.com/office/drawing/2014/main" id="{2EC80AB2-AF1C-C642-9B7E-2A79283AC019}"/>
              </a:ext>
            </a:extLst>
          </p:cNvPr>
          <p:cNvCxnSpPr>
            <a:cxnSpLocks/>
          </p:cNvCxnSpPr>
          <p:nvPr/>
        </p:nvCxnSpPr>
        <p:spPr>
          <a:xfrm flipV="1">
            <a:off x="7379697" y="4343141"/>
            <a:ext cx="286686" cy="7265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7" name="Table 26">
            <a:extLst>
              <a:ext uri="{FF2B5EF4-FFF2-40B4-BE49-F238E27FC236}">
                <a16:creationId xmlns:a16="http://schemas.microsoft.com/office/drawing/2014/main" id="{99F694C5-8140-ED49-AB15-2AF6B0518BC7}"/>
              </a:ext>
            </a:extLst>
          </p:cNvPr>
          <p:cNvGraphicFramePr>
            <a:graphicFrameLocks noGrp="1"/>
          </p:cNvGraphicFramePr>
          <p:nvPr/>
        </p:nvGraphicFramePr>
        <p:xfrm>
          <a:off x="7680669"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28" name="Straight Arrow Connector 27">
            <a:extLst>
              <a:ext uri="{FF2B5EF4-FFF2-40B4-BE49-F238E27FC236}">
                <a16:creationId xmlns:a16="http://schemas.microsoft.com/office/drawing/2014/main" id="{47B0AD0F-0F13-764F-A1CA-73719F53AF0F}"/>
              </a:ext>
            </a:extLst>
          </p:cNvPr>
          <p:cNvCxnSpPr>
            <a:cxnSpLocks/>
          </p:cNvCxnSpPr>
          <p:nvPr/>
        </p:nvCxnSpPr>
        <p:spPr>
          <a:xfrm flipV="1">
            <a:off x="7887924" y="3616579"/>
            <a:ext cx="286686" cy="7265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9" name="Table 28">
            <a:extLst>
              <a:ext uri="{FF2B5EF4-FFF2-40B4-BE49-F238E27FC236}">
                <a16:creationId xmlns:a16="http://schemas.microsoft.com/office/drawing/2014/main" id="{59FA1FBE-8A78-4940-8463-B3FBAA748120}"/>
              </a:ext>
            </a:extLst>
          </p:cNvPr>
          <p:cNvGraphicFramePr>
            <a:graphicFrameLocks noGrp="1"/>
          </p:cNvGraphicFramePr>
          <p:nvPr/>
        </p:nvGraphicFramePr>
        <p:xfrm>
          <a:off x="8198961" y="34110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read</a:t>
                      </a:r>
                      <a:endParaRPr lang="ru-RU" dirty="0"/>
                    </a:p>
                  </a:txBody>
                  <a:tcPr/>
                </a:tc>
                <a:extLst>
                  <a:ext uri="{0D108BD9-81ED-4DB2-BD59-A6C34878D82A}">
                    <a16:rowId xmlns:a16="http://schemas.microsoft.com/office/drawing/2014/main" val="697513112"/>
                  </a:ext>
                </a:extLst>
              </a:tr>
            </a:tbl>
          </a:graphicData>
        </a:graphic>
      </p:graphicFrame>
      <p:cxnSp>
        <p:nvCxnSpPr>
          <p:cNvPr id="30" name="Straight Arrow Connector 29">
            <a:extLst>
              <a:ext uri="{FF2B5EF4-FFF2-40B4-BE49-F238E27FC236}">
                <a16:creationId xmlns:a16="http://schemas.microsoft.com/office/drawing/2014/main" id="{94623136-7836-5D48-A5A2-A86EFA8E558A}"/>
              </a:ext>
            </a:extLst>
          </p:cNvPr>
          <p:cNvCxnSpPr/>
          <p:nvPr/>
        </p:nvCxnSpPr>
        <p:spPr>
          <a:xfrm>
            <a:off x="8987279" y="3616579"/>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ight Arrow 30">
            <a:extLst>
              <a:ext uri="{FF2B5EF4-FFF2-40B4-BE49-F238E27FC236}">
                <a16:creationId xmlns:a16="http://schemas.microsoft.com/office/drawing/2014/main" id="{56E1D633-3D92-B241-8D60-D21D303D7A23}"/>
              </a:ext>
            </a:extLst>
          </p:cNvPr>
          <p:cNvSpPr/>
          <p:nvPr/>
        </p:nvSpPr>
        <p:spPr>
          <a:xfrm>
            <a:off x="181167" y="5471895"/>
            <a:ext cx="11468559" cy="1652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TextBox 31">
            <a:extLst>
              <a:ext uri="{FF2B5EF4-FFF2-40B4-BE49-F238E27FC236}">
                <a16:creationId xmlns:a16="http://schemas.microsoft.com/office/drawing/2014/main" id="{B93D07D8-1676-E949-AF90-A132B05CF8A2}"/>
              </a:ext>
            </a:extLst>
          </p:cNvPr>
          <p:cNvSpPr txBox="1"/>
          <p:nvPr/>
        </p:nvSpPr>
        <p:spPr>
          <a:xfrm>
            <a:off x="10779387" y="5157301"/>
            <a:ext cx="614271" cy="369332"/>
          </a:xfrm>
          <a:prstGeom prst="rect">
            <a:avLst/>
          </a:prstGeom>
          <a:noFill/>
        </p:spPr>
        <p:txBody>
          <a:bodyPr wrap="none" rtlCol="0">
            <a:spAutoFit/>
          </a:bodyPr>
          <a:lstStyle/>
          <a:p>
            <a:r>
              <a:rPr lang="en-US" dirty="0"/>
              <a:t>time</a:t>
            </a:r>
            <a:endParaRPr lang="ru-RU" dirty="0"/>
          </a:p>
        </p:txBody>
      </p:sp>
    </p:spTree>
    <p:extLst>
      <p:ext uri="{BB962C8B-B14F-4D97-AF65-F5344CB8AC3E}">
        <p14:creationId xmlns:p14="http://schemas.microsoft.com/office/powerpoint/2010/main" val="5169140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522328353"/>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38022089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87141037"/>
              </p:ext>
            </p:extLst>
          </p:nvPr>
        </p:nvGraphicFramePr>
        <p:xfrm>
          <a:off x="0" y="365761"/>
          <a:ext cx="12192000" cy="57962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dirty="0"/>
                        <a:t>Synchronous and asynchronous IO, pipelining and</a:t>
                      </a:r>
                      <a:r>
                        <a:rPr lang="ru-RU" dirty="0"/>
                        <a:t> </a:t>
                      </a:r>
                      <a:r>
                        <a:rPr lang="en-US" dirty="0"/>
                        <a:t>multiplexing</a:t>
                      </a:r>
                      <a:endParaRPr lang="ru-RU" dirty="0"/>
                    </a:p>
                  </a:txBody>
                  <a:tcPr/>
                </a:tc>
                <a:extLst>
                  <a:ext uri="{0D108BD9-81ED-4DB2-BD59-A6C34878D82A}">
                    <a16:rowId xmlns:a16="http://schemas.microsoft.com/office/drawing/2014/main" val="10000"/>
                  </a:ext>
                </a:extLst>
              </a:tr>
              <a:tr h="370840">
                <a:tc>
                  <a:txBody>
                    <a:bodyPr/>
                    <a:lstStyle/>
                    <a:p>
                      <a:r>
                        <a:rPr lang="en-US" dirty="0"/>
                        <a:t>Consider a naïve implementation of a routine that copies a file from one disk to another</a:t>
                      </a:r>
                      <a:r>
                        <a:rPr lang="ru-RU" dirty="0"/>
                        <a:t>:</a:t>
                      </a:r>
                      <a:endParaRPr lang="en-US" dirty="0"/>
                    </a:p>
                    <a:p>
                      <a:endParaRPr lang="en-US" dirty="0"/>
                    </a:p>
                    <a:p>
                      <a:r>
                        <a:rPr lang="en-US" sz="1600" dirty="0">
                          <a:latin typeface="Consolas" panose="020B0609020204030204" pitchFamily="49" charset="0"/>
                          <a:cs typeface="Consolas" panose="020B0609020204030204" pitchFamily="49" charset="0"/>
                        </a:rPr>
                        <a:t>while (!done) {</a:t>
                      </a:r>
                    </a:p>
                    <a:p>
                      <a:r>
                        <a:rPr lang="en-US" sz="1600" dirty="0">
                          <a:latin typeface="Consolas" panose="020B0609020204030204" pitchFamily="49" charset="0"/>
                          <a:cs typeface="Consolas" panose="020B0609020204030204" pitchFamily="49" charset="0"/>
                        </a:rPr>
                        <a:t>  r = read(</a:t>
                      </a:r>
                      <a:r>
                        <a:rPr lang="en-US" sz="1600" dirty="0" err="1">
                          <a:latin typeface="Consolas" panose="020B0609020204030204" pitchFamily="49" charset="0"/>
                          <a:cs typeface="Consolas" panose="020B0609020204030204" pitchFamily="49" charset="0"/>
                        </a:rPr>
                        <a:t>fd_in</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sizeof</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r</a:t>
                      </a:r>
                      <a:r>
                        <a:rPr lang="ru-RU" sz="1600" dirty="0">
                          <a:latin typeface="Consolas" panose="020B0609020204030204" pitchFamily="49" charset="0"/>
                          <a:cs typeface="Consolas" panose="020B0609020204030204" pitchFamily="49" charset="0"/>
                        </a:rPr>
                        <a:t>1</a:t>
                      </a:r>
                      <a:r>
                        <a:rPr lang="en-US" sz="1600" dirty="0">
                          <a:latin typeface="Consolas" panose="020B0609020204030204" pitchFamily="49" charset="0"/>
                          <a:cs typeface="Consolas" panose="020B0609020204030204" pitchFamily="49" charset="0"/>
                        </a:rPr>
                        <a:t> = write(</a:t>
                      </a:r>
                      <a:r>
                        <a:rPr lang="en-US" sz="1600" dirty="0" err="1">
                          <a:latin typeface="Consolas" panose="020B0609020204030204" pitchFamily="49" charset="0"/>
                          <a:cs typeface="Consolas" panose="020B0609020204030204" pitchFamily="49" charset="0"/>
                        </a:rPr>
                        <a:t>fd_out</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r);</a:t>
                      </a:r>
                    </a:p>
                    <a:p>
                      <a:r>
                        <a:rPr lang="en-US" sz="1600" dirty="0">
                          <a:latin typeface="Consolas" panose="020B0609020204030204" pitchFamily="49" charset="0"/>
                          <a:cs typeface="Consolas" panose="020B0609020204030204" pitchFamily="49" charset="0"/>
                        </a:rPr>
                        <a:t>  ...</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a:t>
                      </a:r>
                      <a:endParaRPr lang="en-US" dirty="0"/>
                    </a:p>
                    <a:p>
                      <a:endParaRPr lang="ru-RU" dirty="0"/>
                    </a:p>
                    <a:p>
                      <a:r>
                        <a:rPr lang="en-US" dirty="0"/>
                        <a:t>Let us draw time intervals when each disk is accessed:</a:t>
                      </a:r>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en-US" dirty="0"/>
                    </a:p>
                    <a:p>
                      <a:endParaRPr lang="ru-RU" dirty="0"/>
                    </a:p>
                  </a:txBody>
                  <a:tcPr/>
                </a:tc>
                <a:extLst>
                  <a:ext uri="{0D108BD9-81ED-4DB2-BD59-A6C34878D82A}">
                    <a16:rowId xmlns:a16="http://schemas.microsoft.com/office/drawing/2014/main" val="10001"/>
                  </a:ext>
                </a:extLst>
              </a:tr>
            </a:tbl>
          </a:graphicData>
        </a:graphic>
      </p:graphicFrame>
      <p:graphicFrame>
        <p:nvGraphicFramePr>
          <p:cNvPr id="3" name="Table 2">
            <a:extLst>
              <a:ext uri="{FF2B5EF4-FFF2-40B4-BE49-F238E27FC236}">
                <a16:creationId xmlns:a16="http://schemas.microsoft.com/office/drawing/2014/main" id="{85745485-3810-AF4E-B97F-A8BCAA63019F}"/>
              </a:ext>
            </a:extLst>
          </p:cNvPr>
          <p:cNvGraphicFramePr>
            <a:graphicFrameLocks noGrp="1"/>
          </p:cNvGraphicFramePr>
          <p:nvPr/>
        </p:nvGraphicFramePr>
        <p:xfrm>
          <a:off x="181167" y="34110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disk 0</a:t>
                      </a:r>
                      <a:endParaRPr lang="ru-RU" dirty="0"/>
                    </a:p>
                  </a:txBody>
                  <a:tcPr/>
                </a:tc>
                <a:extLst>
                  <a:ext uri="{0D108BD9-81ED-4DB2-BD59-A6C34878D82A}">
                    <a16:rowId xmlns:a16="http://schemas.microsoft.com/office/drawing/2014/main" val="697513112"/>
                  </a:ext>
                </a:extLst>
              </a:tr>
            </a:tbl>
          </a:graphicData>
        </a:graphic>
      </p:graphicFrame>
      <p:graphicFrame>
        <p:nvGraphicFramePr>
          <p:cNvPr id="7" name="Table 6">
            <a:extLst>
              <a:ext uri="{FF2B5EF4-FFF2-40B4-BE49-F238E27FC236}">
                <a16:creationId xmlns:a16="http://schemas.microsoft.com/office/drawing/2014/main" id="{C1BB30A7-0B4C-7F40-8E3F-5287B7A9E41F}"/>
              </a:ext>
            </a:extLst>
          </p:cNvPr>
          <p:cNvGraphicFramePr>
            <a:graphicFrameLocks noGrp="1"/>
          </p:cNvGraphicFramePr>
          <p:nvPr/>
        </p:nvGraphicFramePr>
        <p:xfrm>
          <a:off x="181167" y="41476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app</a:t>
                      </a:r>
                      <a:endParaRPr lang="ru-RU" dirty="0"/>
                    </a:p>
                  </a:txBody>
                  <a:tcPr/>
                </a:tc>
                <a:extLst>
                  <a:ext uri="{0D108BD9-81ED-4DB2-BD59-A6C34878D82A}">
                    <a16:rowId xmlns:a16="http://schemas.microsoft.com/office/drawing/2014/main" val="697513112"/>
                  </a:ext>
                </a:extLst>
              </a:tr>
            </a:tbl>
          </a:graphicData>
        </a:graphic>
      </p:graphicFrame>
      <p:graphicFrame>
        <p:nvGraphicFramePr>
          <p:cNvPr id="8" name="Table 7">
            <a:extLst>
              <a:ext uri="{FF2B5EF4-FFF2-40B4-BE49-F238E27FC236}">
                <a16:creationId xmlns:a16="http://schemas.microsoft.com/office/drawing/2014/main" id="{97F95B88-3DC1-4C4E-B6EA-93F2539B9173}"/>
              </a:ext>
            </a:extLst>
          </p:cNvPr>
          <p:cNvGraphicFramePr>
            <a:graphicFrameLocks noGrp="1"/>
          </p:cNvGraphicFramePr>
          <p:nvPr/>
        </p:nvGraphicFramePr>
        <p:xfrm>
          <a:off x="181167" y="48842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disk 1</a:t>
                      </a:r>
                      <a:endParaRPr lang="ru-RU" dirty="0"/>
                    </a:p>
                  </a:txBody>
                  <a:tcPr/>
                </a:tc>
                <a:extLst>
                  <a:ext uri="{0D108BD9-81ED-4DB2-BD59-A6C34878D82A}">
                    <a16:rowId xmlns:a16="http://schemas.microsoft.com/office/drawing/2014/main" val="697513112"/>
                  </a:ext>
                </a:extLst>
              </a:tr>
            </a:tbl>
          </a:graphicData>
        </a:graphic>
      </p:graphicFrame>
      <p:graphicFrame>
        <p:nvGraphicFramePr>
          <p:cNvPr id="9" name="Table 8">
            <a:extLst>
              <a:ext uri="{FF2B5EF4-FFF2-40B4-BE49-F238E27FC236}">
                <a16:creationId xmlns:a16="http://schemas.microsoft.com/office/drawing/2014/main" id="{A3BC602F-6545-C246-A63B-74FAAD1C9314}"/>
              </a:ext>
            </a:extLst>
          </p:cNvPr>
          <p:cNvGraphicFramePr>
            <a:graphicFrameLocks noGrp="1"/>
          </p:cNvGraphicFramePr>
          <p:nvPr/>
        </p:nvGraphicFramePr>
        <p:xfrm>
          <a:off x="1766802" y="3421121"/>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read</a:t>
                      </a:r>
                      <a:endParaRPr lang="ru-RU" dirty="0"/>
                    </a:p>
                  </a:txBody>
                  <a:tcPr/>
                </a:tc>
                <a:extLst>
                  <a:ext uri="{0D108BD9-81ED-4DB2-BD59-A6C34878D82A}">
                    <a16:rowId xmlns:a16="http://schemas.microsoft.com/office/drawing/2014/main" val="697513112"/>
                  </a:ext>
                </a:extLst>
              </a:tr>
            </a:tbl>
          </a:graphicData>
        </a:graphic>
      </p:graphicFrame>
      <p:graphicFrame>
        <p:nvGraphicFramePr>
          <p:cNvPr id="10" name="Table 9">
            <a:extLst>
              <a:ext uri="{FF2B5EF4-FFF2-40B4-BE49-F238E27FC236}">
                <a16:creationId xmlns:a16="http://schemas.microsoft.com/office/drawing/2014/main" id="{B96F4A52-27FC-F640-9402-91C7E8902049}"/>
              </a:ext>
            </a:extLst>
          </p:cNvPr>
          <p:cNvGraphicFramePr>
            <a:graphicFrameLocks noGrp="1"/>
          </p:cNvGraphicFramePr>
          <p:nvPr/>
        </p:nvGraphicFramePr>
        <p:xfrm>
          <a:off x="3365344" y="48842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write</a:t>
                      </a:r>
                      <a:endParaRPr lang="ru-RU" dirty="0"/>
                    </a:p>
                  </a:txBody>
                  <a:tcPr/>
                </a:tc>
                <a:extLst>
                  <a:ext uri="{0D108BD9-81ED-4DB2-BD59-A6C34878D82A}">
                    <a16:rowId xmlns:a16="http://schemas.microsoft.com/office/drawing/2014/main" val="697513112"/>
                  </a:ext>
                </a:extLst>
              </a:tr>
            </a:tbl>
          </a:graphicData>
        </a:graphic>
      </p:graphicFrame>
      <p:graphicFrame>
        <p:nvGraphicFramePr>
          <p:cNvPr id="4" name="Table 3">
            <a:extLst>
              <a:ext uri="{FF2B5EF4-FFF2-40B4-BE49-F238E27FC236}">
                <a16:creationId xmlns:a16="http://schemas.microsoft.com/office/drawing/2014/main" id="{7FAC382F-59AD-E643-9598-882F1E7DC238}"/>
              </a:ext>
            </a:extLst>
          </p:cNvPr>
          <p:cNvGraphicFramePr>
            <a:graphicFrameLocks noGrp="1"/>
          </p:cNvGraphicFramePr>
          <p:nvPr/>
        </p:nvGraphicFramePr>
        <p:xfrm>
          <a:off x="1271836"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12" name="Straight Arrow Connector 11">
            <a:extLst>
              <a:ext uri="{FF2B5EF4-FFF2-40B4-BE49-F238E27FC236}">
                <a16:creationId xmlns:a16="http://schemas.microsoft.com/office/drawing/2014/main" id="{3E355DE3-0C5E-774E-8213-30D3D9A270AE}"/>
              </a:ext>
            </a:extLst>
          </p:cNvPr>
          <p:cNvCxnSpPr>
            <a:cxnSpLocks/>
            <a:stCxn id="4" idx="3"/>
            <a:endCxn id="9" idx="1"/>
          </p:cNvCxnSpPr>
          <p:nvPr/>
        </p:nvCxnSpPr>
        <p:spPr>
          <a:xfrm flipV="1">
            <a:off x="1480116" y="3606541"/>
            <a:ext cx="286686" cy="7265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F333E7F3-7C9F-D84C-A655-97018B5A7707}"/>
              </a:ext>
            </a:extLst>
          </p:cNvPr>
          <p:cNvGraphicFramePr>
            <a:graphicFrameLocks noGrp="1"/>
          </p:cNvGraphicFramePr>
          <p:nvPr/>
        </p:nvGraphicFramePr>
        <p:xfrm>
          <a:off x="2856092"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16" name="Straight Arrow Connector 15">
            <a:extLst>
              <a:ext uri="{FF2B5EF4-FFF2-40B4-BE49-F238E27FC236}">
                <a16:creationId xmlns:a16="http://schemas.microsoft.com/office/drawing/2014/main" id="{82CC0E4F-2A2C-5A4F-9D49-AC3A4908D236}"/>
              </a:ext>
            </a:extLst>
          </p:cNvPr>
          <p:cNvCxnSpPr>
            <a:endCxn id="14" idx="1"/>
          </p:cNvCxnSpPr>
          <p:nvPr/>
        </p:nvCxnSpPr>
        <p:spPr>
          <a:xfrm>
            <a:off x="2555120" y="3596503"/>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9AC5003-6DFC-A74E-B724-651725C3FF2A}"/>
              </a:ext>
            </a:extLst>
          </p:cNvPr>
          <p:cNvCxnSpPr/>
          <p:nvPr/>
        </p:nvCxnSpPr>
        <p:spPr>
          <a:xfrm>
            <a:off x="3064372" y="4333103"/>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DF6FCEF-8448-FF4E-8127-CAE0CA7701BF}"/>
              </a:ext>
            </a:extLst>
          </p:cNvPr>
          <p:cNvCxnSpPr>
            <a:cxnSpLocks/>
          </p:cNvCxnSpPr>
          <p:nvPr/>
        </p:nvCxnSpPr>
        <p:spPr>
          <a:xfrm flipV="1">
            <a:off x="4167948" y="4343141"/>
            <a:ext cx="286686" cy="7265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Table 18">
            <a:extLst>
              <a:ext uri="{FF2B5EF4-FFF2-40B4-BE49-F238E27FC236}">
                <a16:creationId xmlns:a16="http://schemas.microsoft.com/office/drawing/2014/main" id="{281A5EEF-24E4-D440-87DF-F6F9EB50D30B}"/>
              </a:ext>
            </a:extLst>
          </p:cNvPr>
          <p:cNvGraphicFramePr>
            <a:graphicFrameLocks noGrp="1"/>
          </p:cNvGraphicFramePr>
          <p:nvPr/>
        </p:nvGraphicFramePr>
        <p:xfrm>
          <a:off x="4468920"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20" name="Straight Arrow Connector 19">
            <a:extLst>
              <a:ext uri="{FF2B5EF4-FFF2-40B4-BE49-F238E27FC236}">
                <a16:creationId xmlns:a16="http://schemas.microsoft.com/office/drawing/2014/main" id="{F07F4376-019C-DE45-A6C6-84D623A81E65}"/>
              </a:ext>
            </a:extLst>
          </p:cNvPr>
          <p:cNvCxnSpPr>
            <a:cxnSpLocks/>
          </p:cNvCxnSpPr>
          <p:nvPr/>
        </p:nvCxnSpPr>
        <p:spPr>
          <a:xfrm flipV="1">
            <a:off x="4676175" y="3616579"/>
            <a:ext cx="286686" cy="7265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20">
            <a:extLst>
              <a:ext uri="{FF2B5EF4-FFF2-40B4-BE49-F238E27FC236}">
                <a16:creationId xmlns:a16="http://schemas.microsoft.com/office/drawing/2014/main" id="{8B9E2714-D4DD-9E42-9258-4AB4F7D0EA60}"/>
              </a:ext>
            </a:extLst>
          </p:cNvPr>
          <p:cNvGraphicFramePr>
            <a:graphicFrameLocks noGrp="1"/>
          </p:cNvGraphicFramePr>
          <p:nvPr/>
        </p:nvGraphicFramePr>
        <p:xfrm>
          <a:off x="4987212" y="34110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read</a:t>
                      </a:r>
                      <a:endParaRPr lang="ru-RU" dirty="0"/>
                    </a:p>
                  </a:txBody>
                  <a:tcPr/>
                </a:tc>
                <a:extLst>
                  <a:ext uri="{0D108BD9-81ED-4DB2-BD59-A6C34878D82A}">
                    <a16:rowId xmlns:a16="http://schemas.microsoft.com/office/drawing/2014/main" val="697513112"/>
                  </a:ext>
                </a:extLst>
              </a:tr>
            </a:tbl>
          </a:graphicData>
        </a:graphic>
      </p:graphicFrame>
      <p:graphicFrame>
        <p:nvGraphicFramePr>
          <p:cNvPr id="22" name="Table 21">
            <a:extLst>
              <a:ext uri="{FF2B5EF4-FFF2-40B4-BE49-F238E27FC236}">
                <a16:creationId xmlns:a16="http://schemas.microsoft.com/office/drawing/2014/main" id="{9F9418B1-E25F-E841-8CBF-8D36AD360ACA}"/>
              </a:ext>
            </a:extLst>
          </p:cNvPr>
          <p:cNvGraphicFramePr>
            <a:graphicFrameLocks noGrp="1"/>
          </p:cNvGraphicFramePr>
          <p:nvPr/>
        </p:nvGraphicFramePr>
        <p:xfrm>
          <a:off x="6059996"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23" name="Straight Arrow Connector 22">
            <a:extLst>
              <a:ext uri="{FF2B5EF4-FFF2-40B4-BE49-F238E27FC236}">
                <a16:creationId xmlns:a16="http://schemas.microsoft.com/office/drawing/2014/main" id="{D65C9454-6640-A64C-8936-DC91C55033DC}"/>
              </a:ext>
            </a:extLst>
          </p:cNvPr>
          <p:cNvCxnSpPr>
            <a:endCxn id="22" idx="1"/>
          </p:cNvCxnSpPr>
          <p:nvPr/>
        </p:nvCxnSpPr>
        <p:spPr>
          <a:xfrm>
            <a:off x="5759024" y="3596503"/>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22E1C74-CB63-D84A-ACF2-2B6A25791D13}"/>
              </a:ext>
            </a:extLst>
          </p:cNvPr>
          <p:cNvCxnSpPr/>
          <p:nvPr/>
        </p:nvCxnSpPr>
        <p:spPr>
          <a:xfrm>
            <a:off x="6268276" y="4333103"/>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Table 24">
            <a:extLst>
              <a:ext uri="{FF2B5EF4-FFF2-40B4-BE49-F238E27FC236}">
                <a16:creationId xmlns:a16="http://schemas.microsoft.com/office/drawing/2014/main" id="{11C9D2BA-252F-A841-A5F0-1D067E2BBA03}"/>
              </a:ext>
            </a:extLst>
          </p:cNvPr>
          <p:cNvGraphicFramePr>
            <a:graphicFrameLocks noGrp="1"/>
          </p:cNvGraphicFramePr>
          <p:nvPr/>
        </p:nvGraphicFramePr>
        <p:xfrm>
          <a:off x="6577093" y="48842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write</a:t>
                      </a:r>
                      <a:endParaRPr lang="ru-RU" dirty="0"/>
                    </a:p>
                  </a:txBody>
                  <a:tcPr/>
                </a:tc>
                <a:extLst>
                  <a:ext uri="{0D108BD9-81ED-4DB2-BD59-A6C34878D82A}">
                    <a16:rowId xmlns:a16="http://schemas.microsoft.com/office/drawing/2014/main" val="697513112"/>
                  </a:ext>
                </a:extLst>
              </a:tr>
            </a:tbl>
          </a:graphicData>
        </a:graphic>
      </p:graphicFrame>
      <p:cxnSp>
        <p:nvCxnSpPr>
          <p:cNvPr id="26" name="Straight Arrow Connector 25">
            <a:extLst>
              <a:ext uri="{FF2B5EF4-FFF2-40B4-BE49-F238E27FC236}">
                <a16:creationId xmlns:a16="http://schemas.microsoft.com/office/drawing/2014/main" id="{2EC80AB2-AF1C-C642-9B7E-2A79283AC019}"/>
              </a:ext>
            </a:extLst>
          </p:cNvPr>
          <p:cNvCxnSpPr>
            <a:cxnSpLocks/>
          </p:cNvCxnSpPr>
          <p:nvPr/>
        </p:nvCxnSpPr>
        <p:spPr>
          <a:xfrm flipV="1">
            <a:off x="7379697" y="4343141"/>
            <a:ext cx="286686" cy="7265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7" name="Table 26">
            <a:extLst>
              <a:ext uri="{FF2B5EF4-FFF2-40B4-BE49-F238E27FC236}">
                <a16:creationId xmlns:a16="http://schemas.microsoft.com/office/drawing/2014/main" id="{99F694C5-8140-ED49-AB15-2AF6B0518BC7}"/>
              </a:ext>
            </a:extLst>
          </p:cNvPr>
          <p:cNvGraphicFramePr>
            <a:graphicFrameLocks noGrp="1"/>
          </p:cNvGraphicFramePr>
          <p:nvPr/>
        </p:nvGraphicFramePr>
        <p:xfrm>
          <a:off x="7680669"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28" name="Straight Arrow Connector 27">
            <a:extLst>
              <a:ext uri="{FF2B5EF4-FFF2-40B4-BE49-F238E27FC236}">
                <a16:creationId xmlns:a16="http://schemas.microsoft.com/office/drawing/2014/main" id="{47B0AD0F-0F13-764F-A1CA-73719F53AF0F}"/>
              </a:ext>
            </a:extLst>
          </p:cNvPr>
          <p:cNvCxnSpPr>
            <a:cxnSpLocks/>
          </p:cNvCxnSpPr>
          <p:nvPr/>
        </p:nvCxnSpPr>
        <p:spPr>
          <a:xfrm flipV="1">
            <a:off x="7887924" y="3616579"/>
            <a:ext cx="286686" cy="7265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9" name="Table 28">
            <a:extLst>
              <a:ext uri="{FF2B5EF4-FFF2-40B4-BE49-F238E27FC236}">
                <a16:creationId xmlns:a16="http://schemas.microsoft.com/office/drawing/2014/main" id="{59FA1FBE-8A78-4940-8463-B3FBAA748120}"/>
              </a:ext>
            </a:extLst>
          </p:cNvPr>
          <p:cNvGraphicFramePr>
            <a:graphicFrameLocks noGrp="1"/>
          </p:cNvGraphicFramePr>
          <p:nvPr/>
        </p:nvGraphicFramePr>
        <p:xfrm>
          <a:off x="8198961" y="34110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read</a:t>
                      </a:r>
                      <a:endParaRPr lang="ru-RU" dirty="0"/>
                    </a:p>
                  </a:txBody>
                  <a:tcPr/>
                </a:tc>
                <a:extLst>
                  <a:ext uri="{0D108BD9-81ED-4DB2-BD59-A6C34878D82A}">
                    <a16:rowId xmlns:a16="http://schemas.microsoft.com/office/drawing/2014/main" val="697513112"/>
                  </a:ext>
                </a:extLst>
              </a:tr>
            </a:tbl>
          </a:graphicData>
        </a:graphic>
      </p:graphicFrame>
      <p:cxnSp>
        <p:nvCxnSpPr>
          <p:cNvPr id="30" name="Straight Arrow Connector 29">
            <a:extLst>
              <a:ext uri="{FF2B5EF4-FFF2-40B4-BE49-F238E27FC236}">
                <a16:creationId xmlns:a16="http://schemas.microsoft.com/office/drawing/2014/main" id="{94623136-7836-5D48-A5A2-A86EFA8E558A}"/>
              </a:ext>
            </a:extLst>
          </p:cNvPr>
          <p:cNvCxnSpPr/>
          <p:nvPr/>
        </p:nvCxnSpPr>
        <p:spPr>
          <a:xfrm>
            <a:off x="8987279" y="3616579"/>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ight Arrow 30">
            <a:extLst>
              <a:ext uri="{FF2B5EF4-FFF2-40B4-BE49-F238E27FC236}">
                <a16:creationId xmlns:a16="http://schemas.microsoft.com/office/drawing/2014/main" id="{56E1D633-3D92-B241-8D60-D21D303D7A23}"/>
              </a:ext>
            </a:extLst>
          </p:cNvPr>
          <p:cNvSpPr/>
          <p:nvPr/>
        </p:nvSpPr>
        <p:spPr>
          <a:xfrm>
            <a:off x="181167" y="5471895"/>
            <a:ext cx="11468559" cy="1652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TextBox 31">
            <a:extLst>
              <a:ext uri="{FF2B5EF4-FFF2-40B4-BE49-F238E27FC236}">
                <a16:creationId xmlns:a16="http://schemas.microsoft.com/office/drawing/2014/main" id="{B93D07D8-1676-E949-AF90-A132B05CF8A2}"/>
              </a:ext>
            </a:extLst>
          </p:cNvPr>
          <p:cNvSpPr txBox="1"/>
          <p:nvPr/>
        </p:nvSpPr>
        <p:spPr>
          <a:xfrm>
            <a:off x="10779387" y="5157301"/>
            <a:ext cx="614271" cy="369332"/>
          </a:xfrm>
          <a:prstGeom prst="rect">
            <a:avLst/>
          </a:prstGeom>
          <a:noFill/>
        </p:spPr>
        <p:txBody>
          <a:bodyPr wrap="none" rtlCol="0">
            <a:spAutoFit/>
          </a:bodyPr>
          <a:lstStyle/>
          <a:p>
            <a:r>
              <a:rPr lang="en-US" dirty="0"/>
              <a:t>time</a:t>
            </a:r>
            <a:endParaRPr lang="ru-RU" dirty="0"/>
          </a:p>
        </p:txBody>
      </p:sp>
      <p:graphicFrame>
        <p:nvGraphicFramePr>
          <p:cNvPr id="33" name="Table 32">
            <a:extLst>
              <a:ext uri="{FF2B5EF4-FFF2-40B4-BE49-F238E27FC236}">
                <a16:creationId xmlns:a16="http://schemas.microsoft.com/office/drawing/2014/main" id="{CA5A72FA-51CE-9E48-B4DE-1B7DE027739B}"/>
              </a:ext>
            </a:extLst>
          </p:cNvPr>
          <p:cNvGraphicFramePr>
            <a:graphicFrameLocks noGrp="1"/>
          </p:cNvGraphicFramePr>
          <p:nvPr/>
        </p:nvGraphicFramePr>
        <p:xfrm>
          <a:off x="2550434" y="3411083"/>
          <a:ext cx="2436778" cy="370840"/>
        </p:xfrm>
        <a:graphic>
          <a:graphicData uri="http://schemas.openxmlformats.org/drawingml/2006/table">
            <a:tbl>
              <a:tblPr firstRow="1" bandRow="1">
                <a:tableStyleId>{5C22544A-7EE6-4342-B048-85BDC9FD1C3A}</a:tableStyleId>
              </a:tblPr>
              <a:tblGrid>
                <a:gridCol w="2436778">
                  <a:extLst>
                    <a:ext uri="{9D8B030D-6E8A-4147-A177-3AD203B41FA5}">
                      <a16:colId xmlns:a16="http://schemas.microsoft.com/office/drawing/2014/main" val="2017862997"/>
                    </a:ext>
                  </a:extLst>
                </a:gridCol>
              </a:tblGrid>
              <a:tr h="370840">
                <a:tc>
                  <a:txBody>
                    <a:bodyPr/>
                    <a:lstStyle/>
                    <a:p>
                      <a:pPr algn="ctr"/>
                      <a:r>
                        <a:rPr lang="en-US" dirty="0"/>
                        <a:t>idle</a:t>
                      </a:r>
                      <a:endParaRPr lang="ru-RU" dirty="0"/>
                    </a:p>
                  </a:txBody>
                  <a:tcPr>
                    <a:solidFill>
                      <a:srgbClr val="FF0000"/>
                    </a:solidFill>
                  </a:tcPr>
                </a:tc>
                <a:extLst>
                  <a:ext uri="{0D108BD9-81ED-4DB2-BD59-A6C34878D82A}">
                    <a16:rowId xmlns:a16="http://schemas.microsoft.com/office/drawing/2014/main" val="697513112"/>
                  </a:ext>
                </a:extLst>
              </a:tr>
            </a:tbl>
          </a:graphicData>
        </a:graphic>
      </p:graphicFrame>
      <p:graphicFrame>
        <p:nvGraphicFramePr>
          <p:cNvPr id="34" name="Table 33">
            <a:extLst>
              <a:ext uri="{FF2B5EF4-FFF2-40B4-BE49-F238E27FC236}">
                <a16:creationId xmlns:a16="http://schemas.microsoft.com/office/drawing/2014/main" id="{D4A134AC-875A-9340-B522-B7C9162F9AB7}"/>
              </a:ext>
            </a:extLst>
          </p:cNvPr>
          <p:cNvGraphicFramePr>
            <a:graphicFrameLocks noGrp="1"/>
          </p:cNvGraphicFramePr>
          <p:nvPr/>
        </p:nvGraphicFramePr>
        <p:xfrm>
          <a:off x="4132470" y="4884283"/>
          <a:ext cx="2436778" cy="370840"/>
        </p:xfrm>
        <a:graphic>
          <a:graphicData uri="http://schemas.openxmlformats.org/drawingml/2006/table">
            <a:tbl>
              <a:tblPr firstRow="1" bandRow="1">
                <a:tableStyleId>{5C22544A-7EE6-4342-B048-85BDC9FD1C3A}</a:tableStyleId>
              </a:tblPr>
              <a:tblGrid>
                <a:gridCol w="2436778">
                  <a:extLst>
                    <a:ext uri="{9D8B030D-6E8A-4147-A177-3AD203B41FA5}">
                      <a16:colId xmlns:a16="http://schemas.microsoft.com/office/drawing/2014/main" val="2017862997"/>
                    </a:ext>
                  </a:extLst>
                </a:gridCol>
              </a:tblGrid>
              <a:tr h="370840">
                <a:tc>
                  <a:txBody>
                    <a:bodyPr/>
                    <a:lstStyle/>
                    <a:p>
                      <a:pPr algn="ctr"/>
                      <a:r>
                        <a:rPr lang="en-US" dirty="0"/>
                        <a:t>idle</a:t>
                      </a:r>
                      <a:endParaRPr lang="ru-RU" dirty="0"/>
                    </a:p>
                  </a:txBody>
                  <a:tcPr>
                    <a:solidFill>
                      <a:srgbClr val="FF0000"/>
                    </a:solidFill>
                  </a:tcPr>
                </a:tc>
                <a:extLst>
                  <a:ext uri="{0D108BD9-81ED-4DB2-BD59-A6C34878D82A}">
                    <a16:rowId xmlns:a16="http://schemas.microsoft.com/office/drawing/2014/main" val="697513112"/>
                  </a:ext>
                </a:extLst>
              </a:tr>
            </a:tbl>
          </a:graphicData>
        </a:graphic>
      </p:graphicFrame>
      <p:graphicFrame>
        <p:nvGraphicFramePr>
          <p:cNvPr id="35" name="Table 34">
            <a:extLst>
              <a:ext uri="{FF2B5EF4-FFF2-40B4-BE49-F238E27FC236}">
                <a16:creationId xmlns:a16="http://schemas.microsoft.com/office/drawing/2014/main" id="{4EAA00AB-410F-594C-B2A4-A3B5E0421445}"/>
              </a:ext>
            </a:extLst>
          </p:cNvPr>
          <p:cNvGraphicFramePr>
            <a:graphicFrameLocks noGrp="1"/>
          </p:cNvGraphicFramePr>
          <p:nvPr/>
        </p:nvGraphicFramePr>
        <p:xfrm>
          <a:off x="5777205" y="3411083"/>
          <a:ext cx="2436778" cy="370840"/>
        </p:xfrm>
        <a:graphic>
          <a:graphicData uri="http://schemas.openxmlformats.org/drawingml/2006/table">
            <a:tbl>
              <a:tblPr firstRow="1" bandRow="1">
                <a:tableStyleId>{5C22544A-7EE6-4342-B048-85BDC9FD1C3A}</a:tableStyleId>
              </a:tblPr>
              <a:tblGrid>
                <a:gridCol w="2436778">
                  <a:extLst>
                    <a:ext uri="{9D8B030D-6E8A-4147-A177-3AD203B41FA5}">
                      <a16:colId xmlns:a16="http://schemas.microsoft.com/office/drawing/2014/main" val="2017862997"/>
                    </a:ext>
                  </a:extLst>
                </a:gridCol>
              </a:tblGrid>
              <a:tr h="370840">
                <a:tc>
                  <a:txBody>
                    <a:bodyPr/>
                    <a:lstStyle/>
                    <a:p>
                      <a:pPr algn="ctr"/>
                      <a:r>
                        <a:rPr lang="en-US" dirty="0"/>
                        <a:t>idle</a:t>
                      </a:r>
                      <a:endParaRPr lang="ru-RU" dirty="0"/>
                    </a:p>
                  </a:txBody>
                  <a:tcPr>
                    <a:solidFill>
                      <a:srgbClr val="FF0000"/>
                    </a:solidFill>
                  </a:tcPr>
                </a:tc>
                <a:extLst>
                  <a:ext uri="{0D108BD9-81ED-4DB2-BD59-A6C34878D82A}">
                    <a16:rowId xmlns:a16="http://schemas.microsoft.com/office/drawing/2014/main" val="697513112"/>
                  </a:ext>
                </a:extLst>
              </a:tr>
            </a:tbl>
          </a:graphicData>
        </a:graphic>
      </p:graphicFrame>
    </p:spTree>
    <p:extLst>
      <p:ext uri="{BB962C8B-B14F-4D97-AF65-F5344CB8AC3E}">
        <p14:creationId xmlns:p14="http://schemas.microsoft.com/office/powerpoint/2010/main" val="15815475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87802584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139912437"/>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601366649"/>
              </p:ext>
            </p:extLst>
          </p:nvPr>
        </p:nvGraphicFramePr>
        <p:xfrm>
          <a:off x="0" y="365761"/>
          <a:ext cx="12192000" cy="57962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dirty="0"/>
                        <a:t>Synchronous and asynchronous IO, pipelining and</a:t>
                      </a:r>
                      <a:r>
                        <a:rPr lang="ru-RU" dirty="0"/>
                        <a:t> </a:t>
                      </a:r>
                      <a:r>
                        <a:rPr lang="en-US" dirty="0"/>
                        <a:t>multiplexing</a:t>
                      </a:r>
                      <a:endParaRPr lang="ru-RU" dirty="0"/>
                    </a:p>
                  </a:txBody>
                  <a:tcPr/>
                </a:tc>
                <a:extLst>
                  <a:ext uri="{0D108BD9-81ED-4DB2-BD59-A6C34878D82A}">
                    <a16:rowId xmlns:a16="http://schemas.microsoft.com/office/drawing/2014/main" val="10000"/>
                  </a:ext>
                </a:extLst>
              </a:tr>
              <a:tr h="370840">
                <a:tc>
                  <a:txBody>
                    <a:bodyPr/>
                    <a:lstStyle/>
                    <a:p>
                      <a:r>
                        <a:rPr lang="en-US" dirty="0"/>
                        <a:t>Usually, the problem is even worse.</a:t>
                      </a:r>
                      <a:r>
                        <a:rPr lang="ru-RU" dirty="0"/>
                        <a:t> </a:t>
                      </a:r>
                      <a:r>
                        <a:rPr lang="en-US" dirty="0"/>
                        <a:t>If the FS is networked, or located on a fast</a:t>
                      </a:r>
                      <a:r>
                        <a:rPr lang="ru-RU" dirty="0"/>
                        <a:t> </a:t>
                      </a:r>
                      <a:r>
                        <a:rPr lang="en-US" dirty="0" err="1"/>
                        <a:t>NVMe</a:t>
                      </a:r>
                      <a:r>
                        <a:rPr lang="en-US" dirty="0"/>
                        <a:t> device</a:t>
                      </a:r>
                      <a:r>
                        <a:rPr lang="ru-RU" dirty="0"/>
                        <a:t>, </a:t>
                      </a:r>
                      <a:r>
                        <a:rPr lang="en-US" dirty="0"/>
                        <a:t>then the timeline will look this way</a:t>
                      </a:r>
                      <a:r>
                        <a:rPr lang="ru-RU" dirty="0"/>
                        <a:t>:</a:t>
                      </a:r>
                      <a:endParaRPr lang="en-US" dirty="0"/>
                    </a:p>
                    <a:p>
                      <a:endParaRPr lang="en-US" dirty="0"/>
                    </a:p>
                    <a:p>
                      <a:r>
                        <a:rPr lang="en-US" sz="1600" dirty="0">
                          <a:latin typeface="Consolas" panose="020B0609020204030204" pitchFamily="49" charset="0"/>
                          <a:cs typeface="Consolas" panose="020B0609020204030204" pitchFamily="49" charset="0"/>
                        </a:rPr>
                        <a:t>while (!done) {</a:t>
                      </a:r>
                    </a:p>
                    <a:p>
                      <a:r>
                        <a:rPr lang="en-US" sz="1600" dirty="0">
                          <a:latin typeface="Consolas" panose="020B0609020204030204" pitchFamily="49" charset="0"/>
                          <a:cs typeface="Consolas" panose="020B0609020204030204" pitchFamily="49" charset="0"/>
                        </a:rPr>
                        <a:t>  r = read(</a:t>
                      </a:r>
                      <a:r>
                        <a:rPr lang="en-US" sz="1600" dirty="0" err="1">
                          <a:latin typeface="Consolas" panose="020B0609020204030204" pitchFamily="49" charset="0"/>
                          <a:cs typeface="Consolas" panose="020B0609020204030204" pitchFamily="49" charset="0"/>
                        </a:rPr>
                        <a:t>fd_in</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sizeof</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r</a:t>
                      </a:r>
                      <a:r>
                        <a:rPr lang="ru-RU" sz="1600" dirty="0">
                          <a:latin typeface="Consolas" panose="020B0609020204030204" pitchFamily="49" charset="0"/>
                          <a:cs typeface="Consolas" panose="020B0609020204030204" pitchFamily="49" charset="0"/>
                        </a:rPr>
                        <a:t>1</a:t>
                      </a:r>
                      <a:r>
                        <a:rPr lang="en-US" sz="1600" dirty="0">
                          <a:latin typeface="Consolas" panose="020B0609020204030204" pitchFamily="49" charset="0"/>
                          <a:cs typeface="Consolas" panose="020B0609020204030204" pitchFamily="49" charset="0"/>
                        </a:rPr>
                        <a:t> = write(</a:t>
                      </a:r>
                      <a:r>
                        <a:rPr lang="en-US" sz="1600" dirty="0" err="1">
                          <a:latin typeface="Consolas" panose="020B0609020204030204" pitchFamily="49" charset="0"/>
                          <a:cs typeface="Consolas" panose="020B0609020204030204" pitchFamily="49" charset="0"/>
                        </a:rPr>
                        <a:t>fd_out</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r);</a:t>
                      </a:r>
                    </a:p>
                    <a:p>
                      <a:r>
                        <a:rPr lang="en-US" sz="1600" dirty="0">
                          <a:latin typeface="Consolas" panose="020B0609020204030204" pitchFamily="49" charset="0"/>
                          <a:cs typeface="Consolas" panose="020B0609020204030204" pitchFamily="49" charset="0"/>
                        </a:rPr>
                        <a:t>  ...</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a:t>
                      </a:r>
                    </a:p>
                    <a:p>
                      <a:endParaRPr lang="en-US"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en-US" dirty="0"/>
                    </a:p>
                    <a:p>
                      <a:endParaRPr lang="ru-RU" dirty="0"/>
                    </a:p>
                  </a:txBody>
                  <a:tcPr/>
                </a:tc>
                <a:extLst>
                  <a:ext uri="{0D108BD9-81ED-4DB2-BD59-A6C34878D82A}">
                    <a16:rowId xmlns:a16="http://schemas.microsoft.com/office/drawing/2014/main" val="10001"/>
                  </a:ext>
                </a:extLst>
              </a:tr>
            </a:tbl>
          </a:graphicData>
        </a:graphic>
      </p:graphicFrame>
      <p:graphicFrame>
        <p:nvGraphicFramePr>
          <p:cNvPr id="3" name="Table 2">
            <a:extLst>
              <a:ext uri="{FF2B5EF4-FFF2-40B4-BE49-F238E27FC236}">
                <a16:creationId xmlns:a16="http://schemas.microsoft.com/office/drawing/2014/main" id="{85745485-3810-AF4E-B97F-A8BCAA63019F}"/>
              </a:ext>
            </a:extLst>
          </p:cNvPr>
          <p:cNvGraphicFramePr>
            <a:graphicFrameLocks noGrp="1"/>
          </p:cNvGraphicFramePr>
          <p:nvPr/>
        </p:nvGraphicFramePr>
        <p:xfrm>
          <a:off x="181167" y="34110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disk 0</a:t>
                      </a:r>
                      <a:endParaRPr lang="ru-RU" dirty="0"/>
                    </a:p>
                  </a:txBody>
                  <a:tcPr/>
                </a:tc>
                <a:extLst>
                  <a:ext uri="{0D108BD9-81ED-4DB2-BD59-A6C34878D82A}">
                    <a16:rowId xmlns:a16="http://schemas.microsoft.com/office/drawing/2014/main" val="697513112"/>
                  </a:ext>
                </a:extLst>
              </a:tr>
            </a:tbl>
          </a:graphicData>
        </a:graphic>
      </p:graphicFrame>
      <p:graphicFrame>
        <p:nvGraphicFramePr>
          <p:cNvPr id="7" name="Table 6">
            <a:extLst>
              <a:ext uri="{FF2B5EF4-FFF2-40B4-BE49-F238E27FC236}">
                <a16:creationId xmlns:a16="http://schemas.microsoft.com/office/drawing/2014/main" id="{C1BB30A7-0B4C-7F40-8E3F-5287B7A9E41F}"/>
              </a:ext>
            </a:extLst>
          </p:cNvPr>
          <p:cNvGraphicFramePr>
            <a:graphicFrameLocks noGrp="1"/>
          </p:cNvGraphicFramePr>
          <p:nvPr/>
        </p:nvGraphicFramePr>
        <p:xfrm>
          <a:off x="181167" y="41476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app</a:t>
                      </a:r>
                      <a:endParaRPr lang="ru-RU" dirty="0"/>
                    </a:p>
                  </a:txBody>
                  <a:tcPr/>
                </a:tc>
                <a:extLst>
                  <a:ext uri="{0D108BD9-81ED-4DB2-BD59-A6C34878D82A}">
                    <a16:rowId xmlns:a16="http://schemas.microsoft.com/office/drawing/2014/main" val="697513112"/>
                  </a:ext>
                </a:extLst>
              </a:tr>
            </a:tbl>
          </a:graphicData>
        </a:graphic>
      </p:graphicFrame>
      <p:graphicFrame>
        <p:nvGraphicFramePr>
          <p:cNvPr id="8" name="Table 7">
            <a:extLst>
              <a:ext uri="{FF2B5EF4-FFF2-40B4-BE49-F238E27FC236}">
                <a16:creationId xmlns:a16="http://schemas.microsoft.com/office/drawing/2014/main" id="{97F95B88-3DC1-4C4E-B6EA-93F2539B9173}"/>
              </a:ext>
            </a:extLst>
          </p:cNvPr>
          <p:cNvGraphicFramePr>
            <a:graphicFrameLocks noGrp="1"/>
          </p:cNvGraphicFramePr>
          <p:nvPr/>
        </p:nvGraphicFramePr>
        <p:xfrm>
          <a:off x="181167" y="48842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disk 1</a:t>
                      </a:r>
                      <a:endParaRPr lang="ru-RU" dirty="0"/>
                    </a:p>
                  </a:txBody>
                  <a:tcPr/>
                </a:tc>
                <a:extLst>
                  <a:ext uri="{0D108BD9-81ED-4DB2-BD59-A6C34878D82A}">
                    <a16:rowId xmlns:a16="http://schemas.microsoft.com/office/drawing/2014/main" val="697513112"/>
                  </a:ext>
                </a:extLst>
              </a:tr>
            </a:tbl>
          </a:graphicData>
        </a:graphic>
      </p:graphicFrame>
      <p:graphicFrame>
        <p:nvGraphicFramePr>
          <p:cNvPr id="9" name="Table 8">
            <a:extLst>
              <a:ext uri="{FF2B5EF4-FFF2-40B4-BE49-F238E27FC236}">
                <a16:creationId xmlns:a16="http://schemas.microsoft.com/office/drawing/2014/main" id="{A3BC602F-6545-C246-A63B-74FAAD1C9314}"/>
              </a:ext>
            </a:extLst>
          </p:cNvPr>
          <p:cNvGraphicFramePr>
            <a:graphicFrameLocks noGrp="1"/>
          </p:cNvGraphicFramePr>
          <p:nvPr/>
        </p:nvGraphicFramePr>
        <p:xfrm>
          <a:off x="6476602" y="3429000"/>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17862997"/>
                    </a:ext>
                  </a:extLst>
                </a:gridCol>
              </a:tblGrid>
              <a:tr h="370840">
                <a:tc>
                  <a:txBody>
                    <a:bodyPr/>
                    <a:lstStyle/>
                    <a:p>
                      <a:pPr algn="ctr"/>
                      <a:r>
                        <a:rPr lang="en-US" dirty="0"/>
                        <a:t>r</a:t>
                      </a:r>
                      <a:endParaRPr lang="ru-RU" dirty="0"/>
                    </a:p>
                  </a:txBody>
                  <a:tcPr/>
                </a:tc>
                <a:extLst>
                  <a:ext uri="{0D108BD9-81ED-4DB2-BD59-A6C34878D82A}">
                    <a16:rowId xmlns:a16="http://schemas.microsoft.com/office/drawing/2014/main" val="697513112"/>
                  </a:ext>
                </a:extLst>
              </a:tr>
            </a:tbl>
          </a:graphicData>
        </a:graphic>
      </p:graphicFrame>
      <p:graphicFrame>
        <p:nvGraphicFramePr>
          <p:cNvPr id="4" name="Table 3">
            <a:extLst>
              <a:ext uri="{FF2B5EF4-FFF2-40B4-BE49-F238E27FC236}">
                <a16:creationId xmlns:a16="http://schemas.microsoft.com/office/drawing/2014/main" id="{7FAC382F-59AD-E643-9598-882F1E7DC238}"/>
              </a:ext>
            </a:extLst>
          </p:cNvPr>
          <p:cNvGraphicFramePr>
            <a:graphicFrameLocks noGrp="1"/>
          </p:cNvGraphicFramePr>
          <p:nvPr/>
        </p:nvGraphicFramePr>
        <p:xfrm>
          <a:off x="1271836"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12" name="Straight Arrow Connector 11">
            <a:extLst>
              <a:ext uri="{FF2B5EF4-FFF2-40B4-BE49-F238E27FC236}">
                <a16:creationId xmlns:a16="http://schemas.microsoft.com/office/drawing/2014/main" id="{3E355DE3-0C5E-774E-8213-30D3D9A270AE}"/>
              </a:ext>
            </a:extLst>
          </p:cNvPr>
          <p:cNvCxnSpPr>
            <a:cxnSpLocks/>
            <a:stCxn id="4" idx="3"/>
            <a:endCxn id="9" idx="1"/>
          </p:cNvCxnSpPr>
          <p:nvPr/>
        </p:nvCxnSpPr>
        <p:spPr>
          <a:xfrm flipV="1">
            <a:off x="1480116" y="3614420"/>
            <a:ext cx="4996486" cy="7186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ight Arrow 30">
            <a:extLst>
              <a:ext uri="{FF2B5EF4-FFF2-40B4-BE49-F238E27FC236}">
                <a16:creationId xmlns:a16="http://schemas.microsoft.com/office/drawing/2014/main" id="{56E1D633-3D92-B241-8D60-D21D303D7A23}"/>
              </a:ext>
            </a:extLst>
          </p:cNvPr>
          <p:cNvSpPr/>
          <p:nvPr/>
        </p:nvSpPr>
        <p:spPr>
          <a:xfrm>
            <a:off x="181167" y="5471895"/>
            <a:ext cx="11468559" cy="1652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TextBox 31">
            <a:extLst>
              <a:ext uri="{FF2B5EF4-FFF2-40B4-BE49-F238E27FC236}">
                <a16:creationId xmlns:a16="http://schemas.microsoft.com/office/drawing/2014/main" id="{B93D07D8-1676-E949-AF90-A132B05CF8A2}"/>
              </a:ext>
            </a:extLst>
          </p:cNvPr>
          <p:cNvSpPr txBox="1"/>
          <p:nvPr/>
        </p:nvSpPr>
        <p:spPr>
          <a:xfrm>
            <a:off x="10779387" y="5157301"/>
            <a:ext cx="614271" cy="369332"/>
          </a:xfrm>
          <a:prstGeom prst="rect">
            <a:avLst/>
          </a:prstGeom>
          <a:noFill/>
        </p:spPr>
        <p:txBody>
          <a:bodyPr wrap="none" rtlCol="0">
            <a:spAutoFit/>
          </a:bodyPr>
          <a:lstStyle/>
          <a:p>
            <a:r>
              <a:rPr lang="en-US" dirty="0"/>
              <a:t>time</a:t>
            </a:r>
            <a:endParaRPr lang="ru-RU" dirty="0"/>
          </a:p>
        </p:txBody>
      </p:sp>
      <p:graphicFrame>
        <p:nvGraphicFramePr>
          <p:cNvPr id="36" name="Table 35">
            <a:extLst>
              <a:ext uri="{FF2B5EF4-FFF2-40B4-BE49-F238E27FC236}">
                <a16:creationId xmlns:a16="http://schemas.microsoft.com/office/drawing/2014/main" id="{951393F3-D64A-3D43-999D-83853EA62CD5}"/>
              </a:ext>
            </a:extLst>
          </p:cNvPr>
          <p:cNvGraphicFramePr>
            <a:graphicFrameLocks noGrp="1"/>
          </p:cNvGraphicFramePr>
          <p:nvPr/>
        </p:nvGraphicFramePr>
        <p:xfrm>
          <a:off x="11366774"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37" name="Straight Arrow Connector 36">
            <a:extLst>
              <a:ext uri="{FF2B5EF4-FFF2-40B4-BE49-F238E27FC236}">
                <a16:creationId xmlns:a16="http://schemas.microsoft.com/office/drawing/2014/main" id="{18F74248-3C79-EE40-AE3D-FA835CCB5D80}"/>
              </a:ext>
            </a:extLst>
          </p:cNvPr>
          <p:cNvCxnSpPr>
            <a:endCxn id="36" idx="1"/>
          </p:cNvCxnSpPr>
          <p:nvPr/>
        </p:nvCxnSpPr>
        <p:spPr>
          <a:xfrm>
            <a:off x="6684882" y="3614420"/>
            <a:ext cx="4681892" cy="71868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39CC14E2-BCE1-6A47-9C11-CFAC483B44A3}"/>
              </a:ext>
            </a:extLst>
          </p:cNvPr>
          <p:cNvCxnSpPr/>
          <p:nvPr/>
        </p:nvCxnSpPr>
        <p:spPr>
          <a:xfrm>
            <a:off x="11575054" y="4327648"/>
            <a:ext cx="616946" cy="1107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0" name="Table 39">
            <a:extLst>
              <a:ext uri="{FF2B5EF4-FFF2-40B4-BE49-F238E27FC236}">
                <a16:creationId xmlns:a16="http://schemas.microsoft.com/office/drawing/2014/main" id="{1B8F100A-B260-B045-A2B5-743DBEC655CB}"/>
              </a:ext>
            </a:extLst>
          </p:cNvPr>
          <p:cNvGraphicFramePr>
            <a:graphicFrameLocks noGrp="1"/>
          </p:cNvGraphicFramePr>
          <p:nvPr/>
        </p:nvGraphicFramePr>
        <p:xfrm>
          <a:off x="6684882" y="3411083"/>
          <a:ext cx="5507118" cy="370840"/>
        </p:xfrm>
        <a:graphic>
          <a:graphicData uri="http://schemas.openxmlformats.org/drawingml/2006/table">
            <a:tbl>
              <a:tblPr firstRow="1" bandRow="1">
                <a:tableStyleId>{5C22544A-7EE6-4342-B048-85BDC9FD1C3A}</a:tableStyleId>
              </a:tblPr>
              <a:tblGrid>
                <a:gridCol w="5507118">
                  <a:extLst>
                    <a:ext uri="{9D8B030D-6E8A-4147-A177-3AD203B41FA5}">
                      <a16:colId xmlns:a16="http://schemas.microsoft.com/office/drawing/2014/main" val="2017862997"/>
                    </a:ext>
                  </a:extLst>
                </a:gridCol>
              </a:tblGrid>
              <a:tr h="370840">
                <a:tc>
                  <a:txBody>
                    <a:bodyPr/>
                    <a:lstStyle/>
                    <a:p>
                      <a:pPr algn="ctr"/>
                      <a:r>
                        <a:rPr lang="en-US" dirty="0"/>
                        <a:t>idle</a:t>
                      </a:r>
                      <a:endParaRPr lang="ru-RU" dirty="0"/>
                    </a:p>
                  </a:txBody>
                  <a:tcPr>
                    <a:solidFill>
                      <a:srgbClr val="FF0000"/>
                    </a:solidFill>
                  </a:tcPr>
                </a:tc>
                <a:extLst>
                  <a:ext uri="{0D108BD9-81ED-4DB2-BD59-A6C34878D82A}">
                    <a16:rowId xmlns:a16="http://schemas.microsoft.com/office/drawing/2014/main" val="697513112"/>
                  </a:ext>
                </a:extLst>
              </a:tr>
            </a:tbl>
          </a:graphicData>
        </a:graphic>
      </p:graphicFrame>
    </p:spTree>
    <p:extLst>
      <p:ext uri="{BB962C8B-B14F-4D97-AF65-F5344CB8AC3E}">
        <p14:creationId xmlns:p14="http://schemas.microsoft.com/office/powerpoint/2010/main" val="3024268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673304919"/>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922777741"/>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721131817"/>
              </p:ext>
            </p:extLst>
          </p:nvPr>
        </p:nvGraphicFramePr>
        <p:xfrm>
          <a:off x="0" y="365761"/>
          <a:ext cx="12192000" cy="56743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dirty="0"/>
                        <a:t>Synchronous and asynchronous IO, pipelining and</a:t>
                      </a:r>
                      <a:r>
                        <a:rPr lang="ru-RU" dirty="0"/>
                        <a:t> </a:t>
                      </a:r>
                      <a:r>
                        <a:rPr lang="en-US" dirty="0"/>
                        <a:t>multiplexing</a:t>
                      </a:r>
                      <a:endParaRPr lang="ru-RU" dirty="0"/>
                    </a:p>
                  </a:txBody>
                  <a:tcPr/>
                </a:tc>
                <a:extLst>
                  <a:ext uri="{0D108BD9-81ED-4DB2-BD59-A6C34878D82A}">
                    <a16:rowId xmlns:a16="http://schemas.microsoft.com/office/drawing/2014/main" val="10000"/>
                  </a:ext>
                </a:extLst>
              </a:tr>
              <a:tr h="370840">
                <a:tc>
                  <a:txBody>
                    <a:bodyPr/>
                    <a:lstStyle/>
                    <a:p>
                      <a:r>
                        <a:rPr lang="en-US" baseline="0" dirty="0"/>
                        <a:t>An improvement</a:t>
                      </a:r>
                      <a:r>
                        <a:rPr lang="ru-RU" baseline="0" dirty="0"/>
                        <a:t>: </a:t>
                      </a:r>
                      <a:r>
                        <a:rPr lang="en-US" baseline="0" dirty="0"/>
                        <a:t>issue multiple read requests so that the source disk always have some work to do. The first command still suffers the latency penalty, but subsequent requests have their issue latency masked by preceding requests.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bl>
          </a:graphicData>
        </a:graphic>
      </p:graphicFrame>
      <p:graphicFrame>
        <p:nvGraphicFramePr>
          <p:cNvPr id="3" name="Table 2">
            <a:extLst>
              <a:ext uri="{FF2B5EF4-FFF2-40B4-BE49-F238E27FC236}">
                <a16:creationId xmlns:a16="http://schemas.microsoft.com/office/drawing/2014/main" id="{85745485-3810-AF4E-B97F-A8BCAA63019F}"/>
              </a:ext>
            </a:extLst>
          </p:cNvPr>
          <p:cNvGraphicFramePr>
            <a:graphicFrameLocks noGrp="1"/>
          </p:cNvGraphicFramePr>
          <p:nvPr/>
        </p:nvGraphicFramePr>
        <p:xfrm>
          <a:off x="181167" y="34110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disk 0</a:t>
                      </a:r>
                      <a:endParaRPr lang="ru-RU" dirty="0"/>
                    </a:p>
                  </a:txBody>
                  <a:tcPr/>
                </a:tc>
                <a:extLst>
                  <a:ext uri="{0D108BD9-81ED-4DB2-BD59-A6C34878D82A}">
                    <a16:rowId xmlns:a16="http://schemas.microsoft.com/office/drawing/2014/main" val="697513112"/>
                  </a:ext>
                </a:extLst>
              </a:tr>
            </a:tbl>
          </a:graphicData>
        </a:graphic>
      </p:graphicFrame>
      <p:graphicFrame>
        <p:nvGraphicFramePr>
          <p:cNvPr id="7" name="Table 6">
            <a:extLst>
              <a:ext uri="{FF2B5EF4-FFF2-40B4-BE49-F238E27FC236}">
                <a16:creationId xmlns:a16="http://schemas.microsoft.com/office/drawing/2014/main" id="{C1BB30A7-0B4C-7F40-8E3F-5287B7A9E41F}"/>
              </a:ext>
            </a:extLst>
          </p:cNvPr>
          <p:cNvGraphicFramePr>
            <a:graphicFrameLocks noGrp="1"/>
          </p:cNvGraphicFramePr>
          <p:nvPr/>
        </p:nvGraphicFramePr>
        <p:xfrm>
          <a:off x="181167" y="41476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app</a:t>
                      </a:r>
                      <a:endParaRPr lang="ru-RU" dirty="0"/>
                    </a:p>
                  </a:txBody>
                  <a:tcPr/>
                </a:tc>
                <a:extLst>
                  <a:ext uri="{0D108BD9-81ED-4DB2-BD59-A6C34878D82A}">
                    <a16:rowId xmlns:a16="http://schemas.microsoft.com/office/drawing/2014/main" val="697513112"/>
                  </a:ext>
                </a:extLst>
              </a:tr>
            </a:tbl>
          </a:graphicData>
        </a:graphic>
      </p:graphicFrame>
      <p:graphicFrame>
        <p:nvGraphicFramePr>
          <p:cNvPr id="8" name="Table 7">
            <a:extLst>
              <a:ext uri="{FF2B5EF4-FFF2-40B4-BE49-F238E27FC236}">
                <a16:creationId xmlns:a16="http://schemas.microsoft.com/office/drawing/2014/main" id="{97F95B88-3DC1-4C4E-B6EA-93F2539B9173}"/>
              </a:ext>
            </a:extLst>
          </p:cNvPr>
          <p:cNvGraphicFramePr>
            <a:graphicFrameLocks noGrp="1"/>
          </p:cNvGraphicFramePr>
          <p:nvPr/>
        </p:nvGraphicFramePr>
        <p:xfrm>
          <a:off x="181167" y="48842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r>
                        <a:rPr lang="en-US" dirty="0"/>
                        <a:t>disk 1</a:t>
                      </a:r>
                      <a:endParaRPr lang="ru-RU" dirty="0"/>
                    </a:p>
                  </a:txBody>
                  <a:tcPr/>
                </a:tc>
                <a:extLst>
                  <a:ext uri="{0D108BD9-81ED-4DB2-BD59-A6C34878D82A}">
                    <a16:rowId xmlns:a16="http://schemas.microsoft.com/office/drawing/2014/main" val="697513112"/>
                  </a:ext>
                </a:extLst>
              </a:tr>
            </a:tbl>
          </a:graphicData>
        </a:graphic>
      </p:graphicFrame>
      <p:graphicFrame>
        <p:nvGraphicFramePr>
          <p:cNvPr id="9" name="Table 8">
            <a:extLst>
              <a:ext uri="{FF2B5EF4-FFF2-40B4-BE49-F238E27FC236}">
                <a16:creationId xmlns:a16="http://schemas.microsoft.com/office/drawing/2014/main" id="{A3BC602F-6545-C246-A63B-74FAAD1C9314}"/>
              </a:ext>
            </a:extLst>
          </p:cNvPr>
          <p:cNvGraphicFramePr>
            <a:graphicFrameLocks noGrp="1"/>
          </p:cNvGraphicFramePr>
          <p:nvPr/>
        </p:nvGraphicFramePr>
        <p:xfrm>
          <a:off x="1766802" y="3421121"/>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read</a:t>
                      </a:r>
                      <a:endParaRPr lang="ru-RU" dirty="0"/>
                    </a:p>
                  </a:txBody>
                  <a:tcPr/>
                </a:tc>
                <a:extLst>
                  <a:ext uri="{0D108BD9-81ED-4DB2-BD59-A6C34878D82A}">
                    <a16:rowId xmlns:a16="http://schemas.microsoft.com/office/drawing/2014/main" val="697513112"/>
                  </a:ext>
                </a:extLst>
              </a:tr>
            </a:tbl>
          </a:graphicData>
        </a:graphic>
      </p:graphicFrame>
      <p:graphicFrame>
        <p:nvGraphicFramePr>
          <p:cNvPr id="10" name="Table 9">
            <a:extLst>
              <a:ext uri="{FF2B5EF4-FFF2-40B4-BE49-F238E27FC236}">
                <a16:creationId xmlns:a16="http://schemas.microsoft.com/office/drawing/2014/main" id="{B96F4A52-27FC-F640-9402-91C7E8902049}"/>
              </a:ext>
            </a:extLst>
          </p:cNvPr>
          <p:cNvGraphicFramePr>
            <a:graphicFrameLocks noGrp="1"/>
          </p:cNvGraphicFramePr>
          <p:nvPr/>
        </p:nvGraphicFramePr>
        <p:xfrm>
          <a:off x="3365344" y="4884283"/>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write</a:t>
                      </a:r>
                      <a:endParaRPr lang="ru-RU" dirty="0"/>
                    </a:p>
                  </a:txBody>
                  <a:tcPr/>
                </a:tc>
                <a:extLst>
                  <a:ext uri="{0D108BD9-81ED-4DB2-BD59-A6C34878D82A}">
                    <a16:rowId xmlns:a16="http://schemas.microsoft.com/office/drawing/2014/main" val="697513112"/>
                  </a:ext>
                </a:extLst>
              </a:tr>
            </a:tbl>
          </a:graphicData>
        </a:graphic>
      </p:graphicFrame>
      <p:graphicFrame>
        <p:nvGraphicFramePr>
          <p:cNvPr id="4" name="Table 3">
            <a:extLst>
              <a:ext uri="{FF2B5EF4-FFF2-40B4-BE49-F238E27FC236}">
                <a16:creationId xmlns:a16="http://schemas.microsoft.com/office/drawing/2014/main" id="{7FAC382F-59AD-E643-9598-882F1E7DC238}"/>
              </a:ext>
            </a:extLst>
          </p:cNvPr>
          <p:cNvGraphicFramePr>
            <a:graphicFrameLocks noGrp="1"/>
          </p:cNvGraphicFramePr>
          <p:nvPr/>
        </p:nvGraphicFramePr>
        <p:xfrm>
          <a:off x="1271836"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12" name="Straight Arrow Connector 11">
            <a:extLst>
              <a:ext uri="{FF2B5EF4-FFF2-40B4-BE49-F238E27FC236}">
                <a16:creationId xmlns:a16="http://schemas.microsoft.com/office/drawing/2014/main" id="{3E355DE3-0C5E-774E-8213-30D3D9A270AE}"/>
              </a:ext>
            </a:extLst>
          </p:cNvPr>
          <p:cNvCxnSpPr>
            <a:cxnSpLocks/>
            <a:stCxn id="4" idx="3"/>
            <a:endCxn id="9" idx="1"/>
          </p:cNvCxnSpPr>
          <p:nvPr/>
        </p:nvCxnSpPr>
        <p:spPr>
          <a:xfrm flipV="1">
            <a:off x="1480116" y="3606541"/>
            <a:ext cx="286686" cy="7265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F333E7F3-7C9F-D84C-A655-97018B5A7707}"/>
              </a:ext>
            </a:extLst>
          </p:cNvPr>
          <p:cNvGraphicFramePr>
            <a:graphicFrameLocks noGrp="1"/>
          </p:cNvGraphicFramePr>
          <p:nvPr/>
        </p:nvGraphicFramePr>
        <p:xfrm>
          <a:off x="2856092" y="4147683"/>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17" name="Straight Arrow Connector 16">
            <a:extLst>
              <a:ext uri="{FF2B5EF4-FFF2-40B4-BE49-F238E27FC236}">
                <a16:creationId xmlns:a16="http://schemas.microsoft.com/office/drawing/2014/main" id="{99AC5003-6DFC-A74E-B724-651725C3FF2A}"/>
              </a:ext>
            </a:extLst>
          </p:cNvPr>
          <p:cNvCxnSpPr/>
          <p:nvPr/>
        </p:nvCxnSpPr>
        <p:spPr>
          <a:xfrm>
            <a:off x="3064372" y="4333103"/>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ight Arrow 30">
            <a:extLst>
              <a:ext uri="{FF2B5EF4-FFF2-40B4-BE49-F238E27FC236}">
                <a16:creationId xmlns:a16="http://schemas.microsoft.com/office/drawing/2014/main" id="{56E1D633-3D92-B241-8D60-D21D303D7A23}"/>
              </a:ext>
            </a:extLst>
          </p:cNvPr>
          <p:cNvSpPr/>
          <p:nvPr/>
        </p:nvSpPr>
        <p:spPr>
          <a:xfrm>
            <a:off x="181167" y="5471895"/>
            <a:ext cx="11468559" cy="1652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TextBox 31">
            <a:extLst>
              <a:ext uri="{FF2B5EF4-FFF2-40B4-BE49-F238E27FC236}">
                <a16:creationId xmlns:a16="http://schemas.microsoft.com/office/drawing/2014/main" id="{B93D07D8-1676-E949-AF90-A132B05CF8A2}"/>
              </a:ext>
            </a:extLst>
          </p:cNvPr>
          <p:cNvSpPr txBox="1"/>
          <p:nvPr/>
        </p:nvSpPr>
        <p:spPr>
          <a:xfrm>
            <a:off x="10779387" y="5157301"/>
            <a:ext cx="614271" cy="369332"/>
          </a:xfrm>
          <a:prstGeom prst="rect">
            <a:avLst/>
          </a:prstGeom>
          <a:noFill/>
        </p:spPr>
        <p:txBody>
          <a:bodyPr wrap="none" rtlCol="0">
            <a:spAutoFit/>
          </a:bodyPr>
          <a:lstStyle/>
          <a:p>
            <a:r>
              <a:rPr lang="en-US" dirty="0"/>
              <a:t>time</a:t>
            </a:r>
            <a:endParaRPr lang="ru-RU" dirty="0"/>
          </a:p>
        </p:txBody>
      </p:sp>
      <p:graphicFrame>
        <p:nvGraphicFramePr>
          <p:cNvPr id="36" name="Table 35">
            <a:extLst>
              <a:ext uri="{FF2B5EF4-FFF2-40B4-BE49-F238E27FC236}">
                <a16:creationId xmlns:a16="http://schemas.microsoft.com/office/drawing/2014/main" id="{10348BCF-999A-D44C-A773-FE62BD97364E}"/>
              </a:ext>
            </a:extLst>
          </p:cNvPr>
          <p:cNvGraphicFramePr>
            <a:graphicFrameLocks noGrp="1"/>
          </p:cNvGraphicFramePr>
          <p:nvPr/>
        </p:nvGraphicFramePr>
        <p:xfrm>
          <a:off x="2558816" y="3422344"/>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read</a:t>
                      </a:r>
                      <a:endParaRPr lang="ru-RU" dirty="0"/>
                    </a:p>
                  </a:txBody>
                  <a:tcPr/>
                </a:tc>
                <a:extLst>
                  <a:ext uri="{0D108BD9-81ED-4DB2-BD59-A6C34878D82A}">
                    <a16:rowId xmlns:a16="http://schemas.microsoft.com/office/drawing/2014/main" val="697513112"/>
                  </a:ext>
                </a:extLst>
              </a:tr>
            </a:tbl>
          </a:graphicData>
        </a:graphic>
      </p:graphicFrame>
      <p:graphicFrame>
        <p:nvGraphicFramePr>
          <p:cNvPr id="37" name="Table 36">
            <a:extLst>
              <a:ext uri="{FF2B5EF4-FFF2-40B4-BE49-F238E27FC236}">
                <a16:creationId xmlns:a16="http://schemas.microsoft.com/office/drawing/2014/main" id="{5092CBEC-D4FD-9444-8A89-1DC39AB678CB}"/>
              </a:ext>
            </a:extLst>
          </p:cNvPr>
          <p:cNvGraphicFramePr>
            <a:graphicFrameLocks noGrp="1"/>
          </p:cNvGraphicFramePr>
          <p:nvPr/>
        </p:nvGraphicFramePr>
        <p:xfrm>
          <a:off x="3342388" y="3425115"/>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read</a:t>
                      </a:r>
                      <a:endParaRPr lang="ru-RU" dirty="0"/>
                    </a:p>
                  </a:txBody>
                  <a:tcPr/>
                </a:tc>
                <a:extLst>
                  <a:ext uri="{0D108BD9-81ED-4DB2-BD59-A6C34878D82A}">
                    <a16:rowId xmlns:a16="http://schemas.microsoft.com/office/drawing/2014/main" val="697513112"/>
                  </a:ext>
                </a:extLst>
              </a:tr>
            </a:tbl>
          </a:graphicData>
        </a:graphic>
      </p:graphicFrame>
      <p:graphicFrame>
        <p:nvGraphicFramePr>
          <p:cNvPr id="38" name="Table 37">
            <a:extLst>
              <a:ext uri="{FF2B5EF4-FFF2-40B4-BE49-F238E27FC236}">
                <a16:creationId xmlns:a16="http://schemas.microsoft.com/office/drawing/2014/main" id="{C8ABCE27-913F-F84C-B0E9-07EF78B3CDF3}"/>
              </a:ext>
            </a:extLst>
          </p:cNvPr>
          <p:cNvGraphicFramePr>
            <a:graphicFrameLocks noGrp="1"/>
          </p:cNvGraphicFramePr>
          <p:nvPr/>
        </p:nvGraphicFramePr>
        <p:xfrm>
          <a:off x="4119689" y="3422867"/>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read</a:t>
                      </a:r>
                      <a:endParaRPr lang="ru-RU" dirty="0"/>
                    </a:p>
                  </a:txBody>
                  <a:tcPr/>
                </a:tc>
                <a:extLst>
                  <a:ext uri="{0D108BD9-81ED-4DB2-BD59-A6C34878D82A}">
                    <a16:rowId xmlns:a16="http://schemas.microsoft.com/office/drawing/2014/main" val="697513112"/>
                  </a:ext>
                </a:extLst>
              </a:tr>
            </a:tbl>
          </a:graphicData>
        </a:graphic>
      </p:graphicFrame>
      <p:cxnSp>
        <p:nvCxnSpPr>
          <p:cNvPr id="13" name="Straight Arrow Connector 12">
            <a:extLst>
              <a:ext uri="{FF2B5EF4-FFF2-40B4-BE49-F238E27FC236}">
                <a16:creationId xmlns:a16="http://schemas.microsoft.com/office/drawing/2014/main" id="{88B6B37C-8D4F-A441-AA12-5B3682A9B9B8}"/>
              </a:ext>
            </a:extLst>
          </p:cNvPr>
          <p:cNvCxnSpPr/>
          <p:nvPr/>
        </p:nvCxnSpPr>
        <p:spPr>
          <a:xfrm flipV="1">
            <a:off x="1480116" y="3616579"/>
            <a:ext cx="458853" cy="7165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DF74B20-18E9-4C49-BB1D-9EC29B345BE6}"/>
              </a:ext>
            </a:extLst>
          </p:cNvPr>
          <p:cNvCxnSpPr>
            <a:cxnSpLocks/>
          </p:cNvCxnSpPr>
          <p:nvPr/>
        </p:nvCxnSpPr>
        <p:spPr>
          <a:xfrm flipV="1">
            <a:off x="1478105" y="3627305"/>
            <a:ext cx="658049" cy="7035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7A31138-6051-9046-899F-F2D5BAD26494}"/>
              </a:ext>
            </a:extLst>
          </p:cNvPr>
          <p:cNvCxnSpPr>
            <a:cxnSpLocks/>
          </p:cNvCxnSpPr>
          <p:nvPr/>
        </p:nvCxnSpPr>
        <p:spPr>
          <a:xfrm flipV="1">
            <a:off x="1478406" y="3659920"/>
            <a:ext cx="827641" cy="6913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25B38F43-881C-104B-BCAB-9F84273A6ACF}"/>
              </a:ext>
            </a:extLst>
          </p:cNvPr>
          <p:cNvGraphicFramePr>
            <a:graphicFrameLocks noGrp="1"/>
          </p:cNvGraphicFramePr>
          <p:nvPr/>
        </p:nvGraphicFramePr>
        <p:xfrm>
          <a:off x="4164854" y="4882035"/>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write</a:t>
                      </a:r>
                      <a:endParaRPr lang="ru-RU" dirty="0"/>
                    </a:p>
                  </a:txBody>
                  <a:tcPr/>
                </a:tc>
                <a:extLst>
                  <a:ext uri="{0D108BD9-81ED-4DB2-BD59-A6C34878D82A}">
                    <a16:rowId xmlns:a16="http://schemas.microsoft.com/office/drawing/2014/main" val="697513112"/>
                  </a:ext>
                </a:extLst>
              </a:tr>
            </a:tbl>
          </a:graphicData>
        </a:graphic>
      </p:graphicFrame>
      <p:graphicFrame>
        <p:nvGraphicFramePr>
          <p:cNvPr id="45" name="Table 44">
            <a:extLst>
              <a:ext uri="{FF2B5EF4-FFF2-40B4-BE49-F238E27FC236}">
                <a16:creationId xmlns:a16="http://schemas.microsoft.com/office/drawing/2014/main" id="{91A31D25-3C4D-A04A-A44D-B25C54F3A6AD}"/>
              </a:ext>
            </a:extLst>
          </p:cNvPr>
          <p:cNvGraphicFramePr>
            <a:graphicFrameLocks noGrp="1"/>
          </p:cNvGraphicFramePr>
          <p:nvPr/>
        </p:nvGraphicFramePr>
        <p:xfrm>
          <a:off x="3655602" y="4145435"/>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46" name="Straight Arrow Connector 45">
            <a:extLst>
              <a:ext uri="{FF2B5EF4-FFF2-40B4-BE49-F238E27FC236}">
                <a16:creationId xmlns:a16="http://schemas.microsoft.com/office/drawing/2014/main" id="{B07C28B7-0F9A-6E40-B848-77577B802FE7}"/>
              </a:ext>
            </a:extLst>
          </p:cNvPr>
          <p:cNvCxnSpPr>
            <a:endCxn id="45" idx="1"/>
          </p:cNvCxnSpPr>
          <p:nvPr/>
        </p:nvCxnSpPr>
        <p:spPr>
          <a:xfrm>
            <a:off x="3354630" y="3594255"/>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AA523DAE-168D-6A49-B116-906FC6E57608}"/>
              </a:ext>
            </a:extLst>
          </p:cNvPr>
          <p:cNvCxnSpPr/>
          <p:nvPr/>
        </p:nvCxnSpPr>
        <p:spPr>
          <a:xfrm>
            <a:off x="3863882" y="4330855"/>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8" name="Table 47">
            <a:extLst>
              <a:ext uri="{FF2B5EF4-FFF2-40B4-BE49-F238E27FC236}">
                <a16:creationId xmlns:a16="http://schemas.microsoft.com/office/drawing/2014/main" id="{F3365376-172E-CF4A-944A-90CD597E4B2D}"/>
              </a:ext>
            </a:extLst>
          </p:cNvPr>
          <p:cNvGraphicFramePr>
            <a:graphicFrameLocks noGrp="1"/>
          </p:cNvGraphicFramePr>
          <p:nvPr/>
        </p:nvGraphicFramePr>
        <p:xfrm>
          <a:off x="4949508" y="4882035"/>
          <a:ext cx="788318" cy="370840"/>
        </p:xfrm>
        <a:graphic>
          <a:graphicData uri="http://schemas.openxmlformats.org/drawingml/2006/table">
            <a:tbl>
              <a:tblPr firstRow="1" bandRow="1">
                <a:tableStyleId>{5C22544A-7EE6-4342-B048-85BDC9FD1C3A}</a:tableStyleId>
              </a:tblPr>
              <a:tblGrid>
                <a:gridCol w="788318">
                  <a:extLst>
                    <a:ext uri="{9D8B030D-6E8A-4147-A177-3AD203B41FA5}">
                      <a16:colId xmlns:a16="http://schemas.microsoft.com/office/drawing/2014/main" val="2017862997"/>
                    </a:ext>
                  </a:extLst>
                </a:gridCol>
              </a:tblGrid>
              <a:tr h="370840">
                <a:tc>
                  <a:txBody>
                    <a:bodyPr/>
                    <a:lstStyle/>
                    <a:p>
                      <a:pPr algn="ctr"/>
                      <a:r>
                        <a:rPr lang="en-US" dirty="0"/>
                        <a:t>write</a:t>
                      </a:r>
                      <a:endParaRPr lang="ru-RU" dirty="0"/>
                    </a:p>
                  </a:txBody>
                  <a:tcPr/>
                </a:tc>
                <a:extLst>
                  <a:ext uri="{0D108BD9-81ED-4DB2-BD59-A6C34878D82A}">
                    <a16:rowId xmlns:a16="http://schemas.microsoft.com/office/drawing/2014/main" val="697513112"/>
                  </a:ext>
                </a:extLst>
              </a:tr>
            </a:tbl>
          </a:graphicData>
        </a:graphic>
      </p:graphicFrame>
      <p:graphicFrame>
        <p:nvGraphicFramePr>
          <p:cNvPr id="49" name="Table 48">
            <a:extLst>
              <a:ext uri="{FF2B5EF4-FFF2-40B4-BE49-F238E27FC236}">
                <a16:creationId xmlns:a16="http://schemas.microsoft.com/office/drawing/2014/main" id="{B0DACC13-79F9-8449-812D-2BC10AF08592}"/>
              </a:ext>
            </a:extLst>
          </p:cNvPr>
          <p:cNvGraphicFramePr>
            <a:graphicFrameLocks noGrp="1"/>
          </p:cNvGraphicFramePr>
          <p:nvPr/>
        </p:nvGraphicFramePr>
        <p:xfrm>
          <a:off x="4440256" y="4145435"/>
          <a:ext cx="208280" cy="3708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68796019"/>
                    </a:ext>
                  </a:extLst>
                </a:gridCol>
              </a:tblGrid>
              <a:tr h="370840">
                <a:tc>
                  <a:txBody>
                    <a:bodyPr/>
                    <a:lstStyle/>
                    <a:p>
                      <a:endParaRPr lang="ru-RU" dirty="0"/>
                    </a:p>
                  </a:txBody>
                  <a:tcPr/>
                </a:tc>
                <a:extLst>
                  <a:ext uri="{0D108BD9-81ED-4DB2-BD59-A6C34878D82A}">
                    <a16:rowId xmlns:a16="http://schemas.microsoft.com/office/drawing/2014/main" val="4249751859"/>
                  </a:ext>
                </a:extLst>
              </a:tr>
            </a:tbl>
          </a:graphicData>
        </a:graphic>
      </p:graphicFrame>
      <p:cxnSp>
        <p:nvCxnSpPr>
          <p:cNvPr id="50" name="Straight Arrow Connector 49">
            <a:extLst>
              <a:ext uri="{FF2B5EF4-FFF2-40B4-BE49-F238E27FC236}">
                <a16:creationId xmlns:a16="http://schemas.microsoft.com/office/drawing/2014/main" id="{6BE4A77A-10CD-7C4F-9D1F-643C940F2950}"/>
              </a:ext>
            </a:extLst>
          </p:cNvPr>
          <p:cNvCxnSpPr>
            <a:endCxn id="49" idx="1"/>
          </p:cNvCxnSpPr>
          <p:nvPr/>
        </p:nvCxnSpPr>
        <p:spPr>
          <a:xfrm>
            <a:off x="4139284" y="3594255"/>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6F5717B-0509-A24F-80E4-D757D6D5D33C}"/>
              </a:ext>
            </a:extLst>
          </p:cNvPr>
          <p:cNvCxnSpPr/>
          <p:nvPr/>
        </p:nvCxnSpPr>
        <p:spPr>
          <a:xfrm>
            <a:off x="4648536" y="4330855"/>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51E63FB-905E-1F47-95DB-E472611B81CA}"/>
              </a:ext>
            </a:extLst>
          </p:cNvPr>
          <p:cNvCxnSpPr>
            <a:cxnSpLocks/>
          </p:cNvCxnSpPr>
          <p:nvPr/>
        </p:nvCxnSpPr>
        <p:spPr>
          <a:xfrm flipV="1">
            <a:off x="3064737" y="3616579"/>
            <a:ext cx="1933802" cy="71528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FF2CD7E3-E843-8E44-B39F-EB8EEE3E2017}"/>
              </a:ext>
            </a:extLst>
          </p:cNvPr>
          <p:cNvCxnSpPr>
            <a:cxnSpLocks/>
          </p:cNvCxnSpPr>
          <p:nvPr/>
        </p:nvCxnSpPr>
        <p:spPr>
          <a:xfrm flipV="1">
            <a:off x="3856706" y="3613325"/>
            <a:ext cx="1933802" cy="71528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91BB69D-6AB7-EF45-9A3D-6B7BF8A035BB}"/>
              </a:ext>
            </a:extLst>
          </p:cNvPr>
          <p:cNvCxnSpPr>
            <a:cxnSpLocks/>
          </p:cNvCxnSpPr>
          <p:nvPr/>
        </p:nvCxnSpPr>
        <p:spPr>
          <a:xfrm flipV="1">
            <a:off x="4636437" y="3604411"/>
            <a:ext cx="1933802" cy="71528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2CC0E4F-2A2C-5A4F-9D49-AC3A4908D236}"/>
              </a:ext>
            </a:extLst>
          </p:cNvPr>
          <p:cNvCxnSpPr>
            <a:endCxn id="14" idx="1"/>
          </p:cNvCxnSpPr>
          <p:nvPr/>
        </p:nvCxnSpPr>
        <p:spPr>
          <a:xfrm>
            <a:off x="2555120" y="3596503"/>
            <a:ext cx="300972" cy="736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192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BE088-9A37-8DA2-F97B-DF7E2B79578C}"/>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63BEC36-2964-2D33-FEA9-6D71BD0A9D5A}"/>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4F05FB91-F2DA-C6EC-2D27-52994036A15A}"/>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D70F4E05-0953-34E3-952E-062F24D75CBC}"/>
              </a:ext>
            </a:extLst>
          </p:cNvPr>
          <p:cNvGraphicFramePr>
            <a:graphicFrameLocks noGrp="1"/>
          </p:cNvGraphicFramePr>
          <p:nvPr>
            <p:extLst>
              <p:ext uri="{D42A27DB-BD31-4B8C-83A1-F6EECF244321}">
                <p14:modId xmlns:p14="http://schemas.microsoft.com/office/powerpoint/2010/main" val="2453583343"/>
              </p:ext>
            </p:extLst>
          </p:nvPr>
        </p:nvGraphicFramePr>
        <p:xfrm>
          <a:off x="0" y="365762"/>
          <a:ext cx="12192000" cy="21945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07593">
                <a:tc>
                  <a:txBody>
                    <a:bodyPr/>
                    <a:lstStyle/>
                    <a:p>
                      <a:r>
                        <a:rPr lang="en-US" dirty="0"/>
                        <a:t>Pipelining and</a:t>
                      </a:r>
                      <a:r>
                        <a:rPr lang="ru-RU" dirty="0"/>
                        <a:t> </a:t>
                      </a:r>
                      <a:r>
                        <a:rPr lang="en-US" dirty="0"/>
                        <a:t>head-of-line blocking</a:t>
                      </a:r>
                      <a:endParaRPr lang="ru-RU" dirty="0"/>
                    </a:p>
                  </a:txBody>
                  <a:tcPr/>
                </a:tc>
                <a:extLst>
                  <a:ext uri="{0D108BD9-81ED-4DB2-BD59-A6C34878D82A}">
                    <a16:rowId xmlns:a16="http://schemas.microsoft.com/office/drawing/2014/main" val="10000"/>
                  </a:ext>
                </a:extLst>
              </a:tr>
              <a:tr h="207593">
                <a:tc>
                  <a:txBody>
                    <a:bodyPr/>
                    <a:lstStyle/>
                    <a:p>
                      <a:r>
                        <a:rPr lang="en-US" dirty="0"/>
                        <a:t>Suppose we have sent multiple requests to a server. What are the options for the order of replies</a:t>
                      </a:r>
                      <a:r>
                        <a:rPr lang="ru-RU" dirty="0"/>
                        <a:t>?</a:t>
                      </a:r>
                    </a:p>
                    <a:p>
                      <a:pPr marL="342900" indent="-342900">
                        <a:buFont typeface="+mj-lt"/>
                        <a:buAutoNum type="arabicPeriod"/>
                      </a:pPr>
                      <a:r>
                        <a:rPr lang="en-US" dirty="0"/>
                        <a:t>the order of replies matches the order of requests,</a:t>
                      </a:r>
                    </a:p>
                    <a:p>
                      <a:pPr marL="342900" indent="-342900">
                        <a:buFont typeface="+mj-lt"/>
                        <a:buAutoNum type="arabicPeriod"/>
                      </a:pPr>
                      <a:r>
                        <a:rPr lang="en-US" dirty="0"/>
                        <a:t>replies may be reordered and sent as soon as a request completes</a:t>
                      </a:r>
                      <a:r>
                        <a:rPr lang="ru-RU" dirty="0"/>
                        <a:t>.</a:t>
                      </a:r>
                    </a:p>
                  </a:txBody>
                  <a:tcPr/>
                </a:tc>
                <a:extLst>
                  <a:ext uri="{0D108BD9-81ED-4DB2-BD59-A6C34878D82A}">
                    <a16:rowId xmlns:a16="http://schemas.microsoft.com/office/drawing/2014/main" val="10001"/>
                  </a:ext>
                </a:extLst>
              </a:tr>
              <a:tr h="207593">
                <a:tc>
                  <a:txBody>
                    <a:bodyPr/>
                    <a:lstStyle/>
                    <a:p>
                      <a:r>
                        <a:rPr lang="en-US" baseline="0" dirty="0"/>
                        <a:t>The first options is called pipelining. It can be added to almost any protocol*.</a:t>
                      </a:r>
                    </a:p>
                    <a:p>
                      <a:endParaRPr lang="en-US" baseline="0" dirty="0"/>
                    </a:p>
                    <a:p>
                      <a:r>
                        <a:rPr lang="en-US" baseline="0" dirty="0"/>
                        <a:t>The second option is possible if requests have unique numbers.</a:t>
                      </a:r>
                    </a:p>
                  </a:txBody>
                  <a:tcP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4FA7137E-8810-68B5-62CE-6C80CD31D874}"/>
              </a:ext>
            </a:extLst>
          </p:cNvPr>
          <p:cNvSpPr txBox="1"/>
          <p:nvPr/>
        </p:nvSpPr>
        <p:spPr>
          <a:xfrm>
            <a:off x="-1" y="6120804"/>
            <a:ext cx="12191999" cy="369332"/>
          </a:xfrm>
          <a:prstGeom prst="rect">
            <a:avLst/>
          </a:prstGeom>
          <a:noFill/>
        </p:spPr>
        <p:txBody>
          <a:bodyPr wrap="square" rtlCol="0">
            <a:spAutoFit/>
          </a:bodyPr>
          <a:lstStyle/>
          <a:p>
            <a:r>
              <a:rPr lang="en-CY" i="1" dirty="0"/>
              <a:t>* Yet, HTTP 1 has no pipeli</a:t>
            </a:r>
            <a:r>
              <a:rPr lang="en-US" i="1" dirty="0" err="1"/>
              <a:t>ni</a:t>
            </a:r>
            <a:r>
              <a:rPr lang="en-CY" i="1" dirty="0"/>
              <a:t>ng. Why?</a:t>
            </a:r>
          </a:p>
        </p:txBody>
      </p:sp>
    </p:spTree>
    <p:extLst>
      <p:ext uri="{BB962C8B-B14F-4D97-AF65-F5344CB8AC3E}">
        <p14:creationId xmlns:p14="http://schemas.microsoft.com/office/powerpoint/2010/main" val="13486955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779173231"/>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28244386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380886162"/>
              </p:ext>
            </p:extLst>
          </p:nvPr>
        </p:nvGraphicFramePr>
        <p:xfrm>
          <a:off x="0" y="365762"/>
          <a:ext cx="12192000" cy="31089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07593">
                <a:tc>
                  <a:txBody>
                    <a:bodyPr/>
                    <a:lstStyle/>
                    <a:p>
                      <a:r>
                        <a:rPr lang="en-US" dirty="0"/>
                        <a:t>Pipelining and</a:t>
                      </a:r>
                      <a:r>
                        <a:rPr lang="ru-RU" dirty="0"/>
                        <a:t> </a:t>
                      </a:r>
                      <a:r>
                        <a:rPr lang="en-US" dirty="0"/>
                        <a:t>head-of-line blocking</a:t>
                      </a:r>
                      <a:endParaRPr lang="ru-RU" dirty="0"/>
                    </a:p>
                  </a:txBody>
                  <a:tcPr/>
                </a:tc>
                <a:extLst>
                  <a:ext uri="{0D108BD9-81ED-4DB2-BD59-A6C34878D82A}">
                    <a16:rowId xmlns:a16="http://schemas.microsoft.com/office/drawing/2014/main" val="10000"/>
                  </a:ext>
                </a:extLst>
              </a:tr>
              <a:tr h="207593">
                <a:tc>
                  <a:txBody>
                    <a:bodyPr/>
                    <a:lstStyle/>
                    <a:p>
                      <a:r>
                        <a:rPr lang="en-US" dirty="0"/>
                        <a:t>Suppose we have sent multiple requests to a server. What are the options for the order of replies</a:t>
                      </a:r>
                      <a:r>
                        <a:rPr lang="ru-RU" dirty="0"/>
                        <a:t>?</a:t>
                      </a:r>
                    </a:p>
                    <a:p>
                      <a:pPr marL="342900" indent="-342900">
                        <a:buFont typeface="+mj-lt"/>
                        <a:buAutoNum type="arabicPeriod"/>
                      </a:pPr>
                      <a:r>
                        <a:rPr lang="en-US" dirty="0"/>
                        <a:t>the order of replies matches the order of requests,</a:t>
                      </a:r>
                    </a:p>
                    <a:p>
                      <a:pPr marL="342900" indent="-342900">
                        <a:buFont typeface="+mj-lt"/>
                        <a:buAutoNum type="arabicPeriod"/>
                      </a:pPr>
                      <a:r>
                        <a:rPr lang="en-US" dirty="0"/>
                        <a:t>replies may be reordered and sent as soon as a request completes</a:t>
                      </a:r>
                      <a:r>
                        <a:rPr lang="ru-RU" dirty="0"/>
                        <a:t>.</a:t>
                      </a:r>
                    </a:p>
                  </a:txBody>
                  <a:tcPr/>
                </a:tc>
                <a:extLst>
                  <a:ext uri="{0D108BD9-81ED-4DB2-BD59-A6C34878D82A}">
                    <a16:rowId xmlns:a16="http://schemas.microsoft.com/office/drawing/2014/main" val="10001"/>
                  </a:ext>
                </a:extLst>
              </a:tr>
              <a:tr h="207593">
                <a:tc>
                  <a:txBody>
                    <a:bodyPr/>
                    <a:lstStyle/>
                    <a:p>
                      <a:r>
                        <a:rPr lang="en-US" baseline="0" dirty="0"/>
                        <a:t>The first options is called pipelining. It can be added to almost any protocol.</a:t>
                      </a:r>
                    </a:p>
                    <a:p>
                      <a:endParaRPr lang="en-US" baseline="0" dirty="0"/>
                    </a:p>
                    <a:p>
                      <a:r>
                        <a:rPr lang="en-US" baseline="0" dirty="0"/>
                        <a:t>The second option is possible if requests have unique numbers.</a:t>
                      </a:r>
                    </a:p>
                  </a:txBody>
                  <a:tcPr/>
                </a:tc>
                <a:extLst>
                  <a:ext uri="{0D108BD9-81ED-4DB2-BD59-A6C34878D82A}">
                    <a16:rowId xmlns:a16="http://schemas.microsoft.com/office/drawing/2014/main" val="10002"/>
                  </a:ext>
                </a:extLst>
              </a:tr>
              <a:tr h="207593">
                <a:tc>
                  <a:txBody>
                    <a:bodyPr/>
                    <a:lstStyle/>
                    <a:p>
                      <a:r>
                        <a:rPr lang="en-US" baseline="0" dirty="0"/>
                        <a:t>Pipelining has an important inefficiency. Suppose that we’ve issued requests</a:t>
                      </a:r>
                      <a:r>
                        <a:rPr lang="ru-RU" baseline="0" dirty="0"/>
                        <a:t> </a:t>
                      </a:r>
                      <a:r>
                        <a:rPr lang="en-US" baseline="0" dirty="0"/>
                        <a:t>R</a:t>
                      </a:r>
                      <a:r>
                        <a:rPr lang="en-US" baseline="-25000" dirty="0"/>
                        <a:t>1</a:t>
                      </a:r>
                      <a:r>
                        <a:rPr lang="en-US" baseline="0" dirty="0"/>
                        <a:t>, R</a:t>
                      </a:r>
                      <a:r>
                        <a:rPr lang="en-US" baseline="-25000" dirty="0"/>
                        <a:t>2</a:t>
                      </a:r>
                      <a:r>
                        <a:rPr lang="en-US" baseline="0" dirty="0"/>
                        <a:t>, …. The request</a:t>
                      </a:r>
                      <a:r>
                        <a:rPr lang="ru-RU" baseline="0" dirty="0"/>
                        <a:t> </a:t>
                      </a:r>
                      <a:r>
                        <a:rPr lang="en-US" baseline="0" dirty="0"/>
                        <a:t>R</a:t>
                      </a:r>
                      <a:r>
                        <a:rPr lang="en-US" baseline="-25000" dirty="0"/>
                        <a:t>2</a:t>
                      </a:r>
                      <a:r>
                        <a:rPr lang="en-US" baseline="0" dirty="0"/>
                        <a:t> can send the reply only after</a:t>
                      </a:r>
                      <a:r>
                        <a:rPr lang="ru-RU" baseline="0" dirty="0"/>
                        <a:t> </a:t>
                      </a:r>
                      <a:r>
                        <a:rPr lang="en-US" baseline="0" dirty="0"/>
                        <a:t>R</a:t>
                      </a:r>
                      <a:r>
                        <a:rPr lang="en-US" baseline="-25000" dirty="0"/>
                        <a:t>1</a:t>
                      </a:r>
                      <a:r>
                        <a:rPr lang="en-US" baseline="0" dirty="0"/>
                        <a:t> even if R</a:t>
                      </a:r>
                      <a:r>
                        <a:rPr lang="en-US" baseline="-25000" dirty="0"/>
                        <a:t>2</a:t>
                      </a:r>
                      <a:r>
                        <a:rPr lang="en-US" baseline="0" dirty="0"/>
                        <a:t> completes much sooner than R</a:t>
                      </a:r>
                      <a:r>
                        <a:rPr lang="en-US" baseline="-25000" dirty="0"/>
                        <a:t>1</a:t>
                      </a:r>
                      <a:r>
                        <a:rPr lang="en-US" baseline="0" dirty="0"/>
                        <a:t>. Thus, a slow request blocks all subsequent requests. This scenario is called</a:t>
                      </a:r>
                      <a:r>
                        <a:rPr lang="ru-RU" baseline="0" dirty="0"/>
                        <a:t> </a:t>
                      </a:r>
                      <a:r>
                        <a:rPr lang="en-US" baseline="0" dirty="0"/>
                        <a:t>head-of-line blocking.</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002152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4C685-F45E-ADA8-E841-457C3432F29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734A33C-ED77-D32A-B1C2-B9A483ABF90D}"/>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C8B8DBEB-A0BD-58C8-E53A-F9643251794B}"/>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404158AC-9EDD-15E8-9E6A-2133746E0087}"/>
              </a:ext>
            </a:extLst>
          </p:cNvPr>
          <p:cNvGraphicFramePr>
            <a:graphicFrameLocks noGrp="1"/>
          </p:cNvGraphicFramePr>
          <p:nvPr>
            <p:extLst>
              <p:ext uri="{D42A27DB-BD31-4B8C-83A1-F6EECF244321}">
                <p14:modId xmlns:p14="http://schemas.microsoft.com/office/powerpoint/2010/main" val="1139454483"/>
              </p:ext>
            </p:extLst>
          </p:nvPr>
        </p:nvGraphicFramePr>
        <p:xfrm>
          <a:off x="0" y="365762"/>
          <a:ext cx="12192000" cy="37490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07593">
                <a:tc>
                  <a:txBody>
                    <a:bodyPr/>
                    <a:lstStyle/>
                    <a:p>
                      <a:r>
                        <a:rPr lang="en-US" dirty="0"/>
                        <a:t>Pipelining and</a:t>
                      </a:r>
                      <a:r>
                        <a:rPr lang="ru-RU" dirty="0"/>
                        <a:t> </a:t>
                      </a:r>
                      <a:r>
                        <a:rPr lang="en-US" dirty="0"/>
                        <a:t>head-of-line blocking</a:t>
                      </a:r>
                      <a:endParaRPr lang="ru-RU" dirty="0"/>
                    </a:p>
                  </a:txBody>
                  <a:tcPr/>
                </a:tc>
                <a:extLst>
                  <a:ext uri="{0D108BD9-81ED-4DB2-BD59-A6C34878D82A}">
                    <a16:rowId xmlns:a16="http://schemas.microsoft.com/office/drawing/2014/main" val="10000"/>
                  </a:ext>
                </a:extLst>
              </a:tr>
              <a:tr h="207593">
                <a:tc>
                  <a:txBody>
                    <a:bodyPr/>
                    <a:lstStyle/>
                    <a:p>
                      <a:r>
                        <a:rPr lang="en-US" dirty="0"/>
                        <a:t>Suppose we have sent multiple requests to a server. What are the options for the order of replies</a:t>
                      </a:r>
                      <a:r>
                        <a:rPr lang="ru-RU" dirty="0"/>
                        <a:t>?</a:t>
                      </a:r>
                    </a:p>
                    <a:p>
                      <a:pPr marL="342900" indent="-342900">
                        <a:buFont typeface="+mj-lt"/>
                        <a:buAutoNum type="arabicPeriod"/>
                      </a:pPr>
                      <a:r>
                        <a:rPr lang="en-US" dirty="0"/>
                        <a:t>the order of replies matches the order of requests,</a:t>
                      </a:r>
                    </a:p>
                    <a:p>
                      <a:pPr marL="342900" indent="-342900">
                        <a:buFont typeface="+mj-lt"/>
                        <a:buAutoNum type="arabicPeriod"/>
                      </a:pPr>
                      <a:r>
                        <a:rPr lang="en-US" dirty="0"/>
                        <a:t>replies may be reordered and sent as soon as a request completes</a:t>
                      </a:r>
                      <a:r>
                        <a:rPr lang="ru-RU" dirty="0"/>
                        <a:t>.</a:t>
                      </a:r>
                    </a:p>
                  </a:txBody>
                  <a:tcPr/>
                </a:tc>
                <a:extLst>
                  <a:ext uri="{0D108BD9-81ED-4DB2-BD59-A6C34878D82A}">
                    <a16:rowId xmlns:a16="http://schemas.microsoft.com/office/drawing/2014/main" val="10001"/>
                  </a:ext>
                </a:extLst>
              </a:tr>
              <a:tr h="207593">
                <a:tc>
                  <a:txBody>
                    <a:bodyPr/>
                    <a:lstStyle/>
                    <a:p>
                      <a:r>
                        <a:rPr lang="en-US" baseline="0" dirty="0"/>
                        <a:t>The first options is called pipelining. It can be added to almost any protocol.</a:t>
                      </a:r>
                    </a:p>
                    <a:p>
                      <a:endParaRPr lang="en-US" baseline="0" dirty="0"/>
                    </a:p>
                    <a:p>
                      <a:r>
                        <a:rPr lang="en-US" baseline="0" dirty="0"/>
                        <a:t>The second option is possible if requests have unique numbers.</a:t>
                      </a:r>
                    </a:p>
                  </a:txBody>
                  <a:tcPr/>
                </a:tc>
                <a:extLst>
                  <a:ext uri="{0D108BD9-81ED-4DB2-BD59-A6C34878D82A}">
                    <a16:rowId xmlns:a16="http://schemas.microsoft.com/office/drawing/2014/main" val="10002"/>
                  </a:ext>
                </a:extLst>
              </a:tr>
              <a:tr h="207593">
                <a:tc>
                  <a:txBody>
                    <a:bodyPr/>
                    <a:lstStyle/>
                    <a:p>
                      <a:r>
                        <a:rPr lang="en-US" baseline="0" dirty="0"/>
                        <a:t>Pipelining has an important inefficiency. Suppose that we’ve issued requests</a:t>
                      </a:r>
                      <a:r>
                        <a:rPr lang="ru-RU" baseline="0" dirty="0"/>
                        <a:t> </a:t>
                      </a:r>
                      <a:r>
                        <a:rPr lang="en-US" baseline="0" dirty="0"/>
                        <a:t>R</a:t>
                      </a:r>
                      <a:r>
                        <a:rPr lang="en-US" baseline="-25000" dirty="0"/>
                        <a:t>1</a:t>
                      </a:r>
                      <a:r>
                        <a:rPr lang="en-US" baseline="0" dirty="0"/>
                        <a:t>, R</a:t>
                      </a:r>
                      <a:r>
                        <a:rPr lang="en-US" baseline="-25000" dirty="0"/>
                        <a:t>2</a:t>
                      </a:r>
                      <a:r>
                        <a:rPr lang="en-US" baseline="0" dirty="0"/>
                        <a:t>, …. The request</a:t>
                      </a:r>
                      <a:r>
                        <a:rPr lang="ru-RU" baseline="0" dirty="0"/>
                        <a:t> </a:t>
                      </a:r>
                      <a:r>
                        <a:rPr lang="en-US" baseline="0" dirty="0"/>
                        <a:t>R</a:t>
                      </a:r>
                      <a:r>
                        <a:rPr lang="en-US" baseline="-25000" dirty="0"/>
                        <a:t>2</a:t>
                      </a:r>
                      <a:r>
                        <a:rPr lang="en-US" baseline="0" dirty="0"/>
                        <a:t> can send the reply only after</a:t>
                      </a:r>
                      <a:r>
                        <a:rPr lang="ru-RU" baseline="0" dirty="0"/>
                        <a:t> </a:t>
                      </a:r>
                      <a:r>
                        <a:rPr lang="en-US" baseline="0" dirty="0"/>
                        <a:t>R</a:t>
                      </a:r>
                      <a:r>
                        <a:rPr lang="en-US" baseline="-25000" dirty="0"/>
                        <a:t>1</a:t>
                      </a:r>
                      <a:r>
                        <a:rPr lang="en-US" baseline="0" dirty="0"/>
                        <a:t> even if R</a:t>
                      </a:r>
                      <a:r>
                        <a:rPr lang="en-US" baseline="-25000" dirty="0"/>
                        <a:t>2</a:t>
                      </a:r>
                      <a:r>
                        <a:rPr lang="en-US" baseline="0" dirty="0"/>
                        <a:t> completes much sooner than R</a:t>
                      </a:r>
                      <a:r>
                        <a:rPr lang="en-US" baseline="-25000" dirty="0"/>
                        <a:t>1</a:t>
                      </a:r>
                      <a:r>
                        <a:rPr lang="en-US" baseline="0" dirty="0"/>
                        <a:t>. Thus, a slow request blocks all subsequent requests. This scenario is called</a:t>
                      </a:r>
                      <a:r>
                        <a:rPr lang="ru-RU" baseline="0" dirty="0"/>
                        <a:t> </a:t>
                      </a:r>
                      <a:r>
                        <a:rPr lang="en-US" baseline="0" dirty="0"/>
                        <a:t>head-of-line blocking.</a:t>
                      </a:r>
                    </a:p>
                  </a:txBody>
                  <a:tcPr/>
                </a:tc>
                <a:extLst>
                  <a:ext uri="{0D108BD9-81ED-4DB2-BD59-A6C34878D82A}">
                    <a16:rowId xmlns:a16="http://schemas.microsoft.com/office/drawing/2014/main" val="10003"/>
                  </a:ext>
                </a:extLst>
              </a:tr>
              <a:tr h="207593">
                <a:tc>
                  <a:txBody>
                    <a:bodyPr/>
                    <a:lstStyle/>
                    <a:p>
                      <a:r>
                        <a:rPr lang="en-US" baseline="0" dirty="0"/>
                        <a:t>To read at home</a:t>
                      </a:r>
                      <a:r>
                        <a:rPr lang="ru-RU" baseline="0" dirty="0"/>
                        <a:t>:</a:t>
                      </a:r>
                    </a:p>
                    <a:p>
                      <a:pPr marL="285750" indent="-285750">
                        <a:buFont typeface="Arial" panose="020B0604020202020204" pitchFamily="34" charset="0"/>
                        <a:buChar char="•"/>
                      </a:pPr>
                      <a:r>
                        <a:rPr lang="en-US" baseline="0" dirty="0"/>
                        <a:t>Google, “The QUIC Transport Protocol”, </a:t>
                      </a:r>
                      <a:r>
                        <a:rPr lang="en-US" baseline="0" dirty="0">
                          <a:hlinkClick r:id="rId3"/>
                        </a:rPr>
                        <a:t>https://research.google.com/pubs/archive/46403.pdf</a:t>
                      </a:r>
                      <a:endParaRPr lang="en-US" baseline="0" dirty="0"/>
                    </a:p>
                  </a:txBody>
                  <a:tcPr/>
                </a:tc>
                <a:extLst>
                  <a:ext uri="{0D108BD9-81ED-4DB2-BD59-A6C34878D82A}">
                    <a16:rowId xmlns:a16="http://schemas.microsoft.com/office/drawing/2014/main" val="1607860495"/>
                  </a:ext>
                </a:extLst>
              </a:tr>
            </a:tbl>
          </a:graphicData>
        </a:graphic>
      </p:graphicFrame>
    </p:spTree>
    <p:extLst>
      <p:ext uri="{BB962C8B-B14F-4D97-AF65-F5344CB8AC3E}">
        <p14:creationId xmlns:p14="http://schemas.microsoft.com/office/powerpoint/2010/main" val="40719828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079798018"/>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147230453"/>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641147011"/>
              </p:ext>
            </p:extLst>
          </p:nvPr>
        </p:nvGraphicFramePr>
        <p:xfrm>
          <a:off x="0" y="365762"/>
          <a:ext cx="12192000" cy="484632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07593">
                <a:tc>
                  <a:txBody>
                    <a:bodyPr/>
                    <a:lstStyle/>
                    <a:p>
                      <a:r>
                        <a:rPr lang="en-US" dirty="0"/>
                        <a:t>The</a:t>
                      </a:r>
                      <a:r>
                        <a:rPr lang="ru-RU" dirty="0"/>
                        <a:t> </a:t>
                      </a:r>
                      <a:r>
                        <a:rPr lang="en-US" dirty="0"/>
                        <a:t>Linux approach to asynchronous IO (</a:t>
                      </a:r>
                      <a:r>
                        <a:rPr lang="en-US" dirty="0" err="1"/>
                        <a:t>io_uring</a:t>
                      </a:r>
                      <a:r>
                        <a:rPr lang="en-US" dirty="0"/>
                        <a:t>)</a:t>
                      </a:r>
                      <a:endParaRPr lang="ru-RU" dirty="0"/>
                    </a:p>
                  </a:txBody>
                  <a:tcPr/>
                </a:tc>
                <a:extLst>
                  <a:ext uri="{0D108BD9-81ED-4DB2-BD59-A6C34878D82A}">
                    <a16:rowId xmlns:a16="http://schemas.microsoft.com/office/drawing/2014/main" val="10000"/>
                  </a:ext>
                </a:extLst>
              </a:tr>
              <a:tr h="207593">
                <a:tc>
                  <a:txBody>
                    <a:bodyPr/>
                    <a:lstStyle/>
                    <a:p>
                      <a:r>
                        <a:rPr lang="en-US" dirty="0"/>
                        <a:t>An application and the kernel share a memory are that contains two ring buffers:</a:t>
                      </a:r>
                      <a:endParaRPr lang="ru-RU" dirty="0"/>
                    </a:p>
                    <a:p>
                      <a:endParaRPr lang="ru-RU" dirty="0"/>
                    </a:p>
                    <a:p>
                      <a:endParaRPr lang="ru-RU" dirty="0"/>
                    </a:p>
                    <a:p>
                      <a:endParaRPr lang="ru-RU" dirty="0"/>
                    </a:p>
                    <a:p>
                      <a:endParaRPr lang="ru-RU" dirty="0"/>
                    </a:p>
                    <a:p>
                      <a:endParaRPr lang="ru-RU" dirty="0"/>
                    </a:p>
                    <a:p>
                      <a:endParaRPr lang="ru-RU" dirty="0"/>
                    </a:p>
                    <a:p>
                      <a:r>
                        <a:rPr lang="en-US" dirty="0"/>
                        <a:t>The application places IO requests to the tail of the submission queue</a:t>
                      </a:r>
                      <a:r>
                        <a:rPr lang="ru-RU" dirty="0"/>
                        <a:t>, </a:t>
                      </a:r>
                      <a:r>
                        <a:rPr lang="en-US" dirty="0"/>
                        <a:t>advances the</a:t>
                      </a:r>
                      <a:r>
                        <a:rPr lang="ru-RU" dirty="0"/>
                        <a:t> </a:t>
                      </a:r>
                      <a:r>
                        <a:rPr lang="en-US" dirty="0"/>
                        <a:t>sq tail and requests the kernel to execute the IO.</a:t>
                      </a:r>
                      <a:r>
                        <a:rPr lang="ru-RU" dirty="0"/>
                        <a:t> </a:t>
                      </a:r>
                      <a:r>
                        <a:rPr lang="en-US" dirty="0"/>
                        <a:t>The kernel advances the</a:t>
                      </a:r>
                      <a:r>
                        <a:rPr lang="ru-RU" dirty="0"/>
                        <a:t> </a:t>
                      </a:r>
                      <a:r>
                        <a:rPr lang="en-US" dirty="0"/>
                        <a:t>sq head as it consumes requests.</a:t>
                      </a:r>
                    </a:p>
                    <a:p>
                      <a:endParaRPr lang="en-US" dirty="0"/>
                    </a:p>
                    <a:p>
                      <a:r>
                        <a:rPr lang="en-US" dirty="0"/>
                        <a:t>When an</a:t>
                      </a:r>
                      <a:r>
                        <a:rPr lang="ru-RU" dirty="0"/>
                        <a:t> </a:t>
                      </a:r>
                      <a:r>
                        <a:rPr lang="en-US" dirty="0"/>
                        <a:t>IO request completes</a:t>
                      </a:r>
                      <a:r>
                        <a:rPr lang="ru-RU" dirty="0"/>
                        <a:t>, </a:t>
                      </a:r>
                      <a:r>
                        <a:rPr lang="en-US" dirty="0"/>
                        <a:t>the kernel writes the result to the tail of the completion queue and advances the</a:t>
                      </a:r>
                      <a:r>
                        <a:rPr lang="ru-RU" dirty="0"/>
                        <a:t> </a:t>
                      </a:r>
                      <a:r>
                        <a:rPr lang="en-US" dirty="0" err="1"/>
                        <a:t>cq</a:t>
                      </a:r>
                      <a:r>
                        <a:rPr lang="en-US" dirty="0"/>
                        <a:t> tail.</a:t>
                      </a:r>
                      <a:endParaRPr lang="ru-RU" dirty="0"/>
                    </a:p>
                    <a:p>
                      <a:endParaRPr lang="ru-RU" dirty="0"/>
                    </a:p>
                    <a:p>
                      <a:endParaRPr lang="ru-RU" dirty="0"/>
                    </a:p>
                    <a:p>
                      <a:endParaRPr lang="ru-RU" dirty="0"/>
                    </a:p>
                    <a:p>
                      <a:endParaRPr lang="ru-RU" dirty="0"/>
                    </a:p>
                    <a:p>
                      <a:endParaRPr lang="ru-RU" dirty="0"/>
                    </a:p>
                  </a:txBody>
                  <a:tcPr/>
                </a:tc>
                <a:extLst>
                  <a:ext uri="{0D108BD9-81ED-4DB2-BD59-A6C34878D82A}">
                    <a16:rowId xmlns:a16="http://schemas.microsoft.com/office/drawing/2014/main" val="227005564"/>
                  </a:ext>
                </a:extLst>
              </a:tr>
            </a:tbl>
          </a:graphicData>
        </a:graphic>
      </p:graphicFrame>
      <p:sp>
        <p:nvSpPr>
          <p:cNvPr id="15" name="TextBox 14">
            <a:extLst>
              <a:ext uri="{FF2B5EF4-FFF2-40B4-BE49-F238E27FC236}">
                <a16:creationId xmlns:a16="http://schemas.microsoft.com/office/drawing/2014/main" id="{AB1A73B9-173B-C942-8CFF-CB9521BA52F9}"/>
              </a:ext>
            </a:extLst>
          </p:cNvPr>
          <p:cNvSpPr txBox="1"/>
          <p:nvPr/>
        </p:nvSpPr>
        <p:spPr>
          <a:xfrm>
            <a:off x="1828181" y="2235945"/>
            <a:ext cx="935415" cy="369332"/>
          </a:xfrm>
          <a:prstGeom prst="rect">
            <a:avLst/>
          </a:prstGeom>
          <a:noFill/>
        </p:spPr>
        <p:txBody>
          <a:bodyPr wrap="square" rtlCol="0">
            <a:spAutoFit/>
          </a:bodyPr>
          <a:lstStyle/>
          <a:p>
            <a:pPr algn="ctr"/>
            <a:r>
              <a:rPr lang="en-GB" dirty="0"/>
              <a:t>s</a:t>
            </a:r>
            <a:r>
              <a:rPr lang="en-RU" dirty="0"/>
              <a:t>q head</a:t>
            </a:r>
          </a:p>
        </p:txBody>
      </p:sp>
      <p:sp>
        <p:nvSpPr>
          <p:cNvPr id="16" name="TextBox 15">
            <a:extLst>
              <a:ext uri="{FF2B5EF4-FFF2-40B4-BE49-F238E27FC236}">
                <a16:creationId xmlns:a16="http://schemas.microsoft.com/office/drawing/2014/main" id="{DB77DEA0-8061-E74B-A04E-314D08C568E0}"/>
              </a:ext>
            </a:extLst>
          </p:cNvPr>
          <p:cNvSpPr txBox="1"/>
          <p:nvPr/>
        </p:nvSpPr>
        <p:spPr>
          <a:xfrm>
            <a:off x="4408736" y="2235945"/>
            <a:ext cx="792355" cy="369332"/>
          </a:xfrm>
          <a:prstGeom prst="rect">
            <a:avLst/>
          </a:prstGeom>
          <a:noFill/>
        </p:spPr>
        <p:txBody>
          <a:bodyPr wrap="square" rtlCol="0">
            <a:spAutoFit/>
          </a:bodyPr>
          <a:lstStyle/>
          <a:p>
            <a:pPr algn="ctr"/>
            <a:r>
              <a:rPr lang="en-GB" dirty="0"/>
              <a:t>s</a:t>
            </a:r>
            <a:r>
              <a:rPr lang="en-RU" dirty="0"/>
              <a:t>q tail</a:t>
            </a:r>
          </a:p>
        </p:txBody>
      </p:sp>
      <p:sp>
        <p:nvSpPr>
          <p:cNvPr id="17" name="TextBox 16">
            <a:extLst>
              <a:ext uri="{FF2B5EF4-FFF2-40B4-BE49-F238E27FC236}">
                <a16:creationId xmlns:a16="http://schemas.microsoft.com/office/drawing/2014/main" id="{6618F048-33D3-1047-8CA1-86E62E2758B8}"/>
              </a:ext>
            </a:extLst>
          </p:cNvPr>
          <p:cNvSpPr txBox="1"/>
          <p:nvPr/>
        </p:nvSpPr>
        <p:spPr>
          <a:xfrm>
            <a:off x="10057784" y="2235945"/>
            <a:ext cx="935415" cy="369332"/>
          </a:xfrm>
          <a:prstGeom prst="rect">
            <a:avLst/>
          </a:prstGeom>
          <a:noFill/>
        </p:spPr>
        <p:txBody>
          <a:bodyPr wrap="square" rtlCol="0">
            <a:spAutoFit/>
          </a:bodyPr>
          <a:lstStyle/>
          <a:p>
            <a:pPr algn="ctr"/>
            <a:r>
              <a:rPr lang="en-GB" dirty="0"/>
              <a:t>c</a:t>
            </a:r>
            <a:r>
              <a:rPr lang="en-RU" dirty="0"/>
              <a:t>q head</a:t>
            </a:r>
          </a:p>
        </p:txBody>
      </p:sp>
      <p:sp>
        <p:nvSpPr>
          <p:cNvPr id="18" name="TextBox 17">
            <a:extLst>
              <a:ext uri="{FF2B5EF4-FFF2-40B4-BE49-F238E27FC236}">
                <a16:creationId xmlns:a16="http://schemas.microsoft.com/office/drawing/2014/main" id="{EE11DEF1-A4A9-B24E-9C8C-0CE7C423C504}"/>
              </a:ext>
            </a:extLst>
          </p:cNvPr>
          <p:cNvSpPr txBox="1"/>
          <p:nvPr/>
        </p:nvSpPr>
        <p:spPr>
          <a:xfrm>
            <a:off x="7614740" y="2230247"/>
            <a:ext cx="792355" cy="369332"/>
          </a:xfrm>
          <a:prstGeom prst="rect">
            <a:avLst/>
          </a:prstGeom>
          <a:noFill/>
        </p:spPr>
        <p:txBody>
          <a:bodyPr wrap="square" rtlCol="0">
            <a:spAutoFit/>
          </a:bodyPr>
          <a:lstStyle/>
          <a:p>
            <a:pPr algn="ctr"/>
            <a:r>
              <a:rPr lang="en-GB" dirty="0"/>
              <a:t>c</a:t>
            </a:r>
            <a:r>
              <a:rPr lang="en-RU" dirty="0"/>
              <a:t>q tail</a:t>
            </a:r>
          </a:p>
        </p:txBody>
      </p:sp>
      <p:graphicFrame>
        <p:nvGraphicFramePr>
          <p:cNvPr id="28" name="Table 3">
            <a:extLst>
              <a:ext uri="{FF2B5EF4-FFF2-40B4-BE49-F238E27FC236}">
                <a16:creationId xmlns:a16="http://schemas.microsoft.com/office/drawing/2014/main" id="{514A7241-284E-A148-AFEE-9F5B9105AFDF}"/>
              </a:ext>
            </a:extLst>
          </p:cNvPr>
          <p:cNvGraphicFramePr>
            <a:graphicFrameLocks noGrp="1"/>
          </p:cNvGraphicFramePr>
          <p:nvPr>
            <p:extLst>
              <p:ext uri="{D42A27DB-BD31-4B8C-83A1-F6EECF244321}">
                <p14:modId xmlns:p14="http://schemas.microsoft.com/office/powerpoint/2010/main" val="611904975"/>
              </p:ext>
            </p:extLst>
          </p:nvPr>
        </p:nvGraphicFramePr>
        <p:xfrm>
          <a:off x="1033348" y="1074863"/>
          <a:ext cx="4402251" cy="741680"/>
        </p:xfrm>
        <a:graphic>
          <a:graphicData uri="http://schemas.openxmlformats.org/drawingml/2006/table">
            <a:tbl>
              <a:tblPr firstRow="1" bandRow="1">
                <a:tableStyleId>{5C22544A-7EE6-4342-B048-85BDC9FD1C3A}</a:tableStyleId>
              </a:tblPr>
              <a:tblGrid>
                <a:gridCol w="628893">
                  <a:extLst>
                    <a:ext uri="{9D8B030D-6E8A-4147-A177-3AD203B41FA5}">
                      <a16:colId xmlns:a16="http://schemas.microsoft.com/office/drawing/2014/main" val="1522416925"/>
                    </a:ext>
                  </a:extLst>
                </a:gridCol>
                <a:gridCol w="628893">
                  <a:extLst>
                    <a:ext uri="{9D8B030D-6E8A-4147-A177-3AD203B41FA5}">
                      <a16:colId xmlns:a16="http://schemas.microsoft.com/office/drawing/2014/main" val="1719059937"/>
                    </a:ext>
                  </a:extLst>
                </a:gridCol>
                <a:gridCol w="628893">
                  <a:extLst>
                    <a:ext uri="{9D8B030D-6E8A-4147-A177-3AD203B41FA5}">
                      <a16:colId xmlns:a16="http://schemas.microsoft.com/office/drawing/2014/main" val="382297958"/>
                    </a:ext>
                  </a:extLst>
                </a:gridCol>
                <a:gridCol w="628893">
                  <a:extLst>
                    <a:ext uri="{9D8B030D-6E8A-4147-A177-3AD203B41FA5}">
                      <a16:colId xmlns:a16="http://schemas.microsoft.com/office/drawing/2014/main" val="993934993"/>
                    </a:ext>
                  </a:extLst>
                </a:gridCol>
                <a:gridCol w="628893">
                  <a:extLst>
                    <a:ext uri="{9D8B030D-6E8A-4147-A177-3AD203B41FA5}">
                      <a16:colId xmlns:a16="http://schemas.microsoft.com/office/drawing/2014/main" val="3329923667"/>
                    </a:ext>
                  </a:extLst>
                </a:gridCol>
                <a:gridCol w="628893">
                  <a:extLst>
                    <a:ext uri="{9D8B030D-6E8A-4147-A177-3AD203B41FA5}">
                      <a16:colId xmlns:a16="http://schemas.microsoft.com/office/drawing/2014/main" val="3592619011"/>
                    </a:ext>
                  </a:extLst>
                </a:gridCol>
                <a:gridCol w="628893">
                  <a:extLst>
                    <a:ext uri="{9D8B030D-6E8A-4147-A177-3AD203B41FA5}">
                      <a16:colId xmlns:a16="http://schemas.microsoft.com/office/drawing/2014/main" val="1887732143"/>
                    </a:ext>
                  </a:extLst>
                </a:gridCol>
              </a:tblGrid>
              <a:tr h="370840">
                <a:tc gridSpan="7">
                  <a:txBody>
                    <a:bodyPr/>
                    <a:lstStyle/>
                    <a:p>
                      <a:pPr algn="ctr"/>
                      <a:r>
                        <a:rPr lang="en-US">
                          <a:solidFill>
                            <a:schemeClr val="tx1"/>
                          </a:solidFill>
                        </a:rPr>
                        <a:t>Submission queue</a:t>
                      </a:r>
                      <a:endParaRPr lang="en-RU" dirty="0">
                        <a:solidFill>
                          <a:schemeClr val="tx1"/>
                        </a:solidFill>
                      </a:endParaRPr>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extLst>
                  <a:ext uri="{0D108BD9-81ED-4DB2-BD59-A6C34878D82A}">
                    <a16:rowId xmlns:a16="http://schemas.microsoft.com/office/drawing/2014/main" val="2487623971"/>
                  </a:ext>
                </a:extLst>
              </a:tr>
              <a:tr h="370840">
                <a:tc>
                  <a:txBody>
                    <a:bodyPr/>
                    <a:lstStyle/>
                    <a:p>
                      <a:endParaRPr lang="en-RU" sz="1800" kern="1200" dirty="0">
                        <a:solidFill>
                          <a:schemeClr val="dk1"/>
                        </a:solidFill>
                        <a:latin typeface="+mn-lt"/>
                        <a:ea typeface="+mn-ea"/>
                        <a:cs typeface="+mn-cs"/>
                      </a:endParaRPr>
                    </a:p>
                  </a:txBody>
                  <a:tcPr/>
                </a:tc>
                <a:tc>
                  <a:txBody>
                    <a:bodyPr/>
                    <a:lstStyle/>
                    <a:p>
                      <a:endParaRPr lang="en-RU" dirty="0"/>
                    </a:p>
                  </a:txBody>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p>
                  </a:txBody>
                  <a:tcPr/>
                </a:tc>
                <a:extLst>
                  <a:ext uri="{0D108BD9-81ED-4DB2-BD59-A6C34878D82A}">
                    <a16:rowId xmlns:a16="http://schemas.microsoft.com/office/drawing/2014/main" val="3054324919"/>
                  </a:ext>
                </a:extLst>
              </a:tr>
            </a:tbl>
          </a:graphicData>
        </a:graphic>
      </p:graphicFrame>
      <p:graphicFrame>
        <p:nvGraphicFramePr>
          <p:cNvPr id="29" name="Table 3">
            <a:extLst>
              <a:ext uri="{FF2B5EF4-FFF2-40B4-BE49-F238E27FC236}">
                <a16:creationId xmlns:a16="http://schemas.microsoft.com/office/drawing/2014/main" id="{021F7D56-6C9B-9145-A6A0-B47F0A5A0DB8}"/>
              </a:ext>
            </a:extLst>
          </p:cNvPr>
          <p:cNvGraphicFramePr>
            <a:graphicFrameLocks noGrp="1"/>
          </p:cNvGraphicFramePr>
          <p:nvPr>
            <p:extLst>
              <p:ext uri="{D42A27DB-BD31-4B8C-83A1-F6EECF244321}">
                <p14:modId xmlns:p14="http://schemas.microsoft.com/office/powerpoint/2010/main" val="2695239063"/>
              </p:ext>
            </p:extLst>
          </p:nvPr>
        </p:nvGraphicFramePr>
        <p:xfrm>
          <a:off x="6756401" y="1074863"/>
          <a:ext cx="4402251" cy="741680"/>
        </p:xfrm>
        <a:graphic>
          <a:graphicData uri="http://schemas.openxmlformats.org/drawingml/2006/table">
            <a:tbl>
              <a:tblPr firstRow="1" bandRow="1">
                <a:tableStyleId>{5C22544A-7EE6-4342-B048-85BDC9FD1C3A}</a:tableStyleId>
              </a:tblPr>
              <a:tblGrid>
                <a:gridCol w="628893">
                  <a:extLst>
                    <a:ext uri="{9D8B030D-6E8A-4147-A177-3AD203B41FA5}">
                      <a16:colId xmlns:a16="http://schemas.microsoft.com/office/drawing/2014/main" val="1522416925"/>
                    </a:ext>
                  </a:extLst>
                </a:gridCol>
                <a:gridCol w="628893">
                  <a:extLst>
                    <a:ext uri="{9D8B030D-6E8A-4147-A177-3AD203B41FA5}">
                      <a16:colId xmlns:a16="http://schemas.microsoft.com/office/drawing/2014/main" val="1719059937"/>
                    </a:ext>
                  </a:extLst>
                </a:gridCol>
                <a:gridCol w="628893">
                  <a:extLst>
                    <a:ext uri="{9D8B030D-6E8A-4147-A177-3AD203B41FA5}">
                      <a16:colId xmlns:a16="http://schemas.microsoft.com/office/drawing/2014/main" val="382297958"/>
                    </a:ext>
                  </a:extLst>
                </a:gridCol>
                <a:gridCol w="628893">
                  <a:extLst>
                    <a:ext uri="{9D8B030D-6E8A-4147-A177-3AD203B41FA5}">
                      <a16:colId xmlns:a16="http://schemas.microsoft.com/office/drawing/2014/main" val="993934993"/>
                    </a:ext>
                  </a:extLst>
                </a:gridCol>
                <a:gridCol w="628893">
                  <a:extLst>
                    <a:ext uri="{9D8B030D-6E8A-4147-A177-3AD203B41FA5}">
                      <a16:colId xmlns:a16="http://schemas.microsoft.com/office/drawing/2014/main" val="3329923667"/>
                    </a:ext>
                  </a:extLst>
                </a:gridCol>
                <a:gridCol w="628893">
                  <a:extLst>
                    <a:ext uri="{9D8B030D-6E8A-4147-A177-3AD203B41FA5}">
                      <a16:colId xmlns:a16="http://schemas.microsoft.com/office/drawing/2014/main" val="3592619011"/>
                    </a:ext>
                  </a:extLst>
                </a:gridCol>
                <a:gridCol w="628893">
                  <a:extLst>
                    <a:ext uri="{9D8B030D-6E8A-4147-A177-3AD203B41FA5}">
                      <a16:colId xmlns:a16="http://schemas.microsoft.com/office/drawing/2014/main" val="1887732143"/>
                    </a:ext>
                  </a:extLst>
                </a:gridCol>
              </a:tblGrid>
              <a:tr h="370840">
                <a:tc gridSpan="7">
                  <a:txBody>
                    <a:bodyPr/>
                    <a:lstStyle/>
                    <a:p>
                      <a:pPr algn="ctr"/>
                      <a:r>
                        <a:rPr lang="en-US" dirty="0">
                          <a:solidFill>
                            <a:schemeClr val="tx1"/>
                          </a:solidFill>
                        </a:rPr>
                        <a:t>Completion queue</a:t>
                      </a:r>
                      <a:endParaRPr lang="en-RU" dirty="0">
                        <a:solidFill>
                          <a:schemeClr val="tx1"/>
                        </a:solidFill>
                      </a:endParaRPr>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extLst>
                  <a:ext uri="{0D108BD9-81ED-4DB2-BD59-A6C34878D82A}">
                    <a16:rowId xmlns:a16="http://schemas.microsoft.com/office/drawing/2014/main" val="2487623971"/>
                  </a:ext>
                </a:extLst>
              </a:tr>
              <a:tr h="370840">
                <a:tc>
                  <a:txBody>
                    <a:bodyPr/>
                    <a:lstStyle/>
                    <a:p>
                      <a:endParaRPr lang="en-RU" dirty="0"/>
                    </a:p>
                  </a:txBody>
                  <a:tcPr>
                    <a:solidFill>
                      <a:srgbClr val="FF0000"/>
                    </a:solidFill>
                  </a:tcPr>
                </a:tc>
                <a:tc>
                  <a:txBody>
                    <a:bodyPr/>
                    <a:lstStyle/>
                    <a:p>
                      <a:endParaRPr lang="en-RU" dirty="0"/>
                    </a:p>
                  </a:txBody>
                  <a:tcPr>
                    <a:solidFill>
                      <a:srgbClr val="FF0000"/>
                    </a:solidFill>
                  </a:tcPr>
                </a:tc>
                <a:tc>
                  <a:txBody>
                    <a:bodyPr/>
                    <a:lstStyle/>
                    <a:p>
                      <a:endParaRPr lang="en-RU" dirty="0"/>
                    </a:p>
                  </a:txBody>
                  <a:tcPr/>
                </a:tc>
                <a:tc>
                  <a:txBody>
                    <a:bodyPr/>
                    <a:lstStyle/>
                    <a:p>
                      <a:endParaRPr lang="en-RU"/>
                    </a:p>
                  </a:txBody>
                  <a:tcPr/>
                </a:tc>
                <a:tc>
                  <a:txBody>
                    <a:bodyPr/>
                    <a:lstStyle/>
                    <a:p>
                      <a:endParaRPr lang="en-RU" dirty="0"/>
                    </a:p>
                  </a:txBody>
                  <a:tcPr/>
                </a:tc>
                <a:tc>
                  <a:txBody>
                    <a:bodyPr/>
                    <a:lstStyle/>
                    <a:p>
                      <a:endParaRPr lang="en-RU" dirty="0"/>
                    </a:p>
                  </a:txBody>
                  <a:tcPr/>
                </a:tc>
                <a:tc>
                  <a:txBody>
                    <a:bodyPr/>
                    <a:lstStyle/>
                    <a:p>
                      <a:endParaRPr lang="en-RU" dirty="0"/>
                    </a:p>
                  </a:txBody>
                  <a:tcPr>
                    <a:solidFill>
                      <a:srgbClr val="FF0000"/>
                    </a:solidFill>
                  </a:tcPr>
                </a:tc>
                <a:extLst>
                  <a:ext uri="{0D108BD9-81ED-4DB2-BD59-A6C34878D82A}">
                    <a16:rowId xmlns:a16="http://schemas.microsoft.com/office/drawing/2014/main" val="3054324919"/>
                  </a:ext>
                </a:extLst>
              </a:tr>
            </a:tbl>
          </a:graphicData>
        </a:graphic>
      </p:graphicFrame>
      <p:cxnSp>
        <p:nvCxnSpPr>
          <p:cNvPr id="30" name="Straight Arrow Connector 29">
            <a:extLst>
              <a:ext uri="{FF2B5EF4-FFF2-40B4-BE49-F238E27FC236}">
                <a16:creationId xmlns:a16="http://schemas.microsoft.com/office/drawing/2014/main" id="{996B6FFE-2DBB-CA4F-81DF-B6B912BF770A}"/>
              </a:ext>
            </a:extLst>
          </p:cNvPr>
          <p:cNvCxnSpPr>
            <a:cxnSpLocks/>
          </p:cNvCxnSpPr>
          <p:nvPr/>
        </p:nvCxnSpPr>
        <p:spPr>
          <a:xfrm flipV="1">
            <a:off x="2288458" y="1816544"/>
            <a:ext cx="0" cy="4137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02AA458-F6B4-FA49-B6A1-5B29272C82C5}"/>
              </a:ext>
            </a:extLst>
          </p:cNvPr>
          <p:cNvCxnSpPr>
            <a:cxnSpLocks/>
          </p:cNvCxnSpPr>
          <p:nvPr/>
        </p:nvCxnSpPr>
        <p:spPr>
          <a:xfrm flipV="1">
            <a:off x="4804914"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FDC6D65-7AAF-6E4C-9CAB-9D9C46E136E9}"/>
              </a:ext>
            </a:extLst>
          </p:cNvPr>
          <p:cNvCxnSpPr>
            <a:cxnSpLocks/>
          </p:cNvCxnSpPr>
          <p:nvPr/>
        </p:nvCxnSpPr>
        <p:spPr>
          <a:xfrm flipV="1">
            <a:off x="8016467"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2040BBF-A8A1-9044-B0AC-98AB7935E687}"/>
              </a:ext>
            </a:extLst>
          </p:cNvPr>
          <p:cNvCxnSpPr>
            <a:cxnSpLocks/>
          </p:cNvCxnSpPr>
          <p:nvPr/>
        </p:nvCxnSpPr>
        <p:spPr>
          <a:xfrm flipV="1">
            <a:off x="10525492"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3194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40717031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33470772"/>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790111092"/>
              </p:ext>
            </p:extLst>
          </p:nvPr>
        </p:nvGraphicFramePr>
        <p:xfrm>
          <a:off x="0" y="365762"/>
          <a:ext cx="12192000" cy="484632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07593">
                <a:tc>
                  <a:txBody>
                    <a:bodyPr/>
                    <a:lstStyle/>
                    <a:p>
                      <a:r>
                        <a:rPr lang="en-US" dirty="0"/>
                        <a:t>The</a:t>
                      </a:r>
                      <a:r>
                        <a:rPr lang="ru-RU" dirty="0"/>
                        <a:t> </a:t>
                      </a:r>
                      <a:r>
                        <a:rPr lang="en-US" dirty="0"/>
                        <a:t>Linux approach to asynchronous IO (</a:t>
                      </a:r>
                      <a:r>
                        <a:rPr lang="en-US" dirty="0" err="1"/>
                        <a:t>io_uring</a:t>
                      </a:r>
                      <a:r>
                        <a:rPr lang="en-US" dirty="0"/>
                        <a:t>)</a:t>
                      </a:r>
                      <a:endParaRPr lang="ru-RU" dirty="0"/>
                    </a:p>
                  </a:txBody>
                  <a:tcPr/>
                </a:tc>
                <a:extLst>
                  <a:ext uri="{0D108BD9-81ED-4DB2-BD59-A6C34878D82A}">
                    <a16:rowId xmlns:a16="http://schemas.microsoft.com/office/drawing/2014/main" val="10000"/>
                  </a:ext>
                </a:extLst>
              </a:tr>
              <a:tr h="207593">
                <a:tc>
                  <a:txBody>
                    <a:bodyPr/>
                    <a:lstStyle/>
                    <a:p>
                      <a:r>
                        <a:rPr lang="en-US" dirty="0"/>
                        <a:t>An application and the kernel share a memory are that contains two ring buffers:</a:t>
                      </a:r>
                      <a:endParaRPr lang="ru-RU" dirty="0"/>
                    </a:p>
                    <a:p>
                      <a:endParaRPr lang="ru-RU" dirty="0"/>
                    </a:p>
                    <a:p>
                      <a:endParaRPr lang="ru-RU" dirty="0"/>
                    </a:p>
                    <a:p>
                      <a:endParaRPr lang="ru-RU" dirty="0"/>
                    </a:p>
                    <a:p>
                      <a:endParaRPr lang="ru-RU" dirty="0"/>
                    </a:p>
                    <a:p>
                      <a:endParaRPr lang="ru-RU" dirty="0"/>
                    </a:p>
                    <a:p>
                      <a:endParaRPr lang="ru-RU" dirty="0"/>
                    </a:p>
                    <a:p>
                      <a:r>
                        <a:rPr lang="en-US" dirty="0"/>
                        <a:t>The application places IO requests to the tail of the submission queue</a:t>
                      </a:r>
                      <a:r>
                        <a:rPr lang="ru-RU" dirty="0"/>
                        <a:t>, </a:t>
                      </a:r>
                      <a:r>
                        <a:rPr lang="en-US" dirty="0"/>
                        <a:t>advances the</a:t>
                      </a:r>
                      <a:r>
                        <a:rPr lang="ru-RU" dirty="0"/>
                        <a:t> </a:t>
                      </a:r>
                      <a:r>
                        <a:rPr lang="en-US" dirty="0"/>
                        <a:t>sq tail and requests the kernel to execute the IO.</a:t>
                      </a:r>
                      <a:r>
                        <a:rPr lang="ru-RU" dirty="0"/>
                        <a:t> </a:t>
                      </a:r>
                      <a:r>
                        <a:rPr lang="en-US" dirty="0"/>
                        <a:t>The kernel advances the</a:t>
                      </a:r>
                      <a:r>
                        <a:rPr lang="ru-RU" dirty="0"/>
                        <a:t> </a:t>
                      </a:r>
                      <a:r>
                        <a:rPr lang="en-US" dirty="0"/>
                        <a:t>sq head as it consumes requests.</a:t>
                      </a:r>
                    </a:p>
                    <a:p>
                      <a:endParaRPr lang="en-US" dirty="0"/>
                    </a:p>
                    <a:p>
                      <a:r>
                        <a:rPr lang="en-US" dirty="0"/>
                        <a:t>When an</a:t>
                      </a:r>
                      <a:r>
                        <a:rPr lang="ru-RU" dirty="0"/>
                        <a:t> </a:t>
                      </a:r>
                      <a:r>
                        <a:rPr lang="en-US" dirty="0"/>
                        <a:t>IO request completes</a:t>
                      </a:r>
                      <a:r>
                        <a:rPr lang="ru-RU" dirty="0"/>
                        <a:t>, </a:t>
                      </a:r>
                      <a:r>
                        <a:rPr lang="en-US" dirty="0"/>
                        <a:t>the kernel writes the result to the tail of the completion queue and advances the</a:t>
                      </a:r>
                      <a:r>
                        <a:rPr lang="ru-RU" dirty="0"/>
                        <a:t> </a:t>
                      </a:r>
                      <a:r>
                        <a:rPr lang="en-US" dirty="0" err="1"/>
                        <a:t>cq</a:t>
                      </a:r>
                      <a:r>
                        <a:rPr lang="en-US" dirty="0"/>
                        <a:t> tail.</a:t>
                      </a:r>
                      <a:endParaRPr lang="ru-RU" dirty="0"/>
                    </a:p>
                    <a:p>
                      <a:endParaRPr lang="ru-RU" dirty="0"/>
                    </a:p>
                    <a:p>
                      <a:r>
                        <a:rPr lang="en-US" b="1" dirty="0"/>
                        <a:t>Quiz</a:t>
                      </a:r>
                      <a:r>
                        <a:rPr lang="ru-RU" dirty="0"/>
                        <a:t>: </a:t>
                      </a:r>
                      <a:r>
                        <a:rPr lang="en-US" dirty="0"/>
                        <a:t>one could make</a:t>
                      </a:r>
                      <a:r>
                        <a:rPr lang="ru-RU" dirty="0"/>
                        <a:t> </a:t>
                      </a:r>
                      <a:r>
                        <a:rPr lang="en-US" dirty="0" err="1">
                          <a:latin typeface="Consolas" panose="020B0609020204030204" pitchFamily="49" charset="0"/>
                          <a:cs typeface="Consolas" panose="020B0609020204030204" pitchFamily="49" charset="0"/>
                        </a:rPr>
                        <a:t>pread</a:t>
                      </a:r>
                      <a:r>
                        <a:rPr lang="en-US" dirty="0">
                          <a:latin typeface="Consolas" panose="020B0609020204030204" pitchFamily="49" charset="0"/>
                          <a:cs typeface="Consolas" panose="020B0609020204030204" pitchFamily="49" charset="0"/>
                        </a:rPr>
                        <a:t>()</a:t>
                      </a:r>
                      <a:r>
                        <a:rPr lang="en-US" dirty="0"/>
                        <a:t> and </a:t>
                      </a:r>
                      <a:r>
                        <a:rPr lang="en-US" dirty="0" err="1">
                          <a:latin typeface="Consolas" panose="020B0609020204030204" pitchFamily="49" charset="0"/>
                          <a:cs typeface="Consolas" panose="020B0609020204030204" pitchFamily="49" charset="0"/>
                        </a:rPr>
                        <a:t>pwrite</a:t>
                      </a:r>
                      <a:r>
                        <a:rPr lang="en-US" dirty="0">
                          <a:latin typeface="Consolas" panose="020B0609020204030204" pitchFamily="49" charset="0"/>
                          <a:cs typeface="Consolas" panose="020B0609020204030204" pitchFamily="49" charset="0"/>
                        </a:rPr>
                        <a:t>()</a:t>
                      </a:r>
                      <a:r>
                        <a:rPr lang="en-US" dirty="0"/>
                        <a:t> asynchronous by adding an argument </a:t>
                      </a:r>
                      <a:r>
                        <a:rPr lang="en-US" dirty="0" err="1">
                          <a:latin typeface="Consolas" panose="020B0609020204030204" pitchFamily="49" charset="0"/>
                          <a:cs typeface="Consolas" panose="020B0609020204030204" pitchFamily="49" charset="0"/>
                        </a:rPr>
                        <a:t>lpOverlapped</a:t>
                      </a:r>
                      <a:r>
                        <a:rPr lang="en-US" dirty="0"/>
                        <a:t> like in</a:t>
                      </a:r>
                      <a:r>
                        <a:rPr lang="ru-RU" dirty="0"/>
                        <a:t> </a:t>
                      </a:r>
                      <a:r>
                        <a:rPr lang="en-US" dirty="0"/>
                        <a:t>the Windows API. Why is the mechanism with circular buffers preferable</a:t>
                      </a:r>
                      <a:r>
                        <a:rPr lang="ru-RU" dirty="0"/>
                        <a:t>?</a:t>
                      </a:r>
                    </a:p>
                    <a:p>
                      <a:endParaRPr lang="ru-RU" dirty="0"/>
                    </a:p>
                    <a:p>
                      <a:r>
                        <a:rPr lang="en-US" b="1" dirty="0"/>
                        <a:t>Quiz</a:t>
                      </a:r>
                      <a:r>
                        <a:rPr lang="ru-RU" dirty="0"/>
                        <a:t>: </a:t>
                      </a:r>
                      <a:r>
                        <a:rPr lang="en-US" dirty="0"/>
                        <a:t>what happens if an</a:t>
                      </a:r>
                      <a:r>
                        <a:rPr lang="ru-RU" dirty="0"/>
                        <a:t> </a:t>
                      </a:r>
                      <a:r>
                        <a:rPr lang="en-US" dirty="0"/>
                        <a:t>IO request at the head</a:t>
                      </a:r>
                      <a:r>
                        <a:rPr lang="ru-RU" dirty="0"/>
                        <a:t> </a:t>
                      </a:r>
                      <a:r>
                        <a:rPr lang="en-US" dirty="0"/>
                        <a:t>submission queue takes more time than all following IO requests</a:t>
                      </a:r>
                      <a:r>
                        <a:rPr lang="ru-RU" dirty="0"/>
                        <a:t>?</a:t>
                      </a:r>
                    </a:p>
                  </a:txBody>
                  <a:tcPr/>
                </a:tc>
                <a:extLst>
                  <a:ext uri="{0D108BD9-81ED-4DB2-BD59-A6C34878D82A}">
                    <a16:rowId xmlns:a16="http://schemas.microsoft.com/office/drawing/2014/main" val="227005564"/>
                  </a:ext>
                </a:extLst>
              </a:tr>
            </a:tbl>
          </a:graphicData>
        </a:graphic>
      </p:graphicFrame>
      <p:sp>
        <p:nvSpPr>
          <p:cNvPr id="15" name="TextBox 14">
            <a:extLst>
              <a:ext uri="{FF2B5EF4-FFF2-40B4-BE49-F238E27FC236}">
                <a16:creationId xmlns:a16="http://schemas.microsoft.com/office/drawing/2014/main" id="{AB1A73B9-173B-C942-8CFF-CB9521BA52F9}"/>
              </a:ext>
            </a:extLst>
          </p:cNvPr>
          <p:cNvSpPr txBox="1"/>
          <p:nvPr/>
        </p:nvSpPr>
        <p:spPr>
          <a:xfrm>
            <a:off x="1828181" y="2235945"/>
            <a:ext cx="935415" cy="369332"/>
          </a:xfrm>
          <a:prstGeom prst="rect">
            <a:avLst/>
          </a:prstGeom>
          <a:noFill/>
        </p:spPr>
        <p:txBody>
          <a:bodyPr wrap="square" rtlCol="0">
            <a:spAutoFit/>
          </a:bodyPr>
          <a:lstStyle/>
          <a:p>
            <a:pPr algn="ctr"/>
            <a:r>
              <a:rPr lang="en-GB" dirty="0"/>
              <a:t>s</a:t>
            </a:r>
            <a:r>
              <a:rPr lang="en-RU" dirty="0"/>
              <a:t>q head</a:t>
            </a:r>
          </a:p>
        </p:txBody>
      </p:sp>
      <p:sp>
        <p:nvSpPr>
          <p:cNvPr id="16" name="TextBox 15">
            <a:extLst>
              <a:ext uri="{FF2B5EF4-FFF2-40B4-BE49-F238E27FC236}">
                <a16:creationId xmlns:a16="http://schemas.microsoft.com/office/drawing/2014/main" id="{DB77DEA0-8061-E74B-A04E-314D08C568E0}"/>
              </a:ext>
            </a:extLst>
          </p:cNvPr>
          <p:cNvSpPr txBox="1"/>
          <p:nvPr/>
        </p:nvSpPr>
        <p:spPr>
          <a:xfrm>
            <a:off x="4408736" y="2235945"/>
            <a:ext cx="792355" cy="369332"/>
          </a:xfrm>
          <a:prstGeom prst="rect">
            <a:avLst/>
          </a:prstGeom>
          <a:noFill/>
        </p:spPr>
        <p:txBody>
          <a:bodyPr wrap="square" rtlCol="0">
            <a:spAutoFit/>
          </a:bodyPr>
          <a:lstStyle/>
          <a:p>
            <a:pPr algn="ctr"/>
            <a:r>
              <a:rPr lang="en-GB" dirty="0"/>
              <a:t>s</a:t>
            </a:r>
            <a:r>
              <a:rPr lang="en-RU" dirty="0"/>
              <a:t>q tail</a:t>
            </a:r>
          </a:p>
        </p:txBody>
      </p:sp>
      <p:sp>
        <p:nvSpPr>
          <p:cNvPr id="17" name="TextBox 16">
            <a:extLst>
              <a:ext uri="{FF2B5EF4-FFF2-40B4-BE49-F238E27FC236}">
                <a16:creationId xmlns:a16="http://schemas.microsoft.com/office/drawing/2014/main" id="{6618F048-33D3-1047-8CA1-86E62E2758B8}"/>
              </a:ext>
            </a:extLst>
          </p:cNvPr>
          <p:cNvSpPr txBox="1"/>
          <p:nvPr/>
        </p:nvSpPr>
        <p:spPr>
          <a:xfrm>
            <a:off x="10057784" y="2235945"/>
            <a:ext cx="935415" cy="369332"/>
          </a:xfrm>
          <a:prstGeom prst="rect">
            <a:avLst/>
          </a:prstGeom>
          <a:noFill/>
        </p:spPr>
        <p:txBody>
          <a:bodyPr wrap="square" rtlCol="0">
            <a:spAutoFit/>
          </a:bodyPr>
          <a:lstStyle/>
          <a:p>
            <a:pPr algn="ctr"/>
            <a:r>
              <a:rPr lang="en-GB" dirty="0"/>
              <a:t>c</a:t>
            </a:r>
            <a:r>
              <a:rPr lang="en-RU" dirty="0"/>
              <a:t>q head</a:t>
            </a:r>
          </a:p>
        </p:txBody>
      </p:sp>
      <p:sp>
        <p:nvSpPr>
          <p:cNvPr id="18" name="TextBox 17">
            <a:extLst>
              <a:ext uri="{FF2B5EF4-FFF2-40B4-BE49-F238E27FC236}">
                <a16:creationId xmlns:a16="http://schemas.microsoft.com/office/drawing/2014/main" id="{EE11DEF1-A4A9-B24E-9C8C-0CE7C423C504}"/>
              </a:ext>
            </a:extLst>
          </p:cNvPr>
          <p:cNvSpPr txBox="1"/>
          <p:nvPr/>
        </p:nvSpPr>
        <p:spPr>
          <a:xfrm>
            <a:off x="7614740" y="2230247"/>
            <a:ext cx="792355" cy="369332"/>
          </a:xfrm>
          <a:prstGeom prst="rect">
            <a:avLst/>
          </a:prstGeom>
          <a:noFill/>
        </p:spPr>
        <p:txBody>
          <a:bodyPr wrap="square" rtlCol="0">
            <a:spAutoFit/>
          </a:bodyPr>
          <a:lstStyle/>
          <a:p>
            <a:pPr algn="ctr"/>
            <a:r>
              <a:rPr lang="en-GB" dirty="0"/>
              <a:t>c</a:t>
            </a:r>
            <a:r>
              <a:rPr lang="en-RU" dirty="0"/>
              <a:t>q tail</a:t>
            </a:r>
          </a:p>
        </p:txBody>
      </p:sp>
      <p:graphicFrame>
        <p:nvGraphicFramePr>
          <p:cNvPr id="28" name="Table 3">
            <a:extLst>
              <a:ext uri="{FF2B5EF4-FFF2-40B4-BE49-F238E27FC236}">
                <a16:creationId xmlns:a16="http://schemas.microsoft.com/office/drawing/2014/main" id="{514A7241-284E-A148-AFEE-9F5B9105AFDF}"/>
              </a:ext>
            </a:extLst>
          </p:cNvPr>
          <p:cNvGraphicFramePr>
            <a:graphicFrameLocks noGrp="1"/>
          </p:cNvGraphicFramePr>
          <p:nvPr>
            <p:extLst>
              <p:ext uri="{D42A27DB-BD31-4B8C-83A1-F6EECF244321}">
                <p14:modId xmlns:p14="http://schemas.microsoft.com/office/powerpoint/2010/main" val="727314323"/>
              </p:ext>
            </p:extLst>
          </p:nvPr>
        </p:nvGraphicFramePr>
        <p:xfrm>
          <a:off x="1033348" y="1074863"/>
          <a:ext cx="4402251" cy="741680"/>
        </p:xfrm>
        <a:graphic>
          <a:graphicData uri="http://schemas.openxmlformats.org/drawingml/2006/table">
            <a:tbl>
              <a:tblPr firstRow="1" bandRow="1">
                <a:tableStyleId>{5C22544A-7EE6-4342-B048-85BDC9FD1C3A}</a:tableStyleId>
              </a:tblPr>
              <a:tblGrid>
                <a:gridCol w="628893">
                  <a:extLst>
                    <a:ext uri="{9D8B030D-6E8A-4147-A177-3AD203B41FA5}">
                      <a16:colId xmlns:a16="http://schemas.microsoft.com/office/drawing/2014/main" val="1522416925"/>
                    </a:ext>
                  </a:extLst>
                </a:gridCol>
                <a:gridCol w="628893">
                  <a:extLst>
                    <a:ext uri="{9D8B030D-6E8A-4147-A177-3AD203B41FA5}">
                      <a16:colId xmlns:a16="http://schemas.microsoft.com/office/drawing/2014/main" val="1719059937"/>
                    </a:ext>
                  </a:extLst>
                </a:gridCol>
                <a:gridCol w="628893">
                  <a:extLst>
                    <a:ext uri="{9D8B030D-6E8A-4147-A177-3AD203B41FA5}">
                      <a16:colId xmlns:a16="http://schemas.microsoft.com/office/drawing/2014/main" val="382297958"/>
                    </a:ext>
                  </a:extLst>
                </a:gridCol>
                <a:gridCol w="628893">
                  <a:extLst>
                    <a:ext uri="{9D8B030D-6E8A-4147-A177-3AD203B41FA5}">
                      <a16:colId xmlns:a16="http://schemas.microsoft.com/office/drawing/2014/main" val="993934993"/>
                    </a:ext>
                  </a:extLst>
                </a:gridCol>
                <a:gridCol w="628893">
                  <a:extLst>
                    <a:ext uri="{9D8B030D-6E8A-4147-A177-3AD203B41FA5}">
                      <a16:colId xmlns:a16="http://schemas.microsoft.com/office/drawing/2014/main" val="3329923667"/>
                    </a:ext>
                  </a:extLst>
                </a:gridCol>
                <a:gridCol w="628893">
                  <a:extLst>
                    <a:ext uri="{9D8B030D-6E8A-4147-A177-3AD203B41FA5}">
                      <a16:colId xmlns:a16="http://schemas.microsoft.com/office/drawing/2014/main" val="3592619011"/>
                    </a:ext>
                  </a:extLst>
                </a:gridCol>
                <a:gridCol w="628893">
                  <a:extLst>
                    <a:ext uri="{9D8B030D-6E8A-4147-A177-3AD203B41FA5}">
                      <a16:colId xmlns:a16="http://schemas.microsoft.com/office/drawing/2014/main" val="1887732143"/>
                    </a:ext>
                  </a:extLst>
                </a:gridCol>
              </a:tblGrid>
              <a:tr h="370840">
                <a:tc gridSpan="7">
                  <a:txBody>
                    <a:bodyPr/>
                    <a:lstStyle/>
                    <a:p>
                      <a:pPr algn="ctr"/>
                      <a:r>
                        <a:rPr lang="en-US" dirty="0">
                          <a:solidFill>
                            <a:schemeClr val="tx1"/>
                          </a:solidFill>
                        </a:rPr>
                        <a:t>Submission queue</a:t>
                      </a:r>
                      <a:endParaRPr lang="en-RU" dirty="0">
                        <a:solidFill>
                          <a:schemeClr val="tx1"/>
                        </a:solidFill>
                      </a:endParaRPr>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extLst>
                  <a:ext uri="{0D108BD9-81ED-4DB2-BD59-A6C34878D82A}">
                    <a16:rowId xmlns:a16="http://schemas.microsoft.com/office/drawing/2014/main" val="2487623971"/>
                  </a:ext>
                </a:extLst>
              </a:tr>
              <a:tr h="370840">
                <a:tc>
                  <a:txBody>
                    <a:bodyPr/>
                    <a:lstStyle/>
                    <a:p>
                      <a:endParaRPr lang="en-RU" sz="1800" kern="1200" dirty="0">
                        <a:solidFill>
                          <a:schemeClr val="dk1"/>
                        </a:solidFill>
                        <a:latin typeface="+mn-lt"/>
                        <a:ea typeface="+mn-ea"/>
                        <a:cs typeface="+mn-cs"/>
                      </a:endParaRPr>
                    </a:p>
                  </a:txBody>
                  <a:tcPr/>
                </a:tc>
                <a:tc>
                  <a:txBody>
                    <a:bodyPr/>
                    <a:lstStyle/>
                    <a:p>
                      <a:endParaRPr lang="en-RU" dirty="0"/>
                    </a:p>
                  </a:txBody>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p>
                  </a:txBody>
                  <a:tcPr/>
                </a:tc>
                <a:extLst>
                  <a:ext uri="{0D108BD9-81ED-4DB2-BD59-A6C34878D82A}">
                    <a16:rowId xmlns:a16="http://schemas.microsoft.com/office/drawing/2014/main" val="3054324919"/>
                  </a:ext>
                </a:extLst>
              </a:tr>
            </a:tbl>
          </a:graphicData>
        </a:graphic>
      </p:graphicFrame>
      <p:graphicFrame>
        <p:nvGraphicFramePr>
          <p:cNvPr id="29" name="Table 3">
            <a:extLst>
              <a:ext uri="{FF2B5EF4-FFF2-40B4-BE49-F238E27FC236}">
                <a16:creationId xmlns:a16="http://schemas.microsoft.com/office/drawing/2014/main" id="{021F7D56-6C9B-9145-A6A0-B47F0A5A0DB8}"/>
              </a:ext>
            </a:extLst>
          </p:cNvPr>
          <p:cNvGraphicFramePr>
            <a:graphicFrameLocks noGrp="1"/>
          </p:cNvGraphicFramePr>
          <p:nvPr/>
        </p:nvGraphicFramePr>
        <p:xfrm>
          <a:off x="6756401" y="1074863"/>
          <a:ext cx="4402251" cy="741680"/>
        </p:xfrm>
        <a:graphic>
          <a:graphicData uri="http://schemas.openxmlformats.org/drawingml/2006/table">
            <a:tbl>
              <a:tblPr firstRow="1" bandRow="1">
                <a:tableStyleId>{5C22544A-7EE6-4342-B048-85BDC9FD1C3A}</a:tableStyleId>
              </a:tblPr>
              <a:tblGrid>
                <a:gridCol w="628893">
                  <a:extLst>
                    <a:ext uri="{9D8B030D-6E8A-4147-A177-3AD203B41FA5}">
                      <a16:colId xmlns:a16="http://schemas.microsoft.com/office/drawing/2014/main" val="1522416925"/>
                    </a:ext>
                  </a:extLst>
                </a:gridCol>
                <a:gridCol w="628893">
                  <a:extLst>
                    <a:ext uri="{9D8B030D-6E8A-4147-A177-3AD203B41FA5}">
                      <a16:colId xmlns:a16="http://schemas.microsoft.com/office/drawing/2014/main" val="1719059937"/>
                    </a:ext>
                  </a:extLst>
                </a:gridCol>
                <a:gridCol w="628893">
                  <a:extLst>
                    <a:ext uri="{9D8B030D-6E8A-4147-A177-3AD203B41FA5}">
                      <a16:colId xmlns:a16="http://schemas.microsoft.com/office/drawing/2014/main" val="382297958"/>
                    </a:ext>
                  </a:extLst>
                </a:gridCol>
                <a:gridCol w="628893">
                  <a:extLst>
                    <a:ext uri="{9D8B030D-6E8A-4147-A177-3AD203B41FA5}">
                      <a16:colId xmlns:a16="http://schemas.microsoft.com/office/drawing/2014/main" val="993934993"/>
                    </a:ext>
                  </a:extLst>
                </a:gridCol>
                <a:gridCol w="628893">
                  <a:extLst>
                    <a:ext uri="{9D8B030D-6E8A-4147-A177-3AD203B41FA5}">
                      <a16:colId xmlns:a16="http://schemas.microsoft.com/office/drawing/2014/main" val="3329923667"/>
                    </a:ext>
                  </a:extLst>
                </a:gridCol>
                <a:gridCol w="628893">
                  <a:extLst>
                    <a:ext uri="{9D8B030D-6E8A-4147-A177-3AD203B41FA5}">
                      <a16:colId xmlns:a16="http://schemas.microsoft.com/office/drawing/2014/main" val="3592619011"/>
                    </a:ext>
                  </a:extLst>
                </a:gridCol>
                <a:gridCol w="628893">
                  <a:extLst>
                    <a:ext uri="{9D8B030D-6E8A-4147-A177-3AD203B41FA5}">
                      <a16:colId xmlns:a16="http://schemas.microsoft.com/office/drawing/2014/main" val="1887732143"/>
                    </a:ext>
                  </a:extLst>
                </a:gridCol>
              </a:tblGrid>
              <a:tr h="370840">
                <a:tc gridSpan="7">
                  <a:txBody>
                    <a:bodyPr/>
                    <a:lstStyle/>
                    <a:p>
                      <a:pPr algn="ctr"/>
                      <a:r>
                        <a:rPr lang="en-US" dirty="0">
                          <a:solidFill>
                            <a:schemeClr val="tx1"/>
                          </a:solidFill>
                        </a:rPr>
                        <a:t>Completion queue</a:t>
                      </a:r>
                      <a:endParaRPr lang="en-RU" dirty="0">
                        <a:solidFill>
                          <a:schemeClr val="tx1"/>
                        </a:solidFill>
                      </a:endParaRPr>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extLst>
                  <a:ext uri="{0D108BD9-81ED-4DB2-BD59-A6C34878D82A}">
                    <a16:rowId xmlns:a16="http://schemas.microsoft.com/office/drawing/2014/main" val="2487623971"/>
                  </a:ext>
                </a:extLst>
              </a:tr>
              <a:tr h="370840">
                <a:tc>
                  <a:txBody>
                    <a:bodyPr/>
                    <a:lstStyle/>
                    <a:p>
                      <a:endParaRPr lang="en-RU" dirty="0"/>
                    </a:p>
                  </a:txBody>
                  <a:tcPr>
                    <a:solidFill>
                      <a:srgbClr val="FF0000"/>
                    </a:solidFill>
                  </a:tcPr>
                </a:tc>
                <a:tc>
                  <a:txBody>
                    <a:bodyPr/>
                    <a:lstStyle/>
                    <a:p>
                      <a:endParaRPr lang="en-RU" dirty="0"/>
                    </a:p>
                  </a:txBody>
                  <a:tcPr>
                    <a:solidFill>
                      <a:srgbClr val="FF0000"/>
                    </a:solidFill>
                  </a:tcPr>
                </a:tc>
                <a:tc>
                  <a:txBody>
                    <a:bodyPr/>
                    <a:lstStyle/>
                    <a:p>
                      <a:endParaRPr lang="en-RU" dirty="0"/>
                    </a:p>
                  </a:txBody>
                  <a:tcPr/>
                </a:tc>
                <a:tc>
                  <a:txBody>
                    <a:bodyPr/>
                    <a:lstStyle/>
                    <a:p>
                      <a:endParaRPr lang="en-RU"/>
                    </a:p>
                  </a:txBody>
                  <a:tcPr/>
                </a:tc>
                <a:tc>
                  <a:txBody>
                    <a:bodyPr/>
                    <a:lstStyle/>
                    <a:p>
                      <a:endParaRPr lang="en-RU" dirty="0"/>
                    </a:p>
                  </a:txBody>
                  <a:tcPr/>
                </a:tc>
                <a:tc>
                  <a:txBody>
                    <a:bodyPr/>
                    <a:lstStyle/>
                    <a:p>
                      <a:endParaRPr lang="en-RU" dirty="0"/>
                    </a:p>
                  </a:txBody>
                  <a:tcPr/>
                </a:tc>
                <a:tc>
                  <a:txBody>
                    <a:bodyPr/>
                    <a:lstStyle/>
                    <a:p>
                      <a:endParaRPr lang="en-RU" dirty="0"/>
                    </a:p>
                  </a:txBody>
                  <a:tcPr>
                    <a:solidFill>
                      <a:srgbClr val="FF0000"/>
                    </a:solidFill>
                  </a:tcPr>
                </a:tc>
                <a:extLst>
                  <a:ext uri="{0D108BD9-81ED-4DB2-BD59-A6C34878D82A}">
                    <a16:rowId xmlns:a16="http://schemas.microsoft.com/office/drawing/2014/main" val="3054324919"/>
                  </a:ext>
                </a:extLst>
              </a:tr>
            </a:tbl>
          </a:graphicData>
        </a:graphic>
      </p:graphicFrame>
      <p:cxnSp>
        <p:nvCxnSpPr>
          <p:cNvPr id="30" name="Straight Arrow Connector 29">
            <a:extLst>
              <a:ext uri="{FF2B5EF4-FFF2-40B4-BE49-F238E27FC236}">
                <a16:creationId xmlns:a16="http://schemas.microsoft.com/office/drawing/2014/main" id="{996B6FFE-2DBB-CA4F-81DF-B6B912BF770A}"/>
              </a:ext>
            </a:extLst>
          </p:cNvPr>
          <p:cNvCxnSpPr>
            <a:cxnSpLocks/>
          </p:cNvCxnSpPr>
          <p:nvPr/>
        </p:nvCxnSpPr>
        <p:spPr>
          <a:xfrm flipV="1">
            <a:off x="2288458" y="1816544"/>
            <a:ext cx="0" cy="4137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02AA458-F6B4-FA49-B6A1-5B29272C82C5}"/>
              </a:ext>
            </a:extLst>
          </p:cNvPr>
          <p:cNvCxnSpPr>
            <a:cxnSpLocks/>
          </p:cNvCxnSpPr>
          <p:nvPr/>
        </p:nvCxnSpPr>
        <p:spPr>
          <a:xfrm flipV="1">
            <a:off x="4804914"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FDC6D65-7AAF-6E4C-9CAB-9D9C46E136E9}"/>
              </a:ext>
            </a:extLst>
          </p:cNvPr>
          <p:cNvCxnSpPr>
            <a:cxnSpLocks/>
          </p:cNvCxnSpPr>
          <p:nvPr/>
        </p:nvCxnSpPr>
        <p:spPr>
          <a:xfrm flipV="1">
            <a:off x="8016467"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2040BBF-A8A1-9044-B0AC-98AB7935E687}"/>
              </a:ext>
            </a:extLst>
          </p:cNvPr>
          <p:cNvCxnSpPr>
            <a:cxnSpLocks/>
          </p:cNvCxnSpPr>
          <p:nvPr/>
        </p:nvCxnSpPr>
        <p:spPr>
          <a:xfrm flipV="1">
            <a:off x="10525492"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7204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25256602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97083344"/>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26925707"/>
              </p:ext>
            </p:extLst>
          </p:nvPr>
        </p:nvGraphicFramePr>
        <p:xfrm>
          <a:off x="0" y="365762"/>
          <a:ext cx="12192000" cy="484632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07593">
                <a:tc>
                  <a:txBody>
                    <a:bodyPr/>
                    <a:lstStyle/>
                    <a:p>
                      <a:r>
                        <a:rPr lang="en-US" dirty="0"/>
                        <a:t>The</a:t>
                      </a:r>
                      <a:r>
                        <a:rPr lang="ru-RU" dirty="0"/>
                        <a:t> </a:t>
                      </a:r>
                      <a:r>
                        <a:rPr lang="en-US" dirty="0"/>
                        <a:t>Linux approach to asynchronous IO (</a:t>
                      </a:r>
                      <a:r>
                        <a:rPr lang="en-US" dirty="0" err="1"/>
                        <a:t>io_uring</a:t>
                      </a:r>
                      <a:r>
                        <a:rPr lang="en-US" dirty="0"/>
                        <a:t>)</a:t>
                      </a:r>
                      <a:endParaRPr lang="ru-RU" dirty="0"/>
                    </a:p>
                  </a:txBody>
                  <a:tcPr/>
                </a:tc>
                <a:extLst>
                  <a:ext uri="{0D108BD9-81ED-4DB2-BD59-A6C34878D82A}">
                    <a16:rowId xmlns:a16="http://schemas.microsoft.com/office/drawing/2014/main" val="10000"/>
                  </a:ext>
                </a:extLst>
              </a:tr>
              <a:tr h="207593">
                <a:tc>
                  <a:txBody>
                    <a:bodyPr/>
                    <a:lstStyle/>
                    <a:p>
                      <a:r>
                        <a:rPr lang="en-US" dirty="0"/>
                        <a:t>An application and the kernel share a memory are that contains two ring buffers:</a:t>
                      </a:r>
                      <a:endParaRPr lang="ru-RU" dirty="0"/>
                    </a:p>
                    <a:p>
                      <a:endParaRPr lang="ru-RU" dirty="0"/>
                    </a:p>
                    <a:p>
                      <a:endParaRPr lang="ru-RU" dirty="0"/>
                    </a:p>
                    <a:p>
                      <a:endParaRPr lang="ru-RU" dirty="0"/>
                    </a:p>
                    <a:p>
                      <a:endParaRPr lang="ru-RU" dirty="0"/>
                    </a:p>
                    <a:p>
                      <a:endParaRPr lang="ru-RU" dirty="0"/>
                    </a:p>
                    <a:p>
                      <a:endParaRPr lang="ru-RU" dirty="0"/>
                    </a:p>
                    <a:p>
                      <a:endParaRPr lang="en-US" dirty="0"/>
                    </a:p>
                    <a:p>
                      <a:endParaRPr lang="en-US" dirty="0"/>
                    </a:p>
                    <a:p>
                      <a:endParaRPr lang="en-US" dirty="0"/>
                    </a:p>
                    <a:p>
                      <a:endParaRPr lang="en-US" dirty="0"/>
                    </a:p>
                    <a:p>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avoid the head-of-line blocking, the submission queue contains only pointers to structs with request arguments. This way, the sq head may be advances as soon as the kernel begins executing an IO request.</a:t>
                      </a:r>
                    </a:p>
                    <a:p>
                      <a:endParaRPr lang="en-US" dirty="0"/>
                    </a:p>
                  </a:txBody>
                  <a:tcPr/>
                </a:tc>
                <a:extLst>
                  <a:ext uri="{0D108BD9-81ED-4DB2-BD59-A6C34878D82A}">
                    <a16:rowId xmlns:a16="http://schemas.microsoft.com/office/drawing/2014/main" val="227005564"/>
                  </a:ext>
                </a:extLst>
              </a:tr>
            </a:tbl>
          </a:graphicData>
        </a:graphic>
      </p:graphicFrame>
      <p:graphicFrame>
        <p:nvGraphicFramePr>
          <p:cNvPr id="3" name="Table 3">
            <a:extLst>
              <a:ext uri="{FF2B5EF4-FFF2-40B4-BE49-F238E27FC236}">
                <a16:creationId xmlns:a16="http://schemas.microsoft.com/office/drawing/2014/main" id="{6330988C-4A06-2F4C-9C0D-A6C7A0F1AF56}"/>
              </a:ext>
            </a:extLst>
          </p:cNvPr>
          <p:cNvGraphicFramePr>
            <a:graphicFrameLocks noGrp="1"/>
          </p:cNvGraphicFramePr>
          <p:nvPr>
            <p:extLst>
              <p:ext uri="{D42A27DB-BD31-4B8C-83A1-F6EECF244321}">
                <p14:modId xmlns:p14="http://schemas.microsoft.com/office/powerpoint/2010/main" val="2865474457"/>
              </p:ext>
            </p:extLst>
          </p:nvPr>
        </p:nvGraphicFramePr>
        <p:xfrm>
          <a:off x="1033348" y="1074863"/>
          <a:ext cx="4402251" cy="741680"/>
        </p:xfrm>
        <a:graphic>
          <a:graphicData uri="http://schemas.openxmlformats.org/drawingml/2006/table">
            <a:tbl>
              <a:tblPr firstRow="1" bandRow="1">
                <a:tableStyleId>{5C22544A-7EE6-4342-B048-85BDC9FD1C3A}</a:tableStyleId>
              </a:tblPr>
              <a:tblGrid>
                <a:gridCol w="628893">
                  <a:extLst>
                    <a:ext uri="{9D8B030D-6E8A-4147-A177-3AD203B41FA5}">
                      <a16:colId xmlns:a16="http://schemas.microsoft.com/office/drawing/2014/main" val="1522416925"/>
                    </a:ext>
                  </a:extLst>
                </a:gridCol>
                <a:gridCol w="628893">
                  <a:extLst>
                    <a:ext uri="{9D8B030D-6E8A-4147-A177-3AD203B41FA5}">
                      <a16:colId xmlns:a16="http://schemas.microsoft.com/office/drawing/2014/main" val="1719059937"/>
                    </a:ext>
                  </a:extLst>
                </a:gridCol>
                <a:gridCol w="628893">
                  <a:extLst>
                    <a:ext uri="{9D8B030D-6E8A-4147-A177-3AD203B41FA5}">
                      <a16:colId xmlns:a16="http://schemas.microsoft.com/office/drawing/2014/main" val="382297958"/>
                    </a:ext>
                  </a:extLst>
                </a:gridCol>
                <a:gridCol w="628893">
                  <a:extLst>
                    <a:ext uri="{9D8B030D-6E8A-4147-A177-3AD203B41FA5}">
                      <a16:colId xmlns:a16="http://schemas.microsoft.com/office/drawing/2014/main" val="993934993"/>
                    </a:ext>
                  </a:extLst>
                </a:gridCol>
                <a:gridCol w="628893">
                  <a:extLst>
                    <a:ext uri="{9D8B030D-6E8A-4147-A177-3AD203B41FA5}">
                      <a16:colId xmlns:a16="http://schemas.microsoft.com/office/drawing/2014/main" val="3329923667"/>
                    </a:ext>
                  </a:extLst>
                </a:gridCol>
                <a:gridCol w="628893">
                  <a:extLst>
                    <a:ext uri="{9D8B030D-6E8A-4147-A177-3AD203B41FA5}">
                      <a16:colId xmlns:a16="http://schemas.microsoft.com/office/drawing/2014/main" val="3592619011"/>
                    </a:ext>
                  </a:extLst>
                </a:gridCol>
                <a:gridCol w="628893">
                  <a:extLst>
                    <a:ext uri="{9D8B030D-6E8A-4147-A177-3AD203B41FA5}">
                      <a16:colId xmlns:a16="http://schemas.microsoft.com/office/drawing/2014/main" val="1887732143"/>
                    </a:ext>
                  </a:extLst>
                </a:gridCol>
              </a:tblGrid>
              <a:tr h="370840">
                <a:tc gridSpan="7">
                  <a:txBody>
                    <a:bodyPr/>
                    <a:lstStyle/>
                    <a:p>
                      <a:pPr algn="ctr"/>
                      <a:r>
                        <a:rPr lang="en-US" dirty="0">
                          <a:solidFill>
                            <a:schemeClr val="tx1"/>
                          </a:solidFill>
                        </a:rPr>
                        <a:t>Submission queue (pointers)</a:t>
                      </a:r>
                      <a:endParaRPr lang="en-RU" dirty="0">
                        <a:solidFill>
                          <a:schemeClr val="tx1"/>
                        </a:solidFill>
                      </a:endParaRPr>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extLst>
                  <a:ext uri="{0D108BD9-81ED-4DB2-BD59-A6C34878D82A}">
                    <a16:rowId xmlns:a16="http://schemas.microsoft.com/office/drawing/2014/main" val="2487623971"/>
                  </a:ext>
                </a:extLst>
              </a:tr>
              <a:tr h="370840">
                <a:tc>
                  <a:txBody>
                    <a:bodyPr/>
                    <a:lstStyle/>
                    <a:p>
                      <a:endParaRPr lang="en-RU" sz="1800" kern="1200" dirty="0">
                        <a:solidFill>
                          <a:schemeClr val="dk1"/>
                        </a:solidFill>
                        <a:latin typeface="+mn-lt"/>
                        <a:ea typeface="+mn-ea"/>
                        <a:cs typeface="+mn-cs"/>
                      </a:endParaRPr>
                    </a:p>
                  </a:txBody>
                  <a:tcPr/>
                </a:tc>
                <a:tc>
                  <a:txBody>
                    <a:bodyPr/>
                    <a:lstStyle/>
                    <a:p>
                      <a:endParaRPr lang="en-RU" dirty="0"/>
                    </a:p>
                  </a:txBody>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p>
                  </a:txBody>
                  <a:tcPr/>
                </a:tc>
                <a:extLst>
                  <a:ext uri="{0D108BD9-81ED-4DB2-BD59-A6C34878D82A}">
                    <a16:rowId xmlns:a16="http://schemas.microsoft.com/office/drawing/2014/main" val="3054324919"/>
                  </a:ext>
                </a:extLst>
              </a:tr>
            </a:tbl>
          </a:graphicData>
        </a:graphic>
      </p:graphicFrame>
      <p:graphicFrame>
        <p:nvGraphicFramePr>
          <p:cNvPr id="8" name="Table 3">
            <a:extLst>
              <a:ext uri="{FF2B5EF4-FFF2-40B4-BE49-F238E27FC236}">
                <a16:creationId xmlns:a16="http://schemas.microsoft.com/office/drawing/2014/main" id="{0B3B7B92-2321-EC4F-844D-0E44D155AC3D}"/>
              </a:ext>
            </a:extLst>
          </p:cNvPr>
          <p:cNvGraphicFramePr>
            <a:graphicFrameLocks noGrp="1"/>
          </p:cNvGraphicFramePr>
          <p:nvPr>
            <p:extLst>
              <p:ext uri="{D42A27DB-BD31-4B8C-83A1-F6EECF244321}">
                <p14:modId xmlns:p14="http://schemas.microsoft.com/office/powerpoint/2010/main" val="2127384897"/>
              </p:ext>
            </p:extLst>
          </p:nvPr>
        </p:nvGraphicFramePr>
        <p:xfrm>
          <a:off x="6756401" y="1074863"/>
          <a:ext cx="4402251" cy="741680"/>
        </p:xfrm>
        <a:graphic>
          <a:graphicData uri="http://schemas.openxmlformats.org/drawingml/2006/table">
            <a:tbl>
              <a:tblPr firstRow="1" bandRow="1">
                <a:tableStyleId>{5C22544A-7EE6-4342-B048-85BDC9FD1C3A}</a:tableStyleId>
              </a:tblPr>
              <a:tblGrid>
                <a:gridCol w="628893">
                  <a:extLst>
                    <a:ext uri="{9D8B030D-6E8A-4147-A177-3AD203B41FA5}">
                      <a16:colId xmlns:a16="http://schemas.microsoft.com/office/drawing/2014/main" val="1522416925"/>
                    </a:ext>
                  </a:extLst>
                </a:gridCol>
                <a:gridCol w="628893">
                  <a:extLst>
                    <a:ext uri="{9D8B030D-6E8A-4147-A177-3AD203B41FA5}">
                      <a16:colId xmlns:a16="http://schemas.microsoft.com/office/drawing/2014/main" val="1719059937"/>
                    </a:ext>
                  </a:extLst>
                </a:gridCol>
                <a:gridCol w="628893">
                  <a:extLst>
                    <a:ext uri="{9D8B030D-6E8A-4147-A177-3AD203B41FA5}">
                      <a16:colId xmlns:a16="http://schemas.microsoft.com/office/drawing/2014/main" val="382297958"/>
                    </a:ext>
                  </a:extLst>
                </a:gridCol>
                <a:gridCol w="628893">
                  <a:extLst>
                    <a:ext uri="{9D8B030D-6E8A-4147-A177-3AD203B41FA5}">
                      <a16:colId xmlns:a16="http://schemas.microsoft.com/office/drawing/2014/main" val="993934993"/>
                    </a:ext>
                  </a:extLst>
                </a:gridCol>
                <a:gridCol w="628893">
                  <a:extLst>
                    <a:ext uri="{9D8B030D-6E8A-4147-A177-3AD203B41FA5}">
                      <a16:colId xmlns:a16="http://schemas.microsoft.com/office/drawing/2014/main" val="3329923667"/>
                    </a:ext>
                  </a:extLst>
                </a:gridCol>
                <a:gridCol w="628893">
                  <a:extLst>
                    <a:ext uri="{9D8B030D-6E8A-4147-A177-3AD203B41FA5}">
                      <a16:colId xmlns:a16="http://schemas.microsoft.com/office/drawing/2014/main" val="3592619011"/>
                    </a:ext>
                  </a:extLst>
                </a:gridCol>
                <a:gridCol w="628893">
                  <a:extLst>
                    <a:ext uri="{9D8B030D-6E8A-4147-A177-3AD203B41FA5}">
                      <a16:colId xmlns:a16="http://schemas.microsoft.com/office/drawing/2014/main" val="1887732143"/>
                    </a:ext>
                  </a:extLst>
                </a:gridCol>
              </a:tblGrid>
              <a:tr h="370840">
                <a:tc gridSpan="7">
                  <a:txBody>
                    <a:bodyPr/>
                    <a:lstStyle/>
                    <a:p>
                      <a:pPr algn="ctr"/>
                      <a:r>
                        <a:rPr lang="en-US" dirty="0">
                          <a:solidFill>
                            <a:schemeClr val="tx1"/>
                          </a:solidFill>
                        </a:rPr>
                        <a:t>Completion queue</a:t>
                      </a:r>
                      <a:endParaRPr lang="en-RU" dirty="0">
                        <a:solidFill>
                          <a:schemeClr val="tx1"/>
                        </a:solidFill>
                      </a:endParaRPr>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extLst>
                  <a:ext uri="{0D108BD9-81ED-4DB2-BD59-A6C34878D82A}">
                    <a16:rowId xmlns:a16="http://schemas.microsoft.com/office/drawing/2014/main" val="2487623971"/>
                  </a:ext>
                </a:extLst>
              </a:tr>
              <a:tr h="370840">
                <a:tc>
                  <a:txBody>
                    <a:bodyPr/>
                    <a:lstStyle/>
                    <a:p>
                      <a:endParaRPr lang="en-RU" dirty="0"/>
                    </a:p>
                  </a:txBody>
                  <a:tcPr>
                    <a:solidFill>
                      <a:srgbClr val="FF0000"/>
                    </a:solidFill>
                  </a:tcPr>
                </a:tc>
                <a:tc>
                  <a:txBody>
                    <a:bodyPr/>
                    <a:lstStyle/>
                    <a:p>
                      <a:endParaRPr lang="en-RU" dirty="0"/>
                    </a:p>
                  </a:txBody>
                  <a:tcPr>
                    <a:solidFill>
                      <a:srgbClr val="FF0000"/>
                    </a:solidFill>
                  </a:tcPr>
                </a:tc>
                <a:tc>
                  <a:txBody>
                    <a:bodyPr/>
                    <a:lstStyle/>
                    <a:p>
                      <a:endParaRPr lang="en-RU" dirty="0"/>
                    </a:p>
                  </a:txBody>
                  <a:tcPr/>
                </a:tc>
                <a:tc>
                  <a:txBody>
                    <a:bodyPr/>
                    <a:lstStyle/>
                    <a:p>
                      <a:endParaRPr lang="en-RU"/>
                    </a:p>
                  </a:txBody>
                  <a:tcPr/>
                </a:tc>
                <a:tc>
                  <a:txBody>
                    <a:bodyPr/>
                    <a:lstStyle/>
                    <a:p>
                      <a:endParaRPr lang="en-RU" dirty="0"/>
                    </a:p>
                  </a:txBody>
                  <a:tcPr/>
                </a:tc>
                <a:tc>
                  <a:txBody>
                    <a:bodyPr/>
                    <a:lstStyle/>
                    <a:p>
                      <a:endParaRPr lang="en-RU" dirty="0"/>
                    </a:p>
                  </a:txBody>
                  <a:tcPr/>
                </a:tc>
                <a:tc>
                  <a:txBody>
                    <a:bodyPr/>
                    <a:lstStyle/>
                    <a:p>
                      <a:endParaRPr lang="en-RU" dirty="0"/>
                    </a:p>
                  </a:txBody>
                  <a:tcPr>
                    <a:solidFill>
                      <a:srgbClr val="FF0000"/>
                    </a:solidFill>
                  </a:tcPr>
                </a:tc>
                <a:extLst>
                  <a:ext uri="{0D108BD9-81ED-4DB2-BD59-A6C34878D82A}">
                    <a16:rowId xmlns:a16="http://schemas.microsoft.com/office/drawing/2014/main" val="3054324919"/>
                  </a:ext>
                </a:extLst>
              </a:tr>
            </a:tbl>
          </a:graphicData>
        </a:graphic>
      </p:graphicFrame>
      <p:cxnSp>
        <p:nvCxnSpPr>
          <p:cNvPr id="11" name="Straight Arrow Connector 10">
            <a:extLst>
              <a:ext uri="{FF2B5EF4-FFF2-40B4-BE49-F238E27FC236}">
                <a16:creationId xmlns:a16="http://schemas.microsoft.com/office/drawing/2014/main" id="{D205FE26-E102-E747-BE4E-8A54CEC8F5B2}"/>
              </a:ext>
            </a:extLst>
          </p:cNvPr>
          <p:cNvCxnSpPr>
            <a:cxnSpLocks/>
          </p:cNvCxnSpPr>
          <p:nvPr/>
        </p:nvCxnSpPr>
        <p:spPr>
          <a:xfrm flipV="1">
            <a:off x="2288458" y="1816544"/>
            <a:ext cx="0" cy="4137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6053293-A421-3943-AF26-125E5F4E7A4B}"/>
              </a:ext>
            </a:extLst>
          </p:cNvPr>
          <p:cNvCxnSpPr>
            <a:cxnSpLocks/>
          </p:cNvCxnSpPr>
          <p:nvPr/>
        </p:nvCxnSpPr>
        <p:spPr>
          <a:xfrm flipV="1">
            <a:off x="4804914"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7717C59-F97A-ED45-8598-9C5A26F01164}"/>
              </a:ext>
            </a:extLst>
          </p:cNvPr>
          <p:cNvCxnSpPr>
            <a:cxnSpLocks/>
          </p:cNvCxnSpPr>
          <p:nvPr/>
        </p:nvCxnSpPr>
        <p:spPr>
          <a:xfrm flipV="1">
            <a:off x="8016467"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08D22B0-7D84-1A47-AD3E-05BE25CC31BF}"/>
              </a:ext>
            </a:extLst>
          </p:cNvPr>
          <p:cNvCxnSpPr>
            <a:cxnSpLocks/>
          </p:cNvCxnSpPr>
          <p:nvPr/>
        </p:nvCxnSpPr>
        <p:spPr>
          <a:xfrm flipV="1">
            <a:off x="10525492"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618F048-33D3-1047-8CA1-86E62E2758B8}"/>
              </a:ext>
            </a:extLst>
          </p:cNvPr>
          <p:cNvSpPr txBox="1"/>
          <p:nvPr/>
        </p:nvSpPr>
        <p:spPr>
          <a:xfrm>
            <a:off x="10057784" y="2230247"/>
            <a:ext cx="935415" cy="369332"/>
          </a:xfrm>
          <a:prstGeom prst="rect">
            <a:avLst/>
          </a:prstGeom>
          <a:noFill/>
        </p:spPr>
        <p:txBody>
          <a:bodyPr wrap="square" rtlCol="0">
            <a:spAutoFit/>
          </a:bodyPr>
          <a:lstStyle/>
          <a:p>
            <a:pPr algn="ctr"/>
            <a:r>
              <a:rPr lang="en-GB" dirty="0"/>
              <a:t>c</a:t>
            </a:r>
            <a:r>
              <a:rPr lang="en-RU" dirty="0"/>
              <a:t>q head</a:t>
            </a:r>
          </a:p>
        </p:txBody>
      </p:sp>
      <p:sp>
        <p:nvSpPr>
          <p:cNvPr id="18" name="TextBox 17">
            <a:extLst>
              <a:ext uri="{FF2B5EF4-FFF2-40B4-BE49-F238E27FC236}">
                <a16:creationId xmlns:a16="http://schemas.microsoft.com/office/drawing/2014/main" id="{EE11DEF1-A4A9-B24E-9C8C-0CE7C423C504}"/>
              </a:ext>
            </a:extLst>
          </p:cNvPr>
          <p:cNvSpPr txBox="1"/>
          <p:nvPr/>
        </p:nvSpPr>
        <p:spPr>
          <a:xfrm>
            <a:off x="7614740" y="2224549"/>
            <a:ext cx="792355" cy="369332"/>
          </a:xfrm>
          <a:prstGeom prst="rect">
            <a:avLst/>
          </a:prstGeom>
          <a:noFill/>
        </p:spPr>
        <p:txBody>
          <a:bodyPr wrap="square" rtlCol="0">
            <a:spAutoFit/>
          </a:bodyPr>
          <a:lstStyle/>
          <a:p>
            <a:pPr algn="ctr"/>
            <a:r>
              <a:rPr lang="en-GB" dirty="0"/>
              <a:t>c</a:t>
            </a:r>
            <a:r>
              <a:rPr lang="en-RU" dirty="0"/>
              <a:t>q tail</a:t>
            </a:r>
          </a:p>
        </p:txBody>
      </p:sp>
      <p:graphicFrame>
        <p:nvGraphicFramePr>
          <p:cNvPr id="23" name="Table 3">
            <a:extLst>
              <a:ext uri="{FF2B5EF4-FFF2-40B4-BE49-F238E27FC236}">
                <a16:creationId xmlns:a16="http://schemas.microsoft.com/office/drawing/2014/main" id="{4502B40E-4DAE-4E41-96A2-771B6FDE0286}"/>
              </a:ext>
            </a:extLst>
          </p:cNvPr>
          <p:cNvGraphicFramePr>
            <a:graphicFrameLocks noGrp="1"/>
          </p:cNvGraphicFramePr>
          <p:nvPr>
            <p:extLst>
              <p:ext uri="{D42A27DB-BD31-4B8C-83A1-F6EECF244321}">
                <p14:modId xmlns:p14="http://schemas.microsoft.com/office/powerpoint/2010/main" val="2250654792"/>
              </p:ext>
            </p:extLst>
          </p:nvPr>
        </p:nvGraphicFramePr>
        <p:xfrm>
          <a:off x="1033346" y="3316189"/>
          <a:ext cx="4402251" cy="741680"/>
        </p:xfrm>
        <a:graphic>
          <a:graphicData uri="http://schemas.openxmlformats.org/drawingml/2006/table">
            <a:tbl>
              <a:tblPr firstRow="1" bandRow="1">
                <a:tableStyleId>{5C22544A-7EE6-4342-B048-85BDC9FD1C3A}</a:tableStyleId>
              </a:tblPr>
              <a:tblGrid>
                <a:gridCol w="628893">
                  <a:extLst>
                    <a:ext uri="{9D8B030D-6E8A-4147-A177-3AD203B41FA5}">
                      <a16:colId xmlns:a16="http://schemas.microsoft.com/office/drawing/2014/main" val="1522416925"/>
                    </a:ext>
                  </a:extLst>
                </a:gridCol>
                <a:gridCol w="628893">
                  <a:extLst>
                    <a:ext uri="{9D8B030D-6E8A-4147-A177-3AD203B41FA5}">
                      <a16:colId xmlns:a16="http://schemas.microsoft.com/office/drawing/2014/main" val="1719059937"/>
                    </a:ext>
                  </a:extLst>
                </a:gridCol>
                <a:gridCol w="628893">
                  <a:extLst>
                    <a:ext uri="{9D8B030D-6E8A-4147-A177-3AD203B41FA5}">
                      <a16:colId xmlns:a16="http://schemas.microsoft.com/office/drawing/2014/main" val="1887732143"/>
                    </a:ext>
                  </a:extLst>
                </a:gridCol>
                <a:gridCol w="628893">
                  <a:extLst>
                    <a:ext uri="{9D8B030D-6E8A-4147-A177-3AD203B41FA5}">
                      <a16:colId xmlns:a16="http://schemas.microsoft.com/office/drawing/2014/main" val="3437339410"/>
                    </a:ext>
                  </a:extLst>
                </a:gridCol>
                <a:gridCol w="628893">
                  <a:extLst>
                    <a:ext uri="{9D8B030D-6E8A-4147-A177-3AD203B41FA5}">
                      <a16:colId xmlns:a16="http://schemas.microsoft.com/office/drawing/2014/main" val="3825877040"/>
                    </a:ext>
                  </a:extLst>
                </a:gridCol>
                <a:gridCol w="628893">
                  <a:extLst>
                    <a:ext uri="{9D8B030D-6E8A-4147-A177-3AD203B41FA5}">
                      <a16:colId xmlns:a16="http://schemas.microsoft.com/office/drawing/2014/main" val="1899514423"/>
                    </a:ext>
                  </a:extLst>
                </a:gridCol>
                <a:gridCol w="628893">
                  <a:extLst>
                    <a:ext uri="{9D8B030D-6E8A-4147-A177-3AD203B41FA5}">
                      <a16:colId xmlns:a16="http://schemas.microsoft.com/office/drawing/2014/main" val="1576688480"/>
                    </a:ext>
                  </a:extLst>
                </a:gridCol>
              </a:tblGrid>
              <a:tr h="370840">
                <a:tc gridSpan="7">
                  <a:txBody>
                    <a:bodyPr/>
                    <a:lstStyle/>
                    <a:p>
                      <a:pPr algn="ctr"/>
                      <a:r>
                        <a:rPr lang="en-US" dirty="0">
                          <a:solidFill>
                            <a:schemeClr val="tx1"/>
                          </a:solidFill>
                        </a:rPr>
                        <a:t>Submission queue (entries)</a:t>
                      </a:r>
                      <a:endParaRPr lang="en-RU" dirty="0">
                        <a:solidFill>
                          <a:schemeClr val="tx1"/>
                        </a:solidFill>
                      </a:endParaRPr>
                    </a:p>
                  </a:txBody>
                  <a:tcPr/>
                </a:tc>
                <a:tc hMerge="1">
                  <a:txBody>
                    <a:bodyPr/>
                    <a:lstStyle/>
                    <a:p>
                      <a:endParaRPr lang="en-RU" dirty="0"/>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extLst>
                  <a:ext uri="{0D108BD9-81ED-4DB2-BD59-A6C34878D82A}">
                    <a16:rowId xmlns:a16="http://schemas.microsoft.com/office/drawing/2014/main" val="2487623971"/>
                  </a:ext>
                </a:extLst>
              </a:tr>
              <a:tr h="370840">
                <a:tc>
                  <a:txBody>
                    <a:bodyPr/>
                    <a:lstStyle/>
                    <a:p>
                      <a:endParaRPr lang="en-RU" dirty="0"/>
                    </a:p>
                  </a:txBody>
                  <a:tcPr>
                    <a:solidFill>
                      <a:srgbClr val="FF0000"/>
                    </a:solidFill>
                  </a:tcPr>
                </a:tc>
                <a:tc>
                  <a:txBody>
                    <a:bodyPr/>
                    <a:lstStyle/>
                    <a:p>
                      <a:endParaRPr lang="en-RU" dirty="0"/>
                    </a:p>
                  </a:txBody>
                  <a:tcPr>
                    <a:solidFill>
                      <a:srgbClr val="FF0000"/>
                    </a:solidFill>
                  </a:tcPr>
                </a:tc>
                <a:tc>
                  <a:txBody>
                    <a:bodyPr/>
                    <a:lstStyle/>
                    <a:p>
                      <a:endParaRPr lang="en-RU" dirty="0"/>
                    </a:p>
                  </a:txBody>
                  <a:tcPr/>
                </a:tc>
                <a:tc>
                  <a:txBody>
                    <a:bodyPr/>
                    <a:lstStyle/>
                    <a:p>
                      <a:endParaRPr lang="en-RU" dirty="0"/>
                    </a:p>
                  </a:txBody>
                  <a:tcPr/>
                </a:tc>
                <a:tc>
                  <a:txBody>
                    <a:bodyPr/>
                    <a:lstStyle/>
                    <a:p>
                      <a:endParaRPr lang="en-RU" dirty="0"/>
                    </a:p>
                  </a:txBody>
                  <a:tcPr>
                    <a:solidFill>
                      <a:srgbClr val="FF0000"/>
                    </a:solidFill>
                  </a:tcPr>
                </a:tc>
                <a:tc>
                  <a:txBody>
                    <a:bodyPr/>
                    <a:lstStyle/>
                    <a:p>
                      <a:endParaRPr lang="en-RU" dirty="0"/>
                    </a:p>
                  </a:txBody>
                  <a:tcPr/>
                </a:tc>
                <a:tc>
                  <a:txBody>
                    <a:bodyPr/>
                    <a:lstStyle/>
                    <a:p>
                      <a:endParaRPr lang="en-RU" dirty="0"/>
                    </a:p>
                  </a:txBody>
                  <a:tcPr>
                    <a:solidFill>
                      <a:srgbClr val="FF0000"/>
                    </a:solidFill>
                  </a:tcPr>
                </a:tc>
                <a:extLst>
                  <a:ext uri="{0D108BD9-81ED-4DB2-BD59-A6C34878D82A}">
                    <a16:rowId xmlns:a16="http://schemas.microsoft.com/office/drawing/2014/main" val="3054324919"/>
                  </a:ext>
                </a:extLst>
              </a:tr>
            </a:tbl>
          </a:graphicData>
        </a:graphic>
      </p:graphicFrame>
      <p:cxnSp>
        <p:nvCxnSpPr>
          <p:cNvPr id="25" name="Straight Arrow Connector 24">
            <a:extLst>
              <a:ext uri="{FF2B5EF4-FFF2-40B4-BE49-F238E27FC236}">
                <a16:creationId xmlns:a16="http://schemas.microsoft.com/office/drawing/2014/main" id="{2212B85C-F4B5-624F-A29D-C39BB67331BB}"/>
              </a:ext>
            </a:extLst>
          </p:cNvPr>
          <p:cNvCxnSpPr>
            <a:cxnSpLocks/>
          </p:cNvCxnSpPr>
          <p:nvPr/>
        </p:nvCxnSpPr>
        <p:spPr>
          <a:xfrm flipH="1">
            <a:off x="2074127" y="1816543"/>
            <a:ext cx="557562" cy="14996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0657090-76B6-A341-9E8F-ACEA0869AC33}"/>
              </a:ext>
            </a:extLst>
          </p:cNvPr>
          <p:cNvCxnSpPr>
            <a:cxnSpLocks/>
          </p:cNvCxnSpPr>
          <p:nvPr/>
        </p:nvCxnSpPr>
        <p:spPr>
          <a:xfrm flipH="1">
            <a:off x="1379644" y="1816543"/>
            <a:ext cx="1842753" cy="14996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1172A19-E1F9-404E-83F4-1A3916ADA8D6}"/>
              </a:ext>
            </a:extLst>
          </p:cNvPr>
          <p:cNvCxnSpPr>
            <a:cxnSpLocks/>
          </p:cNvCxnSpPr>
          <p:nvPr/>
        </p:nvCxnSpPr>
        <p:spPr>
          <a:xfrm flipH="1">
            <a:off x="3865732" y="1816543"/>
            <a:ext cx="20481" cy="14996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F92BC74-89C7-EB4A-A373-8B990817985F}"/>
              </a:ext>
            </a:extLst>
          </p:cNvPr>
          <p:cNvCxnSpPr>
            <a:cxnSpLocks/>
          </p:cNvCxnSpPr>
          <p:nvPr/>
        </p:nvCxnSpPr>
        <p:spPr>
          <a:xfrm>
            <a:off x="4498580" y="1816542"/>
            <a:ext cx="642133" cy="14996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6294ED5-720C-A742-BC17-E71A4EA9B5B0}"/>
              </a:ext>
            </a:extLst>
          </p:cNvPr>
          <p:cNvSpPr txBox="1"/>
          <p:nvPr/>
        </p:nvSpPr>
        <p:spPr>
          <a:xfrm>
            <a:off x="1360475" y="1838729"/>
            <a:ext cx="935415" cy="369332"/>
          </a:xfrm>
          <a:prstGeom prst="rect">
            <a:avLst/>
          </a:prstGeom>
          <a:noFill/>
        </p:spPr>
        <p:txBody>
          <a:bodyPr wrap="square" rtlCol="0">
            <a:spAutoFit/>
          </a:bodyPr>
          <a:lstStyle/>
          <a:p>
            <a:pPr algn="ctr"/>
            <a:r>
              <a:rPr lang="en-GB" dirty="0"/>
              <a:t>s</a:t>
            </a:r>
            <a:r>
              <a:rPr lang="en-RU" dirty="0"/>
              <a:t>q head</a:t>
            </a:r>
          </a:p>
        </p:txBody>
      </p:sp>
      <p:sp>
        <p:nvSpPr>
          <p:cNvPr id="34" name="TextBox 33">
            <a:extLst>
              <a:ext uri="{FF2B5EF4-FFF2-40B4-BE49-F238E27FC236}">
                <a16:creationId xmlns:a16="http://schemas.microsoft.com/office/drawing/2014/main" id="{7EA6DE3D-72F4-354C-8B7F-9875F292721A}"/>
              </a:ext>
            </a:extLst>
          </p:cNvPr>
          <p:cNvSpPr txBox="1"/>
          <p:nvPr/>
        </p:nvSpPr>
        <p:spPr>
          <a:xfrm>
            <a:off x="4785434" y="1816541"/>
            <a:ext cx="792355" cy="369332"/>
          </a:xfrm>
          <a:prstGeom prst="rect">
            <a:avLst/>
          </a:prstGeom>
          <a:noFill/>
        </p:spPr>
        <p:txBody>
          <a:bodyPr wrap="square" rtlCol="0">
            <a:spAutoFit/>
          </a:bodyPr>
          <a:lstStyle/>
          <a:p>
            <a:pPr algn="ctr"/>
            <a:r>
              <a:rPr lang="en-GB" dirty="0"/>
              <a:t>s</a:t>
            </a:r>
            <a:r>
              <a:rPr lang="en-RU" dirty="0"/>
              <a:t>q tail</a:t>
            </a:r>
          </a:p>
        </p:txBody>
      </p:sp>
    </p:spTree>
    <p:extLst>
      <p:ext uri="{BB962C8B-B14F-4D97-AF65-F5344CB8AC3E}">
        <p14:creationId xmlns:p14="http://schemas.microsoft.com/office/powerpoint/2010/main" val="4172550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778679065"/>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19709965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211902384"/>
              </p:ext>
            </p:extLst>
          </p:nvPr>
        </p:nvGraphicFramePr>
        <p:xfrm>
          <a:off x="0" y="365762"/>
          <a:ext cx="12192000" cy="60350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07593">
                <a:tc>
                  <a:txBody>
                    <a:bodyPr/>
                    <a:lstStyle/>
                    <a:p>
                      <a:r>
                        <a:rPr lang="en-US" dirty="0"/>
                        <a:t>The</a:t>
                      </a:r>
                      <a:r>
                        <a:rPr lang="ru-RU" dirty="0"/>
                        <a:t> </a:t>
                      </a:r>
                      <a:r>
                        <a:rPr lang="en-US" dirty="0"/>
                        <a:t>Linux approach to asynchronous IO (</a:t>
                      </a:r>
                      <a:r>
                        <a:rPr lang="en-US" dirty="0" err="1"/>
                        <a:t>io_uring</a:t>
                      </a:r>
                      <a:r>
                        <a:rPr lang="en-US" dirty="0"/>
                        <a:t>)</a:t>
                      </a:r>
                      <a:endParaRPr lang="ru-RU" dirty="0"/>
                    </a:p>
                  </a:txBody>
                  <a:tcPr/>
                </a:tc>
                <a:extLst>
                  <a:ext uri="{0D108BD9-81ED-4DB2-BD59-A6C34878D82A}">
                    <a16:rowId xmlns:a16="http://schemas.microsoft.com/office/drawing/2014/main" val="10000"/>
                  </a:ext>
                </a:extLst>
              </a:tr>
              <a:tr h="2075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application and the kernel share a memory are that contains two ring buffers:</a:t>
                      </a:r>
                      <a:endParaRPr lang="ru-RU" dirty="0"/>
                    </a:p>
                    <a:p>
                      <a:endParaRPr lang="ru-RU" dirty="0"/>
                    </a:p>
                    <a:p>
                      <a:endParaRPr lang="ru-RU" dirty="0"/>
                    </a:p>
                    <a:p>
                      <a:endParaRPr lang="ru-RU" dirty="0"/>
                    </a:p>
                    <a:p>
                      <a:endParaRPr lang="ru-RU" dirty="0"/>
                    </a:p>
                    <a:p>
                      <a:endParaRPr lang="ru-RU" dirty="0"/>
                    </a:p>
                    <a:p>
                      <a:endParaRPr lang="ru-RU"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227005564"/>
                  </a:ext>
                </a:extLst>
              </a:tr>
              <a:tr h="207593">
                <a:tc>
                  <a:txBody>
                    <a:bodyPr/>
                    <a:lstStyle/>
                    <a:p>
                      <a:r>
                        <a:rPr lang="en-US" dirty="0"/>
                        <a:t>To do at home</a:t>
                      </a:r>
                      <a:r>
                        <a:rPr lang="ru-RU" dirty="0"/>
                        <a:t>:</a:t>
                      </a:r>
                      <a:endParaRPr lang="en-US" dirty="0"/>
                    </a:p>
                    <a:p>
                      <a:pPr marL="342900" indent="-342900">
                        <a:buFont typeface="+mj-lt"/>
                        <a:buAutoNum type="arabicPeriod"/>
                      </a:pPr>
                      <a:r>
                        <a:rPr lang="en-US" dirty="0"/>
                        <a:t>Read </a:t>
                      </a:r>
                      <a:r>
                        <a:rPr lang="en-US" dirty="0">
                          <a:hlinkClick r:id="rId3"/>
                        </a:rPr>
                        <a:t>https://lwn.net/Articles/776703/</a:t>
                      </a:r>
                      <a:r>
                        <a:rPr lang="ru-RU" dirty="0">
                          <a:hlinkClick r:id="rId3"/>
                        </a:rPr>
                        <a:t>,</a:t>
                      </a:r>
                      <a:endParaRPr lang="en-US" dirty="0"/>
                    </a:p>
                    <a:p>
                      <a:pPr marL="342900" indent="-342900">
                        <a:buFont typeface="+mj-lt"/>
                        <a:buAutoNum type="arabicPeriod"/>
                      </a:pPr>
                      <a:r>
                        <a:rPr lang="en-US" dirty="0"/>
                        <a:t>Learn the</a:t>
                      </a:r>
                      <a:r>
                        <a:rPr lang="ru-RU" dirty="0"/>
                        <a:t> </a:t>
                      </a:r>
                      <a:r>
                        <a:rPr lang="en-US" dirty="0"/>
                        <a:t>API of </a:t>
                      </a:r>
                      <a:r>
                        <a:rPr lang="en-US" dirty="0" err="1"/>
                        <a:t>liburing</a:t>
                      </a:r>
                      <a:r>
                        <a:rPr lang="en-US" dirty="0"/>
                        <a:t> </a:t>
                      </a:r>
                      <a:r>
                        <a:rPr lang="en-US" dirty="0">
                          <a:hlinkClick r:id="rId4"/>
                        </a:rPr>
                        <a:t>https://github.com/axboe/liburing</a:t>
                      </a:r>
                      <a:r>
                        <a:rPr lang="en-US" dirty="0"/>
                        <a:t>,</a:t>
                      </a:r>
                    </a:p>
                    <a:p>
                      <a:pPr marL="342900" indent="-342900">
                        <a:buFont typeface="+mj-lt"/>
                        <a:buAutoNum type="arabicPeriod"/>
                      </a:pPr>
                      <a:r>
                        <a:rPr lang="en-US" dirty="0"/>
                        <a:t>Write an implementation of</a:t>
                      </a:r>
                      <a:r>
                        <a:rPr lang="ru-RU" dirty="0"/>
                        <a:t> </a:t>
                      </a:r>
                      <a:r>
                        <a:rPr lang="en-US" dirty="0">
                          <a:latin typeface="Consolas" panose="020B0609020204030204" pitchFamily="49" charset="0"/>
                          <a:cs typeface="Consolas" panose="020B0609020204030204" pitchFamily="49" charset="0"/>
                        </a:rPr>
                        <a:t>cp</a:t>
                      </a:r>
                      <a:r>
                        <a:rPr lang="en-US" dirty="0"/>
                        <a:t> that works this way</a:t>
                      </a:r>
                      <a:r>
                        <a:rPr lang="ru-RU" dirty="0"/>
                        <a:t>:</a:t>
                      </a:r>
                    </a:p>
                    <a:p>
                      <a:pPr marL="857250" lvl="1" indent="-400050">
                        <a:buFont typeface="+mj-lt"/>
                        <a:buAutoNum type="alphaLcPeriod"/>
                      </a:pPr>
                      <a:r>
                        <a:rPr lang="en-US" dirty="0"/>
                        <a:t>start by issuing</a:t>
                      </a:r>
                      <a:r>
                        <a:rPr lang="ru-RU" dirty="0"/>
                        <a:t> </a:t>
                      </a:r>
                      <a:r>
                        <a:rPr lang="en-US" dirty="0"/>
                        <a:t>N</a:t>
                      </a:r>
                      <a:r>
                        <a:rPr lang="ru-RU" dirty="0"/>
                        <a:t> </a:t>
                      </a:r>
                      <a:r>
                        <a:rPr lang="en-US" dirty="0"/>
                        <a:t>read requests</a:t>
                      </a:r>
                      <a:r>
                        <a:rPr lang="ru-RU" dirty="0"/>
                        <a:t> </a:t>
                      </a:r>
                      <a:r>
                        <a:rPr lang="en-US" dirty="0"/>
                        <a:t>(N = 4 or</a:t>
                      </a:r>
                      <a:r>
                        <a:rPr lang="ru-RU" dirty="0"/>
                        <a:t> </a:t>
                      </a:r>
                      <a:r>
                        <a:rPr lang="en-US" dirty="0"/>
                        <a:t>N = 8), each request being</a:t>
                      </a:r>
                      <a:r>
                        <a:rPr lang="ru-RU" dirty="0"/>
                        <a:t> </a:t>
                      </a:r>
                      <a:r>
                        <a:rPr lang="en-US" dirty="0"/>
                        <a:t>256K or</a:t>
                      </a:r>
                      <a:r>
                        <a:rPr lang="ru-RU" dirty="0"/>
                        <a:t> </a:t>
                      </a:r>
                      <a:r>
                        <a:rPr lang="en-US" dirty="0"/>
                        <a:t>512K long,</a:t>
                      </a:r>
                    </a:p>
                    <a:p>
                      <a:pPr marL="857250" lvl="1" indent="-400050">
                        <a:buFont typeface="+mj-lt"/>
                        <a:buAutoNum type="alphaLcPeriod"/>
                      </a:pPr>
                      <a:r>
                        <a:rPr lang="en-US" dirty="0"/>
                        <a:t>when the read</a:t>
                      </a:r>
                      <a:r>
                        <a:rPr lang="ru-RU" dirty="0"/>
                        <a:t> </a:t>
                      </a:r>
                      <a:r>
                        <a:rPr lang="en-US" dirty="0"/>
                        <a:t>#</a:t>
                      </a:r>
                      <a:r>
                        <a:rPr lang="ru-RU" dirty="0"/>
                        <a:t>0</a:t>
                      </a:r>
                      <a:r>
                        <a:rPr lang="en-US" dirty="0"/>
                        <a:t> completes</a:t>
                      </a:r>
                      <a:r>
                        <a:rPr lang="ru-RU" dirty="0"/>
                        <a:t>, </a:t>
                      </a:r>
                      <a:r>
                        <a:rPr lang="en-US" dirty="0"/>
                        <a:t>issue the write #0</a:t>
                      </a:r>
                      <a:r>
                        <a:rPr lang="ru-RU" dirty="0"/>
                        <a:t>,</a:t>
                      </a:r>
                    </a:p>
                    <a:p>
                      <a:pPr marL="857250" lvl="1" indent="-400050">
                        <a:buFont typeface="+mj-lt"/>
                        <a:buAutoNum type="alphaLcPeriod"/>
                      </a:pPr>
                      <a:r>
                        <a:rPr lang="en-US" dirty="0"/>
                        <a:t>when the</a:t>
                      </a:r>
                      <a:r>
                        <a:rPr lang="ru-RU" dirty="0"/>
                        <a:t> </a:t>
                      </a:r>
                      <a:r>
                        <a:rPr lang="en-US" dirty="0"/>
                        <a:t>read #</a:t>
                      </a:r>
                      <a:r>
                        <a:rPr lang="ru-RU" dirty="0"/>
                        <a:t>1</a:t>
                      </a:r>
                      <a:r>
                        <a:rPr lang="en-US" dirty="0"/>
                        <a:t> completes,</a:t>
                      </a:r>
                      <a:r>
                        <a:rPr lang="ru-RU" dirty="0"/>
                        <a:t> ….</a:t>
                      </a:r>
                      <a:endParaRPr lang="en-US" dirty="0"/>
                    </a:p>
                    <a:p>
                      <a:pPr marL="857250" lvl="1" indent="-400050">
                        <a:buFont typeface="+mj-lt"/>
                        <a:buAutoNum type="alphaLcPeriod"/>
                      </a:pPr>
                      <a:r>
                        <a:rPr lang="en-US" dirty="0"/>
                        <a:t>as write requests complete and buffers become available for reuse, issue more reads.</a:t>
                      </a:r>
                      <a:endParaRPr lang="ru-RU" dirty="0"/>
                    </a:p>
                  </a:txBody>
                  <a:tcPr/>
                </a:tc>
                <a:extLst>
                  <a:ext uri="{0D108BD9-81ED-4DB2-BD59-A6C34878D82A}">
                    <a16:rowId xmlns:a16="http://schemas.microsoft.com/office/drawing/2014/main" val="1861892649"/>
                  </a:ext>
                </a:extLst>
              </a:tr>
            </a:tbl>
          </a:graphicData>
        </a:graphic>
      </p:graphicFrame>
      <p:graphicFrame>
        <p:nvGraphicFramePr>
          <p:cNvPr id="3" name="Table 3">
            <a:extLst>
              <a:ext uri="{FF2B5EF4-FFF2-40B4-BE49-F238E27FC236}">
                <a16:creationId xmlns:a16="http://schemas.microsoft.com/office/drawing/2014/main" id="{6330988C-4A06-2F4C-9C0D-A6C7A0F1AF56}"/>
              </a:ext>
            </a:extLst>
          </p:cNvPr>
          <p:cNvGraphicFramePr>
            <a:graphicFrameLocks noGrp="1"/>
          </p:cNvGraphicFramePr>
          <p:nvPr/>
        </p:nvGraphicFramePr>
        <p:xfrm>
          <a:off x="1033348" y="1074863"/>
          <a:ext cx="4402251" cy="741680"/>
        </p:xfrm>
        <a:graphic>
          <a:graphicData uri="http://schemas.openxmlformats.org/drawingml/2006/table">
            <a:tbl>
              <a:tblPr firstRow="1" bandRow="1">
                <a:tableStyleId>{5C22544A-7EE6-4342-B048-85BDC9FD1C3A}</a:tableStyleId>
              </a:tblPr>
              <a:tblGrid>
                <a:gridCol w="628893">
                  <a:extLst>
                    <a:ext uri="{9D8B030D-6E8A-4147-A177-3AD203B41FA5}">
                      <a16:colId xmlns:a16="http://schemas.microsoft.com/office/drawing/2014/main" val="1522416925"/>
                    </a:ext>
                  </a:extLst>
                </a:gridCol>
                <a:gridCol w="628893">
                  <a:extLst>
                    <a:ext uri="{9D8B030D-6E8A-4147-A177-3AD203B41FA5}">
                      <a16:colId xmlns:a16="http://schemas.microsoft.com/office/drawing/2014/main" val="1719059937"/>
                    </a:ext>
                  </a:extLst>
                </a:gridCol>
                <a:gridCol w="628893">
                  <a:extLst>
                    <a:ext uri="{9D8B030D-6E8A-4147-A177-3AD203B41FA5}">
                      <a16:colId xmlns:a16="http://schemas.microsoft.com/office/drawing/2014/main" val="382297958"/>
                    </a:ext>
                  </a:extLst>
                </a:gridCol>
                <a:gridCol w="628893">
                  <a:extLst>
                    <a:ext uri="{9D8B030D-6E8A-4147-A177-3AD203B41FA5}">
                      <a16:colId xmlns:a16="http://schemas.microsoft.com/office/drawing/2014/main" val="993934993"/>
                    </a:ext>
                  </a:extLst>
                </a:gridCol>
                <a:gridCol w="628893">
                  <a:extLst>
                    <a:ext uri="{9D8B030D-6E8A-4147-A177-3AD203B41FA5}">
                      <a16:colId xmlns:a16="http://schemas.microsoft.com/office/drawing/2014/main" val="3329923667"/>
                    </a:ext>
                  </a:extLst>
                </a:gridCol>
                <a:gridCol w="628893">
                  <a:extLst>
                    <a:ext uri="{9D8B030D-6E8A-4147-A177-3AD203B41FA5}">
                      <a16:colId xmlns:a16="http://schemas.microsoft.com/office/drawing/2014/main" val="3592619011"/>
                    </a:ext>
                  </a:extLst>
                </a:gridCol>
                <a:gridCol w="628893">
                  <a:extLst>
                    <a:ext uri="{9D8B030D-6E8A-4147-A177-3AD203B41FA5}">
                      <a16:colId xmlns:a16="http://schemas.microsoft.com/office/drawing/2014/main" val="1887732143"/>
                    </a:ext>
                  </a:extLst>
                </a:gridCol>
              </a:tblGrid>
              <a:tr h="370840">
                <a:tc gridSpan="7">
                  <a:txBody>
                    <a:bodyPr/>
                    <a:lstStyle/>
                    <a:p>
                      <a:pPr algn="ctr"/>
                      <a:r>
                        <a:rPr lang="en-US" dirty="0">
                          <a:solidFill>
                            <a:schemeClr val="tx1"/>
                          </a:solidFill>
                        </a:rPr>
                        <a:t>Submission queue (pointers)</a:t>
                      </a:r>
                      <a:endParaRPr lang="en-RU" dirty="0">
                        <a:solidFill>
                          <a:schemeClr val="tx1"/>
                        </a:solidFill>
                      </a:endParaRPr>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extLst>
                  <a:ext uri="{0D108BD9-81ED-4DB2-BD59-A6C34878D82A}">
                    <a16:rowId xmlns:a16="http://schemas.microsoft.com/office/drawing/2014/main" val="2487623971"/>
                  </a:ext>
                </a:extLst>
              </a:tr>
              <a:tr h="370840">
                <a:tc>
                  <a:txBody>
                    <a:bodyPr/>
                    <a:lstStyle/>
                    <a:p>
                      <a:endParaRPr lang="en-RU" sz="1800" kern="1200" dirty="0">
                        <a:solidFill>
                          <a:schemeClr val="dk1"/>
                        </a:solidFill>
                        <a:latin typeface="+mn-lt"/>
                        <a:ea typeface="+mn-ea"/>
                        <a:cs typeface="+mn-cs"/>
                      </a:endParaRPr>
                    </a:p>
                  </a:txBody>
                  <a:tcPr/>
                </a:tc>
                <a:tc>
                  <a:txBody>
                    <a:bodyPr/>
                    <a:lstStyle/>
                    <a:p>
                      <a:endParaRPr lang="en-RU" dirty="0"/>
                    </a:p>
                  </a:txBody>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highlight>
                          <a:srgbClr val="FF0000"/>
                        </a:highlight>
                      </a:endParaRPr>
                    </a:p>
                  </a:txBody>
                  <a:tcPr>
                    <a:solidFill>
                      <a:srgbClr val="FF0000"/>
                    </a:solidFill>
                  </a:tcPr>
                </a:tc>
                <a:tc>
                  <a:txBody>
                    <a:bodyPr/>
                    <a:lstStyle/>
                    <a:p>
                      <a:endParaRPr lang="en-RU" dirty="0"/>
                    </a:p>
                  </a:txBody>
                  <a:tcPr/>
                </a:tc>
                <a:extLst>
                  <a:ext uri="{0D108BD9-81ED-4DB2-BD59-A6C34878D82A}">
                    <a16:rowId xmlns:a16="http://schemas.microsoft.com/office/drawing/2014/main" val="3054324919"/>
                  </a:ext>
                </a:extLst>
              </a:tr>
            </a:tbl>
          </a:graphicData>
        </a:graphic>
      </p:graphicFrame>
      <p:graphicFrame>
        <p:nvGraphicFramePr>
          <p:cNvPr id="8" name="Table 3">
            <a:extLst>
              <a:ext uri="{FF2B5EF4-FFF2-40B4-BE49-F238E27FC236}">
                <a16:creationId xmlns:a16="http://schemas.microsoft.com/office/drawing/2014/main" id="{0B3B7B92-2321-EC4F-844D-0E44D155AC3D}"/>
              </a:ext>
            </a:extLst>
          </p:cNvPr>
          <p:cNvGraphicFramePr>
            <a:graphicFrameLocks noGrp="1"/>
          </p:cNvGraphicFramePr>
          <p:nvPr/>
        </p:nvGraphicFramePr>
        <p:xfrm>
          <a:off x="6756401" y="1074863"/>
          <a:ext cx="4402251" cy="741680"/>
        </p:xfrm>
        <a:graphic>
          <a:graphicData uri="http://schemas.openxmlformats.org/drawingml/2006/table">
            <a:tbl>
              <a:tblPr firstRow="1" bandRow="1">
                <a:tableStyleId>{5C22544A-7EE6-4342-B048-85BDC9FD1C3A}</a:tableStyleId>
              </a:tblPr>
              <a:tblGrid>
                <a:gridCol w="628893">
                  <a:extLst>
                    <a:ext uri="{9D8B030D-6E8A-4147-A177-3AD203B41FA5}">
                      <a16:colId xmlns:a16="http://schemas.microsoft.com/office/drawing/2014/main" val="1522416925"/>
                    </a:ext>
                  </a:extLst>
                </a:gridCol>
                <a:gridCol w="628893">
                  <a:extLst>
                    <a:ext uri="{9D8B030D-6E8A-4147-A177-3AD203B41FA5}">
                      <a16:colId xmlns:a16="http://schemas.microsoft.com/office/drawing/2014/main" val="1719059937"/>
                    </a:ext>
                  </a:extLst>
                </a:gridCol>
                <a:gridCol w="628893">
                  <a:extLst>
                    <a:ext uri="{9D8B030D-6E8A-4147-A177-3AD203B41FA5}">
                      <a16:colId xmlns:a16="http://schemas.microsoft.com/office/drawing/2014/main" val="382297958"/>
                    </a:ext>
                  </a:extLst>
                </a:gridCol>
                <a:gridCol w="628893">
                  <a:extLst>
                    <a:ext uri="{9D8B030D-6E8A-4147-A177-3AD203B41FA5}">
                      <a16:colId xmlns:a16="http://schemas.microsoft.com/office/drawing/2014/main" val="993934993"/>
                    </a:ext>
                  </a:extLst>
                </a:gridCol>
                <a:gridCol w="628893">
                  <a:extLst>
                    <a:ext uri="{9D8B030D-6E8A-4147-A177-3AD203B41FA5}">
                      <a16:colId xmlns:a16="http://schemas.microsoft.com/office/drawing/2014/main" val="3329923667"/>
                    </a:ext>
                  </a:extLst>
                </a:gridCol>
                <a:gridCol w="628893">
                  <a:extLst>
                    <a:ext uri="{9D8B030D-6E8A-4147-A177-3AD203B41FA5}">
                      <a16:colId xmlns:a16="http://schemas.microsoft.com/office/drawing/2014/main" val="3592619011"/>
                    </a:ext>
                  </a:extLst>
                </a:gridCol>
                <a:gridCol w="628893">
                  <a:extLst>
                    <a:ext uri="{9D8B030D-6E8A-4147-A177-3AD203B41FA5}">
                      <a16:colId xmlns:a16="http://schemas.microsoft.com/office/drawing/2014/main" val="1887732143"/>
                    </a:ext>
                  </a:extLst>
                </a:gridCol>
              </a:tblGrid>
              <a:tr h="370840">
                <a:tc gridSpan="7">
                  <a:txBody>
                    <a:bodyPr/>
                    <a:lstStyle/>
                    <a:p>
                      <a:pPr algn="ctr"/>
                      <a:r>
                        <a:rPr lang="en-US" dirty="0">
                          <a:solidFill>
                            <a:schemeClr val="tx1"/>
                          </a:solidFill>
                        </a:rPr>
                        <a:t>Completion queue</a:t>
                      </a:r>
                      <a:endParaRPr lang="en-RU" dirty="0">
                        <a:solidFill>
                          <a:schemeClr val="tx1"/>
                        </a:solidFill>
                      </a:endParaRPr>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endParaRPr lang="en-RU" dirty="0"/>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extLst>
                  <a:ext uri="{0D108BD9-81ED-4DB2-BD59-A6C34878D82A}">
                    <a16:rowId xmlns:a16="http://schemas.microsoft.com/office/drawing/2014/main" val="2487623971"/>
                  </a:ext>
                </a:extLst>
              </a:tr>
              <a:tr h="370840">
                <a:tc>
                  <a:txBody>
                    <a:bodyPr/>
                    <a:lstStyle/>
                    <a:p>
                      <a:endParaRPr lang="en-RU" dirty="0"/>
                    </a:p>
                  </a:txBody>
                  <a:tcPr>
                    <a:solidFill>
                      <a:srgbClr val="FF0000"/>
                    </a:solidFill>
                  </a:tcPr>
                </a:tc>
                <a:tc>
                  <a:txBody>
                    <a:bodyPr/>
                    <a:lstStyle/>
                    <a:p>
                      <a:endParaRPr lang="en-RU" dirty="0"/>
                    </a:p>
                  </a:txBody>
                  <a:tcPr>
                    <a:solidFill>
                      <a:srgbClr val="FF0000"/>
                    </a:solidFill>
                  </a:tcPr>
                </a:tc>
                <a:tc>
                  <a:txBody>
                    <a:bodyPr/>
                    <a:lstStyle/>
                    <a:p>
                      <a:endParaRPr lang="en-RU" dirty="0"/>
                    </a:p>
                  </a:txBody>
                  <a:tcPr/>
                </a:tc>
                <a:tc>
                  <a:txBody>
                    <a:bodyPr/>
                    <a:lstStyle/>
                    <a:p>
                      <a:endParaRPr lang="en-RU"/>
                    </a:p>
                  </a:txBody>
                  <a:tcPr/>
                </a:tc>
                <a:tc>
                  <a:txBody>
                    <a:bodyPr/>
                    <a:lstStyle/>
                    <a:p>
                      <a:endParaRPr lang="en-RU" dirty="0"/>
                    </a:p>
                  </a:txBody>
                  <a:tcPr/>
                </a:tc>
                <a:tc>
                  <a:txBody>
                    <a:bodyPr/>
                    <a:lstStyle/>
                    <a:p>
                      <a:endParaRPr lang="en-RU" dirty="0"/>
                    </a:p>
                  </a:txBody>
                  <a:tcPr/>
                </a:tc>
                <a:tc>
                  <a:txBody>
                    <a:bodyPr/>
                    <a:lstStyle/>
                    <a:p>
                      <a:endParaRPr lang="en-RU" dirty="0"/>
                    </a:p>
                  </a:txBody>
                  <a:tcPr>
                    <a:solidFill>
                      <a:srgbClr val="FF0000"/>
                    </a:solidFill>
                  </a:tcPr>
                </a:tc>
                <a:extLst>
                  <a:ext uri="{0D108BD9-81ED-4DB2-BD59-A6C34878D82A}">
                    <a16:rowId xmlns:a16="http://schemas.microsoft.com/office/drawing/2014/main" val="3054324919"/>
                  </a:ext>
                </a:extLst>
              </a:tr>
            </a:tbl>
          </a:graphicData>
        </a:graphic>
      </p:graphicFrame>
      <p:cxnSp>
        <p:nvCxnSpPr>
          <p:cNvPr id="11" name="Straight Arrow Connector 10">
            <a:extLst>
              <a:ext uri="{FF2B5EF4-FFF2-40B4-BE49-F238E27FC236}">
                <a16:creationId xmlns:a16="http://schemas.microsoft.com/office/drawing/2014/main" id="{D205FE26-E102-E747-BE4E-8A54CEC8F5B2}"/>
              </a:ext>
            </a:extLst>
          </p:cNvPr>
          <p:cNvCxnSpPr>
            <a:cxnSpLocks/>
          </p:cNvCxnSpPr>
          <p:nvPr/>
        </p:nvCxnSpPr>
        <p:spPr>
          <a:xfrm flipV="1">
            <a:off x="2288458" y="1816544"/>
            <a:ext cx="0" cy="4137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6053293-A421-3943-AF26-125E5F4E7A4B}"/>
              </a:ext>
            </a:extLst>
          </p:cNvPr>
          <p:cNvCxnSpPr>
            <a:cxnSpLocks/>
          </p:cNvCxnSpPr>
          <p:nvPr/>
        </p:nvCxnSpPr>
        <p:spPr>
          <a:xfrm flipV="1">
            <a:off x="4804914"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7717C59-F97A-ED45-8598-9C5A26F01164}"/>
              </a:ext>
            </a:extLst>
          </p:cNvPr>
          <p:cNvCxnSpPr>
            <a:cxnSpLocks/>
          </p:cNvCxnSpPr>
          <p:nvPr/>
        </p:nvCxnSpPr>
        <p:spPr>
          <a:xfrm flipV="1">
            <a:off x="8016467"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08D22B0-7D84-1A47-AD3E-05BE25CC31BF}"/>
              </a:ext>
            </a:extLst>
          </p:cNvPr>
          <p:cNvCxnSpPr>
            <a:cxnSpLocks/>
          </p:cNvCxnSpPr>
          <p:nvPr/>
        </p:nvCxnSpPr>
        <p:spPr>
          <a:xfrm flipV="1">
            <a:off x="10525492" y="1816543"/>
            <a:ext cx="0" cy="413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618F048-33D3-1047-8CA1-86E62E2758B8}"/>
              </a:ext>
            </a:extLst>
          </p:cNvPr>
          <p:cNvSpPr txBox="1"/>
          <p:nvPr/>
        </p:nvSpPr>
        <p:spPr>
          <a:xfrm>
            <a:off x="10057784" y="2230247"/>
            <a:ext cx="935415" cy="369332"/>
          </a:xfrm>
          <a:prstGeom prst="rect">
            <a:avLst/>
          </a:prstGeom>
          <a:noFill/>
        </p:spPr>
        <p:txBody>
          <a:bodyPr wrap="square" rtlCol="0">
            <a:spAutoFit/>
          </a:bodyPr>
          <a:lstStyle/>
          <a:p>
            <a:pPr algn="ctr"/>
            <a:r>
              <a:rPr lang="en-GB" dirty="0"/>
              <a:t>c</a:t>
            </a:r>
            <a:r>
              <a:rPr lang="en-RU" dirty="0"/>
              <a:t>q head</a:t>
            </a:r>
          </a:p>
        </p:txBody>
      </p:sp>
      <p:sp>
        <p:nvSpPr>
          <p:cNvPr id="18" name="TextBox 17">
            <a:extLst>
              <a:ext uri="{FF2B5EF4-FFF2-40B4-BE49-F238E27FC236}">
                <a16:creationId xmlns:a16="http://schemas.microsoft.com/office/drawing/2014/main" id="{EE11DEF1-A4A9-B24E-9C8C-0CE7C423C504}"/>
              </a:ext>
            </a:extLst>
          </p:cNvPr>
          <p:cNvSpPr txBox="1"/>
          <p:nvPr/>
        </p:nvSpPr>
        <p:spPr>
          <a:xfrm>
            <a:off x="7614740" y="2224549"/>
            <a:ext cx="792355" cy="369332"/>
          </a:xfrm>
          <a:prstGeom prst="rect">
            <a:avLst/>
          </a:prstGeom>
          <a:noFill/>
        </p:spPr>
        <p:txBody>
          <a:bodyPr wrap="square" rtlCol="0">
            <a:spAutoFit/>
          </a:bodyPr>
          <a:lstStyle/>
          <a:p>
            <a:pPr algn="ctr"/>
            <a:r>
              <a:rPr lang="en-GB" dirty="0"/>
              <a:t>c</a:t>
            </a:r>
            <a:r>
              <a:rPr lang="en-RU" dirty="0"/>
              <a:t>q tail</a:t>
            </a:r>
          </a:p>
        </p:txBody>
      </p:sp>
      <p:graphicFrame>
        <p:nvGraphicFramePr>
          <p:cNvPr id="23" name="Table 3">
            <a:extLst>
              <a:ext uri="{FF2B5EF4-FFF2-40B4-BE49-F238E27FC236}">
                <a16:creationId xmlns:a16="http://schemas.microsoft.com/office/drawing/2014/main" id="{4502B40E-4DAE-4E41-96A2-771B6FDE0286}"/>
              </a:ext>
            </a:extLst>
          </p:cNvPr>
          <p:cNvGraphicFramePr>
            <a:graphicFrameLocks noGrp="1"/>
          </p:cNvGraphicFramePr>
          <p:nvPr/>
        </p:nvGraphicFramePr>
        <p:xfrm>
          <a:off x="1033346" y="3316189"/>
          <a:ext cx="4402251" cy="741680"/>
        </p:xfrm>
        <a:graphic>
          <a:graphicData uri="http://schemas.openxmlformats.org/drawingml/2006/table">
            <a:tbl>
              <a:tblPr firstRow="1" bandRow="1">
                <a:tableStyleId>{5C22544A-7EE6-4342-B048-85BDC9FD1C3A}</a:tableStyleId>
              </a:tblPr>
              <a:tblGrid>
                <a:gridCol w="628893">
                  <a:extLst>
                    <a:ext uri="{9D8B030D-6E8A-4147-A177-3AD203B41FA5}">
                      <a16:colId xmlns:a16="http://schemas.microsoft.com/office/drawing/2014/main" val="1522416925"/>
                    </a:ext>
                  </a:extLst>
                </a:gridCol>
                <a:gridCol w="628893">
                  <a:extLst>
                    <a:ext uri="{9D8B030D-6E8A-4147-A177-3AD203B41FA5}">
                      <a16:colId xmlns:a16="http://schemas.microsoft.com/office/drawing/2014/main" val="1719059937"/>
                    </a:ext>
                  </a:extLst>
                </a:gridCol>
                <a:gridCol w="628893">
                  <a:extLst>
                    <a:ext uri="{9D8B030D-6E8A-4147-A177-3AD203B41FA5}">
                      <a16:colId xmlns:a16="http://schemas.microsoft.com/office/drawing/2014/main" val="1887732143"/>
                    </a:ext>
                  </a:extLst>
                </a:gridCol>
                <a:gridCol w="628893">
                  <a:extLst>
                    <a:ext uri="{9D8B030D-6E8A-4147-A177-3AD203B41FA5}">
                      <a16:colId xmlns:a16="http://schemas.microsoft.com/office/drawing/2014/main" val="3437339410"/>
                    </a:ext>
                  </a:extLst>
                </a:gridCol>
                <a:gridCol w="628893">
                  <a:extLst>
                    <a:ext uri="{9D8B030D-6E8A-4147-A177-3AD203B41FA5}">
                      <a16:colId xmlns:a16="http://schemas.microsoft.com/office/drawing/2014/main" val="3825877040"/>
                    </a:ext>
                  </a:extLst>
                </a:gridCol>
                <a:gridCol w="628893">
                  <a:extLst>
                    <a:ext uri="{9D8B030D-6E8A-4147-A177-3AD203B41FA5}">
                      <a16:colId xmlns:a16="http://schemas.microsoft.com/office/drawing/2014/main" val="1899514423"/>
                    </a:ext>
                  </a:extLst>
                </a:gridCol>
                <a:gridCol w="628893">
                  <a:extLst>
                    <a:ext uri="{9D8B030D-6E8A-4147-A177-3AD203B41FA5}">
                      <a16:colId xmlns:a16="http://schemas.microsoft.com/office/drawing/2014/main" val="1576688480"/>
                    </a:ext>
                  </a:extLst>
                </a:gridCol>
              </a:tblGrid>
              <a:tr h="370840">
                <a:tc gridSpan="7">
                  <a:txBody>
                    <a:bodyPr/>
                    <a:lstStyle/>
                    <a:p>
                      <a:pPr algn="ctr"/>
                      <a:r>
                        <a:rPr lang="en-US" dirty="0">
                          <a:solidFill>
                            <a:schemeClr val="tx1"/>
                          </a:solidFill>
                        </a:rPr>
                        <a:t>Submission queue (entries)</a:t>
                      </a:r>
                      <a:endParaRPr lang="en-RU" dirty="0">
                        <a:solidFill>
                          <a:schemeClr val="tx1"/>
                        </a:solidFill>
                      </a:endParaRPr>
                    </a:p>
                  </a:txBody>
                  <a:tcPr/>
                </a:tc>
                <a:tc hMerge="1">
                  <a:txBody>
                    <a:bodyPr/>
                    <a:lstStyle/>
                    <a:p>
                      <a:endParaRPr lang="en-RU" dirty="0"/>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tc hMerge="1">
                  <a:txBody>
                    <a:bodyPr/>
                    <a:lstStyle/>
                    <a:p>
                      <a:pPr algn="ctr"/>
                      <a:endParaRPr lang="en-RU" dirty="0">
                        <a:solidFill>
                          <a:schemeClr val="tx1"/>
                        </a:solidFill>
                      </a:endParaRPr>
                    </a:p>
                  </a:txBody>
                  <a:tcPr/>
                </a:tc>
                <a:extLst>
                  <a:ext uri="{0D108BD9-81ED-4DB2-BD59-A6C34878D82A}">
                    <a16:rowId xmlns:a16="http://schemas.microsoft.com/office/drawing/2014/main" val="2487623971"/>
                  </a:ext>
                </a:extLst>
              </a:tr>
              <a:tr h="370840">
                <a:tc>
                  <a:txBody>
                    <a:bodyPr/>
                    <a:lstStyle/>
                    <a:p>
                      <a:endParaRPr lang="en-RU" dirty="0"/>
                    </a:p>
                  </a:txBody>
                  <a:tcPr>
                    <a:solidFill>
                      <a:srgbClr val="FF0000"/>
                    </a:solidFill>
                  </a:tcPr>
                </a:tc>
                <a:tc>
                  <a:txBody>
                    <a:bodyPr/>
                    <a:lstStyle/>
                    <a:p>
                      <a:endParaRPr lang="en-RU" dirty="0"/>
                    </a:p>
                  </a:txBody>
                  <a:tcPr>
                    <a:solidFill>
                      <a:srgbClr val="FF0000"/>
                    </a:solidFill>
                  </a:tcPr>
                </a:tc>
                <a:tc>
                  <a:txBody>
                    <a:bodyPr/>
                    <a:lstStyle/>
                    <a:p>
                      <a:endParaRPr lang="en-RU" dirty="0"/>
                    </a:p>
                  </a:txBody>
                  <a:tcPr/>
                </a:tc>
                <a:tc>
                  <a:txBody>
                    <a:bodyPr/>
                    <a:lstStyle/>
                    <a:p>
                      <a:endParaRPr lang="en-RU" dirty="0"/>
                    </a:p>
                  </a:txBody>
                  <a:tcPr/>
                </a:tc>
                <a:tc>
                  <a:txBody>
                    <a:bodyPr/>
                    <a:lstStyle/>
                    <a:p>
                      <a:endParaRPr lang="en-RU" dirty="0"/>
                    </a:p>
                  </a:txBody>
                  <a:tcPr>
                    <a:solidFill>
                      <a:srgbClr val="FF0000"/>
                    </a:solidFill>
                  </a:tcPr>
                </a:tc>
                <a:tc>
                  <a:txBody>
                    <a:bodyPr/>
                    <a:lstStyle/>
                    <a:p>
                      <a:endParaRPr lang="en-RU" dirty="0"/>
                    </a:p>
                  </a:txBody>
                  <a:tcPr/>
                </a:tc>
                <a:tc>
                  <a:txBody>
                    <a:bodyPr/>
                    <a:lstStyle/>
                    <a:p>
                      <a:endParaRPr lang="en-RU" dirty="0"/>
                    </a:p>
                  </a:txBody>
                  <a:tcPr>
                    <a:solidFill>
                      <a:srgbClr val="FF0000"/>
                    </a:solidFill>
                  </a:tcPr>
                </a:tc>
                <a:extLst>
                  <a:ext uri="{0D108BD9-81ED-4DB2-BD59-A6C34878D82A}">
                    <a16:rowId xmlns:a16="http://schemas.microsoft.com/office/drawing/2014/main" val="3054324919"/>
                  </a:ext>
                </a:extLst>
              </a:tr>
            </a:tbl>
          </a:graphicData>
        </a:graphic>
      </p:graphicFrame>
      <p:cxnSp>
        <p:nvCxnSpPr>
          <p:cNvPr id="25" name="Straight Arrow Connector 24">
            <a:extLst>
              <a:ext uri="{FF2B5EF4-FFF2-40B4-BE49-F238E27FC236}">
                <a16:creationId xmlns:a16="http://schemas.microsoft.com/office/drawing/2014/main" id="{2212B85C-F4B5-624F-A29D-C39BB67331BB}"/>
              </a:ext>
            </a:extLst>
          </p:cNvPr>
          <p:cNvCxnSpPr>
            <a:cxnSpLocks/>
          </p:cNvCxnSpPr>
          <p:nvPr/>
        </p:nvCxnSpPr>
        <p:spPr>
          <a:xfrm flipH="1">
            <a:off x="2074127" y="1816543"/>
            <a:ext cx="557562" cy="14996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0657090-76B6-A341-9E8F-ACEA0869AC33}"/>
              </a:ext>
            </a:extLst>
          </p:cNvPr>
          <p:cNvCxnSpPr>
            <a:cxnSpLocks/>
          </p:cNvCxnSpPr>
          <p:nvPr/>
        </p:nvCxnSpPr>
        <p:spPr>
          <a:xfrm flipH="1">
            <a:off x="1379644" y="1816543"/>
            <a:ext cx="1842753" cy="14996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1172A19-E1F9-404E-83F4-1A3916ADA8D6}"/>
              </a:ext>
            </a:extLst>
          </p:cNvPr>
          <p:cNvCxnSpPr>
            <a:cxnSpLocks/>
          </p:cNvCxnSpPr>
          <p:nvPr/>
        </p:nvCxnSpPr>
        <p:spPr>
          <a:xfrm flipH="1">
            <a:off x="3865732" y="1816543"/>
            <a:ext cx="20481" cy="14996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F92BC74-89C7-EB4A-A373-8B990817985F}"/>
              </a:ext>
            </a:extLst>
          </p:cNvPr>
          <p:cNvCxnSpPr>
            <a:cxnSpLocks/>
          </p:cNvCxnSpPr>
          <p:nvPr/>
        </p:nvCxnSpPr>
        <p:spPr>
          <a:xfrm>
            <a:off x="4498580" y="1816542"/>
            <a:ext cx="642133" cy="14996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6294ED5-720C-A742-BC17-E71A4EA9B5B0}"/>
              </a:ext>
            </a:extLst>
          </p:cNvPr>
          <p:cNvSpPr txBox="1"/>
          <p:nvPr/>
        </p:nvSpPr>
        <p:spPr>
          <a:xfrm>
            <a:off x="1360475" y="1838729"/>
            <a:ext cx="935415" cy="369332"/>
          </a:xfrm>
          <a:prstGeom prst="rect">
            <a:avLst/>
          </a:prstGeom>
          <a:noFill/>
        </p:spPr>
        <p:txBody>
          <a:bodyPr wrap="square" rtlCol="0">
            <a:spAutoFit/>
          </a:bodyPr>
          <a:lstStyle/>
          <a:p>
            <a:pPr algn="ctr"/>
            <a:r>
              <a:rPr lang="en-GB" dirty="0"/>
              <a:t>s</a:t>
            </a:r>
            <a:r>
              <a:rPr lang="en-RU" dirty="0"/>
              <a:t>q head</a:t>
            </a:r>
          </a:p>
        </p:txBody>
      </p:sp>
      <p:sp>
        <p:nvSpPr>
          <p:cNvPr id="34" name="TextBox 33">
            <a:extLst>
              <a:ext uri="{FF2B5EF4-FFF2-40B4-BE49-F238E27FC236}">
                <a16:creationId xmlns:a16="http://schemas.microsoft.com/office/drawing/2014/main" id="{7EA6DE3D-72F4-354C-8B7F-9875F292721A}"/>
              </a:ext>
            </a:extLst>
          </p:cNvPr>
          <p:cNvSpPr txBox="1"/>
          <p:nvPr/>
        </p:nvSpPr>
        <p:spPr>
          <a:xfrm>
            <a:off x="4785434" y="1816541"/>
            <a:ext cx="792355" cy="369332"/>
          </a:xfrm>
          <a:prstGeom prst="rect">
            <a:avLst/>
          </a:prstGeom>
          <a:noFill/>
        </p:spPr>
        <p:txBody>
          <a:bodyPr wrap="square" rtlCol="0">
            <a:spAutoFit/>
          </a:bodyPr>
          <a:lstStyle/>
          <a:p>
            <a:pPr algn="ctr"/>
            <a:r>
              <a:rPr lang="en-GB" dirty="0"/>
              <a:t>s</a:t>
            </a:r>
            <a:r>
              <a:rPr lang="en-RU" dirty="0"/>
              <a:t>q tail</a:t>
            </a:r>
          </a:p>
        </p:txBody>
      </p:sp>
    </p:spTree>
    <p:extLst>
      <p:ext uri="{BB962C8B-B14F-4D97-AF65-F5344CB8AC3E}">
        <p14:creationId xmlns:p14="http://schemas.microsoft.com/office/powerpoint/2010/main" val="13675265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1492B-AE5D-EC45-70E9-C0400E57BA24}"/>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29078B3-1747-1B06-9143-DF4940A7F77E}"/>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F7DFE407-7257-9868-A38B-2A524FABFC22}"/>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7F7538BD-B8D1-7250-B62A-F79B78340869}"/>
              </a:ext>
            </a:extLst>
          </p:cNvPr>
          <p:cNvGraphicFramePr>
            <a:graphicFrameLocks noGrp="1"/>
          </p:cNvGraphicFramePr>
          <p:nvPr>
            <p:extLst>
              <p:ext uri="{D42A27DB-BD31-4B8C-83A1-F6EECF244321}">
                <p14:modId xmlns:p14="http://schemas.microsoft.com/office/powerpoint/2010/main" val="3467307447"/>
              </p:ext>
            </p:extLst>
          </p:nvPr>
        </p:nvGraphicFramePr>
        <p:xfrm>
          <a:off x="0" y="365762"/>
          <a:ext cx="12192000" cy="457200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784827009"/>
                    </a:ext>
                  </a:extLst>
                </a:gridCol>
              </a:tblGrid>
              <a:tr h="207593">
                <a:tc gridSpan="2">
                  <a:txBody>
                    <a:bodyPr/>
                    <a:lstStyle/>
                    <a:p>
                      <a:r>
                        <a:rPr lang="en-US" dirty="0" err="1"/>
                        <a:t>io_uring</a:t>
                      </a:r>
                      <a:r>
                        <a:rPr lang="en-US" dirty="0"/>
                        <a:t>: registered buffers and linked requests</a:t>
                      </a:r>
                      <a:endParaRPr lang="ru-RU" dirty="0"/>
                    </a:p>
                  </a:txBody>
                  <a:tcPr/>
                </a:tc>
                <a:tc hMerge="1">
                  <a:txBody>
                    <a:bodyPr/>
                    <a:lstStyle/>
                    <a:p>
                      <a:endParaRPr lang="en-CY"/>
                    </a:p>
                  </a:txBody>
                  <a:tcPr/>
                </a:tc>
                <a:extLst>
                  <a:ext uri="{0D108BD9-81ED-4DB2-BD59-A6C34878D82A}">
                    <a16:rowId xmlns:a16="http://schemas.microsoft.com/office/drawing/2014/main" val="10000"/>
                  </a:ext>
                </a:extLst>
              </a:tr>
              <a:tr h="207593">
                <a:tc>
                  <a:txBody>
                    <a:bodyPr/>
                    <a:lstStyle/>
                    <a:p>
                      <a:r>
                        <a:rPr lang="en-US" dirty="0"/>
                        <a:t>There are several sources of inefficiency when doing a </a:t>
                      </a:r>
                      <a:r>
                        <a:rPr lang="en-US" dirty="0" err="1">
                          <a:latin typeface="Menlo" panose="020B0609030804020204" pitchFamily="49" charset="0"/>
                          <a:ea typeface="Menlo" panose="020B0609030804020204" pitchFamily="49" charset="0"/>
                          <a:cs typeface="Menlo" panose="020B0609030804020204" pitchFamily="49" charset="0"/>
                        </a:rPr>
                        <a:t>pread</a:t>
                      </a:r>
                      <a:r>
                        <a:rPr lang="en-US" dirty="0">
                          <a:latin typeface="Menlo" panose="020B0609030804020204" pitchFamily="49" charset="0"/>
                          <a:ea typeface="Menlo" panose="020B0609030804020204" pitchFamily="49" charset="0"/>
                          <a:cs typeface="Menlo" panose="020B0609030804020204" pitchFamily="49" charset="0"/>
                        </a:rPr>
                        <a:t>()</a:t>
                      </a:r>
                      <a:r>
                        <a:rPr lang="en-US" dirty="0"/>
                        <a:t> or a </a:t>
                      </a:r>
                      <a:r>
                        <a:rPr lang="en-US" dirty="0" err="1">
                          <a:latin typeface="Menlo" panose="020B0609030804020204" pitchFamily="49" charset="0"/>
                          <a:ea typeface="Menlo" panose="020B0609030804020204" pitchFamily="49" charset="0"/>
                          <a:cs typeface="Menlo" panose="020B0609030804020204" pitchFamily="49" charset="0"/>
                        </a:rPr>
                        <a:t>pwrite</a:t>
                      </a:r>
                      <a:r>
                        <a:rPr lang="en-US" dirty="0">
                          <a:latin typeface="Menlo" panose="020B0609030804020204" pitchFamily="49" charset="0"/>
                          <a:ea typeface="Menlo" panose="020B0609030804020204" pitchFamily="49" charset="0"/>
                          <a:cs typeface="Menlo" panose="020B0609030804020204" pitchFamily="49" charset="0"/>
                        </a:rPr>
                        <a:t>()</a:t>
                      </a:r>
                      <a:r>
                        <a:rPr lang="en-US" dirty="0"/>
                        <a:t>:</a:t>
                      </a:r>
                    </a:p>
                    <a:p>
                      <a:endParaRPr lang="en-US" dirty="0"/>
                    </a:p>
                    <a:p>
                      <a:pPr marL="342900" indent="-342900">
                        <a:buFont typeface="+mj-lt"/>
                        <a:buAutoNum type="arabicPeriod"/>
                      </a:pPr>
                      <a:r>
                        <a:rPr lang="en-US" dirty="0"/>
                        <a:t>When the IO is buffered, the kernel needs to copy data between application buffers and the </a:t>
                      </a:r>
                      <a:r>
                        <a:rPr lang="en-US" dirty="0" err="1"/>
                        <a:t>pagecache</a:t>
                      </a:r>
                      <a:r>
                        <a:rPr lang="en-US" dirty="0"/>
                        <a:t>.</a:t>
                      </a:r>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txBody>
                  <a:tcPr/>
                </a:tc>
                <a:tc>
                  <a:txBody>
                    <a:bodyPr/>
                    <a:lstStyle/>
                    <a:p>
                      <a:pPr marL="342900" indent="-342900">
                        <a:buFont typeface="+mj-lt"/>
                        <a:buAutoNum type="arabicPeriod"/>
                      </a:pPr>
                      <a:endParaRPr lang="ru-RU"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8346780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A796A-D881-4030-E473-84A731229EE3}"/>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640D6DB-FC82-E95B-45A1-AC42F571BA09}"/>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EE06EAD2-6007-BEB1-F359-5DC70CCDF420}"/>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489BC70D-4979-BFD0-1963-910D08E513BD}"/>
              </a:ext>
            </a:extLst>
          </p:cNvPr>
          <p:cNvGraphicFramePr>
            <a:graphicFrameLocks noGrp="1"/>
          </p:cNvGraphicFramePr>
          <p:nvPr>
            <p:extLst>
              <p:ext uri="{D42A27DB-BD31-4B8C-83A1-F6EECF244321}">
                <p14:modId xmlns:p14="http://schemas.microsoft.com/office/powerpoint/2010/main" val="642584019"/>
              </p:ext>
            </p:extLst>
          </p:nvPr>
        </p:nvGraphicFramePr>
        <p:xfrm>
          <a:off x="0" y="365762"/>
          <a:ext cx="12192000" cy="457200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784827009"/>
                    </a:ext>
                  </a:extLst>
                </a:gridCol>
              </a:tblGrid>
              <a:tr h="207593">
                <a:tc gridSpan="2">
                  <a:txBody>
                    <a:bodyPr/>
                    <a:lstStyle/>
                    <a:p>
                      <a:r>
                        <a:rPr lang="en-US" dirty="0" err="1"/>
                        <a:t>io_uring</a:t>
                      </a:r>
                      <a:r>
                        <a:rPr lang="en-US" dirty="0"/>
                        <a:t>: registered buffers and linked requests</a:t>
                      </a:r>
                      <a:endParaRPr lang="ru-RU" dirty="0"/>
                    </a:p>
                  </a:txBody>
                  <a:tcPr/>
                </a:tc>
                <a:tc hMerge="1">
                  <a:txBody>
                    <a:bodyPr/>
                    <a:lstStyle/>
                    <a:p>
                      <a:endParaRPr lang="en-CY"/>
                    </a:p>
                  </a:txBody>
                  <a:tcPr/>
                </a:tc>
                <a:extLst>
                  <a:ext uri="{0D108BD9-81ED-4DB2-BD59-A6C34878D82A}">
                    <a16:rowId xmlns:a16="http://schemas.microsoft.com/office/drawing/2014/main" val="10000"/>
                  </a:ext>
                </a:extLst>
              </a:tr>
              <a:tr h="207593">
                <a:tc>
                  <a:txBody>
                    <a:bodyPr/>
                    <a:lstStyle/>
                    <a:p>
                      <a:r>
                        <a:rPr lang="en-US" dirty="0"/>
                        <a:t>There are several sources of inefficiency when doing a </a:t>
                      </a:r>
                      <a:r>
                        <a:rPr lang="en-US" dirty="0" err="1">
                          <a:latin typeface="Menlo" panose="020B0609030804020204" pitchFamily="49" charset="0"/>
                          <a:ea typeface="Menlo" panose="020B0609030804020204" pitchFamily="49" charset="0"/>
                          <a:cs typeface="Menlo" panose="020B0609030804020204" pitchFamily="49" charset="0"/>
                        </a:rPr>
                        <a:t>pread</a:t>
                      </a:r>
                      <a:r>
                        <a:rPr lang="en-US" dirty="0">
                          <a:latin typeface="Menlo" panose="020B0609030804020204" pitchFamily="49" charset="0"/>
                          <a:ea typeface="Menlo" panose="020B0609030804020204" pitchFamily="49" charset="0"/>
                          <a:cs typeface="Menlo" panose="020B0609030804020204" pitchFamily="49" charset="0"/>
                        </a:rPr>
                        <a:t>()</a:t>
                      </a:r>
                      <a:r>
                        <a:rPr lang="en-US" dirty="0"/>
                        <a:t> or a </a:t>
                      </a:r>
                      <a:r>
                        <a:rPr lang="en-US" dirty="0" err="1">
                          <a:latin typeface="Menlo" panose="020B0609030804020204" pitchFamily="49" charset="0"/>
                          <a:ea typeface="Menlo" panose="020B0609030804020204" pitchFamily="49" charset="0"/>
                          <a:cs typeface="Menlo" panose="020B0609030804020204" pitchFamily="49" charset="0"/>
                        </a:rPr>
                        <a:t>pwrite</a:t>
                      </a:r>
                      <a:r>
                        <a:rPr lang="en-US" dirty="0">
                          <a:latin typeface="Menlo" panose="020B0609030804020204" pitchFamily="49" charset="0"/>
                          <a:ea typeface="Menlo" panose="020B0609030804020204" pitchFamily="49" charset="0"/>
                          <a:cs typeface="Menlo" panose="020B0609030804020204" pitchFamily="49" charset="0"/>
                        </a:rPr>
                        <a:t>()</a:t>
                      </a:r>
                      <a:r>
                        <a:rPr lang="en-US" dirty="0"/>
                        <a:t>:</a:t>
                      </a:r>
                    </a:p>
                    <a:p>
                      <a:endParaRPr lang="en-US" dirty="0"/>
                    </a:p>
                    <a:p>
                      <a:pPr marL="342900" indent="-342900">
                        <a:buFont typeface="+mj-lt"/>
                        <a:buAutoNum type="arabicPeriod"/>
                      </a:pPr>
                      <a:r>
                        <a:rPr lang="en-US" dirty="0"/>
                        <a:t>When the IO is buffered, the kernel needs to copy data between application buffers and the </a:t>
                      </a:r>
                      <a:r>
                        <a:rPr lang="en-US" dirty="0" err="1"/>
                        <a:t>pagecache</a:t>
                      </a:r>
                      <a:r>
                        <a:rPr lang="en-US" dirty="0"/>
                        <a:t>.</a:t>
                      </a:r>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txBody>
                  <a:tcPr/>
                </a:tc>
                <a:tc>
                  <a:txBody>
                    <a:bodyPr/>
                    <a:lstStyle/>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Arial" panose="020B0604020202020204" pitchFamily="34" charset="0"/>
                        <a:buChar char="•"/>
                      </a:pPr>
                      <a:r>
                        <a:rPr lang="en-US" dirty="0">
                          <a:latin typeface="Menlo" panose="020B0609030804020204" pitchFamily="49" charset="0"/>
                          <a:ea typeface="Menlo" panose="020B0609030804020204" pitchFamily="49" charset="0"/>
                          <a:cs typeface="Menlo" panose="020B0609030804020204" pitchFamily="49" charset="0"/>
                        </a:rPr>
                        <a:t>O_DIRECT</a:t>
                      </a:r>
                      <a:r>
                        <a:rPr lang="en-US" dirty="0">
                          <a:latin typeface="+mn-lt"/>
                          <a:ea typeface="Menlo" panose="020B0609030804020204" pitchFamily="49" charset="0"/>
                          <a:cs typeface="Menlo" panose="020B0609030804020204" pitchFamily="49" charset="0"/>
                        </a:rPr>
                        <a:t> (but remember that </a:t>
                      </a:r>
                      <a:r>
                        <a:rPr lang="en-US" dirty="0" err="1">
                          <a:latin typeface="Menlo" panose="020B0609030804020204" pitchFamily="49" charset="0"/>
                          <a:ea typeface="Menlo" panose="020B0609030804020204" pitchFamily="49" charset="0"/>
                          <a:cs typeface="Menlo" panose="020B0609030804020204" pitchFamily="49" charset="0"/>
                        </a:rPr>
                        <a:t>memcpy</a:t>
                      </a:r>
                      <a:r>
                        <a:rPr lang="en-US" dirty="0">
                          <a:latin typeface="Menlo" panose="020B0609030804020204" pitchFamily="49" charset="0"/>
                          <a:ea typeface="Menlo" panose="020B0609030804020204" pitchFamily="49" charset="0"/>
                          <a:cs typeface="Menlo" panose="020B0609030804020204" pitchFamily="49" charset="0"/>
                        </a:rPr>
                        <a:t>()</a:t>
                      </a:r>
                      <a:r>
                        <a:rPr lang="en-US" dirty="0">
                          <a:latin typeface="+mn-lt"/>
                          <a:ea typeface="Menlo" panose="020B0609030804020204" pitchFamily="49" charset="0"/>
                          <a:cs typeface="Menlo" panose="020B0609030804020204" pitchFamily="49" charset="0"/>
                        </a:rPr>
                        <a:t> is one of the most </a:t>
                      </a:r>
                      <a:r>
                        <a:rPr lang="en-US" dirty="0" err="1">
                          <a:latin typeface="+mn-lt"/>
                          <a:ea typeface="Menlo" panose="020B0609030804020204" pitchFamily="49" charset="0"/>
                          <a:cs typeface="Menlo" panose="020B0609030804020204" pitchFamily="49" charset="0"/>
                        </a:rPr>
                        <a:t>optimised</a:t>
                      </a:r>
                      <a:r>
                        <a:rPr lang="en-US" dirty="0">
                          <a:latin typeface="+mn-lt"/>
                          <a:ea typeface="Menlo" panose="020B0609030804020204" pitchFamily="49" charset="0"/>
                          <a:cs typeface="Menlo" panose="020B0609030804020204" pitchFamily="49" charset="0"/>
                        </a:rPr>
                        <a:t> operations; x86 even has a dedicated hardware for </a:t>
                      </a:r>
                      <a:r>
                        <a:rPr lang="en-US" dirty="0">
                          <a:latin typeface="Menlo" panose="020B0609030804020204" pitchFamily="49" charset="0"/>
                          <a:ea typeface="Menlo" panose="020B0609030804020204" pitchFamily="49" charset="0"/>
                          <a:cs typeface="Menlo" panose="020B0609030804020204" pitchFamily="49" charset="0"/>
                        </a:rPr>
                        <a:t>rep </a:t>
                      </a:r>
                      <a:r>
                        <a:rPr lang="en-US" dirty="0" err="1">
                          <a:latin typeface="Menlo" panose="020B0609030804020204" pitchFamily="49" charset="0"/>
                          <a:ea typeface="Menlo" panose="020B0609030804020204" pitchFamily="49" charset="0"/>
                          <a:cs typeface="Menlo" panose="020B0609030804020204" pitchFamily="49" charset="0"/>
                        </a:rPr>
                        <a:t>movsb</a:t>
                      </a:r>
                      <a:r>
                        <a:rPr lang="en-US" dirty="0">
                          <a:latin typeface="+mn-lt"/>
                          <a:ea typeface="Menlo" panose="020B0609030804020204" pitchFamily="49" charset="0"/>
                          <a:cs typeface="Menlo" panose="020B0609030804020204" pitchFamily="49" charset="0"/>
                        </a:rPr>
                        <a:t> and </a:t>
                      </a:r>
                      <a:r>
                        <a:rPr lang="en-US" dirty="0">
                          <a:latin typeface="Menlo" panose="020B0609030804020204" pitchFamily="49" charset="0"/>
                          <a:ea typeface="Menlo" panose="020B0609030804020204" pitchFamily="49" charset="0"/>
                          <a:cs typeface="Menlo" panose="020B0609030804020204" pitchFamily="49" charset="0"/>
                        </a:rPr>
                        <a:t>rep </a:t>
                      </a:r>
                      <a:r>
                        <a:rPr lang="en-US" dirty="0" err="1">
                          <a:latin typeface="Menlo" panose="020B0609030804020204" pitchFamily="49" charset="0"/>
                          <a:ea typeface="Menlo" panose="020B0609030804020204" pitchFamily="49" charset="0"/>
                          <a:cs typeface="Menlo" panose="020B0609030804020204" pitchFamily="49" charset="0"/>
                        </a:rPr>
                        <a:t>stosb</a:t>
                      </a:r>
                      <a:r>
                        <a:rPr lang="en-US" dirty="0">
                          <a:latin typeface="+mn-lt"/>
                          <a:ea typeface="Menlo" panose="020B0609030804020204" pitchFamily="49" charset="0"/>
                          <a:cs typeface="Menlo" panose="020B0609030804020204" pitchFamily="49" charset="0"/>
                        </a:rPr>
                        <a:t>)</a:t>
                      </a:r>
                      <a:endParaRPr lang="ru-RU" dirty="0">
                        <a:latin typeface="+mn-lt"/>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324208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11648-B728-3A40-7606-2153C086D80E}"/>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02B1DA1-E287-2017-9007-86EAD806684D}"/>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7000C4F5-4D2C-22CE-B08F-0063F5BA7B7B}"/>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B29D7465-5C5A-CC6A-83EB-20D3EA6E1194}"/>
              </a:ext>
            </a:extLst>
          </p:cNvPr>
          <p:cNvGraphicFramePr>
            <a:graphicFrameLocks noGrp="1"/>
          </p:cNvGraphicFramePr>
          <p:nvPr>
            <p:extLst>
              <p:ext uri="{D42A27DB-BD31-4B8C-83A1-F6EECF244321}">
                <p14:modId xmlns:p14="http://schemas.microsoft.com/office/powerpoint/2010/main" val="2418214555"/>
              </p:ext>
            </p:extLst>
          </p:nvPr>
        </p:nvGraphicFramePr>
        <p:xfrm>
          <a:off x="0" y="365762"/>
          <a:ext cx="12192000" cy="457200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784827009"/>
                    </a:ext>
                  </a:extLst>
                </a:gridCol>
              </a:tblGrid>
              <a:tr h="207593">
                <a:tc gridSpan="2">
                  <a:txBody>
                    <a:bodyPr/>
                    <a:lstStyle/>
                    <a:p>
                      <a:r>
                        <a:rPr lang="en-US" dirty="0" err="1"/>
                        <a:t>io_uring</a:t>
                      </a:r>
                      <a:r>
                        <a:rPr lang="en-US" dirty="0"/>
                        <a:t>: registered buffers and linked requests</a:t>
                      </a:r>
                      <a:endParaRPr lang="ru-RU" dirty="0"/>
                    </a:p>
                  </a:txBody>
                  <a:tcPr/>
                </a:tc>
                <a:tc hMerge="1">
                  <a:txBody>
                    <a:bodyPr/>
                    <a:lstStyle/>
                    <a:p>
                      <a:endParaRPr lang="en-CY"/>
                    </a:p>
                  </a:txBody>
                  <a:tcPr/>
                </a:tc>
                <a:extLst>
                  <a:ext uri="{0D108BD9-81ED-4DB2-BD59-A6C34878D82A}">
                    <a16:rowId xmlns:a16="http://schemas.microsoft.com/office/drawing/2014/main" val="10000"/>
                  </a:ext>
                </a:extLst>
              </a:tr>
              <a:tr h="207593">
                <a:tc>
                  <a:txBody>
                    <a:bodyPr/>
                    <a:lstStyle/>
                    <a:p>
                      <a:r>
                        <a:rPr lang="en-US" dirty="0"/>
                        <a:t>There are several sources of inefficiency when doing a </a:t>
                      </a:r>
                      <a:r>
                        <a:rPr lang="en-US" dirty="0" err="1">
                          <a:latin typeface="Menlo" panose="020B0609030804020204" pitchFamily="49" charset="0"/>
                          <a:ea typeface="Menlo" panose="020B0609030804020204" pitchFamily="49" charset="0"/>
                          <a:cs typeface="Menlo" panose="020B0609030804020204" pitchFamily="49" charset="0"/>
                        </a:rPr>
                        <a:t>pread</a:t>
                      </a:r>
                      <a:r>
                        <a:rPr lang="en-US" dirty="0">
                          <a:latin typeface="Menlo" panose="020B0609030804020204" pitchFamily="49" charset="0"/>
                          <a:ea typeface="Menlo" panose="020B0609030804020204" pitchFamily="49" charset="0"/>
                          <a:cs typeface="Menlo" panose="020B0609030804020204" pitchFamily="49" charset="0"/>
                        </a:rPr>
                        <a:t>()</a:t>
                      </a:r>
                      <a:r>
                        <a:rPr lang="en-US" dirty="0"/>
                        <a:t> or a </a:t>
                      </a:r>
                      <a:r>
                        <a:rPr lang="en-US" dirty="0" err="1">
                          <a:latin typeface="Menlo" panose="020B0609030804020204" pitchFamily="49" charset="0"/>
                          <a:ea typeface="Menlo" panose="020B0609030804020204" pitchFamily="49" charset="0"/>
                          <a:cs typeface="Menlo" panose="020B0609030804020204" pitchFamily="49" charset="0"/>
                        </a:rPr>
                        <a:t>pwrite</a:t>
                      </a:r>
                      <a:r>
                        <a:rPr lang="en-US" dirty="0">
                          <a:latin typeface="Menlo" panose="020B0609030804020204" pitchFamily="49" charset="0"/>
                          <a:ea typeface="Menlo" panose="020B0609030804020204" pitchFamily="49" charset="0"/>
                          <a:cs typeface="Menlo" panose="020B0609030804020204" pitchFamily="49" charset="0"/>
                        </a:rPr>
                        <a:t>()</a:t>
                      </a:r>
                      <a:r>
                        <a:rPr lang="en-US" dirty="0"/>
                        <a:t>:</a:t>
                      </a:r>
                    </a:p>
                    <a:p>
                      <a:endParaRPr lang="en-US" dirty="0"/>
                    </a:p>
                    <a:p>
                      <a:pPr marL="342900" indent="-342900">
                        <a:buFont typeface="+mj-lt"/>
                        <a:buAutoNum type="arabicPeriod"/>
                      </a:pPr>
                      <a:r>
                        <a:rPr lang="en-US" dirty="0"/>
                        <a:t>When the IO is buffered, the kernel needs to copy data between application buffers and the </a:t>
                      </a:r>
                      <a:r>
                        <a:rPr lang="en-US" dirty="0" err="1"/>
                        <a:t>pagecache</a:t>
                      </a:r>
                      <a:r>
                        <a:rPr lang="en-US" dirty="0"/>
                        <a:t>.</a:t>
                      </a:r>
                    </a:p>
                    <a:p>
                      <a:pPr marL="342900" indent="-342900">
                        <a:buFont typeface="+mj-lt"/>
                        <a:buAutoNum type="arabicPeriod"/>
                      </a:pPr>
                      <a:endParaRPr lang="en-US" dirty="0"/>
                    </a:p>
                    <a:p>
                      <a:pPr marL="342900" indent="-342900">
                        <a:buFont typeface="+mj-lt"/>
                        <a:buAutoNum type="arabicPeriod"/>
                      </a:pPr>
                      <a:r>
                        <a:rPr lang="en-US" dirty="0" err="1"/>
                        <a:t>iovec</a:t>
                      </a:r>
                      <a:r>
                        <a:rPr lang="en-US" dirty="0"/>
                        <a:t> needs to be copied into the kernel,</a:t>
                      </a:r>
                    </a:p>
                    <a:p>
                      <a:pPr marL="342900" lvl="0" indent="-342900">
                        <a:buFont typeface="+mj-lt"/>
                        <a:buAutoNum type="arabicPeriod"/>
                      </a:pPr>
                      <a:endParaRPr lang="en-US" dirty="0"/>
                    </a:p>
                    <a:p>
                      <a:pPr marL="342900" lvl="0" indent="-342900">
                        <a:buFont typeface="+mj-lt"/>
                        <a:buAutoNum type="arabicPeriod"/>
                      </a:pPr>
                      <a:r>
                        <a:rPr lang="en-US" dirty="0"/>
                        <a:t>When </a:t>
                      </a:r>
                      <a:r>
                        <a:rPr lang="en-US" dirty="0">
                          <a:latin typeface="Menlo" panose="020B0609030804020204" pitchFamily="49" charset="0"/>
                          <a:ea typeface="Menlo" panose="020B0609030804020204" pitchFamily="49" charset="0"/>
                          <a:cs typeface="Menlo" panose="020B0609030804020204" pitchFamily="49" charset="0"/>
                        </a:rPr>
                        <a:t>O_DIRECT</a:t>
                      </a:r>
                      <a:r>
                        <a:rPr lang="en-US" dirty="0"/>
                        <a:t> is in effect,</a:t>
                      </a:r>
                    </a:p>
                    <a:p>
                      <a:pPr marL="800100" lvl="1" indent="-342900">
                        <a:buFont typeface="+mj-lt"/>
                        <a:buAutoNum type="alphaLcPeriod"/>
                      </a:pPr>
                      <a:r>
                        <a:rPr lang="en-US" dirty="0"/>
                        <a:t>user pages need to pinned into memory,</a:t>
                      </a:r>
                    </a:p>
                    <a:p>
                      <a:pPr marL="800100" lvl="1" indent="-342900">
                        <a:buFont typeface="+mj-lt"/>
                        <a:buAutoNum type="alphaLcPeriod"/>
                      </a:pPr>
                      <a:r>
                        <a:rPr lang="en-US" dirty="0"/>
                        <a:t>prepare the </a:t>
                      </a:r>
                      <a:r>
                        <a:rPr lang="en-US" dirty="0" err="1"/>
                        <a:t>biovec</a:t>
                      </a:r>
                      <a:r>
                        <a:rPr lang="en-US" dirty="0"/>
                        <a:t> for issuing a request to the block devices,</a:t>
                      </a:r>
                    </a:p>
                    <a:p>
                      <a:pPr marL="800100" lvl="1" indent="-342900">
                        <a:buFont typeface="+mj-lt"/>
                        <a:buAutoNum type="alphaLcPeriod"/>
                      </a:pPr>
                      <a:r>
                        <a:rPr lang="en-US" dirty="0"/>
                        <a:t>do the IO,</a:t>
                      </a:r>
                    </a:p>
                    <a:p>
                      <a:pPr marL="800100" lvl="1" indent="-342900">
                        <a:buFont typeface="+mj-lt"/>
                        <a:buAutoNum type="alphaLcPeriod"/>
                      </a:pPr>
                      <a:r>
                        <a:rPr lang="en-US" dirty="0"/>
                        <a:t>free the </a:t>
                      </a:r>
                      <a:r>
                        <a:rPr lang="en-US" dirty="0" err="1"/>
                        <a:t>biovec</a:t>
                      </a:r>
                      <a:r>
                        <a:rPr lang="en-US" dirty="0"/>
                        <a:t>,</a:t>
                      </a:r>
                    </a:p>
                    <a:p>
                      <a:pPr marL="800100" lvl="1" indent="-342900">
                        <a:buFont typeface="+mj-lt"/>
                        <a:buAutoNum type="alphaLcPeriod"/>
                      </a:pPr>
                      <a:r>
                        <a:rPr lang="en-US" dirty="0"/>
                        <a:t>unpin user pages.</a:t>
                      </a:r>
                      <a:endParaRPr lang="ru-RU" dirty="0"/>
                    </a:p>
                  </a:txBody>
                  <a:tcPr/>
                </a:tc>
                <a:tc>
                  <a:txBody>
                    <a:bodyPr/>
                    <a:lstStyle/>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Arial" panose="020B0604020202020204" pitchFamily="34" charset="0"/>
                        <a:buChar char="•"/>
                      </a:pPr>
                      <a:r>
                        <a:rPr lang="en-US" dirty="0">
                          <a:latin typeface="Menlo" panose="020B0609030804020204" pitchFamily="49" charset="0"/>
                          <a:ea typeface="Menlo" panose="020B0609030804020204" pitchFamily="49" charset="0"/>
                          <a:cs typeface="Menlo" panose="020B0609030804020204" pitchFamily="49" charset="0"/>
                        </a:rPr>
                        <a:t>O_DIRECT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0" indent="0">
                        <a:buFontTx/>
                        <a:buNone/>
                      </a:pPr>
                      <a:r>
                        <a:rPr lang="en-US" dirty="0">
                          <a:sym typeface="Wingdings" pitchFamily="2" charset="2"/>
                        </a:rPr>
                        <a:t> </a:t>
                      </a:r>
                      <a:r>
                        <a:rPr lang="en-US" dirty="0"/>
                        <a:t>a source of contention on </a:t>
                      </a:r>
                      <a:r>
                        <a:rPr lang="en-US" dirty="0" err="1"/>
                        <a:t>mmap_lock</a:t>
                      </a:r>
                      <a:r>
                        <a:rPr lang="en-US" dirty="0"/>
                        <a:t>,</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123686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6F034-2868-FF38-8F23-B3F28F9DC193}"/>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A024672-1B79-D9B4-6D52-EF2A1CEBC74B}"/>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ACD77F94-E71C-BCD7-8C93-96764B9018B7}"/>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F427AF81-B25E-4C83-4008-F48CD812B79C}"/>
              </a:ext>
            </a:extLst>
          </p:cNvPr>
          <p:cNvGraphicFramePr>
            <a:graphicFrameLocks noGrp="1"/>
          </p:cNvGraphicFramePr>
          <p:nvPr>
            <p:extLst>
              <p:ext uri="{D42A27DB-BD31-4B8C-83A1-F6EECF244321}">
                <p14:modId xmlns:p14="http://schemas.microsoft.com/office/powerpoint/2010/main" val="2089431766"/>
              </p:ext>
            </p:extLst>
          </p:nvPr>
        </p:nvGraphicFramePr>
        <p:xfrm>
          <a:off x="0" y="365762"/>
          <a:ext cx="12192000" cy="457200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784827009"/>
                    </a:ext>
                  </a:extLst>
                </a:gridCol>
              </a:tblGrid>
              <a:tr h="207593">
                <a:tc gridSpan="2">
                  <a:txBody>
                    <a:bodyPr/>
                    <a:lstStyle/>
                    <a:p>
                      <a:r>
                        <a:rPr lang="en-US" dirty="0" err="1"/>
                        <a:t>io_uring</a:t>
                      </a:r>
                      <a:r>
                        <a:rPr lang="en-US" dirty="0"/>
                        <a:t>: registered buffers and linked requests</a:t>
                      </a:r>
                      <a:endParaRPr lang="ru-RU" dirty="0"/>
                    </a:p>
                  </a:txBody>
                  <a:tcPr/>
                </a:tc>
                <a:tc hMerge="1">
                  <a:txBody>
                    <a:bodyPr/>
                    <a:lstStyle/>
                    <a:p>
                      <a:endParaRPr lang="en-CY"/>
                    </a:p>
                  </a:txBody>
                  <a:tcPr/>
                </a:tc>
                <a:extLst>
                  <a:ext uri="{0D108BD9-81ED-4DB2-BD59-A6C34878D82A}">
                    <a16:rowId xmlns:a16="http://schemas.microsoft.com/office/drawing/2014/main" val="10000"/>
                  </a:ext>
                </a:extLst>
              </a:tr>
              <a:tr h="207593">
                <a:tc>
                  <a:txBody>
                    <a:bodyPr/>
                    <a:lstStyle/>
                    <a:p>
                      <a:r>
                        <a:rPr lang="en-US" dirty="0"/>
                        <a:t>There are several sources of inefficiency when doing a </a:t>
                      </a:r>
                      <a:r>
                        <a:rPr lang="en-US" dirty="0" err="1">
                          <a:latin typeface="Menlo" panose="020B0609030804020204" pitchFamily="49" charset="0"/>
                          <a:ea typeface="Menlo" panose="020B0609030804020204" pitchFamily="49" charset="0"/>
                          <a:cs typeface="Menlo" panose="020B0609030804020204" pitchFamily="49" charset="0"/>
                        </a:rPr>
                        <a:t>pread</a:t>
                      </a:r>
                      <a:r>
                        <a:rPr lang="en-US" dirty="0">
                          <a:latin typeface="Menlo" panose="020B0609030804020204" pitchFamily="49" charset="0"/>
                          <a:ea typeface="Menlo" panose="020B0609030804020204" pitchFamily="49" charset="0"/>
                          <a:cs typeface="Menlo" panose="020B0609030804020204" pitchFamily="49" charset="0"/>
                        </a:rPr>
                        <a:t>()</a:t>
                      </a:r>
                      <a:r>
                        <a:rPr lang="en-US" dirty="0"/>
                        <a:t> or a </a:t>
                      </a:r>
                      <a:r>
                        <a:rPr lang="en-US" dirty="0" err="1">
                          <a:latin typeface="Menlo" panose="020B0609030804020204" pitchFamily="49" charset="0"/>
                          <a:ea typeface="Menlo" panose="020B0609030804020204" pitchFamily="49" charset="0"/>
                          <a:cs typeface="Menlo" panose="020B0609030804020204" pitchFamily="49" charset="0"/>
                        </a:rPr>
                        <a:t>pwrite</a:t>
                      </a:r>
                      <a:r>
                        <a:rPr lang="en-US" dirty="0">
                          <a:latin typeface="Menlo" panose="020B0609030804020204" pitchFamily="49" charset="0"/>
                          <a:ea typeface="Menlo" panose="020B0609030804020204" pitchFamily="49" charset="0"/>
                          <a:cs typeface="Menlo" panose="020B0609030804020204" pitchFamily="49" charset="0"/>
                        </a:rPr>
                        <a:t>()</a:t>
                      </a:r>
                      <a:r>
                        <a:rPr lang="en-US" dirty="0"/>
                        <a:t>:</a:t>
                      </a:r>
                    </a:p>
                    <a:p>
                      <a:endParaRPr lang="en-US" dirty="0"/>
                    </a:p>
                    <a:p>
                      <a:pPr marL="342900" indent="-342900">
                        <a:buFont typeface="+mj-lt"/>
                        <a:buAutoNum type="arabicPeriod"/>
                      </a:pPr>
                      <a:r>
                        <a:rPr lang="en-US" dirty="0"/>
                        <a:t>When the IO is buffered, the kernel needs to copy data between application buffers and the </a:t>
                      </a:r>
                      <a:r>
                        <a:rPr lang="en-US" dirty="0" err="1"/>
                        <a:t>pagecache</a:t>
                      </a:r>
                      <a:r>
                        <a:rPr lang="en-US" dirty="0"/>
                        <a:t>.</a:t>
                      </a:r>
                    </a:p>
                    <a:p>
                      <a:pPr marL="342900" indent="-342900">
                        <a:buFont typeface="+mj-lt"/>
                        <a:buAutoNum type="arabicPeriod"/>
                      </a:pPr>
                      <a:endParaRPr lang="en-US" dirty="0"/>
                    </a:p>
                    <a:p>
                      <a:pPr marL="342900" indent="-342900">
                        <a:buFont typeface="+mj-lt"/>
                        <a:buAutoNum type="arabicPeriod"/>
                      </a:pPr>
                      <a:r>
                        <a:rPr lang="en-US" dirty="0" err="1"/>
                        <a:t>iovec</a:t>
                      </a:r>
                      <a:r>
                        <a:rPr lang="en-US" dirty="0"/>
                        <a:t> needs to be copied into the kernel,</a:t>
                      </a:r>
                    </a:p>
                    <a:p>
                      <a:pPr marL="342900" lvl="0" indent="-342900">
                        <a:buFont typeface="+mj-lt"/>
                        <a:buAutoNum type="arabicPeriod"/>
                      </a:pPr>
                      <a:endParaRPr lang="en-US" dirty="0"/>
                    </a:p>
                    <a:p>
                      <a:pPr marL="342900" lvl="0" indent="-342900">
                        <a:buFont typeface="+mj-lt"/>
                        <a:buAutoNum type="arabicPeriod"/>
                      </a:pPr>
                      <a:r>
                        <a:rPr lang="en-US" dirty="0"/>
                        <a:t>When </a:t>
                      </a:r>
                      <a:r>
                        <a:rPr lang="en-US" dirty="0">
                          <a:latin typeface="Menlo" panose="020B0609030804020204" pitchFamily="49" charset="0"/>
                          <a:ea typeface="Menlo" panose="020B0609030804020204" pitchFamily="49" charset="0"/>
                          <a:cs typeface="Menlo" panose="020B0609030804020204" pitchFamily="49" charset="0"/>
                        </a:rPr>
                        <a:t>O_DIRECT</a:t>
                      </a:r>
                      <a:r>
                        <a:rPr lang="en-US" dirty="0"/>
                        <a:t> is in effect,</a:t>
                      </a:r>
                    </a:p>
                    <a:p>
                      <a:pPr marL="800100" lvl="1" indent="-342900">
                        <a:buFont typeface="+mj-lt"/>
                        <a:buAutoNum type="alphaLcPeriod"/>
                      </a:pPr>
                      <a:r>
                        <a:rPr lang="en-US" dirty="0"/>
                        <a:t>user pages need to pinned into memory,</a:t>
                      </a:r>
                    </a:p>
                    <a:p>
                      <a:pPr marL="800100" lvl="1" indent="-342900">
                        <a:buFont typeface="+mj-lt"/>
                        <a:buAutoNum type="alphaLcPeriod"/>
                      </a:pPr>
                      <a:r>
                        <a:rPr lang="en-US" dirty="0"/>
                        <a:t>prepare the </a:t>
                      </a:r>
                      <a:r>
                        <a:rPr lang="en-US" dirty="0" err="1"/>
                        <a:t>biovec</a:t>
                      </a:r>
                      <a:r>
                        <a:rPr lang="en-US" dirty="0"/>
                        <a:t> for issuing a request to the block devices,</a:t>
                      </a:r>
                    </a:p>
                    <a:p>
                      <a:pPr marL="800100" lvl="1" indent="-342900">
                        <a:buFont typeface="+mj-lt"/>
                        <a:buAutoNum type="alphaLcPeriod"/>
                      </a:pPr>
                      <a:r>
                        <a:rPr lang="en-US" dirty="0"/>
                        <a:t>do the IO,</a:t>
                      </a:r>
                    </a:p>
                    <a:p>
                      <a:pPr marL="800100" lvl="1" indent="-342900">
                        <a:buFont typeface="+mj-lt"/>
                        <a:buAutoNum type="alphaLcPeriod"/>
                      </a:pPr>
                      <a:r>
                        <a:rPr lang="en-US" dirty="0"/>
                        <a:t>free the </a:t>
                      </a:r>
                      <a:r>
                        <a:rPr lang="en-US" dirty="0" err="1"/>
                        <a:t>biovec</a:t>
                      </a:r>
                      <a:r>
                        <a:rPr lang="en-US" dirty="0"/>
                        <a:t>,</a:t>
                      </a:r>
                    </a:p>
                    <a:p>
                      <a:pPr marL="800100" lvl="1" indent="-342900">
                        <a:buFont typeface="+mj-lt"/>
                        <a:buAutoNum type="alphaLcPeriod"/>
                      </a:pPr>
                      <a:r>
                        <a:rPr lang="en-US" dirty="0"/>
                        <a:t>unpin user pages.</a:t>
                      </a:r>
                      <a:endParaRPr lang="ru-RU" dirty="0"/>
                    </a:p>
                  </a:txBody>
                  <a:tcPr/>
                </a:tc>
                <a:tc>
                  <a:txBody>
                    <a:bodyPr/>
                    <a:lstStyle/>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Arial" panose="020B0604020202020204" pitchFamily="34" charset="0"/>
                        <a:buChar char="•"/>
                      </a:pPr>
                      <a:r>
                        <a:rPr lang="en-US" dirty="0">
                          <a:latin typeface="Menlo" panose="020B0609030804020204" pitchFamily="49" charset="0"/>
                          <a:ea typeface="Menlo" panose="020B0609030804020204" pitchFamily="49" charset="0"/>
                          <a:cs typeface="Menlo" panose="020B0609030804020204" pitchFamily="49" charset="0"/>
                        </a:rPr>
                        <a:t>O_DIRECT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285750" indent="-285750">
                        <a:buFont typeface="Arial" panose="020B0604020202020204" pitchFamily="34" charset="0"/>
                        <a:buChar char="•"/>
                      </a:pPr>
                      <a:r>
                        <a:rPr lang="en-US" dirty="0" err="1">
                          <a:sym typeface="Wingdings" pitchFamily="2" charset="2"/>
                        </a:rPr>
                        <a:t>Io_uring</a:t>
                      </a:r>
                      <a:r>
                        <a:rPr lang="en-US" dirty="0">
                          <a:sym typeface="Wingdings" pitchFamily="2" charset="2"/>
                        </a:rPr>
                        <a:t> supports </a:t>
                      </a:r>
                      <a:r>
                        <a:rPr lang="en-US" b="1" dirty="0">
                          <a:sym typeface="Wingdings" pitchFamily="2" charset="2"/>
                        </a:rPr>
                        <a:t>registered buffers</a:t>
                      </a:r>
                      <a:r>
                        <a:rPr lang="en-US" dirty="0">
                          <a:sym typeface="Wingdings" pitchFamily="2" charset="2"/>
                        </a:rPr>
                        <a:t>. The setup (pinning user pages and constructing a </a:t>
                      </a:r>
                      <a:r>
                        <a:rPr lang="en-US" dirty="0" err="1">
                          <a:sym typeface="Wingdings" pitchFamily="2" charset="2"/>
                        </a:rPr>
                        <a:t>biovec</a:t>
                      </a:r>
                      <a:r>
                        <a:rPr lang="en-US" dirty="0">
                          <a:sym typeface="Wingdings" pitchFamily="2" charset="2"/>
                        </a:rPr>
                        <a:t>) happens only once.</a:t>
                      </a:r>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517910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5234C-D1BE-1791-58B3-6F3C571B10A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38AC347-9FC7-7B46-540B-6AE8CEBCC78A}"/>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CC9E7FB3-5634-7443-E72E-0F694D4948B4}"/>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D48A7F6B-B289-A9C6-68F1-091C902BDD88}"/>
              </a:ext>
            </a:extLst>
          </p:cNvPr>
          <p:cNvGraphicFramePr>
            <a:graphicFrameLocks noGrp="1"/>
          </p:cNvGraphicFramePr>
          <p:nvPr>
            <p:extLst>
              <p:ext uri="{D42A27DB-BD31-4B8C-83A1-F6EECF244321}">
                <p14:modId xmlns:p14="http://schemas.microsoft.com/office/powerpoint/2010/main" val="1466006191"/>
              </p:ext>
            </p:extLst>
          </p:nvPr>
        </p:nvGraphicFramePr>
        <p:xfrm>
          <a:off x="0" y="365762"/>
          <a:ext cx="12192000" cy="24688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07593">
                <a:tc>
                  <a:txBody>
                    <a:bodyPr/>
                    <a:lstStyle/>
                    <a:p>
                      <a:r>
                        <a:rPr lang="en-US" dirty="0" err="1"/>
                        <a:t>io_uring</a:t>
                      </a:r>
                      <a:r>
                        <a:rPr lang="en-US" dirty="0"/>
                        <a:t>: registered buffers and linked requests</a:t>
                      </a:r>
                      <a:endParaRPr lang="ru-RU" dirty="0"/>
                    </a:p>
                  </a:txBody>
                  <a:tcPr/>
                </a:tc>
                <a:extLst>
                  <a:ext uri="{0D108BD9-81ED-4DB2-BD59-A6C34878D82A}">
                    <a16:rowId xmlns:a16="http://schemas.microsoft.com/office/drawing/2014/main" val="10000"/>
                  </a:ext>
                </a:extLst>
              </a:tr>
              <a:tr h="207593">
                <a:tc>
                  <a:txBody>
                    <a:bodyPr/>
                    <a:lstStyle/>
                    <a:p>
                      <a:pPr marL="0" indent="0">
                        <a:buFontTx/>
                        <a:buNone/>
                      </a:pPr>
                      <a:r>
                        <a:rPr lang="en-US" dirty="0" err="1">
                          <a:sym typeface="Wingdings" pitchFamily="2" charset="2"/>
                        </a:rPr>
                        <a:t>Io_uring</a:t>
                      </a:r>
                      <a:r>
                        <a:rPr lang="en-US" dirty="0">
                          <a:sym typeface="Wingdings" pitchFamily="2" charset="2"/>
                        </a:rPr>
                        <a:t> supports </a:t>
                      </a:r>
                      <a:r>
                        <a:rPr lang="en-US" b="1" dirty="0">
                          <a:sym typeface="Wingdings" pitchFamily="2" charset="2"/>
                        </a:rPr>
                        <a:t>registered buffers</a:t>
                      </a:r>
                      <a:r>
                        <a:rPr lang="en-US" dirty="0">
                          <a:sym typeface="Wingdings" pitchFamily="2" charset="2"/>
                        </a:rPr>
                        <a:t>. The setup (pinning user pages and constructing a </a:t>
                      </a:r>
                      <a:r>
                        <a:rPr lang="en-US" dirty="0" err="1">
                          <a:sym typeface="Wingdings" pitchFamily="2" charset="2"/>
                        </a:rPr>
                        <a:t>biovec</a:t>
                      </a:r>
                      <a:r>
                        <a:rPr lang="en-US" dirty="0">
                          <a:sym typeface="Wingdings" pitchFamily="2" charset="2"/>
                        </a:rPr>
                        <a:t>) happens only once.</a:t>
                      </a:r>
                      <a:endParaRPr lang="en-US" dirty="0"/>
                    </a:p>
                  </a:txBody>
                  <a:tcPr/>
                </a:tc>
                <a:extLst>
                  <a:ext uri="{0D108BD9-81ED-4DB2-BD59-A6C34878D82A}">
                    <a16:rowId xmlns:a16="http://schemas.microsoft.com/office/drawing/2014/main" val="10001"/>
                  </a:ext>
                </a:extLst>
              </a:tr>
              <a:tr h="207593">
                <a:tc>
                  <a:txBody>
                    <a:bodyPr/>
                    <a:lstStyle/>
                    <a:p>
                      <a:pPr marL="0" indent="0">
                        <a:buFontTx/>
                        <a:buNone/>
                      </a:pPr>
                      <a:r>
                        <a:rPr lang="en-US" dirty="0"/>
                        <a:t>A better implementation of the home assignment:</a:t>
                      </a:r>
                    </a:p>
                    <a:p>
                      <a:pPr marL="857250" lvl="1" indent="-400050">
                        <a:buFont typeface="+mj-lt"/>
                        <a:buAutoNum type="alphaLcPeriod"/>
                      </a:pPr>
                      <a:r>
                        <a:rPr lang="en-US" dirty="0"/>
                        <a:t>allocate and register N buffers (N = 4 or N = 8),</a:t>
                      </a:r>
                    </a:p>
                    <a:p>
                      <a:pPr marL="857250" lvl="1" indent="-400050">
                        <a:buFont typeface="+mj-lt"/>
                        <a:buAutoNum type="alphaLcPeriod"/>
                      </a:pPr>
                      <a:r>
                        <a:rPr lang="en-US" dirty="0"/>
                        <a:t>start by issuing</a:t>
                      </a:r>
                      <a:r>
                        <a:rPr lang="ru-RU" dirty="0"/>
                        <a:t> </a:t>
                      </a:r>
                      <a:r>
                        <a:rPr lang="en-US" dirty="0"/>
                        <a:t>N</a:t>
                      </a:r>
                      <a:r>
                        <a:rPr lang="ru-RU" dirty="0"/>
                        <a:t> </a:t>
                      </a:r>
                      <a:r>
                        <a:rPr lang="en-US" dirty="0"/>
                        <a:t>read requests, each request being</a:t>
                      </a:r>
                      <a:r>
                        <a:rPr lang="ru-RU" dirty="0"/>
                        <a:t> </a:t>
                      </a:r>
                      <a:r>
                        <a:rPr lang="en-US" dirty="0"/>
                        <a:t>256K or</a:t>
                      </a:r>
                      <a:r>
                        <a:rPr lang="ru-RU" dirty="0"/>
                        <a:t> </a:t>
                      </a:r>
                      <a:r>
                        <a:rPr lang="en-US" dirty="0"/>
                        <a:t>512K long,</a:t>
                      </a:r>
                    </a:p>
                    <a:p>
                      <a:pPr marL="857250" lvl="1" indent="-400050">
                        <a:buFont typeface="+mj-lt"/>
                        <a:buAutoNum type="alphaLcPeriod"/>
                      </a:pPr>
                      <a:r>
                        <a:rPr lang="en-US" dirty="0"/>
                        <a:t>when the read</a:t>
                      </a:r>
                      <a:r>
                        <a:rPr lang="ru-RU" dirty="0"/>
                        <a:t> </a:t>
                      </a:r>
                      <a:r>
                        <a:rPr lang="en-US" dirty="0"/>
                        <a:t>#</a:t>
                      </a:r>
                      <a:r>
                        <a:rPr lang="ru-RU" dirty="0"/>
                        <a:t>0</a:t>
                      </a:r>
                      <a:r>
                        <a:rPr lang="en-US" dirty="0"/>
                        <a:t> completes</a:t>
                      </a:r>
                      <a:r>
                        <a:rPr lang="ru-RU" dirty="0"/>
                        <a:t>, </a:t>
                      </a:r>
                      <a:r>
                        <a:rPr lang="en-US" dirty="0"/>
                        <a:t>issue the write #0</a:t>
                      </a:r>
                      <a:r>
                        <a:rPr lang="ru-RU" dirty="0"/>
                        <a:t>,</a:t>
                      </a:r>
                    </a:p>
                    <a:p>
                      <a:pPr marL="857250" lvl="1" indent="-400050">
                        <a:buFont typeface="+mj-lt"/>
                        <a:buAutoNum type="alphaLcPeriod"/>
                      </a:pPr>
                      <a:r>
                        <a:rPr lang="en-US" dirty="0"/>
                        <a:t>when the</a:t>
                      </a:r>
                      <a:r>
                        <a:rPr lang="ru-RU" dirty="0"/>
                        <a:t> </a:t>
                      </a:r>
                      <a:r>
                        <a:rPr lang="en-US" dirty="0"/>
                        <a:t>read #</a:t>
                      </a:r>
                      <a:r>
                        <a:rPr lang="ru-RU" dirty="0"/>
                        <a:t>1</a:t>
                      </a:r>
                      <a:r>
                        <a:rPr lang="en-US" dirty="0"/>
                        <a:t> completes,</a:t>
                      </a:r>
                      <a:r>
                        <a:rPr lang="ru-RU" dirty="0"/>
                        <a:t> ….</a:t>
                      </a:r>
                      <a:endParaRPr lang="en-US" dirty="0"/>
                    </a:p>
                    <a:p>
                      <a:pPr marL="857250" lvl="1" indent="-400050">
                        <a:buFont typeface="+mj-lt"/>
                        <a:buAutoNum type="alphaLcPeriod"/>
                      </a:pPr>
                      <a:r>
                        <a:rPr lang="en-US" dirty="0"/>
                        <a:t>as write requests complete and buffers become available for reuse, issue more reads.</a:t>
                      </a:r>
                    </a:p>
                  </a:txBody>
                  <a:tcPr/>
                </a:tc>
                <a:extLst>
                  <a:ext uri="{0D108BD9-81ED-4DB2-BD59-A6C34878D82A}">
                    <a16:rowId xmlns:a16="http://schemas.microsoft.com/office/drawing/2014/main" val="1799810141"/>
                  </a:ext>
                </a:extLst>
              </a:tr>
            </a:tbl>
          </a:graphicData>
        </a:graphic>
      </p:graphicFrame>
    </p:spTree>
    <p:extLst>
      <p:ext uri="{BB962C8B-B14F-4D97-AF65-F5344CB8AC3E}">
        <p14:creationId xmlns:p14="http://schemas.microsoft.com/office/powerpoint/2010/main" val="15136911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CF222-6C39-DB4E-5E01-01BB65141DB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9D90C16-AB86-CE8F-8EA2-73DFA34B0054}"/>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D24C0BE7-AABC-AE91-5746-CCBDBF8AA80F}"/>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751F61F5-48B4-7F38-75AA-306762F31255}"/>
              </a:ext>
            </a:extLst>
          </p:cNvPr>
          <p:cNvGraphicFramePr>
            <a:graphicFrameLocks noGrp="1"/>
          </p:cNvGraphicFramePr>
          <p:nvPr>
            <p:extLst>
              <p:ext uri="{D42A27DB-BD31-4B8C-83A1-F6EECF244321}">
                <p14:modId xmlns:p14="http://schemas.microsoft.com/office/powerpoint/2010/main" val="4171304656"/>
              </p:ext>
            </p:extLst>
          </p:nvPr>
        </p:nvGraphicFramePr>
        <p:xfrm>
          <a:off x="0" y="365762"/>
          <a:ext cx="12192000" cy="50292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07593">
                <a:tc>
                  <a:txBody>
                    <a:bodyPr/>
                    <a:lstStyle/>
                    <a:p>
                      <a:r>
                        <a:rPr lang="en-US" dirty="0" err="1"/>
                        <a:t>io_uring</a:t>
                      </a:r>
                      <a:r>
                        <a:rPr lang="en-US" dirty="0"/>
                        <a:t>: registered buffers and linked requests</a:t>
                      </a:r>
                      <a:endParaRPr lang="ru-RU" dirty="0"/>
                    </a:p>
                  </a:txBody>
                  <a:tcPr/>
                </a:tc>
                <a:extLst>
                  <a:ext uri="{0D108BD9-81ED-4DB2-BD59-A6C34878D82A}">
                    <a16:rowId xmlns:a16="http://schemas.microsoft.com/office/drawing/2014/main" val="10000"/>
                  </a:ext>
                </a:extLst>
              </a:tr>
              <a:tr h="207593">
                <a:tc>
                  <a:txBody>
                    <a:bodyPr/>
                    <a:lstStyle/>
                    <a:p>
                      <a:pPr marL="0" indent="0">
                        <a:buFontTx/>
                        <a:buNone/>
                      </a:pPr>
                      <a:r>
                        <a:rPr lang="en-US" dirty="0" err="1">
                          <a:sym typeface="Wingdings" pitchFamily="2" charset="2"/>
                        </a:rPr>
                        <a:t>Io_uring</a:t>
                      </a:r>
                      <a:r>
                        <a:rPr lang="en-US" dirty="0">
                          <a:sym typeface="Wingdings" pitchFamily="2" charset="2"/>
                        </a:rPr>
                        <a:t> supports </a:t>
                      </a:r>
                      <a:r>
                        <a:rPr lang="en-US" b="1" dirty="0">
                          <a:sym typeface="Wingdings" pitchFamily="2" charset="2"/>
                        </a:rPr>
                        <a:t>registered buffers</a:t>
                      </a:r>
                      <a:r>
                        <a:rPr lang="en-US" dirty="0">
                          <a:sym typeface="Wingdings" pitchFamily="2" charset="2"/>
                        </a:rPr>
                        <a:t>. The setup (pinning user pages and constructing a </a:t>
                      </a:r>
                      <a:r>
                        <a:rPr lang="en-US" dirty="0" err="1">
                          <a:sym typeface="Wingdings" pitchFamily="2" charset="2"/>
                        </a:rPr>
                        <a:t>biovec</a:t>
                      </a:r>
                      <a:r>
                        <a:rPr lang="en-US" dirty="0">
                          <a:sym typeface="Wingdings" pitchFamily="2" charset="2"/>
                        </a:rPr>
                        <a:t>) happens only once.</a:t>
                      </a:r>
                      <a:endParaRPr lang="en-US" dirty="0"/>
                    </a:p>
                  </a:txBody>
                  <a:tcPr/>
                </a:tc>
                <a:extLst>
                  <a:ext uri="{0D108BD9-81ED-4DB2-BD59-A6C34878D82A}">
                    <a16:rowId xmlns:a16="http://schemas.microsoft.com/office/drawing/2014/main" val="10001"/>
                  </a:ext>
                </a:extLst>
              </a:tr>
              <a:tr h="207593">
                <a:tc>
                  <a:txBody>
                    <a:bodyPr/>
                    <a:lstStyle/>
                    <a:p>
                      <a:pPr marL="0" indent="0">
                        <a:buFontTx/>
                        <a:buNone/>
                      </a:pPr>
                      <a:r>
                        <a:rPr lang="en-US" dirty="0"/>
                        <a:t>A better implementation of the home assignment:</a:t>
                      </a:r>
                    </a:p>
                    <a:p>
                      <a:pPr marL="857250" lvl="1" indent="-400050">
                        <a:buFont typeface="+mj-lt"/>
                        <a:buAutoNum type="alphaLcPeriod"/>
                      </a:pPr>
                      <a:r>
                        <a:rPr lang="en-US" dirty="0"/>
                        <a:t>allocate and register N buffers (N = 4 or N = 8),</a:t>
                      </a:r>
                    </a:p>
                    <a:p>
                      <a:pPr marL="857250" lvl="1" indent="-400050">
                        <a:buFont typeface="+mj-lt"/>
                        <a:buAutoNum type="alphaLcPeriod"/>
                      </a:pPr>
                      <a:r>
                        <a:rPr lang="en-US" dirty="0"/>
                        <a:t>start by issuing</a:t>
                      </a:r>
                      <a:r>
                        <a:rPr lang="ru-RU" dirty="0"/>
                        <a:t> </a:t>
                      </a:r>
                      <a:r>
                        <a:rPr lang="en-US" dirty="0"/>
                        <a:t>N</a:t>
                      </a:r>
                      <a:r>
                        <a:rPr lang="ru-RU" dirty="0"/>
                        <a:t> </a:t>
                      </a:r>
                      <a:r>
                        <a:rPr lang="en-US" dirty="0"/>
                        <a:t>read requests, each request being</a:t>
                      </a:r>
                      <a:r>
                        <a:rPr lang="ru-RU" dirty="0"/>
                        <a:t> </a:t>
                      </a:r>
                      <a:r>
                        <a:rPr lang="en-US" dirty="0"/>
                        <a:t>256K or</a:t>
                      </a:r>
                      <a:r>
                        <a:rPr lang="ru-RU" dirty="0"/>
                        <a:t> </a:t>
                      </a:r>
                      <a:r>
                        <a:rPr lang="en-US" dirty="0"/>
                        <a:t>512K long,</a:t>
                      </a:r>
                    </a:p>
                    <a:p>
                      <a:pPr marL="857250" lvl="1" indent="-400050">
                        <a:buFont typeface="+mj-lt"/>
                        <a:buAutoNum type="alphaLcPeriod"/>
                      </a:pPr>
                      <a:r>
                        <a:rPr lang="en-US" dirty="0"/>
                        <a:t>when the read</a:t>
                      </a:r>
                      <a:r>
                        <a:rPr lang="ru-RU" dirty="0"/>
                        <a:t> </a:t>
                      </a:r>
                      <a:r>
                        <a:rPr lang="en-US" dirty="0"/>
                        <a:t>#</a:t>
                      </a:r>
                      <a:r>
                        <a:rPr lang="ru-RU" dirty="0"/>
                        <a:t>0</a:t>
                      </a:r>
                      <a:r>
                        <a:rPr lang="en-US" dirty="0"/>
                        <a:t> completes</a:t>
                      </a:r>
                      <a:r>
                        <a:rPr lang="ru-RU" dirty="0"/>
                        <a:t>, </a:t>
                      </a:r>
                      <a:r>
                        <a:rPr lang="en-US" dirty="0"/>
                        <a:t>issue the write #0</a:t>
                      </a:r>
                      <a:r>
                        <a:rPr lang="ru-RU" dirty="0"/>
                        <a:t>,</a:t>
                      </a:r>
                    </a:p>
                    <a:p>
                      <a:pPr marL="857250" lvl="1" indent="-400050">
                        <a:buFont typeface="+mj-lt"/>
                        <a:buAutoNum type="alphaLcPeriod"/>
                      </a:pPr>
                      <a:r>
                        <a:rPr lang="en-US" dirty="0"/>
                        <a:t>when the</a:t>
                      </a:r>
                      <a:r>
                        <a:rPr lang="ru-RU" dirty="0"/>
                        <a:t> </a:t>
                      </a:r>
                      <a:r>
                        <a:rPr lang="en-US" dirty="0"/>
                        <a:t>read #</a:t>
                      </a:r>
                      <a:r>
                        <a:rPr lang="ru-RU" dirty="0"/>
                        <a:t>1</a:t>
                      </a:r>
                      <a:r>
                        <a:rPr lang="en-US" dirty="0"/>
                        <a:t> completes,</a:t>
                      </a:r>
                      <a:r>
                        <a:rPr lang="ru-RU" dirty="0"/>
                        <a:t> ….</a:t>
                      </a:r>
                      <a:endParaRPr lang="en-US" dirty="0"/>
                    </a:p>
                    <a:p>
                      <a:pPr marL="857250" lvl="1" indent="-400050">
                        <a:buFont typeface="+mj-lt"/>
                        <a:buAutoNum type="alphaLcPeriod"/>
                      </a:pPr>
                      <a:r>
                        <a:rPr lang="en-US" dirty="0"/>
                        <a:t>as write requests complete and buffers become available for reuse, issue more reads.</a:t>
                      </a:r>
                    </a:p>
                  </a:txBody>
                  <a:tcPr/>
                </a:tc>
                <a:extLst>
                  <a:ext uri="{0D108BD9-81ED-4DB2-BD59-A6C34878D82A}">
                    <a16:rowId xmlns:a16="http://schemas.microsoft.com/office/drawing/2014/main" val="1799810141"/>
                  </a:ext>
                </a:extLst>
              </a:tr>
              <a:tr h="207593">
                <a:tc>
                  <a:txBody>
                    <a:bodyPr/>
                    <a:lstStyle/>
                    <a:p>
                      <a:pPr marL="0" lvl="0" indent="0">
                        <a:buFont typeface="+mj-lt"/>
                        <a:buNone/>
                      </a:pPr>
                      <a:r>
                        <a:rPr lang="en-US" dirty="0"/>
                        <a:t>There is a way to further reduce the overhead. One can issue a read #N and write #N with the same call to </a:t>
                      </a:r>
                      <a:r>
                        <a:rPr lang="en-US" dirty="0" err="1">
                          <a:latin typeface="Menlo" panose="020B0609030804020204" pitchFamily="49" charset="0"/>
                          <a:ea typeface="Menlo" panose="020B0609030804020204" pitchFamily="49" charset="0"/>
                          <a:cs typeface="Menlo" panose="020B0609030804020204" pitchFamily="49" charset="0"/>
                        </a:rPr>
                        <a:t>io_uring_submit</a:t>
                      </a:r>
                      <a:r>
                        <a:rPr lang="en-US" dirty="0">
                          <a:latin typeface="Menlo" panose="020B0609030804020204" pitchFamily="49" charset="0"/>
                          <a:ea typeface="Menlo" panose="020B0609030804020204" pitchFamily="49" charset="0"/>
                          <a:cs typeface="Menlo" panose="020B0609030804020204" pitchFamily="49" charset="0"/>
                        </a:rPr>
                        <a:t>()</a:t>
                      </a:r>
                      <a:r>
                        <a:rPr lang="en-US" dirty="0"/>
                        <a:t>. </a:t>
                      </a:r>
                      <a:r>
                        <a:rPr lang="en-US" dirty="0" err="1"/>
                        <a:t>Io_uring</a:t>
                      </a:r>
                      <a:r>
                        <a:rPr lang="en-US" dirty="0"/>
                        <a:t> has </a:t>
                      </a:r>
                      <a:r>
                        <a:rPr lang="en-US" b="1" dirty="0"/>
                        <a:t>linked requests</a:t>
                      </a:r>
                      <a:r>
                        <a:rPr lang="en-US" dirty="0"/>
                        <a:t>. Linked requests run sequentially.</a:t>
                      </a:r>
                    </a:p>
                    <a:p>
                      <a:pPr marL="0" lvl="0" indent="0">
                        <a:buFont typeface="+mj-lt"/>
                        <a:buNone/>
                      </a:pPr>
                      <a:endParaRPr lang="en-US"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Write an implementation of</a:t>
                      </a:r>
                      <a:r>
                        <a:rPr lang="ru-RU" dirty="0"/>
                        <a:t> </a:t>
                      </a:r>
                      <a:r>
                        <a:rPr lang="en-US" dirty="0">
                          <a:latin typeface="Consolas" panose="020B0609020204030204" pitchFamily="49" charset="0"/>
                          <a:cs typeface="Consolas" panose="020B0609020204030204" pitchFamily="49" charset="0"/>
                        </a:rPr>
                        <a:t>cp</a:t>
                      </a:r>
                      <a:r>
                        <a:rPr lang="en-US" dirty="0"/>
                        <a:t> that works this way</a:t>
                      </a:r>
                      <a:r>
                        <a:rPr lang="ru-RU" dirty="0"/>
                        <a:t>:</a:t>
                      </a:r>
                      <a:endParaRPr lang="en-US" dirty="0"/>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lang="en-US" dirty="0"/>
                        <a:t>allocate and register N buffers,</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lang="en-US" dirty="0"/>
                        <a:t>register the input and the output </a:t>
                      </a:r>
                      <a:r>
                        <a:rPr lang="en-US"/>
                        <a:t>file descriptors,</a:t>
                      </a:r>
                      <a:endParaRPr lang="en-US" dirty="0"/>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lang="en-US" dirty="0"/>
                        <a:t>start by issuing N pairs of linked </a:t>
                      </a:r>
                      <a:r>
                        <a:rPr lang="en-US" dirty="0" err="1"/>
                        <a:t>read+write</a:t>
                      </a:r>
                      <a:r>
                        <a:rPr lang="en-US" dirty="0"/>
                        <a:t>,</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lang="en-US" dirty="0"/>
                        <a:t>when write #0 completes, issue one more linked </a:t>
                      </a:r>
                      <a:r>
                        <a:rPr lang="en-US" dirty="0" err="1"/>
                        <a:t>read+write</a:t>
                      </a:r>
                      <a:r>
                        <a:rPr lang="en-US" dirty="0"/>
                        <a:t>,</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lang="en-US" dirty="0"/>
                        <a:t>when write #1 completes, …</a:t>
                      </a:r>
                      <a:endParaRPr lang="ru-RU" dirty="0"/>
                    </a:p>
                  </a:txBody>
                  <a:tcPr/>
                </a:tc>
                <a:extLst>
                  <a:ext uri="{0D108BD9-81ED-4DB2-BD59-A6C34878D82A}">
                    <a16:rowId xmlns:a16="http://schemas.microsoft.com/office/drawing/2014/main" val="3840712989"/>
                  </a:ext>
                </a:extLst>
              </a:tr>
            </a:tbl>
          </a:graphicData>
        </a:graphic>
      </p:graphicFrame>
    </p:spTree>
    <p:extLst>
      <p:ext uri="{BB962C8B-B14F-4D97-AF65-F5344CB8AC3E}">
        <p14:creationId xmlns:p14="http://schemas.microsoft.com/office/powerpoint/2010/main" val="2636325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43171</TotalTime>
  <Words>6078</Words>
  <Application>Microsoft Macintosh PowerPoint</Application>
  <PresentationFormat>Widescreen</PresentationFormat>
  <Paragraphs>904</Paragraphs>
  <Slides>49</Slides>
  <Notes>49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49</vt:i4>
      </vt:variant>
    </vt:vector>
  </HeadingPairs>
  <TitlesOfParts>
    <vt:vector size="57" baseType="lpstr">
      <vt:lpstr>Arial</vt:lpstr>
      <vt:lpstr>Calibri</vt:lpstr>
      <vt:lpstr>Calibri Light</vt:lpstr>
      <vt:lpstr>Consolas</vt:lpstr>
      <vt:lpstr>Menlo</vt:lpstr>
      <vt:lpstr>Wingdings</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Artem Anisimov</dc:creator>
  <cp:lastModifiedBy>Irvin Sayers</cp:lastModifiedBy>
  <cp:revision>121</cp:revision>
  <cp:lastPrinted>2017-10-02T09:22:54Z</cp:lastPrinted>
  <dcterms:created xsi:type="dcterms:W3CDTF">2016-09-20T13:25:15Z</dcterms:created>
  <dcterms:modified xsi:type="dcterms:W3CDTF">2026-10-20T11:35:19Z</dcterms:modified>
</cp:coreProperties>
</file>